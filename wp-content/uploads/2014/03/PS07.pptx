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-51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312DF33F-8817-4771-8495-77A818A9E382}" type="datetimeFigureOut">
              <a:rPr lang="pt-BR" smtClean="0"/>
              <a:pPr/>
              <a:t>25/04/2013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C9958C-A53F-4370-9D06-B849CC7E27D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DF33F-8817-4771-8495-77A818A9E382}" type="datetimeFigureOut">
              <a:rPr lang="pt-BR" smtClean="0"/>
              <a:pPr/>
              <a:t>25/04/2013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C9958C-A53F-4370-9D06-B849CC7E27D3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DF33F-8817-4771-8495-77A818A9E382}" type="datetimeFigureOut">
              <a:rPr lang="pt-BR" smtClean="0"/>
              <a:pPr/>
              <a:t>25/04/2013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33C9958C-A53F-4370-9D06-B849CC7E27D3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312DF33F-8817-4771-8495-77A818A9E382}" type="datetimeFigureOut">
              <a:rPr lang="pt-BR" smtClean="0"/>
              <a:pPr/>
              <a:t>25/04/2013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3C9958C-A53F-4370-9D06-B849CC7E27D3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312DF33F-8817-4771-8495-77A818A9E382}" type="datetimeFigureOut">
              <a:rPr lang="pt-BR" smtClean="0"/>
              <a:pPr/>
              <a:t>25/04/2013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3C9958C-A53F-4370-9D06-B849CC7E27D3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DF33F-8817-4771-8495-77A818A9E382}" type="datetimeFigureOut">
              <a:rPr lang="pt-BR" smtClean="0"/>
              <a:pPr/>
              <a:t>25/04/2013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C9958C-A53F-4370-9D06-B849CC7E27D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DF33F-8817-4771-8495-77A818A9E382}" type="datetimeFigureOut">
              <a:rPr lang="pt-BR" smtClean="0"/>
              <a:pPr/>
              <a:t>25/04/2013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C9958C-A53F-4370-9D06-B849CC7E27D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DF33F-8817-4771-8495-77A818A9E382}" type="datetimeFigureOut">
              <a:rPr lang="pt-BR" smtClean="0"/>
              <a:pPr/>
              <a:t>25/04/2013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C9958C-A53F-4370-9D06-B849CC7E27D3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312DF33F-8817-4771-8495-77A818A9E382}" type="datetimeFigureOut">
              <a:rPr lang="pt-BR" smtClean="0"/>
              <a:pPr/>
              <a:t>25/04/2013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33C9958C-A53F-4370-9D06-B849CC7E27D3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DF33F-8817-4771-8495-77A818A9E382}" type="datetimeFigureOut">
              <a:rPr lang="pt-BR" smtClean="0"/>
              <a:pPr/>
              <a:t>25/04/2013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9958C-A53F-4370-9D06-B849CC7E27D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312DF33F-8817-4771-8495-77A818A9E382}" type="datetimeFigureOut">
              <a:rPr lang="pt-BR" smtClean="0"/>
              <a:pPr/>
              <a:t>25/04/2013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33C9958C-A53F-4370-9D06-B849CC7E27D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12DF33F-8817-4771-8495-77A818A9E382}" type="datetimeFigureOut">
              <a:rPr lang="pt-BR" smtClean="0"/>
              <a:pPr/>
              <a:t>25/04/2013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3C9958C-A53F-4370-9D06-B849CC7E27D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JQUERY – Parte 2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Programação de Scripts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Exibição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hide</a:t>
            </a:r>
            <a:r>
              <a:rPr lang="pt-BR" dirty="0" smtClean="0"/>
              <a:t>() e show()</a:t>
            </a:r>
          </a:p>
          <a:p>
            <a:pPr lvl="1"/>
            <a:r>
              <a:rPr lang="pt-BR" dirty="0" smtClean="0"/>
              <a:t>Com </a:t>
            </a:r>
            <a:r>
              <a:rPr lang="pt-BR" dirty="0" err="1" smtClean="0"/>
              <a:t>jQuery</a:t>
            </a:r>
            <a:r>
              <a:rPr lang="pt-BR" dirty="0" smtClean="0"/>
              <a:t>, você pode se esconder e mostrar elementos HTML com o </a:t>
            </a:r>
            <a:r>
              <a:rPr lang="pt-BR" dirty="0" err="1" smtClean="0"/>
              <a:t>hide</a:t>
            </a:r>
            <a:r>
              <a:rPr lang="pt-BR" dirty="0" smtClean="0"/>
              <a:t> () e show ():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$("#hide").click(function(){</a:t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$("p").hide();</a:t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$("#show").click(function(){</a:t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$("p").show();</a:t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Exibição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parâmetro de velocidade opcional especifica a velocidade da esconder / mostrar, e pode ter os seguintes valores: "lentos", "</a:t>
            </a:r>
            <a:r>
              <a:rPr lang="pt-BR" dirty="0" err="1" smtClean="0"/>
              <a:t>fast</a:t>
            </a:r>
            <a:r>
              <a:rPr lang="pt-BR" dirty="0" smtClean="0"/>
              <a:t>", ou milésimos de segundo.</a:t>
            </a:r>
          </a:p>
          <a:p>
            <a:endParaRPr lang="pt-BR" dirty="0" smtClean="0"/>
          </a:p>
          <a:p>
            <a:r>
              <a:rPr lang="pt-BR" dirty="0" smtClean="0"/>
              <a:t>O parâmetro opcional callback é uma função a ser executada após o </a:t>
            </a:r>
            <a:r>
              <a:rPr lang="pt-BR" dirty="0" err="1" smtClean="0"/>
              <a:t>hide</a:t>
            </a:r>
            <a:r>
              <a:rPr lang="pt-BR" dirty="0" smtClean="0"/>
              <a:t> () ou show () método for.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Exibição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$("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button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dirty="0" smtClean="0">
                <a:latin typeface="Courier New" pitchFamily="49" charset="0"/>
                <a:cs typeface="Courier New" pitchFamily="49" charset="0"/>
              </a:rPr>
            </a:br>
            <a:r>
              <a:rPr lang="pt-BR" dirty="0" smtClean="0">
                <a:latin typeface="Courier New" pitchFamily="49" charset="0"/>
                <a:cs typeface="Courier New" pitchFamily="49" charset="0"/>
              </a:rPr>
              <a:t>  $("p").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hide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(1000);</a:t>
            </a:r>
            <a:br>
              <a:rPr lang="pt-BR" dirty="0" smtClean="0">
                <a:latin typeface="Courier New" pitchFamily="49" charset="0"/>
                <a:cs typeface="Courier New" pitchFamily="49" charset="0"/>
              </a:rPr>
            </a:br>
            <a:r>
              <a:rPr lang="pt-BR" dirty="0" smtClean="0">
                <a:latin typeface="Courier New" pitchFamily="49" charset="0"/>
                <a:cs typeface="Courier New" pitchFamily="49" charset="0"/>
              </a:rPr>
              <a:t>});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Exibição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toggle</a:t>
            </a:r>
            <a:r>
              <a:rPr lang="pt-BR" dirty="0" smtClean="0"/>
              <a:t>()</a:t>
            </a:r>
          </a:p>
          <a:p>
            <a:pPr lvl="1"/>
            <a:r>
              <a:rPr lang="pt-BR" dirty="0" smtClean="0"/>
              <a:t>Com </a:t>
            </a:r>
            <a:r>
              <a:rPr lang="pt-BR" dirty="0" err="1" smtClean="0"/>
              <a:t>jQuery</a:t>
            </a:r>
            <a:r>
              <a:rPr lang="pt-BR" dirty="0" smtClean="0"/>
              <a:t>, você pode alternar entre o </a:t>
            </a:r>
            <a:r>
              <a:rPr lang="pt-BR" dirty="0" err="1" smtClean="0"/>
              <a:t>hide</a:t>
            </a:r>
            <a:r>
              <a:rPr lang="pt-BR" dirty="0" smtClean="0"/>
              <a:t> () e show () métodos com o método de alternância ().</a:t>
            </a:r>
          </a:p>
          <a:p>
            <a:pPr lvl="1"/>
            <a:r>
              <a:rPr lang="pt-BR" dirty="0" smtClean="0"/>
              <a:t>Elementos mostrados são escondidos e elementos ocultos são mostrados:</a:t>
            </a:r>
          </a:p>
          <a:p>
            <a:pPr lvl="2"/>
            <a:r>
              <a:rPr lang="pt-BR" dirty="0" smtClean="0">
                <a:latin typeface="Courier New" pitchFamily="49" charset="0"/>
                <a:cs typeface="Courier New" pitchFamily="49" charset="0"/>
              </a:rPr>
              <a:t>$("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button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dirty="0" smtClean="0">
                <a:latin typeface="Courier New" pitchFamily="49" charset="0"/>
                <a:cs typeface="Courier New" pitchFamily="49" charset="0"/>
              </a:rPr>
            </a:br>
            <a:r>
              <a:rPr lang="pt-BR" dirty="0" smtClean="0">
                <a:latin typeface="Courier New" pitchFamily="49" charset="0"/>
                <a:cs typeface="Courier New" pitchFamily="49" charset="0"/>
              </a:rPr>
              <a:t>  $("p").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toggle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();</a:t>
            </a:r>
            <a:br>
              <a:rPr lang="pt-BR" dirty="0" smtClean="0">
                <a:latin typeface="Courier New" pitchFamily="49" charset="0"/>
                <a:cs typeface="Courier New" pitchFamily="49" charset="0"/>
              </a:rPr>
            </a:br>
            <a:r>
              <a:rPr lang="pt-BR" dirty="0" smtClean="0">
                <a:latin typeface="Courier New" pitchFamily="49" charset="0"/>
                <a:cs typeface="Courier New" pitchFamily="49" charset="0"/>
              </a:rPr>
              <a:t>});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Exibição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parâmetro opcional de velocidade pode ter os seguintes valores: "lentos", "</a:t>
            </a:r>
            <a:r>
              <a:rPr lang="pt-BR" dirty="0" err="1" smtClean="0"/>
              <a:t>fast</a:t>
            </a:r>
            <a:r>
              <a:rPr lang="pt-BR" dirty="0" smtClean="0"/>
              <a:t>", ou milésimos de segundo.</a:t>
            </a:r>
          </a:p>
          <a:p>
            <a:r>
              <a:rPr lang="pt-BR" dirty="0" smtClean="0"/>
              <a:t>O parâmetro opcional callback é uma função a ser executada após alternar () completa.</a:t>
            </a:r>
          </a:p>
          <a:p>
            <a:pPr marL="594360" lvl="2" indent="-320040">
              <a:spcBef>
                <a:spcPts val="700"/>
              </a:spcBef>
              <a:buSzPct val="60000"/>
              <a:buFont typeface="Wingdings"/>
              <a:buChar char=""/>
            </a:pP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</a:t>
            </a:r>
            <a:r>
              <a:rPr lang="pt-BR" b="1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selector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toggle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speed</a:t>
            </a:r>
            <a:r>
              <a:rPr lang="pt-BR" b="1" i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,callback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Fade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Com </a:t>
            </a:r>
            <a:r>
              <a:rPr lang="pt-BR" dirty="0" err="1" smtClean="0"/>
              <a:t>jQuery</a:t>
            </a:r>
            <a:r>
              <a:rPr lang="pt-BR" dirty="0" smtClean="0"/>
              <a:t> você pode desaparecer um elemento dentro e fora de visibilidade.</a:t>
            </a:r>
          </a:p>
          <a:p>
            <a:r>
              <a:rPr lang="pt-BR" dirty="0" err="1" smtClean="0"/>
              <a:t>jQuery</a:t>
            </a:r>
            <a:r>
              <a:rPr lang="pt-BR" dirty="0" smtClean="0"/>
              <a:t> tem os seguintes métodos de fade:</a:t>
            </a:r>
          </a:p>
          <a:p>
            <a:pPr lvl="1"/>
            <a:r>
              <a:rPr lang="pt-BR" dirty="0" err="1" smtClean="0"/>
              <a:t>fadeIn</a:t>
            </a:r>
            <a:r>
              <a:rPr lang="pt-BR" dirty="0" smtClean="0"/>
              <a:t>()</a:t>
            </a:r>
          </a:p>
          <a:p>
            <a:pPr lvl="1"/>
            <a:r>
              <a:rPr lang="pt-BR" dirty="0" err="1" smtClean="0"/>
              <a:t>fadeOut</a:t>
            </a:r>
            <a:r>
              <a:rPr lang="pt-BR" dirty="0" smtClean="0"/>
              <a:t>()</a:t>
            </a:r>
          </a:p>
          <a:p>
            <a:pPr lvl="1"/>
            <a:r>
              <a:rPr lang="pt-BR" dirty="0" err="1" smtClean="0"/>
              <a:t>fadeToggle</a:t>
            </a:r>
            <a:r>
              <a:rPr lang="pt-BR" dirty="0" smtClean="0"/>
              <a:t>()</a:t>
            </a:r>
          </a:p>
          <a:p>
            <a:pPr lvl="1"/>
            <a:r>
              <a:rPr lang="pt-BR" dirty="0" err="1" smtClean="0"/>
              <a:t>fadeTo</a:t>
            </a:r>
            <a:r>
              <a:rPr lang="pt-BR" dirty="0" smtClean="0"/>
              <a:t>()</a:t>
            </a:r>
          </a:p>
          <a:p>
            <a:pPr lvl="1"/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Fade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 método </a:t>
            </a:r>
            <a:r>
              <a:rPr lang="pt-BR" dirty="0" err="1" smtClean="0"/>
              <a:t>fadeIn</a:t>
            </a:r>
            <a:r>
              <a:rPr lang="pt-BR" dirty="0" smtClean="0"/>
              <a:t> </a:t>
            </a:r>
            <a:r>
              <a:rPr lang="pt-BR" dirty="0" err="1" smtClean="0"/>
              <a:t>jQuery</a:t>
            </a:r>
            <a:r>
              <a:rPr lang="pt-BR" dirty="0" smtClean="0"/>
              <a:t> () é usado para desaparecer em um elemento escondido.</a:t>
            </a:r>
          </a:p>
          <a:p>
            <a:pPr lvl="1"/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</a:t>
            </a:r>
            <a:r>
              <a:rPr lang="pt-BR" b="1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selector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fadeIn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speed</a:t>
            </a:r>
            <a:r>
              <a:rPr lang="pt-BR" b="1" i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,callback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pt-BR" dirty="0" smtClean="0">
                <a:cs typeface="Courier New" pitchFamily="49" charset="0"/>
              </a:rPr>
              <a:t>O parâmetro de velocidade opcional especifica a duração do efeito. Ele pode ter os seguintes valores: "lentos", "</a:t>
            </a:r>
            <a:r>
              <a:rPr lang="pt-BR" dirty="0" err="1" smtClean="0">
                <a:cs typeface="Courier New" pitchFamily="49" charset="0"/>
              </a:rPr>
              <a:t>fast</a:t>
            </a:r>
            <a:r>
              <a:rPr lang="pt-BR" dirty="0" smtClean="0">
                <a:cs typeface="Courier New" pitchFamily="49" charset="0"/>
              </a:rPr>
              <a:t>", ou milésimos de segundo.</a:t>
            </a:r>
          </a:p>
          <a:p>
            <a:r>
              <a:rPr lang="pt-BR" dirty="0" smtClean="0">
                <a:cs typeface="Courier New" pitchFamily="49" charset="0"/>
              </a:rPr>
              <a:t>O parâmetro opcional callback é uma função a ser executada após o desaparecimento completa.</a:t>
            </a:r>
            <a:endParaRPr lang="pt-BR" dirty="0"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Fade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$("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button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$("#div1").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fadeIn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();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$("#div2").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fadeIn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slow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");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$("#div3").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fadeIn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(3000);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Fade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fadeOut</a:t>
            </a:r>
            <a:r>
              <a:rPr lang="pt-BR" dirty="0" smtClean="0"/>
              <a:t>()</a:t>
            </a:r>
          </a:p>
          <a:p>
            <a:pPr lvl="1"/>
            <a:r>
              <a:rPr lang="pt-BR" dirty="0" smtClean="0"/>
              <a:t>O método </a:t>
            </a:r>
            <a:r>
              <a:rPr lang="pt-BR" dirty="0" err="1" smtClean="0"/>
              <a:t>fadeOut</a:t>
            </a:r>
            <a:r>
              <a:rPr lang="pt-BR" dirty="0" smtClean="0"/>
              <a:t> </a:t>
            </a:r>
            <a:r>
              <a:rPr lang="pt-BR" dirty="0" err="1" smtClean="0"/>
              <a:t>jQuery</a:t>
            </a:r>
            <a:r>
              <a:rPr lang="pt-BR" dirty="0" smtClean="0"/>
              <a:t> () é usado para desaparecer um elemento visível.</a:t>
            </a:r>
          </a:p>
          <a:p>
            <a:pPr lvl="2"/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</a:t>
            </a:r>
            <a:r>
              <a:rPr lang="pt-BR" b="1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selector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fadeOut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speed</a:t>
            </a:r>
            <a:r>
              <a:rPr lang="pt-BR" b="1" i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,callback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pt-BR" dirty="0" smtClean="0">
                <a:cs typeface="Courier New" pitchFamily="49" charset="0"/>
              </a:rPr>
              <a:t>O parâmetro de velocidade opcional especifica a duração do efeito. Ele pode ter os seguintes valores: "lentos", "</a:t>
            </a:r>
            <a:r>
              <a:rPr lang="pt-BR" dirty="0" err="1" smtClean="0">
                <a:cs typeface="Courier New" pitchFamily="49" charset="0"/>
              </a:rPr>
              <a:t>fast</a:t>
            </a:r>
            <a:r>
              <a:rPr lang="pt-BR" dirty="0" smtClean="0">
                <a:cs typeface="Courier New" pitchFamily="49" charset="0"/>
              </a:rPr>
              <a:t>", ou milésimos de segundo.</a:t>
            </a:r>
          </a:p>
          <a:p>
            <a:r>
              <a:rPr lang="pt-BR" dirty="0" smtClean="0">
                <a:cs typeface="Courier New" pitchFamily="49" charset="0"/>
              </a:rPr>
              <a:t>O parâmetro opcional callback é uma função a ser executada após o desaparecimento completa.</a:t>
            </a:r>
          </a:p>
          <a:p>
            <a:pPr lvl="1"/>
            <a:endParaRPr lang="pt-BR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2"/>
            <a:endParaRPr lang="pt-BR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endParaRPr lang="pt-B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Fade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$("button").click(function(){</a:t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$("#div1").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fadeOut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();</a:t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$("#div2").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fadeOut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("slow");</a:t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$("#div3").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fadeOut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(3000);</a:t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Fade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fadeToggle</a:t>
            </a:r>
            <a:r>
              <a:rPr lang="pt-BR" dirty="0" smtClean="0"/>
              <a:t>() </a:t>
            </a:r>
          </a:p>
          <a:p>
            <a:pPr lvl="1"/>
            <a:r>
              <a:rPr lang="pt-BR" dirty="0" smtClean="0"/>
              <a:t>O método </a:t>
            </a:r>
            <a:r>
              <a:rPr lang="pt-BR" dirty="0" err="1" smtClean="0"/>
              <a:t>fadeToggle</a:t>
            </a:r>
            <a:r>
              <a:rPr lang="pt-BR" dirty="0" smtClean="0"/>
              <a:t>() alterna entre o </a:t>
            </a:r>
            <a:r>
              <a:rPr lang="pt-BR" dirty="0" err="1" smtClean="0"/>
              <a:t>fadeIn</a:t>
            </a:r>
            <a:r>
              <a:rPr lang="pt-BR" dirty="0" smtClean="0"/>
              <a:t> () e </a:t>
            </a:r>
            <a:r>
              <a:rPr lang="pt-BR" dirty="0" err="1" smtClean="0"/>
              <a:t>fadeOut</a:t>
            </a:r>
            <a:r>
              <a:rPr lang="pt-BR" dirty="0" smtClean="0"/>
              <a:t>() métodos.</a:t>
            </a:r>
          </a:p>
          <a:p>
            <a:pPr lvl="1"/>
            <a:r>
              <a:rPr lang="pt-BR" dirty="0" smtClean="0"/>
              <a:t>Se os elementos vão desaparecendo gradualmente, </a:t>
            </a:r>
            <a:r>
              <a:rPr lang="pt-BR" dirty="0" err="1" smtClean="0"/>
              <a:t>fadeToggle</a:t>
            </a:r>
            <a:r>
              <a:rPr lang="pt-BR" dirty="0" smtClean="0"/>
              <a:t> () vai desaparecer dentro</a:t>
            </a:r>
          </a:p>
          <a:p>
            <a:pPr lvl="1"/>
            <a:r>
              <a:rPr lang="pt-BR" dirty="0" smtClean="0"/>
              <a:t>Se os elementos estão desbotadas em, </a:t>
            </a:r>
            <a:r>
              <a:rPr lang="pt-BR" dirty="0" err="1" smtClean="0"/>
              <a:t>fadeToggle</a:t>
            </a:r>
            <a:r>
              <a:rPr lang="pt-BR" dirty="0" smtClean="0"/>
              <a:t> () vai desaparecer</a:t>
            </a:r>
          </a:p>
          <a:p>
            <a:pPr lvl="2"/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</a:t>
            </a:r>
            <a:r>
              <a:rPr lang="pt-BR" b="1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selector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fadeToggle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speed</a:t>
            </a:r>
            <a:r>
              <a:rPr lang="pt-BR" b="1" i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,callback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Fade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2"/>
            <a:endParaRPr lang="pt-BR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button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$("#div1").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fadeToggle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();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$("#div2").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fadeToggle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slow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");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$("#div3").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fadeToggle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(3000);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  <a:p>
            <a:endParaRPr lang="pt-BR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Fade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err="1" smtClean="0"/>
              <a:t>fadeTo</a:t>
            </a:r>
            <a:r>
              <a:rPr lang="pt-BR" dirty="0" smtClean="0"/>
              <a:t>() </a:t>
            </a:r>
          </a:p>
          <a:p>
            <a:pPr lvl="1"/>
            <a:r>
              <a:rPr lang="pt-BR" dirty="0" smtClean="0"/>
              <a:t>O método </a:t>
            </a:r>
            <a:r>
              <a:rPr lang="pt-BR" dirty="0" err="1" smtClean="0"/>
              <a:t>fadeTo</a:t>
            </a:r>
            <a:r>
              <a:rPr lang="pt-BR" dirty="0" smtClean="0"/>
              <a:t>() permite </a:t>
            </a:r>
            <a:r>
              <a:rPr lang="pt-BR" dirty="0" err="1" smtClean="0"/>
              <a:t>esmurecer</a:t>
            </a:r>
            <a:r>
              <a:rPr lang="pt-BR" dirty="0" smtClean="0"/>
              <a:t> para uma determinada opacidade (valor entre 0 e 1).</a:t>
            </a:r>
          </a:p>
          <a:p>
            <a:pPr lvl="1"/>
            <a:r>
              <a:rPr lang="pt-BR" dirty="0" smtClean="0"/>
              <a:t>O parâmetro da velocidade requerida especifica a duração do efeito. Ele pode ter os seguintes valores: "lentos", "</a:t>
            </a:r>
            <a:r>
              <a:rPr lang="pt-BR" dirty="0" err="1" smtClean="0"/>
              <a:t>fast</a:t>
            </a:r>
            <a:r>
              <a:rPr lang="pt-BR" dirty="0" smtClean="0"/>
              <a:t>", ou milésimos de segundo.</a:t>
            </a:r>
          </a:p>
          <a:p>
            <a:pPr lvl="1"/>
            <a:r>
              <a:rPr lang="pt-BR" dirty="0" smtClean="0"/>
              <a:t>O parâmetro opacidade desejada na </a:t>
            </a:r>
            <a:r>
              <a:rPr lang="pt-BR" dirty="0" err="1" smtClean="0"/>
              <a:t>fadeTo</a:t>
            </a:r>
            <a:r>
              <a:rPr lang="pt-BR" dirty="0" smtClean="0"/>
              <a:t> () especifica o método de desvanecimento para uma dada opacidade (valor entre 0 e 1).</a:t>
            </a:r>
          </a:p>
          <a:p>
            <a:pPr lvl="1"/>
            <a:r>
              <a:rPr lang="pt-BR" dirty="0" smtClean="0"/>
              <a:t>O parâmetro opcional callback é uma função a ser executada após a função terminar.</a:t>
            </a:r>
            <a:endParaRPr lang="pt-B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Fade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button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$("#div1").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fadeTo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slow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",0.15);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$("#div2").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fadeTo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slow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",0.4);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$("#div3").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fadeTo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slow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",0.7);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Movimento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Com </a:t>
            </a:r>
            <a:r>
              <a:rPr lang="pt-BR" dirty="0" err="1" smtClean="0"/>
              <a:t>jQuery</a:t>
            </a:r>
            <a:r>
              <a:rPr lang="pt-BR" dirty="0" smtClean="0"/>
              <a:t> você pode criar um efeito de deslizamento sobre os elementos.</a:t>
            </a:r>
          </a:p>
          <a:p>
            <a:r>
              <a:rPr lang="pt-BR" dirty="0" err="1" smtClean="0"/>
              <a:t>jQuery</a:t>
            </a:r>
            <a:r>
              <a:rPr lang="pt-BR" dirty="0" smtClean="0"/>
              <a:t> tem os seguintes métodos:</a:t>
            </a:r>
          </a:p>
          <a:p>
            <a:pPr lvl="1"/>
            <a:r>
              <a:rPr lang="pt-BR" dirty="0" err="1" smtClean="0"/>
              <a:t>slideDown</a:t>
            </a:r>
            <a:r>
              <a:rPr lang="pt-BR" dirty="0" smtClean="0"/>
              <a:t>()</a:t>
            </a:r>
          </a:p>
          <a:p>
            <a:pPr lvl="1"/>
            <a:r>
              <a:rPr lang="pt-BR" dirty="0" err="1" smtClean="0"/>
              <a:t>slideUp</a:t>
            </a:r>
            <a:r>
              <a:rPr lang="pt-BR" dirty="0" smtClean="0"/>
              <a:t>()</a:t>
            </a:r>
          </a:p>
          <a:p>
            <a:pPr lvl="1"/>
            <a:r>
              <a:rPr lang="pt-BR" dirty="0" err="1" smtClean="0"/>
              <a:t>slideToggle</a:t>
            </a:r>
            <a:r>
              <a:rPr lang="pt-BR" dirty="0" smtClean="0"/>
              <a:t>()</a:t>
            </a:r>
          </a:p>
          <a:p>
            <a:pPr>
              <a:buNone/>
            </a:pP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Movimento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err="1" smtClean="0"/>
              <a:t>slideDown</a:t>
            </a:r>
            <a:r>
              <a:rPr lang="pt-BR" dirty="0" smtClean="0"/>
              <a:t>()</a:t>
            </a:r>
          </a:p>
          <a:p>
            <a:pPr lvl="1"/>
            <a:r>
              <a:rPr lang="pt-BR" dirty="0" smtClean="0"/>
              <a:t>O método </a:t>
            </a:r>
            <a:r>
              <a:rPr lang="pt-BR" dirty="0" err="1" smtClean="0"/>
              <a:t>slideDown</a:t>
            </a:r>
            <a:r>
              <a:rPr lang="pt-BR" dirty="0" smtClean="0"/>
              <a:t>() é usada para deslizar para baixo de um elemento.</a:t>
            </a:r>
          </a:p>
          <a:p>
            <a:pPr lvl="2"/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</a:t>
            </a:r>
            <a:r>
              <a:rPr lang="pt-BR" b="1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selector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slideDown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speed</a:t>
            </a:r>
            <a:r>
              <a:rPr lang="pt-BR" b="1" i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,callback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pt-BR" dirty="0" smtClean="0">
                <a:latin typeface="+mj-lt"/>
                <a:cs typeface="Courier New" pitchFamily="49" charset="0"/>
              </a:rPr>
              <a:t>O parâmetro de velocidade opcional especifica a duração do efeito. Ele pode ter os seguintes valores: "lentos", "</a:t>
            </a:r>
            <a:r>
              <a:rPr lang="pt-BR" dirty="0" err="1" smtClean="0">
                <a:latin typeface="+mj-lt"/>
                <a:cs typeface="Courier New" pitchFamily="49" charset="0"/>
              </a:rPr>
              <a:t>fast</a:t>
            </a:r>
            <a:r>
              <a:rPr lang="pt-BR" dirty="0" smtClean="0">
                <a:latin typeface="+mj-lt"/>
                <a:cs typeface="Courier New" pitchFamily="49" charset="0"/>
              </a:rPr>
              <a:t>", ou milésimos de segundo.</a:t>
            </a:r>
          </a:p>
          <a:p>
            <a:pPr lvl="1"/>
            <a:r>
              <a:rPr lang="pt-BR" dirty="0" smtClean="0">
                <a:latin typeface="+mj-lt"/>
                <a:cs typeface="Courier New" pitchFamily="49" charset="0"/>
              </a:rPr>
              <a:t>O parâmetro opcional callback é uma função a ser executada após a conclusão do deslizamento.</a:t>
            </a:r>
            <a:endParaRPr lang="pt-BR" dirty="0">
              <a:latin typeface="+mj-lt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Movimento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flip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panel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slideDown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();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Movimento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 </a:t>
            </a:r>
            <a:r>
              <a:rPr lang="pt-BR" dirty="0" err="1" smtClean="0"/>
              <a:t>slideUp</a:t>
            </a:r>
            <a:r>
              <a:rPr lang="pt-BR" dirty="0" smtClean="0"/>
              <a:t>() </a:t>
            </a:r>
          </a:p>
          <a:p>
            <a:pPr lvl="1"/>
            <a:r>
              <a:rPr lang="pt-BR" dirty="0" smtClean="0"/>
              <a:t>método </a:t>
            </a:r>
            <a:r>
              <a:rPr lang="pt-BR" dirty="0" err="1" smtClean="0"/>
              <a:t>slideUp</a:t>
            </a:r>
            <a:r>
              <a:rPr lang="pt-BR" dirty="0" smtClean="0"/>
              <a:t> () é usada para deslizar para cima de um elemento.</a:t>
            </a:r>
          </a:p>
          <a:p>
            <a:pPr lvl="2"/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</a:t>
            </a:r>
            <a:r>
              <a:rPr lang="pt-BR" b="1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selector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slideUp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speed</a:t>
            </a:r>
            <a:r>
              <a:rPr lang="pt-BR" b="1" i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,callback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pt-BR" dirty="0" smtClean="0">
                <a:cs typeface="Courier New" pitchFamily="49" charset="0"/>
              </a:rPr>
              <a:t>O parâmetro de velocidade opcional especifica a duração do efeito. Ele pode ter os seguintes valores: "lentos", "</a:t>
            </a:r>
            <a:r>
              <a:rPr lang="pt-BR" dirty="0" err="1" smtClean="0">
                <a:cs typeface="Courier New" pitchFamily="49" charset="0"/>
              </a:rPr>
              <a:t>fast</a:t>
            </a:r>
            <a:r>
              <a:rPr lang="pt-BR" dirty="0" smtClean="0">
                <a:cs typeface="Courier New" pitchFamily="49" charset="0"/>
              </a:rPr>
              <a:t>", ou milésimos de segundo.</a:t>
            </a:r>
          </a:p>
          <a:p>
            <a:pPr lvl="1"/>
            <a:r>
              <a:rPr lang="pt-BR" dirty="0" smtClean="0">
                <a:cs typeface="Courier New" pitchFamily="49" charset="0"/>
              </a:rPr>
              <a:t>O parâmetro opcional callback é uma função a ser executada após a conclusão do deslizamento.</a:t>
            </a:r>
          </a:p>
          <a:p>
            <a:pPr lvl="1"/>
            <a:endParaRPr lang="pt-BR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Movimento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flip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panel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slideUp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();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Movimento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slideToggle</a:t>
            </a:r>
            <a:r>
              <a:rPr lang="pt-BR" dirty="0" smtClean="0"/>
              <a:t>()</a:t>
            </a:r>
          </a:p>
          <a:p>
            <a:pPr lvl="1"/>
            <a:r>
              <a:rPr lang="pt-BR" dirty="0" err="1" smtClean="0"/>
              <a:t>slideToggle</a:t>
            </a:r>
            <a:r>
              <a:rPr lang="pt-BR" dirty="0" smtClean="0"/>
              <a:t> () método alterna entre o </a:t>
            </a:r>
            <a:r>
              <a:rPr lang="pt-BR" dirty="0" err="1" smtClean="0"/>
              <a:t>slideDown</a:t>
            </a:r>
            <a:r>
              <a:rPr lang="pt-BR" dirty="0" smtClean="0"/>
              <a:t> () e </a:t>
            </a:r>
            <a:r>
              <a:rPr lang="pt-BR" dirty="0" err="1" smtClean="0"/>
              <a:t>slideUp</a:t>
            </a:r>
            <a:r>
              <a:rPr lang="pt-BR" dirty="0" smtClean="0"/>
              <a:t> () métodos.</a:t>
            </a:r>
          </a:p>
          <a:p>
            <a:pPr lvl="1"/>
            <a:r>
              <a:rPr lang="pt-BR" dirty="0" smtClean="0"/>
              <a:t>Se os elementos foram deslizou para baixo, </a:t>
            </a:r>
            <a:r>
              <a:rPr lang="pt-BR" dirty="0" err="1" smtClean="0"/>
              <a:t>slideToggle</a:t>
            </a:r>
            <a:r>
              <a:rPr lang="pt-BR" dirty="0" smtClean="0"/>
              <a:t> () irá deslizar.</a:t>
            </a:r>
          </a:p>
          <a:p>
            <a:pPr lvl="1"/>
            <a:r>
              <a:rPr lang="pt-BR" dirty="0" smtClean="0"/>
              <a:t>Se os elementos foram deslizou para cima, </a:t>
            </a:r>
            <a:r>
              <a:rPr lang="pt-BR" dirty="0" err="1" smtClean="0"/>
              <a:t>slideToggle</a:t>
            </a:r>
            <a:r>
              <a:rPr lang="pt-BR" dirty="0" smtClean="0"/>
              <a:t> () irá deslizar para baixo.</a:t>
            </a:r>
          </a:p>
          <a:p>
            <a:pPr lvl="2"/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</a:t>
            </a:r>
            <a:r>
              <a:rPr lang="pt-BR" b="1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selector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slideToggle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speed</a:t>
            </a:r>
            <a:r>
              <a:rPr lang="pt-BR" b="1" i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,callback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pt-BR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Movimento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flip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panel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slideToggle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();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animação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O método </a:t>
            </a:r>
            <a:r>
              <a:rPr lang="pt-BR" dirty="0" err="1" smtClean="0"/>
              <a:t>animate</a:t>
            </a:r>
            <a:r>
              <a:rPr lang="pt-BR" dirty="0" smtClean="0"/>
              <a:t>() é usada para criar animações personalizadas.</a:t>
            </a:r>
          </a:p>
          <a:p>
            <a:r>
              <a:rPr lang="pt-BR" dirty="0" smtClean="0"/>
              <a:t>O parâmetro </a:t>
            </a:r>
            <a:r>
              <a:rPr lang="pt-BR" dirty="0" err="1" smtClean="0"/>
              <a:t>params</a:t>
            </a:r>
            <a:r>
              <a:rPr lang="pt-BR" dirty="0" smtClean="0"/>
              <a:t> exigido define as propriedades CSS para ser animado.</a:t>
            </a:r>
          </a:p>
          <a:p>
            <a:r>
              <a:rPr lang="pt-BR" dirty="0" smtClean="0"/>
              <a:t>O parâmetro de velocidade opcional especifica a duração do efeito. Ele pode ter os seguintes valores: </a:t>
            </a:r>
            <a:r>
              <a:rPr lang="pt-BR" dirty="0" smtClean="0"/>
              <a:t>“</a:t>
            </a:r>
            <a:r>
              <a:rPr lang="pt-BR" dirty="0" err="1" smtClean="0"/>
              <a:t>slow</a:t>
            </a:r>
            <a:r>
              <a:rPr lang="pt-BR" dirty="0" smtClean="0"/>
              <a:t>", </a:t>
            </a:r>
            <a:r>
              <a:rPr lang="pt-BR" dirty="0" smtClean="0"/>
              <a:t>"</a:t>
            </a:r>
            <a:r>
              <a:rPr lang="pt-BR" dirty="0" err="1" smtClean="0"/>
              <a:t>fast</a:t>
            </a:r>
            <a:r>
              <a:rPr lang="pt-BR" dirty="0" smtClean="0"/>
              <a:t>", ou milésimos de segundo.</a:t>
            </a:r>
          </a:p>
          <a:p>
            <a:r>
              <a:rPr lang="pt-BR" dirty="0" smtClean="0"/>
              <a:t>O parâmetro opcional callback é uma função a ser executada após a animação completa.</a:t>
            </a:r>
          </a:p>
          <a:p>
            <a:r>
              <a:rPr lang="pt-BR" dirty="0" smtClean="0"/>
              <a:t>O exemplo a seguir demonstra um uso simples de </a:t>
            </a:r>
            <a:r>
              <a:rPr lang="pt-BR" dirty="0" err="1" smtClean="0"/>
              <a:t>animate</a:t>
            </a:r>
            <a:r>
              <a:rPr lang="pt-BR" dirty="0" smtClean="0"/>
              <a:t>() </a:t>
            </a:r>
            <a:r>
              <a:rPr lang="pt-BR" dirty="0" smtClean="0"/>
              <a:t>método, que move um elemento &lt;div&gt; para a esquerda, até que chegou a uma propriedade esquerda de 250px:</a:t>
            </a:r>
            <a:endParaRPr lang="pt-BR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animação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$("button").click(function(){</a:t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$("div").animate({left:'250px'});</a:t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 </a:t>
            </a:r>
            <a:endParaRPr lang="pt-BR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animação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$("</a:t>
            </a:r>
            <a:r>
              <a:rPr lang="pt-BR" b="1" dirty="0" err="1" smtClean="0">
                <a:solidFill>
                  <a:srgbClr val="FF0000"/>
                </a:solidFill>
              </a:rPr>
              <a:t>button</a:t>
            </a:r>
            <a:r>
              <a:rPr lang="pt-BR" b="1" dirty="0" smtClean="0">
                <a:solidFill>
                  <a:srgbClr val="FF0000"/>
                </a:solidFill>
              </a:rPr>
              <a:t>").</a:t>
            </a:r>
            <a:r>
              <a:rPr lang="pt-BR" b="1" dirty="0" err="1" smtClean="0">
                <a:solidFill>
                  <a:srgbClr val="FF0000"/>
                </a:solidFill>
              </a:rPr>
              <a:t>click</a:t>
            </a:r>
            <a:r>
              <a:rPr lang="pt-BR" b="1" dirty="0" smtClean="0">
                <a:solidFill>
                  <a:srgbClr val="FF0000"/>
                </a:solidFill>
              </a:rPr>
              <a:t>(</a:t>
            </a:r>
            <a:r>
              <a:rPr lang="pt-BR" b="1" dirty="0" err="1" smtClean="0">
                <a:solidFill>
                  <a:srgbClr val="FF0000"/>
                </a:solidFill>
              </a:rPr>
              <a:t>function</a:t>
            </a:r>
            <a:r>
              <a:rPr lang="pt-BR" b="1" dirty="0" smtClean="0">
                <a:solidFill>
                  <a:srgbClr val="FF0000"/>
                </a:solidFill>
              </a:rPr>
              <a:t>(){</a:t>
            </a:r>
            <a:br>
              <a:rPr lang="pt-BR" b="1" dirty="0" smtClean="0">
                <a:solidFill>
                  <a:srgbClr val="FF0000"/>
                </a:solidFill>
              </a:rPr>
            </a:br>
            <a:r>
              <a:rPr lang="pt-BR" b="1" dirty="0" smtClean="0">
                <a:solidFill>
                  <a:srgbClr val="FF0000"/>
                </a:solidFill>
              </a:rPr>
              <a:t>  $("div").</a:t>
            </a:r>
            <a:r>
              <a:rPr lang="pt-BR" b="1" dirty="0" err="1" smtClean="0">
                <a:solidFill>
                  <a:srgbClr val="FF0000"/>
                </a:solidFill>
              </a:rPr>
              <a:t>animate</a:t>
            </a:r>
            <a:r>
              <a:rPr lang="pt-BR" b="1" dirty="0" smtClean="0">
                <a:solidFill>
                  <a:srgbClr val="FF0000"/>
                </a:solidFill>
              </a:rPr>
              <a:t>({</a:t>
            </a:r>
            <a:br>
              <a:rPr lang="pt-BR" b="1" dirty="0" smtClean="0">
                <a:solidFill>
                  <a:srgbClr val="FF0000"/>
                </a:solidFill>
              </a:rPr>
            </a:br>
            <a:r>
              <a:rPr lang="pt-BR" b="1" dirty="0" smtClean="0">
                <a:solidFill>
                  <a:srgbClr val="FF0000"/>
                </a:solidFill>
              </a:rPr>
              <a:t>    </a:t>
            </a:r>
            <a:r>
              <a:rPr lang="pt-BR" b="1" dirty="0" err="1" smtClean="0">
                <a:solidFill>
                  <a:srgbClr val="FF0000"/>
                </a:solidFill>
              </a:rPr>
              <a:t>left</a:t>
            </a:r>
            <a:r>
              <a:rPr lang="pt-BR" b="1" dirty="0" smtClean="0">
                <a:solidFill>
                  <a:srgbClr val="FF0000"/>
                </a:solidFill>
              </a:rPr>
              <a:t>:'250px',</a:t>
            </a:r>
            <a:br>
              <a:rPr lang="pt-BR" b="1" dirty="0" smtClean="0">
                <a:solidFill>
                  <a:srgbClr val="FF0000"/>
                </a:solidFill>
              </a:rPr>
            </a:br>
            <a:r>
              <a:rPr lang="pt-BR" b="1" dirty="0" smtClean="0">
                <a:solidFill>
                  <a:srgbClr val="FF0000"/>
                </a:solidFill>
              </a:rPr>
              <a:t>    </a:t>
            </a:r>
            <a:r>
              <a:rPr lang="pt-BR" b="1" dirty="0" err="1" smtClean="0">
                <a:solidFill>
                  <a:srgbClr val="FF0000"/>
                </a:solidFill>
              </a:rPr>
              <a:t>opacity</a:t>
            </a:r>
            <a:r>
              <a:rPr lang="pt-BR" b="1" dirty="0" smtClean="0">
                <a:solidFill>
                  <a:srgbClr val="FF0000"/>
                </a:solidFill>
              </a:rPr>
              <a:t>:'0.5',</a:t>
            </a:r>
            <a:br>
              <a:rPr lang="pt-BR" b="1" dirty="0" smtClean="0">
                <a:solidFill>
                  <a:srgbClr val="FF0000"/>
                </a:solidFill>
              </a:rPr>
            </a:br>
            <a:r>
              <a:rPr lang="pt-BR" b="1" dirty="0" smtClean="0">
                <a:solidFill>
                  <a:srgbClr val="FF0000"/>
                </a:solidFill>
              </a:rPr>
              <a:t>    </a:t>
            </a:r>
            <a:r>
              <a:rPr lang="pt-BR" b="1" dirty="0" err="1" smtClean="0">
                <a:solidFill>
                  <a:srgbClr val="FF0000"/>
                </a:solidFill>
              </a:rPr>
              <a:t>height</a:t>
            </a:r>
            <a:r>
              <a:rPr lang="pt-BR" b="1" dirty="0" smtClean="0">
                <a:solidFill>
                  <a:srgbClr val="FF0000"/>
                </a:solidFill>
              </a:rPr>
              <a:t>:'150px',</a:t>
            </a:r>
            <a:br>
              <a:rPr lang="pt-BR" b="1" dirty="0" smtClean="0">
                <a:solidFill>
                  <a:srgbClr val="FF0000"/>
                </a:solidFill>
              </a:rPr>
            </a:br>
            <a:r>
              <a:rPr lang="pt-BR" b="1" dirty="0" smtClean="0">
                <a:solidFill>
                  <a:srgbClr val="FF0000"/>
                </a:solidFill>
              </a:rPr>
              <a:t>    </a:t>
            </a:r>
            <a:r>
              <a:rPr lang="pt-BR" b="1" dirty="0" err="1" smtClean="0">
                <a:solidFill>
                  <a:srgbClr val="FF0000"/>
                </a:solidFill>
              </a:rPr>
              <a:t>width</a:t>
            </a:r>
            <a:r>
              <a:rPr lang="pt-BR" b="1" dirty="0" smtClean="0">
                <a:solidFill>
                  <a:srgbClr val="FF0000"/>
                </a:solidFill>
              </a:rPr>
              <a:t>:'150px'</a:t>
            </a:r>
            <a:br>
              <a:rPr lang="pt-BR" b="1" dirty="0" smtClean="0">
                <a:solidFill>
                  <a:srgbClr val="FF0000"/>
                </a:solidFill>
              </a:rPr>
            </a:br>
            <a:r>
              <a:rPr lang="pt-BR" b="1" dirty="0" smtClean="0">
                <a:solidFill>
                  <a:srgbClr val="FF0000"/>
                </a:solidFill>
              </a:rPr>
              <a:t>  });</a:t>
            </a:r>
            <a:br>
              <a:rPr lang="pt-BR" b="1" dirty="0" smtClean="0">
                <a:solidFill>
                  <a:srgbClr val="FF0000"/>
                </a:solidFill>
              </a:rPr>
            </a:br>
            <a:r>
              <a:rPr lang="pt-BR" b="1" dirty="0" smtClean="0">
                <a:solidFill>
                  <a:srgbClr val="FF0000"/>
                </a:solidFill>
              </a:rPr>
              <a:t>}); </a:t>
            </a:r>
          </a:p>
          <a:p>
            <a:r>
              <a:rPr lang="pt-BR" dirty="0" smtClean="0">
                <a:cs typeface="Courier New" pitchFamily="49" charset="0"/>
              </a:rPr>
              <a:t>Note-se que várias propriedades pode ser animada, ao mesmo tempo:</a:t>
            </a:r>
            <a:endParaRPr lang="pt-BR" dirty="0"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animação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err="1" smtClean="0"/>
              <a:t>animate</a:t>
            </a:r>
            <a:r>
              <a:rPr lang="pt-BR" dirty="0" smtClean="0"/>
              <a:t>() – usando valores relativos</a:t>
            </a:r>
          </a:p>
          <a:p>
            <a:pPr lvl="1"/>
            <a:r>
              <a:rPr lang="pt-BR" dirty="0" smtClean="0"/>
              <a:t>Também é possível definir os valores relativos (o valor é, em seguida, em relação ao valor atual do elemento). Isto é feito pondo + = ou - = na frente do valor:</a:t>
            </a:r>
          </a:p>
          <a:p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button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$("div").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animate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({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left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:'250px',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height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:'+=150px',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width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:'+=150px'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});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 </a:t>
            </a:r>
            <a:endParaRPr lang="pt-BR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animação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animate</a:t>
            </a:r>
            <a:r>
              <a:rPr lang="pt-BR" dirty="0" smtClean="0"/>
              <a:t>() - Usando valores </a:t>
            </a:r>
            <a:r>
              <a:rPr lang="pt-BR" dirty="0" err="1" smtClean="0"/>
              <a:t>pre-determinados</a:t>
            </a:r>
            <a:endParaRPr lang="pt-BR" dirty="0" smtClean="0"/>
          </a:p>
          <a:p>
            <a:r>
              <a:rPr lang="pt-BR" dirty="0" smtClean="0"/>
              <a:t>Você pode até especificar o valor de uma propriedade de animação como "show", "</a:t>
            </a:r>
            <a:r>
              <a:rPr lang="pt-BR" dirty="0" err="1" smtClean="0"/>
              <a:t>hide</a:t>
            </a:r>
            <a:r>
              <a:rPr lang="pt-BR" dirty="0" smtClean="0"/>
              <a:t>", ou "</a:t>
            </a:r>
            <a:r>
              <a:rPr lang="pt-BR" dirty="0" err="1" smtClean="0"/>
              <a:t>toggle</a:t>
            </a:r>
            <a:r>
              <a:rPr lang="pt-BR" dirty="0" smtClean="0"/>
              <a:t>":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$("button").click(function(){</a:t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$("div").animate({</a:t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height:'toggle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</a:t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});</a:t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r>
              <a:rPr lang="en-US" b="1" dirty="0" smtClean="0"/>
              <a:t> </a:t>
            </a:r>
            <a:endParaRPr lang="pt-BR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animação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Usando eventos em fila</a:t>
            </a:r>
          </a:p>
          <a:p>
            <a:pPr lvl="1"/>
            <a:r>
              <a:rPr lang="pt-BR" dirty="0" smtClean="0"/>
              <a:t>Isso </a:t>
            </a:r>
            <a:r>
              <a:rPr lang="pt-BR" dirty="0" smtClean="0"/>
              <a:t>significa que se você escrever </a:t>
            </a:r>
            <a:r>
              <a:rPr lang="pt-BR" dirty="0" smtClean="0"/>
              <a:t>várias comandos </a:t>
            </a:r>
            <a:r>
              <a:rPr lang="pt-BR" dirty="0" err="1" smtClean="0"/>
              <a:t>animate</a:t>
            </a:r>
            <a:r>
              <a:rPr lang="pt-BR" dirty="0" smtClean="0"/>
              <a:t>() chamando uma após a </a:t>
            </a:r>
            <a:r>
              <a:rPr lang="pt-BR" dirty="0" smtClean="0"/>
              <a:t>outro, </a:t>
            </a:r>
            <a:r>
              <a:rPr lang="pt-BR" dirty="0" err="1" smtClean="0"/>
              <a:t>jQuery</a:t>
            </a:r>
            <a:r>
              <a:rPr lang="pt-BR" dirty="0" smtClean="0"/>
              <a:t> cria uma fila </a:t>
            </a:r>
            <a:r>
              <a:rPr lang="pt-BR" dirty="0" smtClean="0"/>
              <a:t>de </a:t>
            </a:r>
            <a:r>
              <a:rPr lang="pt-BR" dirty="0" smtClean="0"/>
              <a:t>"interna" com estas </a:t>
            </a:r>
            <a:r>
              <a:rPr lang="pt-BR" dirty="0" smtClean="0"/>
              <a:t>chamadas.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animação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button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var div=$("div");</a:t>
            </a:r>
            <a:b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div.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animate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({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height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:'300px',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opacity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:'0.4'},"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slow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");</a:t>
            </a:r>
            <a:b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div.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animate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({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width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:'300px',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opacity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:'0.8'},"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slow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");</a:t>
            </a:r>
            <a:b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div.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animate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({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height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:'100px',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opacity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:'0.4'},"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slow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");</a:t>
            </a:r>
            <a:b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div.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animate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({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width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:'100px',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opacity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:'0.8'},"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slow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");</a:t>
            </a:r>
            <a:b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 </a:t>
            </a:r>
            <a:endParaRPr lang="pt-BR" sz="18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endParaRPr lang="pt-BR" sz="18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button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var div=$("div");</a:t>
            </a:r>
            <a:b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div.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animate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({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left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:'100px'},"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slow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");</a:t>
            </a:r>
            <a:b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div.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animate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({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fontSize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:'3em'},"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slow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");</a:t>
            </a:r>
            <a:b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 </a:t>
            </a:r>
            <a:endParaRPr lang="pt-BR" sz="20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Interrompendo uma animação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err="1" smtClean="0"/>
              <a:t>stop</a:t>
            </a:r>
            <a:r>
              <a:rPr lang="pt-BR" dirty="0" smtClean="0"/>
              <a:t>() </a:t>
            </a:r>
          </a:p>
          <a:p>
            <a:pPr lvl="1"/>
            <a:r>
              <a:rPr lang="pt-BR" dirty="0" smtClean="0"/>
              <a:t>O método </a:t>
            </a:r>
            <a:r>
              <a:rPr lang="pt-BR" dirty="0" err="1" smtClean="0"/>
              <a:t>stop</a:t>
            </a:r>
            <a:r>
              <a:rPr lang="pt-BR" dirty="0" smtClean="0"/>
              <a:t> () é usado para interromper uma animação ou efeito antes de terminar.</a:t>
            </a:r>
          </a:p>
          <a:p>
            <a:pPr lvl="1"/>
            <a:r>
              <a:rPr lang="pt-BR" dirty="0" smtClean="0"/>
              <a:t>O </a:t>
            </a:r>
            <a:r>
              <a:rPr lang="pt-BR" dirty="0" smtClean="0"/>
              <a:t>método </a:t>
            </a:r>
            <a:r>
              <a:rPr lang="pt-BR" dirty="0" err="1" smtClean="0"/>
              <a:t>stop</a:t>
            </a:r>
            <a:r>
              <a:rPr lang="pt-BR" dirty="0" smtClean="0"/>
              <a:t> () funciona para todas as funções de efeito </a:t>
            </a:r>
            <a:r>
              <a:rPr lang="pt-BR" dirty="0" err="1" smtClean="0"/>
              <a:t>jQuery</a:t>
            </a:r>
            <a:r>
              <a:rPr lang="pt-BR" dirty="0" smtClean="0"/>
              <a:t>, incluindo animações deslizantes, desvanecimento e personalizado.</a:t>
            </a:r>
          </a:p>
          <a:p>
            <a:pPr lvl="1"/>
            <a:r>
              <a:rPr lang="pt-BR" dirty="0" smtClean="0"/>
              <a:t>O </a:t>
            </a:r>
            <a:r>
              <a:rPr lang="pt-BR" dirty="0" smtClean="0"/>
              <a:t>parâmetro </a:t>
            </a:r>
            <a:r>
              <a:rPr lang="pt-BR" dirty="0" err="1" smtClean="0"/>
              <a:t>stopAll</a:t>
            </a:r>
            <a:r>
              <a:rPr lang="pt-BR" dirty="0" smtClean="0"/>
              <a:t> opcional especifica se também a fila de animação deve ser limpo ou não. O padrão é falso, o que significa que apenas a animação ativo será interrompido, permitindo que as animações na fila para ser executada depois.</a:t>
            </a:r>
          </a:p>
          <a:p>
            <a:pPr lvl="1"/>
            <a:r>
              <a:rPr lang="pt-BR" dirty="0" smtClean="0"/>
              <a:t>O </a:t>
            </a:r>
            <a:r>
              <a:rPr lang="pt-BR" dirty="0" smtClean="0"/>
              <a:t>parâmetro </a:t>
            </a:r>
            <a:r>
              <a:rPr lang="pt-BR" dirty="0" err="1" smtClean="0"/>
              <a:t>goToEnd</a:t>
            </a:r>
            <a:r>
              <a:rPr lang="pt-BR" dirty="0" smtClean="0"/>
              <a:t> opcional especifica se ou não para completar a animação atual imediatamente. O padrão é </a:t>
            </a:r>
            <a:r>
              <a:rPr lang="pt-BR" dirty="0" err="1" smtClean="0"/>
              <a:t>false</a:t>
            </a:r>
            <a:r>
              <a:rPr lang="pt-BR" dirty="0" smtClean="0"/>
              <a:t>.</a:t>
            </a:r>
          </a:p>
          <a:p>
            <a:pPr lvl="1"/>
            <a:r>
              <a:rPr lang="pt-BR" dirty="0" smtClean="0"/>
              <a:t>Então</a:t>
            </a:r>
            <a:r>
              <a:rPr lang="pt-BR" dirty="0" smtClean="0"/>
              <a:t>, por padrão, o método </a:t>
            </a:r>
            <a:r>
              <a:rPr lang="pt-BR" dirty="0" err="1" smtClean="0"/>
              <a:t>stop</a:t>
            </a:r>
            <a:r>
              <a:rPr lang="pt-BR" dirty="0" smtClean="0"/>
              <a:t> () mata a animação atual que está sendo realizada no elemento selecionado</a:t>
            </a:r>
            <a:r>
              <a:rPr lang="pt-BR" dirty="0" smtClean="0"/>
              <a:t>.</a:t>
            </a:r>
            <a:endParaRPr lang="pt-BR" dirty="0" smtClean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Interrompendo uma animação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stop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panel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stop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();</a:t>
            </a:r>
            <a:b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Função de Retorno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Instruções </a:t>
            </a:r>
            <a:r>
              <a:rPr lang="pt-BR" dirty="0" err="1" smtClean="0"/>
              <a:t>JavaScript</a:t>
            </a:r>
            <a:r>
              <a:rPr lang="pt-BR" dirty="0" smtClean="0"/>
              <a:t> são executados linha por linha. No entanto, com efeitos, a próxima linha de código pode ser executado mesmo que o efeito não está terminado. Isso pode criar erros.</a:t>
            </a:r>
          </a:p>
          <a:p>
            <a:r>
              <a:rPr lang="pt-BR" dirty="0" smtClean="0"/>
              <a:t>Para </a:t>
            </a:r>
            <a:r>
              <a:rPr lang="pt-BR" dirty="0" smtClean="0"/>
              <a:t>evitar isso, você pode criar uma função de callback.</a:t>
            </a:r>
          </a:p>
          <a:p>
            <a:r>
              <a:rPr lang="pt-BR" dirty="0" smtClean="0"/>
              <a:t>A </a:t>
            </a:r>
            <a:r>
              <a:rPr lang="pt-BR" dirty="0" smtClean="0"/>
              <a:t>função callback é executado depois que o efeito atual é concluída</a:t>
            </a:r>
            <a:r>
              <a:rPr lang="pt-BR" dirty="0" smtClean="0"/>
              <a:t>.</a:t>
            </a:r>
          </a:p>
          <a:p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</a:t>
            </a:r>
            <a:r>
              <a:rPr lang="pt-BR" b="1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selector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).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hide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speed</a:t>
            </a:r>
            <a:r>
              <a:rPr lang="pt-BR" b="1" i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,callback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pt-BR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Função de Retorno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$("button").click(function(){</a:t>
            </a:r>
            <a:b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$("p").hide("</a:t>
            </a:r>
            <a:r>
              <a:rPr lang="en-US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slow",function</a:t>
            </a: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alert("The paragraph is now hidden");</a:t>
            </a:r>
            <a:b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});</a:t>
            </a:r>
            <a:b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  <a:p>
            <a:endParaRPr lang="en-US" sz="24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$("button").click(function(){</a:t>
            </a:r>
            <a:b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$("p").hide(1000);</a:t>
            </a:r>
            <a:b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alert("The paragraph is now hidden");</a:t>
            </a:r>
            <a:b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sz="24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Encadeamento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smtClean="0"/>
              <a:t>Você </a:t>
            </a:r>
            <a:r>
              <a:rPr lang="pt-BR" dirty="0" smtClean="0"/>
              <a:t>pode encadear ações / métodos.</a:t>
            </a:r>
          </a:p>
          <a:p>
            <a:r>
              <a:rPr lang="pt-BR" dirty="0" smtClean="0"/>
              <a:t>Encadeamento </a:t>
            </a:r>
            <a:r>
              <a:rPr lang="pt-BR" dirty="0" smtClean="0"/>
              <a:t>nos permite executar vários métodos </a:t>
            </a:r>
            <a:r>
              <a:rPr lang="pt-BR" dirty="0" err="1" smtClean="0"/>
              <a:t>jQuery</a:t>
            </a:r>
            <a:r>
              <a:rPr lang="pt-BR" dirty="0" smtClean="0"/>
              <a:t> (no mesmo elemento) dentro de uma única instrução</a:t>
            </a:r>
            <a:r>
              <a:rPr lang="pt-BR" dirty="0" smtClean="0"/>
              <a:t>.</a:t>
            </a:r>
          </a:p>
          <a:p>
            <a:r>
              <a:rPr lang="pt-BR" dirty="0" smtClean="0"/>
              <a:t>Até agora temos estado a escrever declarações </a:t>
            </a:r>
            <a:r>
              <a:rPr lang="pt-BR" dirty="0" err="1" smtClean="0"/>
              <a:t>jQuery</a:t>
            </a:r>
            <a:r>
              <a:rPr lang="pt-BR" dirty="0" smtClean="0"/>
              <a:t> um de cada vez (um após o outro).</a:t>
            </a:r>
          </a:p>
          <a:p>
            <a:r>
              <a:rPr lang="pt-BR" dirty="0" smtClean="0"/>
              <a:t>No </a:t>
            </a:r>
            <a:r>
              <a:rPr lang="pt-BR" dirty="0" smtClean="0"/>
              <a:t>entanto, existe uma técnica chamada encadeamento, que nos permite executar vários comandos </a:t>
            </a:r>
            <a:r>
              <a:rPr lang="pt-BR" dirty="0" err="1" smtClean="0"/>
              <a:t>jQuery</a:t>
            </a:r>
            <a:r>
              <a:rPr lang="pt-BR" dirty="0" smtClean="0"/>
              <a:t>, um após o outro, no mesmo elemento (s).</a:t>
            </a:r>
          </a:p>
          <a:p>
            <a:r>
              <a:rPr lang="pt-BR" dirty="0" smtClean="0"/>
              <a:t>A </a:t>
            </a:r>
            <a:r>
              <a:rPr lang="pt-BR" dirty="0" smtClean="0"/>
              <a:t>cadeia de uma ação, você simplesmente anexar a ação para a ação anterior.</a:t>
            </a:r>
          </a:p>
          <a:p>
            <a:r>
              <a:rPr lang="pt-BR" dirty="0" smtClean="0"/>
              <a:t>O </a:t>
            </a:r>
            <a:r>
              <a:rPr lang="pt-BR" dirty="0" smtClean="0"/>
              <a:t>exemplo a seguir cadeias junto a </a:t>
            </a:r>
            <a:r>
              <a:rPr lang="pt-BR" dirty="0" err="1" smtClean="0"/>
              <a:t>css</a:t>
            </a:r>
            <a:r>
              <a:rPr lang="pt-BR" dirty="0" smtClean="0"/>
              <a:t> (), </a:t>
            </a:r>
            <a:r>
              <a:rPr lang="pt-BR" dirty="0" err="1" smtClean="0"/>
              <a:t>slideUp</a:t>
            </a:r>
            <a:r>
              <a:rPr lang="pt-BR" dirty="0" smtClean="0"/>
              <a:t> (), e </a:t>
            </a:r>
            <a:r>
              <a:rPr lang="pt-BR" dirty="0" err="1" smtClean="0"/>
              <a:t>slideDown</a:t>
            </a:r>
            <a:r>
              <a:rPr lang="pt-BR" dirty="0" smtClean="0"/>
              <a:t> () métodos. O "p1" elemento primeiro muda para vermelho, então ele desliza para cima e, em seguida, ele desliza para baixo: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Encadeamento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$("#p1").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css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color","red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slideUp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(2000).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slideDown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(2000);</a:t>
            </a:r>
          </a:p>
          <a:p>
            <a:endParaRPr lang="pt-BR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55</TotalTime>
  <Words>1013</Words>
  <Application>Microsoft Office PowerPoint</Application>
  <PresentationFormat>Apresentação na tela (4:3)</PresentationFormat>
  <Paragraphs>145</Paragraphs>
  <Slides>35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Mediano</vt:lpstr>
      <vt:lpstr>JQUERY – Parte 2</vt:lpstr>
      <vt:lpstr>Efeitos de Exibição</vt:lpstr>
      <vt:lpstr>Efeitos de Exibição</vt:lpstr>
      <vt:lpstr>Efeitos de Exibição</vt:lpstr>
      <vt:lpstr>Efeitos de Exibição</vt:lpstr>
      <vt:lpstr>Efeitos de Exibição</vt:lpstr>
      <vt:lpstr>Efeitos de Fade</vt:lpstr>
      <vt:lpstr>Efeitos de Fade</vt:lpstr>
      <vt:lpstr>Efeitos de Fade</vt:lpstr>
      <vt:lpstr>Efeitos de Fade</vt:lpstr>
      <vt:lpstr>Efeitos de Fade</vt:lpstr>
      <vt:lpstr>Efeitos de Fade</vt:lpstr>
      <vt:lpstr>Efeitos de Fade</vt:lpstr>
      <vt:lpstr>Efeitos de Fade</vt:lpstr>
      <vt:lpstr>Efeitos de Fade</vt:lpstr>
      <vt:lpstr>Efeitos de Movimento</vt:lpstr>
      <vt:lpstr>Efeitos de Movimento</vt:lpstr>
      <vt:lpstr>Efeitos de Movimento</vt:lpstr>
      <vt:lpstr>Efeitos de Movimento</vt:lpstr>
      <vt:lpstr>Efeitos de Movimento</vt:lpstr>
      <vt:lpstr>Efeitos de Movimento</vt:lpstr>
      <vt:lpstr>Efeitos de Movimento</vt:lpstr>
      <vt:lpstr>Efeitos de animação</vt:lpstr>
      <vt:lpstr>Efeitos de animação</vt:lpstr>
      <vt:lpstr>Efeitos de animação</vt:lpstr>
      <vt:lpstr>Efeitos de animação</vt:lpstr>
      <vt:lpstr>Efeitos de animação</vt:lpstr>
      <vt:lpstr>Efeitos de animação</vt:lpstr>
      <vt:lpstr>Efeitos de animação</vt:lpstr>
      <vt:lpstr>Interrompendo uma animação</vt:lpstr>
      <vt:lpstr>Interrompendo uma animação</vt:lpstr>
      <vt:lpstr>Função de Retorno</vt:lpstr>
      <vt:lpstr>Função de Retorno</vt:lpstr>
      <vt:lpstr>Encadeamento</vt:lpstr>
      <vt:lpstr>Encadeamento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JQUERY – Parte 2</dc:title>
  <dc:creator>aluno</dc:creator>
  <cp:lastModifiedBy>aluno</cp:lastModifiedBy>
  <cp:revision>27</cp:revision>
  <dcterms:created xsi:type="dcterms:W3CDTF">2013-04-25T21:26:25Z</dcterms:created>
  <dcterms:modified xsi:type="dcterms:W3CDTF">2013-04-26T00:31:02Z</dcterms:modified>
</cp:coreProperties>
</file>