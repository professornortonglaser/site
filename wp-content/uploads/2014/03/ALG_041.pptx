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718" autoAdjust="0"/>
  </p:normalViewPr>
  <p:slideViewPr>
    <p:cSldViewPr>
      <p:cViewPr varScale="1">
        <p:scale>
          <a:sx n="86" d="100"/>
          <a:sy n="86" d="100"/>
        </p:scale>
        <p:origin x="-109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18516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D8C01-EAE5-4897-8798-65833E9869EA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28113-FA46-424D-8CDB-8542A95E4DB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E3CE38-0181-4C0F-A6E4-DFB2C5E86EFA}" type="slidenum">
              <a:rPr lang="pt-BR" smtClean="0">
                <a:latin typeface="Times New Roman" pitchFamily="18" charset="0"/>
              </a:rPr>
              <a:pPr/>
              <a:t>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78F417-28B4-4A10-8568-62E8446FF164}" type="slidenum">
              <a:rPr lang="pt-BR" smtClean="0">
                <a:latin typeface="Times New Roman" pitchFamily="18" charset="0"/>
              </a:rPr>
              <a:pPr/>
              <a:t>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DE0A3F-32A7-49D9-B250-B67A14BFA2C1}" type="slidenum">
              <a:rPr lang="pt-BR" smtClean="0">
                <a:latin typeface="Times New Roman" pitchFamily="18" charset="0"/>
              </a:rPr>
              <a:pPr/>
              <a:t>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E6120C-F1CD-48F5-81FB-F8987F70473D}" type="slidenum">
              <a:rPr lang="pt-BR" smtClean="0">
                <a:latin typeface="Times New Roman" pitchFamily="18" charset="0"/>
              </a:rPr>
              <a:pPr/>
              <a:t>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017CD5-5B48-4258-81F9-6C834E343B95}" type="slidenum">
              <a:rPr lang="pt-BR" smtClean="0">
                <a:latin typeface="Times New Roman" pitchFamily="18" charset="0"/>
              </a:rPr>
              <a:pPr/>
              <a:t>6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06FFF3-B8E6-43CB-B705-8F78C5E6F370}" type="slidenum">
              <a:rPr lang="pt-BR" smtClean="0">
                <a:latin typeface="Times New Roman" pitchFamily="18" charset="0"/>
              </a:rPr>
              <a:pPr/>
              <a:t>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6D0363-99CA-43A5-9C6B-ACE55116D95A}" type="slidenum">
              <a:rPr lang="pt-BR" smtClean="0">
                <a:latin typeface="Times New Roman" pitchFamily="18" charset="0"/>
              </a:rPr>
              <a:pPr/>
              <a:t>8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5D4B10-3EDC-4EB3-8075-C2DA7B015E22}" type="slidenum">
              <a:rPr lang="pt-BR" smtClean="0">
                <a:latin typeface="Times New Roman" pitchFamily="18" charset="0"/>
              </a:rPr>
              <a:pPr/>
              <a:t>9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F674FD-4023-40C2-99BD-C2E2222B0758}" type="slidenum">
              <a:rPr lang="pt-BR" smtClean="0">
                <a:latin typeface="Times New Roman" pitchFamily="18" charset="0"/>
              </a:rPr>
              <a:pPr/>
              <a:t>10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FA9B96-255F-40CC-BD52-1426518AB7B9}" type="slidenum">
              <a:rPr lang="pt-BR" smtClean="0">
                <a:latin typeface="Times New Roman" pitchFamily="18" charset="0"/>
              </a:rPr>
              <a:pPr/>
              <a:t>11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A45EF0-CC91-40D3-B122-5E46EB5D8F31}" type="slidenum">
              <a:rPr lang="pt-BR" smtClean="0">
                <a:latin typeface="Times New Roman" pitchFamily="18" charset="0"/>
              </a:rPr>
              <a:pPr/>
              <a:t>12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dirty="0" smtClean="0"/>
              <a:t>Clique para editar o estilo do título mestre</a:t>
            </a:r>
            <a:endParaRPr kumimoji="0"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307593C-3398-4BB6-B946-0A7D4C010F0C}" type="datetimeFigureOut">
              <a:rPr lang="pt-BR" smtClean="0"/>
              <a:pPr/>
              <a:t>29/09/2014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86BE104-37B4-4427-BE1F-3007249D5AE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mtClean="0"/>
              <a:t>Algoritmos</a:t>
            </a:r>
            <a:endParaRPr lang="pt-BR" dirty="0"/>
          </a:p>
        </p:txBody>
      </p:sp>
      <p:sp>
        <p:nvSpPr>
          <p:cNvPr id="8" name="Subtítulo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Comandos </a:t>
            </a:r>
            <a:r>
              <a:rPr lang="pt-BR" smtClean="0"/>
              <a:t>de repetição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Estruturas de Repetição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São aquelas que permitem executar mais de uma vez (repetir) um determinado trecho do algoritmo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O trecho do algoritmo em repetição é também chamado de laço (ou “loop”)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As repetições devem ser sempre finitas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Quanto a quantidade de repetições, os laços podem ser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Pré-determinados: Sabe-se antes a quantidade de execuções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Indeterminados: Não se conhece a quantidade de execuções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Quanto ao critério de parada, os laços podem utilizar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Teste no início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Teste no final</a:t>
            </a:r>
          </a:p>
          <a:p>
            <a:pPr marL="740664" lvl="1" fontAlgn="auto">
              <a:spcAft>
                <a:spcPts val="0"/>
              </a:spcAft>
              <a:buFont typeface="Wingdings"/>
              <a:buChar char=""/>
              <a:defRPr/>
            </a:pPr>
            <a:r>
              <a:rPr lang="pt-BR" sz="2000" dirty="0" smtClean="0"/>
              <a:t>Variável de controle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12763"/>
            <a:ext cx="8291512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Laço que verifica antes de cada execução, se é “permitido” executar o trecho do algoritmo</a:t>
            </a:r>
          </a:p>
          <a:p>
            <a:endParaRPr lang="pt-BR" sz="2400" dirty="0" smtClean="0"/>
          </a:p>
          <a:p>
            <a:r>
              <a:rPr lang="pt-BR" sz="2400" dirty="0" smtClean="0"/>
              <a:t>Trata-se de um laço que se mantém repetindo enquanto uma dada condição permanecer verdadeira</a:t>
            </a:r>
          </a:p>
          <a:p>
            <a:endParaRPr lang="pt-BR" sz="2400" dirty="0" smtClean="0"/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228600" y="3962400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enquanto</a:t>
            </a:r>
            <a:r>
              <a:rPr lang="pt-BR" sz="2000">
                <a:latin typeface="Arial" charset="0"/>
                <a:cs typeface="Times New Roman" pitchFamily="18" charset="0"/>
              </a:rPr>
              <a:t> &lt;condição&gt; </a:t>
            </a:r>
            <a:r>
              <a:rPr lang="pt-BR" sz="2000" b="1">
                <a:latin typeface="Arial" charset="0"/>
                <a:cs typeface="Times New Roman" pitchFamily="18" charset="0"/>
              </a:rPr>
              <a:t>faça</a:t>
            </a:r>
            <a:endParaRPr lang="pt-BR" sz="20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...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fimenquanto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  <a:endParaRPr lang="pt-BR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33" name="Rectangle 29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34" name="Rectangle 30"/>
          <p:cNvSpPr>
            <a:spLocks noChangeArrowheads="1"/>
          </p:cNvSpPr>
          <p:nvPr/>
        </p:nvSpPr>
        <p:spPr bwMode="auto">
          <a:xfrm>
            <a:off x="762000" y="4572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30" name="Rectangle 26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31" name="Rectangle 27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32" name="Rectangle 28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8" name="Rectangle 24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9" name="Rectangle 25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7" name="Rectangle 23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6" name="Rectangle 22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2" name="Rectangle 18"/>
          <p:cNvSpPr>
            <a:spLocks noChangeArrowheads="1"/>
          </p:cNvSpPr>
          <p:nvPr/>
        </p:nvSpPr>
        <p:spPr bwMode="auto">
          <a:xfrm>
            <a:off x="762000" y="3352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3" name="Rectangle 19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4" name="Rectangle 20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1" name="Rectangle 17"/>
          <p:cNvSpPr>
            <a:spLocks noChangeArrowheads="1"/>
          </p:cNvSpPr>
          <p:nvPr/>
        </p:nvSpPr>
        <p:spPr bwMode="auto">
          <a:xfrm>
            <a:off x="762000" y="3048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7120" name="Rectangle 16"/>
          <p:cNvSpPr>
            <a:spLocks noChangeArrowheads="1"/>
          </p:cNvSpPr>
          <p:nvPr/>
        </p:nvSpPr>
        <p:spPr bwMode="auto">
          <a:xfrm>
            <a:off x="762000" y="2743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56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14705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4200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b="1" dirty="0" smtClean="0"/>
              <a:t>Contador</a:t>
            </a:r>
            <a:r>
              <a:rPr lang="pt-BR" dirty="0" smtClean="0"/>
              <a:t>: Variável que reproduz o processo de contagem</a:t>
            </a:r>
          </a:p>
        </p:txBody>
      </p:sp>
      <p:sp>
        <p:nvSpPr>
          <p:cNvPr id="42002" name="Rectangle 6"/>
          <p:cNvSpPr>
            <a:spLocks noChangeArrowheads="1"/>
          </p:cNvSpPr>
          <p:nvPr/>
        </p:nvSpPr>
        <p:spPr bwMode="auto">
          <a:xfrm>
            <a:off x="990600" y="2743200"/>
            <a:ext cx="38862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latin typeface="Arial" charset="0"/>
                <a:cs typeface="Times New Roman" pitchFamily="18" charset="0"/>
              </a:rPr>
              <a:t>{</a:t>
            </a:r>
            <a:endParaRPr lang="pt-BR" sz="20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2000" b="1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CON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COM  = </a:t>
            </a:r>
            <a:r>
              <a:rPr lang="pt-BR" sz="2000" dirty="0">
                <a:latin typeface="Arial" charset="0"/>
                <a:cs typeface="Times New Roman" pitchFamily="18" charset="0"/>
              </a:rPr>
              <a:t>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 smtClean="0">
                <a:latin typeface="Arial" charset="0"/>
                <a:cs typeface="Times New Roman" pitchFamily="18" charset="0"/>
              </a:rPr>
              <a:t>	</a:t>
            </a:r>
            <a:r>
              <a:rPr lang="pt-BR" sz="2000" dirty="0" err="1" smtClean="0">
                <a:latin typeface="Arial" charset="0"/>
                <a:cs typeface="Times New Roman" pitchFamily="18" charset="0"/>
              </a:rPr>
              <a:t>While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(CON </a:t>
            </a:r>
            <a:r>
              <a:rPr lang="pt-BR" sz="2000" dirty="0">
                <a:latin typeface="Arial" charset="0"/>
                <a:cs typeface="Times New Roman" pitchFamily="18" charset="0"/>
              </a:rPr>
              <a:t>&lt; 3 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) </a:t>
            </a:r>
            <a:r>
              <a:rPr lang="pt-BR" sz="2000" b="1" dirty="0" smtClean="0">
                <a:latin typeface="Arial" charset="0"/>
                <a:cs typeface="Times New Roman" pitchFamily="18" charset="0"/>
              </a:rPr>
              <a:t>{</a:t>
            </a:r>
            <a:endParaRPr lang="pt-BR" sz="20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CON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2000" dirty="0">
                <a:latin typeface="Arial" charset="0"/>
                <a:cs typeface="Times New Roman" pitchFamily="18" charset="0"/>
              </a:rPr>
              <a:t>CON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 smtClean="0">
                <a:latin typeface="Arial" charset="0"/>
                <a:cs typeface="Times New Roman" pitchFamily="18" charset="0"/>
              </a:rPr>
              <a:t>	}</a:t>
            </a:r>
            <a:endParaRPr lang="pt-BR" sz="20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latin typeface="Arial" charset="0"/>
                <a:cs typeface="Times New Roman" pitchFamily="18" charset="0"/>
              </a:rPr>
              <a:t>}</a:t>
            </a:r>
            <a:endParaRPr lang="pt-BR" sz="2000" b="1" dirty="0">
              <a:latin typeface="Arial" charset="0"/>
              <a:cs typeface="Times New Roman" pitchFamily="18" charset="0"/>
            </a:endParaRPr>
          </a:p>
        </p:txBody>
      </p:sp>
      <p:sp>
        <p:nvSpPr>
          <p:cNvPr id="42003" name="Rectangle 7"/>
          <p:cNvSpPr>
            <a:spLocks noChangeArrowheads="1"/>
          </p:cNvSpPr>
          <p:nvPr/>
        </p:nvSpPr>
        <p:spPr bwMode="auto">
          <a:xfrm>
            <a:off x="5334000" y="3200400"/>
            <a:ext cx="9144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CON</a:t>
            </a:r>
          </a:p>
        </p:txBody>
      </p:sp>
      <p:sp>
        <p:nvSpPr>
          <p:cNvPr id="42004" name="Rectangle 8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pt-BR" sz="2000" b="1">
              <a:latin typeface="Arial" charset="0"/>
            </a:endParaRPr>
          </a:p>
        </p:txBody>
      </p:sp>
      <p:sp>
        <p:nvSpPr>
          <p:cNvPr id="47125" name="Rectangle 21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0</a:t>
            </a:r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1</a:t>
            </a:r>
          </a:p>
        </p:txBody>
      </p:sp>
      <p:sp>
        <p:nvSpPr>
          <p:cNvPr id="47115" name="Rectangle 11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2</a:t>
            </a:r>
          </a:p>
        </p:txBody>
      </p:sp>
      <p:sp>
        <p:nvSpPr>
          <p:cNvPr id="47116" name="Rectangle 12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 dirty="0">
                <a:latin typeface="Arial" charset="0"/>
              </a:rPr>
              <a:t>3</a:t>
            </a:r>
          </a:p>
        </p:txBody>
      </p:sp>
      <p:sp>
        <p:nvSpPr>
          <p:cNvPr id="47135" name="Rectangle 31"/>
          <p:cNvSpPr>
            <a:spLocks noChangeArrowheads="1"/>
          </p:cNvSpPr>
          <p:nvPr/>
        </p:nvSpPr>
        <p:spPr bwMode="auto">
          <a:xfrm>
            <a:off x="762000" y="4876800"/>
            <a:ext cx="41148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3" grpId="0" animBg="1"/>
      <p:bldP spid="47134" grpId="0" animBg="1"/>
      <p:bldP spid="47130" grpId="0" animBg="1"/>
      <p:bldP spid="47131" grpId="0" animBg="1"/>
      <p:bldP spid="47132" grpId="0" animBg="1"/>
      <p:bldP spid="47128" grpId="0" animBg="1"/>
      <p:bldP spid="47129" grpId="0" animBg="1"/>
      <p:bldP spid="47127" grpId="0" animBg="1"/>
      <p:bldP spid="47126" grpId="0" animBg="1"/>
      <p:bldP spid="47122" grpId="0" animBg="1"/>
      <p:bldP spid="47123" grpId="0" animBg="1"/>
      <p:bldP spid="47124" grpId="0" animBg="1"/>
      <p:bldP spid="47121" grpId="0" animBg="1"/>
      <p:bldP spid="47120" grpId="0" animBg="1"/>
      <p:bldP spid="47125" grpId="0" animBg="1" autoUpdateAnimBg="0"/>
      <p:bldP spid="47114" grpId="0" animBg="1" autoUpdateAnimBg="0"/>
      <p:bldP spid="47115" grpId="0" animBg="1" autoUpdateAnimBg="0"/>
      <p:bldP spid="47116" grpId="0" animBg="1" autoUpdateAnimBg="0"/>
      <p:bldP spid="471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1600"/>
            <a:ext cx="8343900" cy="9144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0" y="1142984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	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N1, N2, N3, N4,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notas bimestrais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b="1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b="1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MA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: </a:t>
            </a:r>
            <a:r>
              <a:rPr lang="pt-BR" sz="1800" dirty="0">
                <a:latin typeface="Arial" charset="0"/>
                <a:cs typeface="Times New Roman" pitchFamily="18" charset="0"/>
              </a:rPr>
              <a:t>CON;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COM = </a:t>
            </a:r>
            <a:r>
              <a:rPr lang="pt-BR" sz="1800" dirty="0">
                <a:latin typeface="Arial" charset="0"/>
                <a:cs typeface="Times New Roman" pitchFamily="18" charset="0"/>
              </a:rPr>
              <a:t>0;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inicialização do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while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(CON </a:t>
            </a:r>
            <a:r>
              <a:rPr lang="pt-BR" sz="1800" dirty="0">
                <a:latin typeface="Arial" charset="0"/>
                <a:cs typeface="Times New Roman" pitchFamily="18" charset="0"/>
              </a:rPr>
              <a:t>&lt; 50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) {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teste da condição de parada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&gt;&gt;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N1;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 smtClean="0">
                <a:latin typeface="Arial" charset="0"/>
                <a:cs typeface="Times New Roman" pitchFamily="18" charset="0"/>
              </a:rPr>
              <a:t>	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		</a:t>
            </a:r>
            <a:r>
              <a:rPr lang="pt-BR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&gt;&gt;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N2;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 smtClean="0">
                <a:latin typeface="Arial" charset="0"/>
                <a:cs typeface="Times New Roman" pitchFamily="18" charset="0"/>
              </a:rPr>
              <a:t>	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		</a:t>
            </a:r>
            <a:r>
              <a:rPr lang="pt-BR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&gt;&gt;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N3;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dirty="0" smtClean="0">
                <a:latin typeface="Arial" charset="0"/>
                <a:cs typeface="Times New Roman" pitchFamily="18" charset="0"/>
              </a:rPr>
              <a:t>	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		</a:t>
            </a:r>
            <a:r>
              <a:rPr lang="pt-BR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&gt;&gt;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N4;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dirty="0">
                <a:latin typeface="Arial" charset="0"/>
                <a:cs typeface="Times New Roman" pitchFamily="18" charset="0"/>
              </a:rPr>
              <a:t>MA </a:t>
            </a:r>
            <a:r>
              <a:rPr lang="pt-BR" dirty="0" smtClean="0">
                <a:latin typeface="Symbol" pitchFamily="18" charset="2"/>
                <a:cs typeface="Times New Roman" pitchFamily="18" charset="0"/>
              </a:rPr>
              <a:t>=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(</a:t>
            </a:r>
            <a:r>
              <a:rPr lang="pt-BR" sz="1800" dirty="0">
                <a:latin typeface="Arial" charset="0"/>
                <a:cs typeface="Times New Roman" pitchFamily="18" charset="0"/>
              </a:rPr>
              <a:t>N1 + N2 + N3 + N4) / 4;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cout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&lt;&lt;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MA;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if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(MA </a:t>
            </a:r>
            <a:r>
              <a:rPr lang="pt-BR" sz="1800" dirty="0">
                <a:latin typeface="Arial" charset="0"/>
                <a:cs typeface="Times New Roman" pitchFamily="18" charset="0"/>
              </a:rPr>
              <a:t>&gt;= 7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){</a:t>
            </a:r>
            <a:endParaRPr lang="pt-BR" sz="18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cout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 &lt;&lt;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“Aluno </a:t>
            </a:r>
            <a:r>
              <a:rPr lang="pt-BR" sz="1800" dirty="0">
                <a:latin typeface="Arial" charset="0"/>
                <a:cs typeface="Times New Roman" pitchFamily="18" charset="0"/>
              </a:rPr>
              <a:t>Aprovado. Parabéns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!”; 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} 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else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latin typeface="Arial" charset="0"/>
                <a:cs typeface="Times New Roman" pitchFamily="18" charset="0"/>
              </a:rPr>
              <a:t>	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cout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&lt;&lt;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“</a:t>
            </a:r>
            <a:r>
              <a:rPr lang="pt-BR" sz="1800" dirty="0">
                <a:latin typeface="Arial" charset="0"/>
                <a:cs typeface="Times New Roman" pitchFamily="18" charset="0"/>
              </a:rPr>
              <a:t>Aluno Reprovado. Estude mais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!”;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}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 </a:t>
            </a:r>
            <a:r>
              <a:rPr lang="pt-BR" sz="18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CON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dirty="0">
                <a:solidFill>
                  <a:srgbClr val="333333"/>
                </a:solidFill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CON + 1;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incremento do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     }  </a:t>
            </a:r>
            <a:r>
              <a:rPr lang="pt-BR" sz="1800" dirty="0" smtClean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fim enquanto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428860" y="6473825"/>
            <a:ext cx="6715140" cy="31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3.7 - Média Aritmética para 50 alunos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08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27" name="Rectangle 31"/>
          <p:cNvSpPr>
            <a:spLocks noChangeArrowheads="1"/>
          </p:cNvSpPr>
          <p:nvPr/>
        </p:nvSpPr>
        <p:spPr bwMode="auto">
          <a:xfrm>
            <a:off x="762000" y="4876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8" name="Rectangle 32"/>
          <p:cNvSpPr>
            <a:spLocks noChangeArrowheads="1"/>
          </p:cNvSpPr>
          <p:nvPr/>
        </p:nvSpPr>
        <p:spPr bwMode="auto">
          <a:xfrm>
            <a:off x="762000" y="5181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5" name="Rectangle 29"/>
          <p:cNvSpPr>
            <a:spLocks noChangeArrowheads="1"/>
          </p:cNvSpPr>
          <p:nvPr/>
        </p:nvSpPr>
        <p:spPr bwMode="auto">
          <a:xfrm>
            <a:off x="762000" y="4876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6" name="Rectangle 30"/>
          <p:cNvSpPr>
            <a:spLocks noChangeArrowheads="1"/>
          </p:cNvSpPr>
          <p:nvPr/>
        </p:nvSpPr>
        <p:spPr bwMode="auto">
          <a:xfrm>
            <a:off x="762000" y="5181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auto">
          <a:xfrm>
            <a:off x="762000" y="4572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762000" y="4572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2" name="Rectangle 26"/>
          <p:cNvSpPr>
            <a:spLocks noChangeArrowheads="1"/>
          </p:cNvSpPr>
          <p:nvPr/>
        </p:nvSpPr>
        <p:spPr bwMode="auto">
          <a:xfrm>
            <a:off x="762000" y="4572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3" name="Rectangle 27"/>
          <p:cNvSpPr>
            <a:spLocks noChangeArrowheads="1"/>
          </p:cNvSpPr>
          <p:nvPr/>
        </p:nvSpPr>
        <p:spPr bwMode="auto">
          <a:xfrm>
            <a:off x="762000" y="4876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24" name="Rectangle 28"/>
          <p:cNvSpPr>
            <a:spLocks noChangeArrowheads="1"/>
          </p:cNvSpPr>
          <p:nvPr/>
        </p:nvSpPr>
        <p:spPr bwMode="auto">
          <a:xfrm>
            <a:off x="762000" y="5181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762000" y="5486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6" name="Rectangle 10"/>
          <p:cNvSpPr>
            <a:spLocks noChangeArrowheads="1"/>
          </p:cNvSpPr>
          <p:nvPr/>
        </p:nvSpPr>
        <p:spPr bwMode="auto">
          <a:xfrm>
            <a:off x="762000" y="4267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762000" y="33528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8" name="Rectangle 12"/>
          <p:cNvSpPr>
            <a:spLocks noChangeArrowheads="1"/>
          </p:cNvSpPr>
          <p:nvPr/>
        </p:nvSpPr>
        <p:spPr bwMode="auto">
          <a:xfrm>
            <a:off x="762000" y="36576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09" name="Rectangle 13"/>
          <p:cNvSpPr>
            <a:spLocks noChangeArrowheads="1"/>
          </p:cNvSpPr>
          <p:nvPr/>
        </p:nvSpPr>
        <p:spPr bwMode="auto">
          <a:xfrm>
            <a:off x="762000" y="39624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10" name="Rectangle 14"/>
          <p:cNvSpPr>
            <a:spLocks noChangeArrowheads="1"/>
          </p:cNvSpPr>
          <p:nvPr/>
        </p:nvSpPr>
        <p:spPr bwMode="auto">
          <a:xfrm>
            <a:off x="762000" y="30480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5311" name="Rectangle 15"/>
          <p:cNvSpPr>
            <a:spLocks noChangeArrowheads="1"/>
          </p:cNvSpPr>
          <p:nvPr/>
        </p:nvSpPr>
        <p:spPr bwMode="auto">
          <a:xfrm>
            <a:off x="762000" y="2743200"/>
            <a:ext cx="4114800" cy="3048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27671" name="Rectangle 16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435975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27672" name="Rectangle 17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914400"/>
          </a:xfrm>
        </p:spPr>
        <p:txBody>
          <a:bodyPr>
            <a:normAutofit/>
          </a:bodyPr>
          <a:lstStyle/>
          <a:p>
            <a:pPr marL="411480" fontAlgn="auto">
              <a:lnSpc>
                <a:spcPct val="90000"/>
              </a:lnSpc>
              <a:spcAft>
                <a:spcPts val="0"/>
              </a:spcAft>
              <a:buFont typeface="Wingdings"/>
              <a:buChar char=""/>
              <a:defRPr/>
            </a:pPr>
            <a:r>
              <a:rPr lang="pt-BR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Acumulador</a:t>
            </a:r>
            <a:r>
              <a:rPr lang="pt-BR" dirty="0" smtClean="0"/>
              <a:t>: Variável que reproduz o processo de acumulação</a:t>
            </a:r>
          </a:p>
        </p:txBody>
      </p:sp>
      <p:sp>
        <p:nvSpPr>
          <p:cNvPr id="44057" name="Rectangle 18"/>
          <p:cNvSpPr>
            <a:spLocks noChangeArrowheads="1"/>
          </p:cNvSpPr>
          <p:nvPr/>
        </p:nvSpPr>
        <p:spPr bwMode="auto">
          <a:xfrm>
            <a:off x="990600" y="2743200"/>
            <a:ext cx="3886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latin typeface="Arial" charset="0"/>
                <a:cs typeface="Times New Roman" pitchFamily="18" charset="0"/>
              </a:rPr>
              <a:t>{</a:t>
            </a:r>
            <a:endParaRPr lang="pt-BR" sz="20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2000" b="1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2000" dirty="0">
                <a:latin typeface="Arial" charset="0"/>
                <a:cs typeface="Times New Roman" pitchFamily="18" charset="0"/>
              </a:rPr>
              <a:t>CON, X, ACM;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COM = </a:t>
            </a:r>
            <a:r>
              <a:rPr lang="pt-BR" sz="2000" dirty="0">
                <a:latin typeface="Arial" charset="0"/>
                <a:cs typeface="Times New Roman" pitchFamily="18" charset="0"/>
              </a:rPr>
              <a:t>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ACM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2000" dirty="0">
                <a:latin typeface="Arial" charset="0"/>
                <a:cs typeface="Times New Roman" pitchFamily="18" charset="0"/>
              </a:rPr>
              <a:t>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 err="1" smtClean="0">
                <a:latin typeface="Arial" charset="0"/>
                <a:cs typeface="Times New Roman" pitchFamily="18" charset="0"/>
              </a:rPr>
              <a:t>while</a:t>
            </a:r>
            <a:r>
              <a:rPr lang="pt-BR" sz="2000" b="1" dirty="0" smtClean="0">
                <a:latin typeface="Arial" charset="0"/>
                <a:cs typeface="Times New Roman" pitchFamily="18" charset="0"/>
              </a:rPr>
              <a:t>(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2000" dirty="0">
                <a:latin typeface="Arial" charset="0"/>
                <a:cs typeface="Times New Roman" pitchFamily="18" charset="0"/>
              </a:rPr>
              <a:t>CON &lt; 3 </a:t>
            </a:r>
            <a:r>
              <a:rPr lang="pt-BR" sz="2000" b="1" dirty="0" smtClean="0">
                <a:latin typeface="Arial" charset="0"/>
                <a:cs typeface="Times New Roman" pitchFamily="18" charset="0"/>
              </a:rPr>
              <a:t>)</a:t>
            </a:r>
            <a:endParaRPr lang="pt-BR" sz="20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CON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2000" dirty="0">
                <a:latin typeface="Arial" charset="0"/>
                <a:cs typeface="Times New Roman" pitchFamily="18" charset="0"/>
              </a:rPr>
              <a:t>CON 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b="1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sz="2000" b="1" dirty="0" smtClean="0">
                <a:latin typeface="Arial" charset="0"/>
                <a:cs typeface="Times New Roman" pitchFamily="18" charset="0"/>
              </a:rPr>
              <a:t> &gt;&gt; </a:t>
            </a:r>
            <a:r>
              <a:rPr lang="pt-BR" sz="2000" dirty="0" smtClean="0">
                <a:latin typeface="Arial" charset="0"/>
                <a:cs typeface="Times New Roman" pitchFamily="18" charset="0"/>
              </a:rPr>
              <a:t>X;</a:t>
            </a:r>
            <a:endParaRPr lang="pt-BR" sz="20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	</a:t>
            </a: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ACM </a:t>
            </a:r>
            <a:r>
              <a:rPr lang="pt-BR" sz="1800" dirty="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¬</a:t>
            </a:r>
            <a:r>
              <a:rPr lang="pt-BR" sz="20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 ACM + X</a:t>
            </a:r>
            <a:r>
              <a:rPr lang="pt-BR" sz="2000" dirty="0">
                <a:latin typeface="Arial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dirty="0">
                <a:latin typeface="Arial" charset="0"/>
                <a:cs typeface="Times New Roman" pitchFamily="18" charset="0"/>
              </a:rPr>
              <a:t>	</a:t>
            </a:r>
            <a:r>
              <a:rPr lang="pt-BR" sz="2000" b="1" dirty="0" smtClean="0">
                <a:latin typeface="Arial" charset="0"/>
                <a:cs typeface="Times New Roman" pitchFamily="18" charset="0"/>
              </a:rPr>
              <a:t>}</a:t>
            </a:r>
            <a:endParaRPr lang="pt-BR" sz="20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latin typeface="Arial" charset="0"/>
                <a:cs typeface="Times New Roman" pitchFamily="18" charset="0"/>
              </a:rPr>
              <a:t>}</a:t>
            </a:r>
            <a:endParaRPr lang="pt-BR" sz="2000" b="1" dirty="0">
              <a:latin typeface="Arial" charset="0"/>
              <a:cs typeface="Times New Roman" pitchFamily="18" charset="0"/>
            </a:endParaRPr>
          </a:p>
        </p:txBody>
      </p:sp>
      <p:sp>
        <p:nvSpPr>
          <p:cNvPr id="44058" name="Rectangle 19"/>
          <p:cNvSpPr>
            <a:spLocks noChangeArrowheads="1"/>
          </p:cNvSpPr>
          <p:nvPr/>
        </p:nvSpPr>
        <p:spPr bwMode="auto">
          <a:xfrm>
            <a:off x="5334000" y="3200400"/>
            <a:ext cx="9144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CON</a:t>
            </a:r>
          </a:p>
        </p:txBody>
      </p:sp>
      <p:sp>
        <p:nvSpPr>
          <p:cNvPr id="44059" name="Rectangle 20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pt-BR" sz="2000" b="1">
              <a:latin typeface="Arial" charset="0"/>
            </a:endParaRPr>
          </a:p>
        </p:txBody>
      </p:sp>
      <p:sp>
        <p:nvSpPr>
          <p:cNvPr id="55317" name="Rectangle 21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0</a:t>
            </a:r>
          </a:p>
        </p:txBody>
      </p:sp>
      <p:sp>
        <p:nvSpPr>
          <p:cNvPr id="55318" name="Rectangle 22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1</a:t>
            </a:r>
          </a:p>
        </p:txBody>
      </p:sp>
      <p:sp>
        <p:nvSpPr>
          <p:cNvPr id="55319" name="Rectangle 23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2</a:t>
            </a:r>
          </a:p>
        </p:txBody>
      </p:sp>
      <p:sp>
        <p:nvSpPr>
          <p:cNvPr id="55320" name="Rectangle 24"/>
          <p:cNvSpPr>
            <a:spLocks noChangeArrowheads="1"/>
          </p:cNvSpPr>
          <p:nvPr/>
        </p:nvSpPr>
        <p:spPr bwMode="auto">
          <a:xfrm>
            <a:off x="53340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 dirty="0">
                <a:latin typeface="Arial" charset="0"/>
              </a:rPr>
              <a:t>3</a:t>
            </a:r>
          </a:p>
        </p:txBody>
      </p:sp>
      <p:sp>
        <p:nvSpPr>
          <p:cNvPr id="55321" name="Rectangle 25"/>
          <p:cNvSpPr>
            <a:spLocks noChangeArrowheads="1"/>
          </p:cNvSpPr>
          <p:nvPr/>
        </p:nvSpPr>
        <p:spPr bwMode="auto">
          <a:xfrm>
            <a:off x="762000" y="5791200"/>
            <a:ext cx="41148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44065" name="Rectangle 33"/>
          <p:cNvSpPr>
            <a:spLocks noChangeArrowheads="1"/>
          </p:cNvSpPr>
          <p:nvPr/>
        </p:nvSpPr>
        <p:spPr bwMode="auto">
          <a:xfrm>
            <a:off x="6248400" y="3200400"/>
            <a:ext cx="9144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ACM</a:t>
            </a:r>
          </a:p>
        </p:txBody>
      </p:sp>
      <p:sp>
        <p:nvSpPr>
          <p:cNvPr id="44066" name="Rectangle 34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pt-BR" sz="2000" b="1">
              <a:latin typeface="Arial" charset="0"/>
            </a:endParaRPr>
          </a:p>
        </p:txBody>
      </p:sp>
      <p:sp>
        <p:nvSpPr>
          <p:cNvPr id="55331" name="Rectangle 35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0</a:t>
            </a:r>
          </a:p>
        </p:txBody>
      </p:sp>
      <p:sp>
        <p:nvSpPr>
          <p:cNvPr id="55332" name="Rectangle 36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5</a:t>
            </a:r>
          </a:p>
        </p:txBody>
      </p:sp>
      <p:sp>
        <p:nvSpPr>
          <p:cNvPr id="55333" name="Rectangle 37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7</a:t>
            </a:r>
          </a:p>
        </p:txBody>
      </p:sp>
      <p:sp>
        <p:nvSpPr>
          <p:cNvPr id="55334" name="Rectangle 38"/>
          <p:cNvSpPr>
            <a:spLocks noChangeArrowheads="1"/>
          </p:cNvSpPr>
          <p:nvPr/>
        </p:nvSpPr>
        <p:spPr bwMode="auto">
          <a:xfrm>
            <a:off x="62484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 dirty="0">
                <a:latin typeface="Arial" charset="0"/>
              </a:rPr>
              <a:t>11</a:t>
            </a:r>
          </a:p>
        </p:txBody>
      </p:sp>
      <p:sp>
        <p:nvSpPr>
          <p:cNvPr id="44071" name="Rectangle 39"/>
          <p:cNvSpPr>
            <a:spLocks noChangeArrowheads="1"/>
          </p:cNvSpPr>
          <p:nvPr/>
        </p:nvSpPr>
        <p:spPr bwMode="auto">
          <a:xfrm>
            <a:off x="7162800" y="3200400"/>
            <a:ext cx="9144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X</a:t>
            </a:r>
          </a:p>
        </p:txBody>
      </p:sp>
      <p:sp>
        <p:nvSpPr>
          <p:cNvPr id="44072" name="Rectangle 40"/>
          <p:cNvSpPr>
            <a:spLocks noChangeArrowheads="1"/>
          </p:cNvSpPr>
          <p:nvPr/>
        </p:nvSpPr>
        <p:spPr bwMode="auto">
          <a:xfrm>
            <a:off x="7162800" y="3733800"/>
            <a:ext cx="914400" cy="533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pt-BR" sz="2000" b="1">
              <a:latin typeface="Arial" charset="0"/>
            </a:endParaRPr>
          </a:p>
        </p:txBody>
      </p:sp>
      <p:sp>
        <p:nvSpPr>
          <p:cNvPr id="55337" name="Rectangle 41"/>
          <p:cNvSpPr>
            <a:spLocks noChangeArrowheads="1"/>
          </p:cNvSpPr>
          <p:nvPr/>
        </p:nvSpPr>
        <p:spPr bwMode="auto">
          <a:xfrm>
            <a:off x="71628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5</a:t>
            </a:r>
          </a:p>
        </p:txBody>
      </p:sp>
      <p:sp>
        <p:nvSpPr>
          <p:cNvPr id="55338" name="Rectangle 42"/>
          <p:cNvSpPr>
            <a:spLocks noChangeArrowheads="1"/>
          </p:cNvSpPr>
          <p:nvPr/>
        </p:nvSpPr>
        <p:spPr bwMode="auto">
          <a:xfrm>
            <a:off x="71628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>
                <a:latin typeface="Arial" charset="0"/>
              </a:rPr>
              <a:t>2</a:t>
            </a:r>
          </a:p>
        </p:txBody>
      </p:sp>
      <p:sp>
        <p:nvSpPr>
          <p:cNvPr id="55339" name="Rectangle 43"/>
          <p:cNvSpPr>
            <a:spLocks noChangeArrowheads="1"/>
          </p:cNvSpPr>
          <p:nvPr/>
        </p:nvSpPr>
        <p:spPr bwMode="auto">
          <a:xfrm>
            <a:off x="7162800" y="3733800"/>
            <a:ext cx="914400" cy="53340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pt-BR" sz="2000" b="1" dirty="0">
                <a:latin typeface="Arial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27" grpId="0" animBg="1"/>
      <p:bldP spid="55328" grpId="0" animBg="1"/>
      <p:bldP spid="55325" grpId="0" animBg="1"/>
      <p:bldP spid="55326" grpId="0" animBg="1"/>
      <p:bldP spid="55302" grpId="0" animBg="1"/>
      <p:bldP spid="55304" grpId="0" animBg="1"/>
      <p:bldP spid="55322" grpId="0" animBg="1"/>
      <p:bldP spid="55323" grpId="0" animBg="1"/>
      <p:bldP spid="55324" grpId="0" animBg="1"/>
      <p:bldP spid="55298" grpId="0" animBg="1"/>
      <p:bldP spid="55299" grpId="0" animBg="1"/>
      <p:bldP spid="55300" grpId="0" animBg="1"/>
      <p:bldP spid="55301" grpId="0" animBg="1"/>
      <p:bldP spid="55303" grpId="0" animBg="1"/>
      <p:bldP spid="55305" grpId="0" animBg="1"/>
      <p:bldP spid="55306" grpId="0" animBg="1"/>
      <p:bldP spid="55307" grpId="0" animBg="1"/>
      <p:bldP spid="55308" grpId="0" animBg="1"/>
      <p:bldP spid="55309" grpId="0" animBg="1"/>
      <p:bldP spid="55310" grpId="0" animBg="1"/>
      <p:bldP spid="55311" grpId="0" animBg="1"/>
      <p:bldP spid="55317" grpId="0" animBg="1" autoUpdateAnimBg="0"/>
      <p:bldP spid="55318" grpId="0" animBg="1" autoUpdateAnimBg="0"/>
      <p:bldP spid="55319" grpId="0" animBg="1" autoUpdateAnimBg="0"/>
      <p:bldP spid="55320" grpId="0" animBg="1" autoUpdateAnimBg="0"/>
      <p:bldP spid="55321" grpId="0" animBg="1"/>
      <p:bldP spid="55331" grpId="0" animBg="1" autoUpdateAnimBg="0"/>
      <p:bldP spid="55332" grpId="0" animBg="1" autoUpdateAnimBg="0"/>
      <p:bldP spid="55333" grpId="0" animBg="1" autoUpdateAnimBg="0"/>
      <p:bldP spid="55334" grpId="0" animBg="1" autoUpdateAnimBg="0"/>
      <p:bldP spid="55337" grpId="0" animBg="1" autoUpdateAnimBg="0"/>
      <p:bldP spid="55338" grpId="0" animBg="1" autoUpdateAnimBg="0"/>
      <p:bldP spid="55339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93688"/>
            <a:ext cx="84582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Início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228600" y="1628775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{</a:t>
            </a:r>
            <a:endParaRPr lang="pt-BR" sz="18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	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b="1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MA;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 de dado aluno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ACM</a:t>
            </a:r>
            <a:r>
              <a:rPr lang="pt-BR" sz="1800" dirty="0">
                <a:latin typeface="Arial" charset="0"/>
                <a:cs typeface="Times New Roman" pitchFamily="18" charset="0"/>
              </a:rPr>
              <a:t>,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Acumulador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MAT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 da Turma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>
                <a:latin typeface="Arial" charset="0"/>
                <a:cs typeface="Times New Roman" pitchFamily="18" charset="0"/>
              </a:rPr>
              <a:t>inteiro</a:t>
            </a:r>
            <a:r>
              <a:rPr lang="pt-BR" sz="1800" dirty="0">
                <a:latin typeface="Arial" charset="0"/>
                <a:cs typeface="Times New Roman" pitchFamily="18" charset="0"/>
              </a:rPr>
              <a:t>: CON;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COM = </a:t>
            </a:r>
            <a:r>
              <a:rPr lang="pt-BR" sz="1800" dirty="0">
                <a:latin typeface="Arial" charset="0"/>
                <a:cs typeface="Times New Roman" pitchFamily="18" charset="0"/>
              </a:rPr>
              <a:t>0;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inicialização do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ACM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</a:t>
            </a:r>
            <a:r>
              <a:rPr lang="pt-BR" sz="1800" dirty="0">
                <a:latin typeface="Arial" charset="0"/>
                <a:cs typeface="Times New Roman" pitchFamily="18" charset="0"/>
              </a:rPr>
              <a:t>0;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</a:t>
            </a:r>
            <a:r>
              <a:rPr lang="pt-BR" sz="1800" i="1" dirty="0">
                <a:solidFill>
                  <a:srgbClr val="FFFF00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inicialização do acumulador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while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(CON &lt; 50) 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{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teste da condição de parada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&gt;&gt;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MA;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dirty="0">
                <a:latin typeface="Arial" charset="0"/>
                <a:cs typeface="Times New Roman" pitchFamily="18" charset="0"/>
              </a:rPr>
              <a:t>ACM </a:t>
            </a:r>
            <a:r>
              <a:rPr lang="pt-BR" dirty="0" smtClean="0">
                <a:latin typeface="Symbol" pitchFamily="18" charset="2"/>
                <a:cs typeface="Times New Roman" pitchFamily="18" charset="0"/>
              </a:rPr>
              <a:t>=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ACM </a:t>
            </a:r>
            <a:r>
              <a:rPr lang="pt-BR" sz="1800" dirty="0">
                <a:latin typeface="Arial" charset="0"/>
                <a:cs typeface="Times New Roman" pitchFamily="18" charset="0"/>
              </a:rPr>
              <a:t>+ MA;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soma em ACM os valores lidos em 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CON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CON + 1;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incremento do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}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MAT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ACM / 50;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calculo da média anual da turma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cout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&lt;&lt;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“</a:t>
            </a:r>
            <a:r>
              <a:rPr lang="pt-BR" sz="1800" dirty="0">
                <a:latin typeface="Arial" charset="0"/>
                <a:cs typeface="Times New Roman" pitchFamily="18" charset="0"/>
              </a:rPr>
              <a:t>média anual da turma =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“ &lt;&lt; MAT;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}</a:t>
            </a:r>
            <a:endParaRPr lang="pt-BR" sz="180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3.8 - Média Aritmética da turma de 50 alunos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33375"/>
            <a:ext cx="77724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Final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Laço que verifica depois de cada execução, se é “permitido” continuar executando o trecho do algoritmo</a:t>
            </a:r>
          </a:p>
          <a:p>
            <a:endParaRPr lang="pt-BR" sz="2400" dirty="0" smtClean="0"/>
          </a:p>
          <a:p>
            <a:r>
              <a:rPr lang="pt-BR" sz="2400" dirty="0" smtClean="0"/>
              <a:t>Trata-se de um laço que se mantém repetindo até que uma dada condição se torne verdadeira</a:t>
            </a:r>
          </a:p>
          <a:p>
            <a:endParaRPr lang="pt-BR" sz="2400" dirty="0" smtClean="0"/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228600" y="3733800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repita</a:t>
            </a:r>
            <a:endParaRPr lang="pt-BR" sz="20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...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até</a:t>
            </a:r>
            <a:r>
              <a:rPr lang="pt-BR" sz="2000">
                <a:latin typeface="Arial" charset="0"/>
                <a:cs typeface="Times New Roman" pitchFamily="18" charset="0"/>
              </a:rPr>
              <a:t> &lt;condição&gt;;</a:t>
            </a:r>
            <a:endParaRPr lang="pt-BR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00" y="293688"/>
            <a:ext cx="77724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Final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0" y="2071678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{</a:t>
            </a:r>
            <a:endParaRPr lang="pt-BR" sz="18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MA; </a:t>
            </a:r>
            <a:r>
              <a:rPr lang="pt-BR" sz="1800" i="1" dirty="0" smtClean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média anual de dado aluno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b="1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 ACM;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Acumulador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b="1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MAT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 da Turma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CON;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COM = </a:t>
            </a:r>
            <a:r>
              <a:rPr lang="pt-BR" sz="1800" dirty="0">
                <a:latin typeface="Arial" charset="0"/>
                <a:cs typeface="Times New Roman" pitchFamily="18" charset="0"/>
              </a:rPr>
              <a:t>0</a:t>
            </a:r>
            <a:r>
              <a:rPr lang="pt-BR" sz="18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inicialização do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ACM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0;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inicialização do acumulador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do {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&gt;&gt;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MA;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dirty="0">
                <a:latin typeface="Arial" charset="0"/>
                <a:cs typeface="Times New Roman" pitchFamily="18" charset="0"/>
              </a:rPr>
              <a:t>ACM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ACM + MA;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soma em ACM os valores lidos em 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CON </a:t>
            </a:r>
            <a:r>
              <a:rPr lang="pt-BR" sz="1800" dirty="0" smtClean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CON + 1</a:t>
            </a:r>
            <a:r>
              <a:rPr lang="pt-BR" sz="18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incremento do contador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while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(CON </a:t>
            </a:r>
            <a:r>
              <a:rPr lang="pt-BR" sz="1800" dirty="0">
                <a:latin typeface="Arial" charset="0"/>
                <a:cs typeface="Times New Roman" pitchFamily="18" charset="0"/>
              </a:rPr>
              <a:t>&gt;= 50);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teste da condição de parada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MAT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ACM / 50;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calculo da média anual da turma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cout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&lt;&lt;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“</a:t>
            </a:r>
            <a:r>
              <a:rPr lang="pt-BR" sz="1800" dirty="0">
                <a:latin typeface="Arial" charset="0"/>
                <a:cs typeface="Times New Roman" pitchFamily="18" charset="0"/>
              </a:rPr>
              <a:t>média anual da turma =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“ &lt;&lt; MAT;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}</a:t>
            </a:r>
            <a:endParaRPr lang="pt-BR" sz="180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228600" y="1016000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>
                <a:latin typeface="Arial" charset="0"/>
                <a:cs typeface="Times New Roman" pitchFamily="18" charset="0"/>
              </a:rPr>
              <a:t>Algoritmo 3.9 - Média Aritmética da turma com Repita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12763"/>
            <a:ext cx="8218487" cy="9144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Variável de Controle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Laço simplificado para utilização em repetições de quantidade predeterminada</a:t>
            </a:r>
          </a:p>
          <a:p>
            <a:endParaRPr lang="pt-BR" sz="2400" dirty="0" smtClean="0"/>
          </a:p>
          <a:p>
            <a:r>
              <a:rPr lang="pt-BR" sz="2400" dirty="0" smtClean="0"/>
              <a:t>Incorpora internamente o funcionamento de um contador de repetições</a:t>
            </a:r>
          </a:p>
          <a:p>
            <a:endParaRPr lang="pt-BR" sz="2400" dirty="0" smtClean="0"/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228600" y="3733800"/>
            <a:ext cx="861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para</a:t>
            </a:r>
            <a:r>
              <a:rPr lang="pt-BR" sz="2000">
                <a:latin typeface="Arial" charset="0"/>
                <a:cs typeface="Times New Roman" pitchFamily="18" charset="0"/>
              </a:rPr>
              <a:t> V </a:t>
            </a:r>
            <a:r>
              <a:rPr lang="pt-BR" sz="2000" b="1">
                <a:latin typeface="Arial" charset="0"/>
                <a:cs typeface="Times New Roman" pitchFamily="18" charset="0"/>
              </a:rPr>
              <a:t>de</a:t>
            </a:r>
            <a:r>
              <a:rPr lang="pt-BR" sz="2000">
                <a:latin typeface="Arial" charset="0"/>
                <a:cs typeface="Times New Roman" pitchFamily="18" charset="0"/>
              </a:rPr>
              <a:t> vi </a:t>
            </a:r>
            <a:r>
              <a:rPr lang="pt-BR" sz="2000" b="1">
                <a:latin typeface="Arial" charset="0"/>
                <a:cs typeface="Times New Roman" pitchFamily="18" charset="0"/>
              </a:rPr>
              <a:t>até</a:t>
            </a:r>
            <a:r>
              <a:rPr lang="pt-BR" sz="2000">
                <a:latin typeface="Arial" charset="0"/>
                <a:cs typeface="Times New Roman" pitchFamily="18" charset="0"/>
              </a:rPr>
              <a:t> vf </a:t>
            </a:r>
            <a:r>
              <a:rPr lang="pt-BR" sz="2000" b="1">
                <a:latin typeface="Arial" charset="0"/>
                <a:cs typeface="Times New Roman" pitchFamily="18" charset="0"/>
              </a:rPr>
              <a:t>passo</a:t>
            </a:r>
            <a:r>
              <a:rPr lang="pt-BR" sz="2000">
                <a:latin typeface="Arial" charset="0"/>
                <a:cs typeface="Times New Roman" pitchFamily="18" charset="0"/>
              </a:rPr>
              <a:t> p </a:t>
            </a:r>
            <a:r>
              <a:rPr lang="pt-BR" sz="2000" b="1">
                <a:latin typeface="Arial" charset="0"/>
                <a:cs typeface="Times New Roman" pitchFamily="18" charset="0"/>
              </a:rPr>
              <a:t>faça</a:t>
            </a:r>
            <a:endParaRPr lang="pt-BR" sz="200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...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	comando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>
                <a:latin typeface="Arial" charset="0"/>
                <a:cs typeface="Times New Roman" pitchFamily="18" charset="0"/>
              </a:rPr>
              <a:t>	</a:t>
            </a:r>
            <a:r>
              <a:rPr lang="pt-BR" sz="2000" b="1">
                <a:latin typeface="Arial" charset="0"/>
                <a:cs typeface="Times New Roman" pitchFamily="18" charset="0"/>
              </a:rPr>
              <a:t>fimpara</a:t>
            </a:r>
            <a:r>
              <a:rPr lang="pt-BR" sz="2000">
                <a:latin typeface="Arial" charset="0"/>
                <a:cs typeface="Times New Roman" pitchFamily="18" charset="0"/>
              </a:rPr>
              <a:t>;</a:t>
            </a:r>
            <a:endParaRPr lang="pt-BR">
              <a:latin typeface="Arial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5113"/>
            <a:ext cx="7772400" cy="9144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Repetição com Teste no Final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251520" y="1772816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{</a:t>
            </a:r>
            <a:endParaRPr lang="pt-BR" sz="18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declaração de variáveis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MA;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 de dado aluno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ACM;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Acumulador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MAT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Média Anual da Turma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ACM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</a:t>
            </a:r>
            <a:r>
              <a:rPr lang="pt-BR" sz="1800" dirty="0">
                <a:latin typeface="Arial" charset="0"/>
                <a:cs typeface="Times New Roman" pitchFamily="18" charset="0"/>
              </a:rPr>
              <a:t>0</a:t>
            </a:r>
            <a:r>
              <a:rPr lang="pt-BR" sz="1800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inicialização do acumulador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for ( 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V 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1; V &lt;= 50 ; V++){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&gt;&gt;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MA;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dirty="0">
                <a:latin typeface="Arial" charset="0"/>
                <a:cs typeface="Times New Roman" pitchFamily="18" charset="0"/>
              </a:rPr>
              <a:t>ACM </a:t>
            </a:r>
            <a:r>
              <a:rPr lang="pt-BR" sz="1800" dirty="0" smtClean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ACM + MA;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soma em ACM os valores lidos em 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} </a:t>
            </a:r>
            <a:r>
              <a:rPr lang="pt-BR" sz="1800" dirty="0" smtClean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</a:t>
            </a:r>
            <a:r>
              <a:rPr lang="pt-BR" sz="1800" b="1" dirty="0" err="1" smtClean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fimpara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MAT</a:t>
            </a:r>
            <a:r>
              <a:rPr lang="pt-BR" sz="1800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latin typeface="Symbol" pitchFamily="18" charset="2"/>
                <a:cs typeface="Times New Roman" pitchFamily="18" charset="0"/>
              </a:rPr>
              <a:t>=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ACM </a:t>
            </a:r>
            <a:r>
              <a:rPr lang="pt-BR" sz="1800" dirty="0">
                <a:latin typeface="Arial" charset="0"/>
                <a:cs typeface="Times New Roman" pitchFamily="18" charset="0"/>
              </a:rPr>
              <a:t>/ 50; </a:t>
            </a:r>
            <a:r>
              <a:rPr lang="pt-BR" sz="1800" i="1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// calculo da média anual da turma</a:t>
            </a:r>
            <a:endParaRPr lang="pt-BR" sz="1800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cout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&lt;&lt; “</a:t>
            </a:r>
            <a:r>
              <a:rPr lang="pt-BR" sz="1800" dirty="0">
                <a:latin typeface="Arial" charset="0"/>
                <a:cs typeface="Times New Roman" pitchFamily="18" charset="0"/>
              </a:rPr>
              <a:t>média anual da turma =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“ &lt;&lt; MAT;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}</a:t>
            </a:r>
            <a:endParaRPr lang="pt-BR" sz="1800" dirty="0">
              <a:latin typeface="Arial" charset="0"/>
              <a:cs typeface="Times New Roman" pitchFamily="18" charset="0"/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28600" y="6165304"/>
            <a:ext cx="89154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20000"/>
              </a:spcBef>
            </a:pPr>
            <a:r>
              <a:rPr lang="pt-BR" dirty="0">
                <a:latin typeface="Arial" charset="0"/>
                <a:cs typeface="Times New Roman" pitchFamily="18" charset="0"/>
              </a:rPr>
              <a:t>Algoritmo 3.10 - Média Aritmética da turma com Para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512763"/>
            <a:ext cx="9143999" cy="914400"/>
          </a:xfrm>
        </p:spPr>
        <p:txBody>
          <a:bodyPr>
            <a:normAutofit fontScale="9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Comparação entre Estruturas de Repetição</a:t>
            </a:r>
          </a:p>
        </p:txBody>
      </p:sp>
      <p:sp>
        <p:nvSpPr>
          <p:cNvPr id="5017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539750" y="1784350"/>
            <a:ext cx="8147050" cy="4572000"/>
          </a:xfrm>
        </p:spPr>
        <p:txBody>
          <a:bodyPr/>
          <a:lstStyle/>
          <a:p>
            <a:r>
              <a:rPr lang="pt-BR" sz="2400" dirty="0" smtClean="0"/>
              <a:t>Aprendemos 3 maneiras de construir laços de repetição</a:t>
            </a:r>
          </a:p>
          <a:p>
            <a:endParaRPr lang="pt-BR" sz="2400" dirty="0" smtClean="0"/>
          </a:p>
          <a:p>
            <a:r>
              <a:rPr lang="pt-BR" sz="2400" dirty="0" smtClean="0"/>
              <a:t>É importante perceber que existem laços mais adequados ou convenientes para cada situação</a:t>
            </a:r>
          </a:p>
          <a:p>
            <a:endParaRPr lang="pt-BR" sz="2400" dirty="0" smtClean="0"/>
          </a:p>
        </p:txBody>
      </p:sp>
      <p:graphicFrame>
        <p:nvGraphicFramePr>
          <p:cNvPr id="54338" name="Group 1090"/>
          <p:cNvGraphicFramePr>
            <a:graphicFrameLocks noGrp="1"/>
          </p:cNvGraphicFramePr>
          <p:nvPr/>
        </p:nvGraphicFramePr>
        <p:xfrm>
          <a:off x="685800" y="3598863"/>
          <a:ext cx="7391400" cy="1737224"/>
        </p:xfrm>
        <a:graphic>
          <a:graphicData uri="http://schemas.openxmlformats.org/drawingml/2006/table">
            <a:tbl>
              <a:tblPr/>
              <a:tblGrid>
                <a:gridCol w="1371600"/>
                <a:gridCol w="1295400"/>
                <a:gridCol w="2209800"/>
                <a:gridCol w="2514600"/>
              </a:tblGrid>
              <a:tr h="6398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Estrutura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Condição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Quantidade de Execuções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Condição de Existência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</a:tr>
              <a:tr h="365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Enquanto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Início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 ou muitas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Condição verdadeira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Repita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uma ou muitas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Condição falsa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6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Não tem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((vf - vi) div p) + 1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 &lt;= vf</a:t>
                      </a: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34</TotalTime>
  <Words>375</Words>
  <Application>Microsoft Office PowerPoint</Application>
  <PresentationFormat>Apresentação na tela (4:3)</PresentationFormat>
  <Paragraphs>188</Paragraphs>
  <Slides>12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Mediano</vt:lpstr>
      <vt:lpstr>Algoritmos</vt:lpstr>
      <vt:lpstr>Estruturas de Repetição</vt:lpstr>
      <vt:lpstr>Repetição com Teste no Início</vt:lpstr>
      <vt:lpstr>Repetição com Teste no Início</vt:lpstr>
      <vt:lpstr>Repetição com Teste no Início</vt:lpstr>
      <vt:lpstr>Repetição com Teste no Início</vt:lpstr>
      <vt:lpstr>Repetição com Teste no Início</vt:lpstr>
      <vt:lpstr>Repetição com Teste no Final</vt:lpstr>
      <vt:lpstr>Repetição com Teste no Final</vt:lpstr>
      <vt:lpstr>Repetição com Variável de Controle</vt:lpstr>
      <vt:lpstr>Repetição com Teste no Final</vt:lpstr>
      <vt:lpstr>Comparação entre Estruturas de Repetição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de Controle</dc:title>
  <dc:creator>nglaser</dc:creator>
  <cp:lastModifiedBy>Professor</cp:lastModifiedBy>
  <cp:revision>11</cp:revision>
  <dcterms:created xsi:type="dcterms:W3CDTF">2013-03-04T18:55:47Z</dcterms:created>
  <dcterms:modified xsi:type="dcterms:W3CDTF">2014-09-29T22:06:55Z</dcterms:modified>
</cp:coreProperties>
</file>