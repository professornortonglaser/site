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59A96-D03D-4611-AA0F-DC260BBA5BDC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D886B-B3DC-4C33-88C8-EB5200E6790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8A904D-EB97-437A-9F4F-8201AAED638E}" type="slidenum">
              <a:rPr lang="pt-BR" smtClean="0">
                <a:latin typeface="Times New Roman" pitchFamily="18" charset="0"/>
              </a:rPr>
              <a:pPr/>
              <a:t>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238E58-D28F-49C8-88DA-CCE13A91CC30}" type="slidenum">
              <a:rPr lang="pt-BR" smtClean="0">
                <a:latin typeface="Times New Roman" pitchFamily="18" charset="0"/>
              </a:rPr>
              <a:pPr/>
              <a:t>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CB6287-3517-401C-A63A-D8F456055A68}" type="slidenum">
              <a:rPr lang="pt-BR" smtClean="0">
                <a:latin typeface="Times New Roman" pitchFamily="18" charset="0"/>
              </a:rPr>
              <a:pPr/>
              <a:t>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3EB2D6-E083-455F-8D80-65C339C2CB42}" type="slidenum">
              <a:rPr lang="pt-BR" smtClean="0">
                <a:latin typeface="Times New Roman" pitchFamily="18" charset="0"/>
              </a:rPr>
              <a:pPr/>
              <a:t>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299EE8-7ACF-4D89-B4D2-C073D942631C}" type="slidenum">
              <a:rPr lang="pt-BR" smtClean="0">
                <a:latin typeface="Times New Roman" pitchFamily="18" charset="0"/>
              </a:rPr>
              <a:pPr/>
              <a:t>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258252-FB10-4B30-B6B9-0DF1EAB7F750}" type="slidenum">
              <a:rPr lang="pt-BR" smtClean="0">
                <a:latin typeface="Times New Roman" pitchFamily="18" charset="0"/>
              </a:rPr>
              <a:pPr/>
              <a:t>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7E71E7-05D6-4D93-95E1-CD39FB2EE575}" type="slidenum">
              <a:rPr lang="pt-BR" smtClean="0">
                <a:latin typeface="Times New Roman" pitchFamily="18" charset="0"/>
              </a:rPr>
              <a:pPr/>
              <a:t>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CBEAD-0A4C-445D-9D09-4D4B53FC0102}" type="slidenum">
              <a:rPr lang="pt-BR" smtClean="0">
                <a:latin typeface="Times New Roman" pitchFamily="18" charset="0"/>
              </a:rPr>
              <a:pPr/>
              <a:t>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2139E0-3B94-4DBB-9852-5EDFC90DC50B}" type="slidenum">
              <a:rPr lang="pt-BR" smtClean="0">
                <a:latin typeface="Times New Roman" pitchFamily="18" charset="0"/>
              </a:rPr>
              <a:pPr/>
              <a:t>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24B3F-B5D8-446B-B793-4E46AE35461B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04797C-F2E3-4871-897A-35C0497043AD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75BC2F-68F7-4118-B9AD-52F37ACAFBEB}" type="slidenum">
              <a:rPr lang="pt-BR" smtClean="0">
                <a:latin typeface="Times New Roman" pitchFamily="18" charset="0"/>
              </a:rPr>
              <a:pPr/>
              <a:t>13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67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D14C36-FFEC-4A8D-AFA8-6410BB20B220}" type="slidenum">
              <a:rPr lang="pt-BR" smtClean="0">
                <a:latin typeface="Times New Roman" pitchFamily="18" charset="0"/>
              </a:rPr>
              <a:pPr/>
              <a:t>14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530302-09A1-44F1-89EB-8409FB214F0A}" type="slidenum">
              <a:rPr lang="pt-BR" smtClean="0">
                <a:latin typeface="Times New Roman" pitchFamily="18" charset="0"/>
              </a:rPr>
              <a:pPr/>
              <a:t>15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6F899C-B819-490F-8FBD-55D08088638A}" type="slidenum">
              <a:rPr lang="pt-BR" smtClean="0">
                <a:latin typeface="Times New Roman" pitchFamily="18" charset="0"/>
              </a:rPr>
              <a:pPr/>
              <a:t>16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EDA48D-B8DB-40B2-A4C5-7EEC01996264}" type="slidenum">
              <a:rPr lang="pt-BR" smtClean="0">
                <a:latin typeface="Times New Roman" pitchFamily="18" charset="0"/>
              </a:rPr>
              <a:pPr/>
              <a:t>17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A2512-AD50-4C2F-89E0-17E8F412DDC7}" type="slidenum">
              <a:rPr lang="pt-BR" smtClean="0">
                <a:latin typeface="Times New Roman" pitchFamily="18" charset="0"/>
              </a:rPr>
              <a:pPr/>
              <a:t>18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688C866-3F85-4965-A625-6F1C74DE5504}" type="datetimeFigureOut">
              <a:rPr lang="pt-BR" smtClean="0"/>
              <a:t>04/03/2013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Estruturas de Dados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pt-BR" dirty="0" smtClean="0"/>
              <a:t>Algoritmos – Aula 04</a:t>
            </a:r>
            <a:endParaRPr lang="pt-BR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Dados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</a:p>
          <a:p>
            <a:pPr lvl="1"/>
            <a:r>
              <a:rPr lang="pt-BR" dirty="0" smtClean="0"/>
              <a:t>Vetores</a:t>
            </a:r>
          </a:p>
          <a:p>
            <a:pPr lvl="1"/>
            <a:r>
              <a:rPr lang="pt-BR" dirty="0" smtClean="0"/>
              <a:t>Matrizes</a:t>
            </a:r>
          </a:p>
          <a:p>
            <a:pPr lvl="1"/>
            <a:r>
              <a:rPr lang="pt-BR" dirty="0" smtClean="0"/>
              <a:t>Registros</a:t>
            </a:r>
          </a:p>
          <a:p>
            <a:pPr lvl="1"/>
            <a:r>
              <a:rPr lang="pt-BR" dirty="0" smtClean="0"/>
              <a:t>Registro de Conjuntos</a:t>
            </a:r>
          </a:p>
          <a:p>
            <a:pPr lvl="1"/>
            <a:r>
              <a:rPr lang="pt-BR" dirty="0" smtClean="0"/>
              <a:t>Conjuntos de Registros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Dados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Os tipos primitivos (inteiro, real, </a:t>
            </a:r>
            <a:r>
              <a:rPr lang="pt-BR" sz="2400" dirty="0" err="1" smtClean="0"/>
              <a:t>caracter</a:t>
            </a:r>
            <a:r>
              <a:rPr lang="pt-BR" sz="2400" dirty="0" smtClean="0"/>
              <a:t> e lógico) não são suficientes para representar todos os tipos de informação.</a:t>
            </a:r>
          </a:p>
          <a:p>
            <a:r>
              <a:rPr lang="pt-BR" sz="2400" dirty="0" smtClean="0"/>
              <a:t>Particularmente quando temos mais de uma informação relacionada. Ex: Lista dos nomes dos alunos de uma sala, endereço de alguém etc.</a:t>
            </a:r>
          </a:p>
          <a:p>
            <a:r>
              <a:rPr lang="pt-BR" sz="2400" dirty="0" smtClean="0"/>
              <a:t>Utilizaremos os tipos primitivos para </a:t>
            </a:r>
            <a:r>
              <a:rPr lang="pt-BR" sz="2400" u="sng" dirty="0" smtClean="0"/>
              <a:t>construir</a:t>
            </a:r>
            <a:r>
              <a:rPr lang="pt-BR" sz="2400" dirty="0" smtClean="0"/>
              <a:t> outras estruturas de dados mais complexas.</a:t>
            </a:r>
            <a:endParaRPr lang="pt-BR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Também denominados </a:t>
            </a:r>
            <a:r>
              <a:rPr lang="pt-BR" sz="2400" u="sng" dirty="0" smtClean="0"/>
              <a:t>Estruturas compostas homogêneas </a:t>
            </a:r>
            <a:r>
              <a:rPr lang="pt-BR" sz="2400" b="1" u="sng" dirty="0" smtClean="0"/>
              <a:t>uni</a:t>
            </a:r>
            <a:r>
              <a:rPr lang="pt-BR" sz="2400" u="sng" dirty="0" smtClean="0"/>
              <a:t>dimensionais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Permitem a manipulação de um conjunto de informações de um mesmo tipo primitivo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Declaração 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tipo</a:t>
            </a:r>
            <a:r>
              <a:rPr lang="pt-BR" sz="1800" dirty="0" smtClean="0"/>
              <a:t> CLASSE = </a:t>
            </a:r>
            <a:r>
              <a:rPr lang="pt-BR" sz="1800" b="1" dirty="0" smtClean="0"/>
              <a:t>vetor</a:t>
            </a:r>
            <a:r>
              <a:rPr lang="pt-BR" sz="1800" dirty="0" smtClean="0"/>
              <a:t> [1 .. 40] </a:t>
            </a:r>
            <a:r>
              <a:rPr lang="pt-BR" sz="1800" b="1" dirty="0" smtClean="0"/>
              <a:t>de reais</a:t>
            </a:r>
            <a:r>
              <a:rPr lang="pt-BR" sz="1800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CLASSE</a:t>
            </a:r>
            <a:r>
              <a:rPr lang="pt-BR" sz="1800" dirty="0" smtClean="0"/>
              <a:t>: VCLASSE;</a:t>
            </a:r>
            <a:endParaRPr lang="pt-BR" sz="1800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CLASSE: Nome do tipo que está sendo construído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1: Limite inicial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40: Limite final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reais: Tipo primitivo base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VCLASSE: Nome da variável criada </a:t>
            </a:r>
            <a:r>
              <a:rPr lang="pt-BR" sz="1800" dirty="0" err="1" smtClean="0"/>
              <a:t>cf</a:t>
            </a:r>
            <a:r>
              <a:rPr lang="pt-BR" sz="1800" dirty="0" smtClean="0"/>
              <a:t> o tipo construído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>
            <a:normAutofit/>
          </a:bodyPr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57348" name="Rectangle 23"/>
          <p:cNvSpPr>
            <a:spLocks noChangeArrowheads="1"/>
          </p:cNvSpPr>
          <p:nvPr/>
        </p:nvSpPr>
        <p:spPr bwMode="auto">
          <a:xfrm>
            <a:off x="609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49" name="Rectangle 24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0" name="Rectangle 25"/>
          <p:cNvSpPr>
            <a:spLocks noChangeArrowheads="1"/>
          </p:cNvSpPr>
          <p:nvPr/>
        </p:nvSpPr>
        <p:spPr bwMode="auto">
          <a:xfrm>
            <a:off x="1828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1" name="Rectangle 26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2" name="Rectangle 27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3" name="Rectangle 28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4" name="Rectangle 29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5" name="Rectangle 30"/>
          <p:cNvSpPr>
            <a:spLocks noChangeArrowheads="1"/>
          </p:cNvSpPr>
          <p:nvPr/>
        </p:nvSpPr>
        <p:spPr bwMode="auto">
          <a:xfrm>
            <a:off x="4876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6" name="Rectangle 31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7" name="Rectangle 32"/>
          <p:cNvSpPr>
            <a:spLocks noChangeArrowheads="1"/>
          </p:cNvSpPr>
          <p:nvPr/>
        </p:nvSpPr>
        <p:spPr bwMode="auto">
          <a:xfrm>
            <a:off x="6477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8" name="Rectangle 33"/>
          <p:cNvSpPr>
            <a:spLocks noChangeArrowheads="1"/>
          </p:cNvSpPr>
          <p:nvPr/>
        </p:nvSpPr>
        <p:spPr bwMode="auto">
          <a:xfrm>
            <a:off x="7086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9" name="Rectangle 34"/>
          <p:cNvSpPr>
            <a:spLocks noChangeArrowheads="1"/>
          </p:cNvSpPr>
          <p:nvPr/>
        </p:nvSpPr>
        <p:spPr bwMode="auto">
          <a:xfrm>
            <a:off x="7696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60" name="Text Box 35"/>
          <p:cNvSpPr txBox="1">
            <a:spLocks noChangeArrowheads="1"/>
          </p:cNvSpPr>
          <p:nvPr/>
        </p:nvSpPr>
        <p:spPr bwMode="auto">
          <a:xfrm>
            <a:off x="533400" y="5549900"/>
            <a:ext cx="777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>
                <a:latin typeface="Verdana" pitchFamily="34" charset="0"/>
              </a:rPr>
              <a:t>    </a:t>
            </a:r>
            <a:r>
              <a:rPr lang="pt-BR" sz="1400" b="1">
                <a:latin typeface="Verdana" pitchFamily="34" charset="0"/>
              </a:rPr>
              <a:t>1       2        3         4        5        6        7       8        9              38       39     40</a:t>
            </a:r>
          </a:p>
        </p:txBody>
      </p:sp>
      <p:sp>
        <p:nvSpPr>
          <p:cNvPr id="57380" name="Text Box 36"/>
          <p:cNvSpPr txBox="1">
            <a:spLocks noChangeArrowheads="1"/>
          </p:cNvSpPr>
          <p:nvPr/>
        </p:nvSpPr>
        <p:spPr bwMode="auto">
          <a:xfrm>
            <a:off x="914400" y="1828800"/>
            <a:ext cx="7391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A;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[ 7 ]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6,5;</a:t>
            </a:r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6,5</a:t>
            </a:r>
          </a:p>
        </p:txBody>
      </p:sp>
      <p:sp>
        <p:nvSpPr>
          <p:cNvPr id="57382" name="Rectangle 38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7,8</a:t>
            </a:r>
          </a:p>
        </p:txBody>
      </p:sp>
      <p:sp>
        <p:nvSpPr>
          <p:cNvPr id="57383" name="Rectangle 39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5,3</a:t>
            </a:r>
          </a:p>
        </p:txBody>
      </p:sp>
      <p:sp>
        <p:nvSpPr>
          <p:cNvPr id="57365" name="Text Box 40"/>
          <p:cNvSpPr txBox="1">
            <a:spLocks noChangeArrowheads="1"/>
          </p:cNvSpPr>
          <p:nvPr/>
        </p:nvSpPr>
        <p:spPr bwMode="auto">
          <a:xfrm>
            <a:off x="533400" y="47244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VCLASSE</a:t>
            </a:r>
          </a:p>
        </p:txBody>
      </p:sp>
      <p:sp>
        <p:nvSpPr>
          <p:cNvPr id="57385" name="Text Box 41"/>
          <p:cNvSpPr txBox="1">
            <a:spLocks noChangeArrowheads="1"/>
          </p:cNvSpPr>
          <p:nvPr/>
        </p:nvSpPr>
        <p:spPr bwMode="auto">
          <a:xfrm>
            <a:off x="914400" y="24384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7,8;</a:t>
            </a:r>
          </a:p>
        </p:txBody>
      </p: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914400" y="27066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[ 4 ]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5,3;</a:t>
            </a:r>
          </a:p>
        </p:txBody>
      </p:sp>
      <p:sp>
        <p:nvSpPr>
          <p:cNvPr id="57390" name="Text Box 46"/>
          <p:cNvSpPr txBox="1">
            <a:spLocks noChangeArrowheads="1"/>
          </p:cNvSpPr>
          <p:nvPr/>
        </p:nvSpPr>
        <p:spPr bwMode="auto">
          <a:xfrm>
            <a:off x="914400" y="29718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(A);  </a:t>
            </a:r>
            <a:r>
              <a:rPr lang="pt-BR" sz="1800" i="1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// supondo que foi informado 6</a:t>
            </a:r>
            <a:endParaRPr lang="pt-BR" sz="1800" b="1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914400" y="32400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A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9,8;</a:t>
            </a:r>
          </a:p>
        </p:txBody>
      </p:sp>
      <p:sp>
        <p:nvSpPr>
          <p:cNvPr id="57392" name="Text Box 48"/>
          <p:cNvSpPr txBox="1">
            <a:spLocks noChangeArrowheads="1"/>
          </p:cNvSpPr>
          <p:nvPr/>
        </p:nvSpPr>
        <p:spPr bwMode="auto">
          <a:xfrm>
            <a:off x="914400" y="35052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A-1 ]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9,1;</a:t>
            </a:r>
          </a:p>
        </p:txBody>
      </p:sp>
      <p:sp>
        <p:nvSpPr>
          <p:cNvPr id="57393" name="Text Box 49"/>
          <p:cNvSpPr txBox="1">
            <a:spLocks noChangeArrowheads="1"/>
          </p:cNvSpPr>
          <p:nvPr/>
        </p:nvSpPr>
        <p:spPr bwMode="auto">
          <a:xfrm>
            <a:off x="914400" y="37734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 VCLASSE [ A+3 ] ); </a:t>
            </a:r>
            <a:r>
              <a:rPr lang="pt-BR" sz="180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// </a:t>
            </a:r>
            <a:r>
              <a:rPr lang="pt-BR" sz="1800" i="1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supondo que foi informado 4,7</a:t>
            </a:r>
          </a:p>
        </p:txBody>
      </p:sp>
      <p:sp>
        <p:nvSpPr>
          <p:cNvPr id="57396" name="Rectangle 52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9,8</a:t>
            </a:r>
          </a:p>
        </p:txBody>
      </p:sp>
      <p:sp>
        <p:nvSpPr>
          <p:cNvPr id="57397" name="Rectangle 53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9,1</a:t>
            </a:r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4,7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80" grpId="0" build="p" autoUpdateAnimBg="0"/>
      <p:bldP spid="57381" grpId="0" animBg="1" autoUpdateAnimBg="0"/>
      <p:bldP spid="57382" grpId="0" animBg="1" autoUpdateAnimBg="0"/>
      <p:bldP spid="57383" grpId="0" animBg="1" autoUpdateAnimBg="0"/>
      <p:bldP spid="57385" grpId="0" build="p" autoUpdateAnimBg="0"/>
      <p:bldP spid="57386" grpId="0" build="p" autoUpdateAnimBg="0"/>
      <p:bldP spid="57390" grpId="0" build="p" autoUpdateAnimBg="0"/>
      <p:bldP spid="57391" grpId="0" build="p" autoUpdateAnimBg="0"/>
      <p:bldP spid="57392" grpId="0" build="p" autoUpdateAnimBg="0"/>
      <p:bldP spid="57393" grpId="0" build="p" autoUpdateAnimBg="0"/>
      <p:bldP spid="57396" grpId="0" animBg="1" autoUpdateAnimBg="0"/>
      <p:bldP spid="57397" grpId="0" animBg="1" autoUpdateAnimBg="0"/>
      <p:bldP spid="5739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NotaAcima;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A, B, C, D, E, F, G, H, I, J, Média;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  <a:endParaRPr lang="pt-BR" sz="180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(A,B,C,D,E,F,G,H,I,J);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Média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(A + B + C + D + E + F + G + H + I + J)/10;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(A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(B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. . 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(J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(NotaAcima);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4.1 – Notas acima da média usando variáveis simples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tipo 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Classe =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vetor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[1 .. 10]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de reais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Classe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: VClasse;</a:t>
            </a:r>
            <a:endParaRPr lang="pt-BR" sz="1800" i="1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NotaAcima, X;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Soma, Média;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Soma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  <a:endParaRPr lang="pt-BR" sz="180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X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10 </a:t>
            </a:r>
            <a:r>
              <a:rPr lang="pt-BR" sz="1800" b="1">
                <a:latin typeface="Arial" charset="0"/>
                <a:cs typeface="Times New Roman" pitchFamily="18" charset="0"/>
              </a:rPr>
              <a:t>passo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 VClasse[X] 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Soma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Soma + VClasse[X];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Média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Soma / 10;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X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10 </a:t>
            </a:r>
            <a:r>
              <a:rPr lang="pt-BR" sz="1800" b="1">
                <a:latin typeface="Arial" charset="0"/>
                <a:cs typeface="Times New Roman" pitchFamily="18" charset="0"/>
              </a:rPr>
              <a:t>passo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 VClasse[X] &gt; Média )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então 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(NotaAcima);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4.2 – Notas acima da média usando vetor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Também denominadas </a:t>
            </a:r>
            <a:r>
              <a:rPr lang="pt-BR" sz="2400" u="sng" dirty="0" smtClean="0"/>
              <a:t>Estruturas compostas homogêneas </a:t>
            </a:r>
            <a:r>
              <a:rPr lang="pt-BR" sz="2400" b="1" u="sng" dirty="0" smtClean="0"/>
              <a:t>multi</a:t>
            </a:r>
            <a:r>
              <a:rPr lang="pt-BR" sz="2400" u="sng" dirty="0" smtClean="0"/>
              <a:t>dimensionais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Permitem a manipulação de um conjunto de informações de um mesmo tipo primitivo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tipo</a:t>
            </a:r>
            <a:r>
              <a:rPr lang="pt-BR" sz="1800" dirty="0" smtClean="0"/>
              <a:t> SALA = </a:t>
            </a:r>
            <a:r>
              <a:rPr lang="pt-BR" sz="1800" b="1" dirty="0" smtClean="0"/>
              <a:t>matriz</a:t>
            </a:r>
            <a:r>
              <a:rPr lang="pt-BR" sz="1800" dirty="0" smtClean="0"/>
              <a:t> [1 .. 4, 1 .. 4] </a:t>
            </a:r>
            <a:r>
              <a:rPr lang="pt-BR" sz="1800" b="1" dirty="0" smtClean="0"/>
              <a:t>de inteiros</a:t>
            </a:r>
            <a:r>
              <a:rPr lang="pt-BR" sz="1800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SALA</a:t>
            </a:r>
            <a:r>
              <a:rPr lang="pt-BR" sz="1800" dirty="0" smtClean="0"/>
              <a:t>: MSALA;</a:t>
            </a:r>
            <a:endParaRPr lang="pt-BR" sz="1800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SALA: Nome do tipo que está sendo construído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1: Limite inicial da primeira e da segunda dimensão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4: Limite final da primeira e da segunda dimensão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inteiros: Tipo primitivo base da matriz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MSALA: Nome da variável criada </a:t>
            </a:r>
            <a:r>
              <a:rPr lang="pt-BR" sz="1800" dirty="0" err="1" smtClean="0"/>
              <a:t>cf</a:t>
            </a:r>
            <a:r>
              <a:rPr lang="pt-BR" sz="1800" dirty="0" smtClean="0"/>
              <a:t> o tipo construído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/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2484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74676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68580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80772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2484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4676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6" name="Text Box 16"/>
          <p:cNvSpPr txBox="1">
            <a:spLocks noChangeArrowheads="1"/>
          </p:cNvSpPr>
          <p:nvPr/>
        </p:nvSpPr>
        <p:spPr bwMode="auto">
          <a:xfrm>
            <a:off x="6096000" y="17526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>
                <a:latin typeface="Verdana" pitchFamily="34" charset="0"/>
              </a:rPr>
              <a:t>     </a:t>
            </a:r>
            <a:r>
              <a:rPr lang="pt-BR" sz="1400" b="1">
                <a:latin typeface="Verdana" pitchFamily="34" charset="0"/>
              </a:rPr>
              <a:t>1       2        3        4</a:t>
            </a: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914400" y="1828800"/>
            <a:ext cx="5105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 : A, B;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[ 2, 3 ]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5;</a:t>
            </a:r>
          </a:p>
        </p:txBody>
      </p:sp>
      <p:sp>
        <p:nvSpPr>
          <p:cNvPr id="61458" name="Text Box 21"/>
          <p:cNvSpPr txBox="1">
            <a:spLocks noChangeArrowheads="1"/>
          </p:cNvSpPr>
          <p:nvPr/>
        </p:nvSpPr>
        <p:spPr bwMode="auto">
          <a:xfrm>
            <a:off x="6172200" y="14478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MSALA</a:t>
            </a:r>
          </a:p>
        </p:txBody>
      </p:sp>
      <p:sp>
        <p:nvSpPr>
          <p:cNvPr id="60438" name="Text Box 22"/>
          <p:cNvSpPr txBox="1">
            <a:spLocks noChangeArrowheads="1"/>
          </p:cNvSpPr>
          <p:nvPr/>
        </p:nvSpPr>
        <p:spPr bwMode="auto">
          <a:xfrm>
            <a:off x="914400" y="2438400"/>
            <a:ext cx="518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[ 3, 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6;</a:t>
            </a:r>
          </a:p>
        </p:txBody>
      </p:sp>
      <p:sp>
        <p:nvSpPr>
          <p:cNvPr id="60439" name="Text Box 23"/>
          <p:cNvSpPr txBox="1">
            <a:spLocks noChangeArrowheads="1"/>
          </p:cNvSpPr>
          <p:nvPr/>
        </p:nvSpPr>
        <p:spPr bwMode="auto">
          <a:xfrm>
            <a:off x="914400" y="2706688"/>
            <a:ext cx="518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[ 1, 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7;</a:t>
            </a:r>
          </a:p>
        </p:txBody>
      </p:sp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914400" y="2971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4;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60441" name="Text Box 25"/>
          <p:cNvSpPr txBox="1">
            <a:spLocks noChangeArrowheads="1"/>
          </p:cNvSpPr>
          <p:nvPr/>
        </p:nvSpPr>
        <p:spPr bwMode="auto">
          <a:xfrm>
            <a:off x="914400" y="3454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A, B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8;</a:t>
            </a:r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914400" y="37195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A, B-2 ]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9;</a:t>
            </a:r>
          </a:p>
        </p:txBody>
      </p:sp>
      <p:sp>
        <p:nvSpPr>
          <p:cNvPr id="60443" name="Text Box 27"/>
          <p:cNvSpPr txBox="1">
            <a:spLocks noChangeArrowheads="1"/>
          </p:cNvSpPr>
          <p:nvPr/>
        </p:nvSpPr>
        <p:spPr bwMode="auto">
          <a:xfrm>
            <a:off x="914400" y="3987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A-2, B-2 ]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10;</a:t>
            </a:r>
          </a:p>
        </p:txBody>
      </p:sp>
      <p:sp>
        <p:nvSpPr>
          <p:cNvPr id="61465" name="Rectangle 31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6" name="Rectangle 32"/>
          <p:cNvSpPr>
            <a:spLocks noChangeArrowheads="1"/>
          </p:cNvSpPr>
          <p:nvPr/>
        </p:nvSpPr>
        <p:spPr bwMode="auto">
          <a:xfrm>
            <a:off x="68580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7" name="Rectangle 3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8" name="Rectangle 34"/>
          <p:cNvSpPr>
            <a:spLocks noChangeArrowheads="1"/>
          </p:cNvSpPr>
          <p:nvPr/>
        </p:nvSpPr>
        <p:spPr bwMode="auto">
          <a:xfrm>
            <a:off x="80772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9" name="Text Box 35"/>
          <p:cNvSpPr txBox="1">
            <a:spLocks noChangeArrowheads="1"/>
          </p:cNvSpPr>
          <p:nvPr/>
        </p:nvSpPr>
        <p:spPr bwMode="auto">
          <a:xfrm>
            <a:off x="59436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1</a:t>
            </a:r>
          </a:p>
        </p:txBody>
      </p:sp>
      <p:sp>
        <p:nvSpPr>
          <p:cNvPr id="61470" name="Text Box 36"/>
          <p:cNvSpPr txBox="1">
            <a:spLocks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2</a:t>
            </a:r>
          </a:p>
        </p:txBody>
      </p:sp>
      <p:sp>
        <p:nvSpPr>
          <p:cNvPr id="61471" name="Text Box 37"/>
          <p:cNvSpPr txBox="1">
            <a:spLocks noChangeArrowheads="1"/>
          </p:cNvSpPr>
          <p:nvPr/>
        </p:nvSpPr>
        <p:spPr bwMode="auto">
          <a:xfrm>
            <a:off x="5943600" y="3200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3</a:t>
            </a:r>
          </a:p>
        </p:txBody>
      </p:sp>
      <p:sp>
        <p:nvSpPr>
          <p:cNvPr id="61472" name="Text Box 38"/>
          <p:cNvSpPr txBox="1">
            <a:spLocks noChangeArrowheads="1"/>
          </p:cNvSpPr>
          <p:nvPr/>
        </p:nvSpPr>
        <p:spPr bwMode="auto">
          <a:xfrm>
            <a:off x="5943600" y="3733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4</a:t>
            </a:r>
          </a:p>
        </p:txBody>
      </p:sp>
      <p:sp>
        <p:nvSpPr>
          <p:cNvPr id="60456" name="Rectangle 4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5</a:t>
            </a:r>
          </a:p>
        </p:txBody>
      </p:sp>
      <p:sp>
        <p:nvSpPr>
          <p:cNvPr id="60457" name="Rectangle 41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6</a:t>
            </a:r>
          </a:p>
        </p:txBody>
      </p: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7</a:t>
            </a:r>
          </a:p>
        </p:txBody>
      </p:sp>
      <p:sp>
        <p:nvSpPr>
          <p:cNvPr id="60459" name="Rectangle 4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8</a:t>
            </a:r>
          </a:p>
        </p:txBody>
      </p:sp>
      <p:sp>
        <p:nvSpPr>
          <p:cNvPr id="60460" name="Rectangle 44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</a:t>
            </a:r>
          </a:p>
        </p:txBody>
      </p:sp>
      <p:sp>
        <p:nvSpPr>
          <p:cNvPr id="60461" name="Rectangle 45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10</a:t>
            </a:r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11</a:t>
            </a:r>
          </a:p>
        </p:txBody>
      </p:sp>
      <p:sp>
        <p:nvSpPr>
          <p:cNvPr id="60463" name="Rectangle 4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12</a:t>
            </a:r>
          </a:p>
        </p:txBody>
      </p:sp>
      <p:sp>
        <p:nvSpPr>
          <p:cNvPr id="60464" name="Text Box 48"/>
          <p:cNvSpPr txBox="1">
            <a:spLocks noChangeArrowheads="1"/>
          </p:cNvSpPr>
          <p:nvPr/>
        </p:nvSpPr>
        <p:spPr bwMode="auto">
          <a:xfrm>
            <a:off x="914400" y="42529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B, A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11;</a:t>
            </a:r>
          </a:p>
        </p:txBody>
      </p:sp>
      <p:sp>
        <p:nvSpPr>
          <p:cNvPr id="60465" name="Text Box 49"/>
          <p:cNvSpPr txBox="1">
            <a:spLocks noChangeArrowheads="1"/>
          </p:cNvSpPr>
          <p:nvPr/>
        </p:nvSpPr>
        <p:spPr bwMode="auto">
          <a:xfrm>
            <a:off x="914400" y="45212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MSALA [ B-2, A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12;</a:t>
            </a:r>
          </a:p>
        </p:txBody>
      </p:sp>
      <p:sp>
        <p:nvSpPr>
          <p:cNvPr id="60466" name="Text Box 50"/>
          <p:cNvSpPr txBox="1">
            <a:spLocks noChangeArrowheads="1"/>
          </p:cNvSpPr>
          <p:nvPr/>
        </p:nvSpPr>
        <p:spPr bwMode="auto">
          <a:xfrm>
            <a:off x="914400" y="3200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B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3;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3" grpId="0" build="p" autoUpdateAnimBg="0"/>
      <p:bldP spid="60438" grpId="0" build="p" autoUpdateAnimBg="0"/>
      <p:bldP spid="60439" grpId="0" build="p" autoUpdateAnimBg="0"/>
      <p:bldP spid="60440" grpId="0" build="p" autoUpdateAnimBg="0"/>
      <p:bldP spid="60441" grpId="0" build="p" autoUpdateAnimBg="0"/>
      <p:bldP spid="60442" grpId="0" build="p" autoUpdateAnimBg="0"/>
      <p:bldP spid="60443" grpId="0" build="p" autoUpdateAnimBg="0"/>
      <p:bldP spid="60456" grpId="0" animBg="1" autoUpdateAnimBg="0"/>
      <p:bldP spid="60457" grpId="0" animBg="1" autoUpdateAnimBg="0"/>
      <p:bldP spid="60458" grpId="0" animBg="1" autoUpdateAnimBg="0"/>
      <p:bldP spid="60459" grpId="0" animBg="1" autoUpdateAnimBg="0"/>
      <p:bldP spid="60460" grpId="0" animBg="1" autoUpdateAnimBg="0"/>
      <p:bldP spid="60461" grpId="0" animBg="1" autoUpdateAnimBg="0"/>
      <p:bldP spid="60462" grpId="0" animBg="1" autoUpdateAnimBg="0"/>
      <p:bldP spid="60463" grpId="0" animBg="1" autoUpdateAnimBg="0"/>
      <p:bldP spid="60464" grpId="0" build="p" autoUpdateAnimBg="0"/>
      <p:bldP spid="60465" grpId="0" build="p" autoUpdateAnimBg="0"/>
      <p:bldP spid="6046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582613"/>
          </a:xfrm>
        </p:spPr>
        <p:txBody>
          <a:bodyPr/>
          <a:lstStyle/>
          <a:p>
            <a:r>
              <a:rPr lang="pt-BR" dirty="0" smtClean="0"/>
              <a:t>Exemplo: Cartão da Loteria Esportiva</a:t>
            </a:r>
          </a:p>
        </p:txBody>
      </p:sp>
      <p:graphicFrame>
        <p:nvGraphicFramePr>
          <p:cNvPr id="61587" name="Group 147"/>
          <p:cNvGraphicFramePr>
            <a:graphicFrameLocks noGrp="1"/>
          </p:cNvGraphicFramePr>
          <p:nvPr/>
        </p:nvGraphicFramePr>
        <p:xfrm>
          <a:off x="1524000" y="1905000"/>
          <a:ext cx="6096000" cy="45720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2133600"/>
                <a:gridCol w="533400"/>
                <a:gridCol w="1981200"/>
                <a:gridCol w="533400"/>
              </a:tblGrid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Coluna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Coluna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Santos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Corinthians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Flamengo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Fluminense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Palmeiras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São Paulo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Vasco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Botafogo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Portuguesa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XV de jaú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São Caetano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XV de Piracicaba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Grêmio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Internacional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Havaí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Figueirense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Coritiba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Atlético-PR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Paysandú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Juventude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Atlético-MG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Cruzeiro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Brasiliense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Ponte Preta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Fortaleza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Goiás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Esportivo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Londrina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tipo 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Loteria =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vetor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[1 .. 14, 1 .. 3]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de caracteres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Loteria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: mLoteria;</a:t>
            </a:r>
            <a:endParaRPr lang="pt-BR" sz="1800" i="1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I, J, maisMar, nJogo, marLin;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maisMar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I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14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</a:t>
            </a:r>
            <a:r>
              <a:rPr lang="pt-BR" sz="1800">
                <a:latin typeface="Arial" charset="0"/>
                <a:cs typeface="Times New Roman" pitchFamily="18" charset="0"/>
              </a:rPr>
              <a:t>marLin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J </a:t>
            </a:r>
            <a:r>
              <a:rPr lang="pt-BR" sz="1800" b="1">
                <a:latin typeface="Arial" charset="0"/>
                <a:cs typeface="Times New Roman" pitchFamily="18" charset="0"/>
              </a:rPr>
              <a:t>de </a:t>
            </a:r>
            <a:r>
              <a:rPr lang="pt-BR" sz="1800">
                <a:latin typeface="Arial" charset="0"/>
                <a:cs typeface="Times New Roman" pitchFamily="18" charset="0"/>
              </a:rPr>
              <a:t>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3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mLoteria[ I, J] =‘x’;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 </a:t>
            </a:r>
            <a:r>
              <a:rPr lang="pt-BR" sz="1800">
                <a:latin typeface="Arial" charset="0"/>
                <a:cs typeface="Times New Roman" pitchFamily="18" charset="0"/>
              </a:rPr>
              <a:t>marLin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marLin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se</a:t>
            </a:r>
            <a:r>
              <a:rPr lang="pt-BR" sz="1800">
                <a:latin typeface="Arial" charset="0"/>
                <a:cs typeface="Times New Roman" pitchFamily="18" charset="0"/>
              </a:rPr>
              <a:t> marLin &gt; maisMar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maisMar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marLin;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nJogo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I;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(“Jogo mais marcado: “, nJogo, “com “, maisMar);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4.3 – Loteria Esportiva, jogo mais marcado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tipo 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Loteria =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vetor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[1 .. 14, 1 .. 3]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de caracteres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Loteria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: mLoteria;</a:t>
            </a:r>
            <a:endParaRPr lang="pt-BR" sz="1800" i="1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I, J, maisMar, nColuna, marCol;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maisMar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J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3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</a:t>
            </a:r>
            <a:r>
              <a:rPr lang="pt-BR" sz="1800">
                <a:latin typeface="Arial" charset="0"/>
                <a:cs typeface="Times New Roman" pitchFamily="18" charset="0"/>
              </a:rPr>
              <a:t>marCol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I </a:t>
            </a:r>
            <a:r>
              <a:rPr lang="pt-BR" sz="1800" b="1">
                <a:latin typeface="Arial" charset="0"/>
                <a:cs typeface="Times New Roman" pitchFamily="18" charset="0"/>
              </a:rPr>
              <a:t>de </a:t>
            </a:r>
            <a:r>
              <a:rPr lang="pt-BR" sz="1800">
                <a:latin typeface="Arial" charset="0"/>
                <a:cs typeface="Times New Roman" pitchFamily="18" charset="0"/>
              </a:rPr>
              <a:t>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14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mLoteria[ I, J] =‘x’;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 </a:t>
            </a:r>
            <a:r>
              <a:rPr lang="pt-BR" sz="1800">
                <a:latin typeface="Arial" charset="0"/>
                <a:cs typeface="Times New Roman" pitchFamily="18" charset="0"/>
              </a:rPr>
              <a:t>marCol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marCol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se</a:t>
            </a:r>
            <a:r>
              <a:rPr lang="pt-BR" sz="1800">
                <a:latin typeface="Arial" charset="0"/>
                <a:cs typeface="Times New Roman" pitchFamily="18" charset="0"/>
              </a:rPr>
              <a:t> marCol &gt; maisMar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maisMar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marCol;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nColuna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J;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(“Coluna mais marcada: “, nColuna, “com “, maisMar);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4.4 – Loteria Esportiva, coluna mais marcada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Também denominadas </a:t>
            </a:r>
            <a:r>
              <a:rPr lang="pt-BR" sz="2400" u="sng" dirty="0" smtClean="0"/>
              <a:t>Estruturas compostas heterogêneas</a:t>
            </a:r>
          </a:p>
          <a:p>
            <a:r>
              <a:rPr lang="pt-BR" sz="2400" dirty="0" smtClean="0"/>
              <a:t>Permitem a manipulação de um conjunto de informações de tipos primitivos diferentes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Passagem de ônibus</a:t>
            </a:r>
          </a:p>
        </p:txBody>
      </p:sp>
      <p:sp>
        <p:nvSpPr>
          <p:cNvPr id="65540" name="AutoShape 5"/>
          <p:cNvSpPr>
            <a:spLocks noChangeArrowheads="1"/>
          </p:cNvSpPr>
          <p:nvPr/>
        </p:nvSpPr>
        <p:spPr bwMode="auto">
          <a:xfrm>
            <a:off x="685800" y="3657600"/>
            <a:ext cx="7391400" cy="26670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Número:</a:t>
            </a:r>
            <a:r>
              <a:rPr lang="pt-BR" sz="1800">
                <a:latin typeface="Arial" charset="0"/>
              </a:rPr>
              <a:t> 0001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De:</a:t>
            </a:r>
            <a:r>
              <a:rPr lang="pt-BR" sz="1800">
                <a:latin typeface="Arial" charset="0"/>
              </a:rPr>
              <a:t> ____________________  </a:t>
            </a:r>
            <a:r>
              <a:rPr lang="pt-BR" sz="1800" b="1">
                <a:latin typeface="Arial" charset="0"/>
              </a:rPr>
              <a:t>Para:</a:t>
            </a:r>
            <a:r>
              <a:rPr lang="pt-BR" sz="1800">
                <a:latin typeface="Arial" charset="0"/>
              </a:rPr>
              <a:t> 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Data:</a:t>
            </a:r>
            <a:r>
              <a:rPr lang="pt-BR" sz="1800">
                <a:latin typeface="Arial" charset="0"/>
              </a:rPr>
              <a:t> ____ / ____ / _______   </a:t>
            </a:r>
            <a:r>
              <a:rPr lang="pt-BR" sz="1800" b="1">
                <a:latin typeface="Arial" charset="0"/>
              </a:rPr>
              <a:t>Horário:</a:t>
            </a:r>
            <a:r>
              <a:rPr lang="pt-BR" sz="1800">
                <a:latin typeface="Arial" charset="0"/>
              </a:rPr>
              <a:t> ________ : 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Poltrona:</a:t>
            </a:r>
            <a:r>
              <a:rPr lang="pt-BR" sz="1800">
                <a:latin typeface="Arial" charset="0"/>
              </a:rPr>
              <a:t> ____________        </a:t>
            </a:r>
            <a:r>
              <a:rPr lang="pt-BR" sz="1800" b="1">
                <a:latin typeface="Arial" charset="0"/>
              </a:rPr>
              <a:t>Distância:</a:t>
            </a:r>
            <a:r>
              <a:rPr lang="pt-BR" sz="1800">
                <a:latin typeface="Arial" charset="0"/>
              </a:rPr>
              <a:t> ____________ km</a:t>
            </a:r>
            <a:endParaRPr lang="pt-BR" sz="18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048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regPassagem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	inteiro</a:t>
            </a:r>
            <a:r>
              <a:rPr lang="pt-BR" dirty="0" smtClean="0"/>
              <a:t>: Número;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err="1" smtClean="0"/>
              <a:t>caracter</a:t>
            </a:r>
            <a:r>
              <a:rPr lang="pt-BR" dirty="0" smtClean="0"/>
              <a:t>: Origem, Destino, Data, Horário;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inteiro</a:t>
            </a:r>
            <a:r>
              <a:rPr lang="pt-BR" dirty="0" smtClean="0"/>
              <a:t>: Poltrona;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real</a:t>
            </a:r>
            <a:r>
              <a:rPr lang="pt-BR" dirty="0" smtClean="0"/>
              <a:t>: Distância;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regPassagem</a:t>
            </a:r>
            <a:r>
              <a:rPr lang="pt-BR" dirty="0" smtClean="0"/>
              <a:t>: Passagem;</a:t>
            </a:r>
            <a:endParaRPr lang="pt-BR" b="1" dirty="0" smtClean="0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52400" y="42560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914400" y="47132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(Passagem);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(Passagem.Origem);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(Passagem.Destino);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Passagem.Distância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 de Conjuntos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Combinação de estruturas heterogêneas com homogêneas</a:t>
            </a:r>
            <a:endParaRPr lang="pt-BR" sz="2400" u="sng" dirty="0" smtClean="0"/>
          </a:p>
          <a:p>
            <a:r>
              <a:rPr lang="pt-BR" sz="2400" dirty="0" smtClean="0"/>
              <a:t>Podem ser obtidas ao incluir num registro outro tipo de dados construído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Registro de Estoque com Baixa semanal</a:t>
            </a:r>
          </a:p>
        </p:txBody>
      </p:sp>
      <p:sp>
        <p:nvSpPr>
          <p:cNvPr id="67588" name="AutoShape 4"/>
          <p:cNvSpPr>
            <a:spLocks noChangeArrowheads="1"/>
          </p:cNvSpPr>
          <p:nvPr/>
        </p:nvSpPr>
        <p:spPr bwMode="auto">
          <a:xfrm>
            <a:off x="762000" y="3657600"/>
            <a:ext cx="7391400" cy="25146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Nome:</a:t>
            </a:r>
            <a:r>
              <a:rPr lang="pt-BR" sz="1800">
                <a:latin typeface="Arial" charset="0"/>
              </a:rPr>
              <a:t>   _____________________________________________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Código:</a:t>
            </a:r>
            <a:r>
              <a:rPr lang="pt-BR" sz="1800">
                <a:latin typeface="Arial" charset="0"/>
              </a:rPr>
              <a:t> ___________________   </a:t>
            </a:r>
            <a:r>
              <a:rPr lang="pt-BR" sz="1800" b="1">
                <a:latin typeface="Arial" charset="0"/>
              </a:rPr>
              <a:t>Preço:</a:t>
            </a:r>
            <a:r>
              <a:rPr lang="pt-BR" sz="1800">
                <a:latin typeface="Arial" charset="0"/>
              </a:rPr>
              <a:t> 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Baixa 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37338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9530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43434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31242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25146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19050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1752600" y="5867400"/>
            <a:ext cx="396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>
                <a:latin typeface="Verdana" pitchFamily="34" charset="0"/>
              </a:rPr>
              <a:t>     </a:t>
            </a:r>
            <a:r>
              <a:rPr lang="pt-BR" sz="1400" b="1">
                <a:latin typeface="Verdana" pitchFamily="34" charset="0"/>
              </a:rPr>
              <a:t>1       2        3        4         5        6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 de Conjuntos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429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vDias</a:t>
            </a:r>
            <a:r>
              <a:rPr lang="pt-BR" dirty="0" smtClean="0"/>
              <a:t> = </a:t>
            </a:r>
            <a:r>
              <a:rPr lang="pt-BR" b="1" dirty="0" smtClean="0"/>
              <a:t>vetor</a:t>
            </a:r>
            <a:r>
              <a:rPr lang="pt-BR" dirty="0" smtClean="0"/>
              <a:t> [ 1 .. 6 ] </a:t>
            </a:r>
            <a:r>
              <a:rPr lang="pt-BR" b="1" dirty="0" smtClean="0"/>
              <a:t>de inteiros</a:t>
            </a:r>
            <a:r>
              <a:rPr lang="pt-BR" dirty="0" smtClean="0"/>
              <a:t>;</a:t>
            </a:r>
            <a:endParaRPr lang="pt-BR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regProd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  </a:t>
            </a:r>
            <a:r>
              <a:rPr lang="pt-BR" b="1" dirty="0" err="1" smtClean="0"/>
              <a:t>caracter</a:t>
            </a:r>
            <a:r>
              <a:rPr lang="pt-BR" dirty="0" smtClean="0"/>
              <a:t>: Nome;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smtClean="0"/>
              <a:t>inteiro</a:t>
            </a:r>
            <a:r>
              <a:rPr lang="pt-BR" dirty="0" smtClean="0"/>
              <a:t>: Código;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smtClean="0"/>
              <a:t>real</a:t>
            </a:r>
            <a:r>
              <a:rPr lang="pt-BR" dirty="0" smtClean="0"/>
              <a:t>: Preço;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err="1" smtClean="0"/>
              <a:t>vDias</a:t>
            </a:r>
            <a:r>
              <a:rPr lang="pt-BR" dirty="0" smtClean="0"/>
              <a:t>: Baixa;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    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regProduto</a:t>
            </a:r>
            <a:r>
              <a:rPr lang="pt-BR" dirty="0" smtClean="0"/>
              <a:t>: Produto;</a:t>
            </a:r>
            <a:endParaRPr lang="pt-BR" b="1" dirty="0" smtClean="0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52400" y="44846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914400" y="49418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(Produto.Nome);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(Produto.Código);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(Produto.Preço);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(Produto.Baixa [ 1 ]);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Produto.Baixa [ 4 ]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Conjunto de Registros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Combinação de estruturas homogêneas com heterogêneas</a:t>
            </a:r>
            <a:endParaRPr lang="pt-BR" sz="2400" u="sng" dirty="0" smtClean="0"/>
          </a:p>
          <a:p>
            <a:r>
              <a:rPr lang="pt-BR" sz="2400" dirty="0" smtClean="0"/>
              <a:t>Podem ser obtidas ao formar um conjunto com  outro tipo de dados construído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Ônibus formado por Passagem</a:t>
            </a:r>
          </a:p>
        </p:txBody>
      </p:sp>
      <p:sp>
        <p:nvSpPr>
          <p:cNvPr id="69636" name="AutoShape 12"/>
          <p:cNvSpPr>
            <a:spLocks noChangeArrowheads="1"/>
          </p:cNvSpPr>
          <p:nvPr/>
        </p:nvSpPr>
        <p:spPr bwMode="auto">
          <a:xfrm>
            <a:off x="1524000" y="3657600"/>
            <a:ext cx="7391400" cy="21336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Número:</a:t>
            </a:r>
            <a:r>
              <a:rPr lang="pt-BR" sz="1800">
                <a:latin typeface="Arial" charset="0"/>
              </a:rPr>
              <a:t> 0001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De:</a:t>
            </a:r>
            <a:r>
              <a:rPr lang="pt-BR" sz="1800">
                <a:latin typeface="Arial" charset="0"/>
              </a:rPr>
              <a:t> ____________________  </a:t>
            </a:r>
            <a:r>
              <a:rPr lang="pt-BR" sz="1800" b="1">
                <a:latin typeface="Arial" charset="0"/>
              </a:rPr>
              <a:t>Para:</a:t>
            </a:r>
            <a:r>
              <a:rPr lang="pt-BR" sz="1800">
                <a:latin typeface="Arial" charset="0"/>
              </a:rPr>
              <a:t> 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Data:</a:t>
            </a:r>
            <a:r>
              <a:rPr lang="pt-BR" sz="1800">
                <a:latin typeface="Arial" charset="0"/>
              </a:rPr>
              <a:t> ____ / ____ / _______   </a:t>
            </a:r>
            <a:r>
              <a:rPr lang="pt-BR" sz="1800" b="1">
                <a:latin typeface="Arial" charset="0"/>
              </a:rPr>
              <a:t>Horário:</a:t>
            </a:r>
            <a:r>
              <a:rPr lang="pt-BR" sz="1800">
                <a:latin typeface="Arial" charset="0"/>
              </a:rPr>
              <a:t> ________ : 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Poltrona:</a:t>
            </a:r>
            <a:r>
              <a:rPr lang="pt-BR" sz="1800">
                <a:latin typeface="Arial" charset="0"/>
              </a:rPr>
              <a:t> ____________        </a:t>
            </a:r>
            <a:r>
              <a:rPr lang="pt-BR" sz="1800" b="1">
                <a:latin typeface="Arial" charset="0"/>
              </a:rPr>
              <a:t>Distância:</a:t>
            </a:r>
            <a:r>
              <a:rPr lang="pt-BR" sz="1800">
                <a:latin typeface="Arial" charset="0"/>
              </a:rPr>
              <a:t> ____________ km</a:t>
            </a:r>
            <a:endParaRPr lang="pt-BR" sz="1800" b="1">
              <a:latin typeface="Arial" charset="0"/>
            </a:endParaRPr>
          </a:p>
        </p:txBody>
      </p:sp>
      <p:sp>
        <p:nvSpPr>
          <p:cNvPr id="69637" name="Rectangle 13"/>
          <p:cNvSpPr>
            <a:spLocks noChangeArrowheads="1"/>
          </p:cNvSpPr>
          <p:nvPr/>
        </p:nvSpPr>
        <p:spPr bwMode="auto">
          <a:xfrm>
            <a:off x="3810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38" name="Rectangle 14"/>
          <p:cNvSpPr>
            <a:spLocks noChangeArrowheads="1"/>
          </p:cNvSpPr>
          <p:nvPr/>
        </p:nvSpPr>
        <p:spPr bwMode="auto">
          <a:xfrm>
            <a:off x="381000" y="4191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39" name="Rectangle 15"/>
          <p:cNvSpPr>
            <a:spLocks noChangeArrowheads="1"/>
          </p:cNvSpPr>
          <p:nvPr/>
        </p:nvSpPr>
        <p:spPr bwMode="auto">
          <a:xfrm>
            <a:off x="381000" y="4724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0" name="Rectangle 16"/>
          <p:cNvSpPr>
            <a:spLocks noChangeArrowheads="1"/>
          </p:cNvSpPr>
          <p:nvPr/>
        </p:nvSpPr>
        <p:spPr bwMode="auto">
          <a:xfrm>
            <a:off x="381000" y="5257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1" name="Rectangle 17"/>
          <p:cNvSpPr>
            <a:spLocks noChangeArrowheads="1"/>
          </p:cNvSpPr>
          <p:nvPr/>
        </p:nvSpPr>
        <p:spPr bwMode="auto">
          <a:xfrm>
            <a:off x="381000" y="5943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2" name="AutoShape 18"/>
          <p:cNvSpPr>
            <a:spLocks noChangeArrowheads="1"/>
          </p:cNvSpPr>
          <p:nvPr/>
        </p:nvSpPr>
        <p:spPr bwMode="auto">
          <a:xfrm>
            <a:off x="444500" y="3771900"/>
            <a:ext cx="4572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3" name="Freeform 21"/>
          <p:cNvSpPr>
            <a:spLocks/>
          </p:cNvSpPr>
          <p:nvPr/>
        </p:nvSpPr>
        <p:spPr bwMode="auto">
          <a:xfrm>
            <a:off x="914400" y="3581400"/>
            <a:ext cx="762000" cy="304800"/>
          </a:xfrm>
          <a:custGeom>
            <a:avLst/>
            <a:gdLst>
              <a:gd name="T0" fmla="*/ 0 w 480"/>
              <a:gd name="T1" fmla="*/ 2147483647 h 192"/>
              <a:gd name="T2" fmla="*/ 2147483647 w 480"/>
              <a:gd name="T3" fmla="*/ 2147483647 h 192"/>
              <a:gd name="T4" fmla="*/ 2147483647 w 480"/>
              <a:gd name="T5" fmla="*/ 0 h 192"/>
              <a:gd name="T6" fmla="*/ 2147483647 w 480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192"/>
              <a:gd name="T14" fmla="*/ 480 w 480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192">
                <a:moveTo>
                  <a:pt x="0" y="192"/>
                </a:moveTo>
                <a:cubicBezTo>
                  <a:pt x="24" y="136"/>
                  <a:pt x="48" y="80"/>
                  <a:pt x="96" y="48"/>
                </a:cubicBezTo>
                <a:cubicBezTo>
                  <a:pt x="144" y="16"/>
                  <a:pt x="224" y="0"/>
                  <a:pt x="288" y="0"/>
                </a:cubicBezTo>
                <a:cubicBezTo>
                  <a:pt x="352" y="0"/>
                  <a:pt x="440" y="40"/>
                  <a:pt x="480" y="48"/>
                </a:cubicBez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9644" name="Line 22"/>
          <p:cNvSpPr>
            <a:spLocks noChangeShapeType="1"/>
          </p:cNvSpPr>
          <p:nvPr/>
        </p:nvSpPr>
        <p:spPr bwMode="auto">
          <a:xfrm>
            <a:off x="1676400" y="36957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69645" name="Text Box 23"/>
          <p:cNvSpPr txBox="1">
            <a:spLocks noChangeArrowheads="1"/>
          </p:cNvSpPr>
          <p:nvPr/>
        </p:nvSpPr>
        <p:spPr bwMode="auto">
          <a:xfrm>
            <a:off x="76200" y="3810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1</a:t>
            </a:r>
          </a:p>
        </p:txBody>
      </p:sp>
      <p:sp>
        <p:nvSpPr>
          <p:cNvPr id="69646" name="Text Box 24"/>
          <p:cNvSpPr txBox="1">
            <a:spLocks noChangeArrowheads="1"/>
          </p:cNvSpPr>
          <p:nvPr/>
        </p:nvSpPr>
        <p:spPr bwMode="auto">
          <a:xfrm>
            <a:off x="76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2</a:t>
            </a:r>
          </a:p>
        </p:txBody>
      </p:sp>
      <p:sp>
        <p:nvSpPr>
          <p:cNvPr id="69647" name="Text Box 25"/>
          <p:cNvSpPr txBox="1">
            <a:spLocks noChangeArrowheads="1"/>
          </p:cNvSpPr>
          <p:nvPr/>
        </p:nvSpPr>
        <p:spPr bwMode="auto">
          <a:xfrm>
            <a:off x="76200" y="4800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3</a:t>
            </a:r>
          </a:p>
        </p:txBody>
      </p:sp>
      <p:sp>
        <p:nvSpPr>
          <p:cNvPr id="69648" name="Text Box 26"/>
          <p:cNvSpPr txBox="1">
            <a:spLocks noChangeArrowheads="1"/>
          </p:cNvSpPr>
          <p:nvPr/>
        </p:nvSpPr>
        <p:spPr bwMode="auto">
          <a:xfrm>
            <a:off x="76200" y="533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4</a:t>
            </a:r>
          </a:p>
        </p:txBody>
      </p:sp>
      <p:sp>
        <p:nvSpPr>
          <p:cNvPr id="69649" name="Text Box 27"/>
          <p:cNvSpPr txBox="1">
            <a:spLocks noChangeArrowheads="1"/>
          </p:cNvSpPr>
          <p:nvPr/>
        </p:nvSpPr>
        <p:spPr bwMode="auto">
          <a:xfrm>
            <a:off x="0" y="60960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Conjunto de Registros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429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regPassagem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	inteiro</a:t>
            </a:r>
            <a:r>
              <a:rPr lang="pt-BR" dirty="0" smtClean="0"/>
              <a:t>: Número;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err="1" smtClean="0"/>
              <a:t>caracter</a:t>
            </a:r>
            <a:r>
              <a:rPr lang="pt-BR" dirty="0" smtClean="0"/>
              <a:t>: Origem, Destino, Data, Horário;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inteiro</a:t>
            </a:r>
            <a:r>
              <a:rPr lang="pt-BR" dirty="0" smtClean="0"/>
              <a:t>: Poltrona;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real</a:t>
            </a:r>
            <a:r>
              <a:rPr lang="pt-BR" dirty="0" smtClean="0"/>
              <a:t>: Distância;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vetPassagem</a:t>
            </a:r>
            <a:r>
              <a:rPr lang="pt-BR" dirty="0" smtClean="0"/>
              <a:t> = </a:t>
            </a:r>
            <a:r>
              <a:rPr lang="pt-BR" b="1" dirty="0" smtClean="0"/>
              <a:t>vetor</a:t>
            </a:r>
            <a:r>
              <a:rPr lang="pt-BR" dirty="0" smtClean="0"/>
              <a:t> [ 1 .. 44 ] </a:t>
            </a:r>
            <a:r>
              <a:rPr lang="pt-BR" b="1" dirty="0" smtClean="0"/>
              <a:t>de </a:t>
            </a:r>
            <a:r>
              <a:rPr lang="pt-BR" b="1" dirty="0" err="1" smtClean="0"/>
              <a:t>regPassagem</a:t>
            </a:r>
            <a:r>
              <a:rPr lang="pt-BR" dirty="0" smtClean="0"/>
              <a:t>;</a:t>
            </a:r>
            <a:endParaRPr lang="pt-BR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vetPassagem</a:t>
            </a:r>
            <a:r>
              <a:rPr lang="pt-BR" dirty="0" smtClean="0"/>
              <a:t>: Ônibus;</a:t>
            </a:r>
            <a:endParaRPr lang="pt-BR" b="1" dirty="0" smtClean="0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152400" y="44465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914400" y="49037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[ 7 ]);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[ 4 ]);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[12].Origem);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(Passagem [21].Destino);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Passagem [34].Distância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build="p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847</Words>
  <Application>Microsoft Office PowerPoint</Application>
  <PresentationFormat>Apresentação na tela (4:3)</PresentationFormat>
  <Paragraphs>315</Paragraphs>
  <Slides>18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Mediano</vt:lpstr>
      <vt:lpstr>Estruturas de Dados</vt:lpstr>
      <vt:lpstr>Estruturas de Dados</vt:lpstr>
      <vt:lpstr>Estruturas de Dados</vt:lpstr>
      <vt:lpstr>Vetores</vt:lpstr>
      <vt:lpstr>Vetores</vt:lpstr>
      <vt:lpstr>Vetores</vt:lpstr>
      <vt:lpstr>Vetores</vt:lpstr>
      <vt:lpstr>Matrizes</vt:lpstr>
      <vt:lpstr>Matrizes</vt:lpstr>
      <vt:lpstr>Matrizes</vt:lpstr>
      <vt:lpstr>Matrizes</vt:lpstr>
      <vt:lpstr>Matrizes</vt:lpstr>
      <vt:lpstr>Registros</vt:lpstr>
      <vt:lpstr>Registros</vt:lpstr>
      <vt:lpstr>Registro de Conjuntos</vt:lpstr>
      <vt:lpstr>Registro de Conjuntos</vt:lpstr>
      <vt:lpstr>Conjunto de Registros</vt:lpstr>
      <vt:lpstr>Conjunto de Registros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Dados</dc:title>
  <dc:creator>nglaser</dc:creator>
  <cp:lastModifiedBy>nglaser</cp:lastModifiedBy>
  <cp:revision>1</cp:revision>
  <dcterms:created xsi:type="dcterms:W3CDTF">2013-03-04T19:12:20Z</dcterms:created>
  <dcterms:modified xsi:type="dcterms:W3CDTF">2013-03-04T19:13:07Z</dcterms:modified>
</cp:coreProperties>
</file>