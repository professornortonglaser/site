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2" r:id="rId7"/>
    <p:sldId id="261" r:id="rId8"/>
    <p:sldId id="265" r:id="rId9"/>
    <p:sldId id="259" r:id="rId10"/>
    <p:sldId id="270" r:id="rId11"/>
    <p:sldId id="264" r:id="rId12"/>
    <p:sldId id="266" r:id="rId13"/>
    <p:sldId id="267" r:id="rId14"/>
    <p:sldId id="271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83" autoAdjust="0"/>
    <p:restoredTop sz="94660"/>
  </p:normalViewPr>
  <p:slideViewPr>
    <p:cSldViewPr>
      <p:cViewPr varScale="1">
        <p:scale>
          <a:sx n="68" d="100"/>
          <a:sy n="68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29/07/2014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Ferramentas </a:t>
            </a:r>
            <a:r>
              <a:rPr lang="pt-BR" smtClean="0"/>
              <a:t>de </a:t>
            </a:r>
            <a:r>
              <a:rPr lang="pt-BR" smtClean="0"/>
              <a:t>Desenvolvimento </a:t>
            </a:r>
            <a:r>
              <a:rPr lang="pt-BR" dirty="0" smtClean="0"/>
              <a:t>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HTML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Hyper</a:t>
            </a:r>
            <a:r>
              <a:rPr lang="pt-BR" dirty="0" smtClean="0"/>
              <a:t> </a:t>
            </a:r>
            <a:r>
              <a:rPr lang="pt-BR" dirty="0" err="1" smtClean="0"/>
              <a:t>Text</a:t>
            </a:r>
            <a:r>
              <a:rPr lang="pt-BR" dirty="0" smtClean="0"/>
              <a:t> Markup </a:t>
            </a:r>
            <a:r>
              <a:rPr lang="pt-BR" dirty="0" err="1" smtClean="0"/>
              <a:t>Language</a:t>
            </a:r>
            <a:r>
              <a:rPr lang="pt-BR" dirty="0" smtClean="0"/>
              <a:t> (Linguagem de formatação de </a:t>
            </a:r>
            <a:r>
              <a:rPr lang="pt-BR" dirty="0" err="1" smtClean="0"/>
              <a:t>Hiper-Texto</a:t>
            </a:r>
            <a:r>
              <a:rPr lang="pt-BR" dirty="0" smtClean="0"/>
              <a:t>)</a:t>
            </a:r>
          </a:p>
          <a:p>
            <a:r>
              <a:rPr lang="pt-BR" dirty="0" smtClean="0"/>
              <a:t>Linguagem de formatação para disseminação de conteúdo.</a:t>
            </a:r>
          </a:p>
          <a:p>
            <a:r>
              <a:rPr lang="pt-BR" dirty="0" smtClean="0"/>
              <a:t>Padrão nos navegadores utiliza o protocolo HTTP  do TCP/IP.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Não e uma linguagem de programação, por este motivo não tem regras de sintaxe.</a:t>
            </a:r>
          </a:p>
          <a:p>
            <a:r>
              <a:rPr lang="pt-BR" dirty="0" smtClean="0"/>
              <a:t>Ela é interpretada pelo navegador em tempo de execução</a:t>
            </a:r>
          </a:p>
          <a:p>
            <a:r>
              <a:rPr lang="pt-BR" dirty="0" smtClean="0"/>
              <a:t>Utiliza a tecnologia CSS para auxiliar a formatação padronizada entre página.</a:t>
            </a:r>
          </a:p>
          <a:p>
            <a:r>
              <a:rPr lang="pt-BR" dirty="0" smtClean="0"/>
              <a:t>Utiliza o </a:t>
            </a:r>
            <a:r>
              <a:rPr lang="pt-BR" dirty="0" err="1" smtClean="0"/>
              <a:t>javascript</a:t>
            </a:r>
            <a:r>
              <a:rPr lang="pt-BR" dirty="0" smtClean="0"/>
              <a:t> para auxiliar na validação de formulários e melhor a navegabilidade.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dirty="0" err="1" smtClean="0"/>
              <a:t>html</a:t>
            </a:r>
            <a:r>
              <a:rPr lang="pt-BR" dirty="0" smtClean="0"/>
              <a:t> é composto por </a:t>
            </a:r>
            <a:r>
              <a:rPr lang="pt-BR" dirty="0" err="1" smtClean="0"/>
              <a:t>tags</a:t>
            </a:r>
            <a:r>
              <a:rPr lang="pt-BR" dirty="0" smtClean="0"/>
              <a:t> (etiquetas) que identificam ao navegador como formatar um determinado conteúdo, podemos dividir em 3 categorias: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Estrutura – São responsáveis por delimitar seções e espaços dentro da página.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formatação – fornecem a formatação direta de cor, fonte e estilo de conteúdo.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Objeto – coletam dados de um formulário, e permitem integração com o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 </a:t>
            </a:r>
            <a:r>
              <a:rPr lang="pt-BR" smtClean="0"/>
              <a:t>html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C000"/>
            </a:solidFill>
          </a:ln>
        </p:spPr>
        <p:txBody>
          <a:bodyPr>
            <a:normAutofit/>
          </a:bodyPr>
          <a:lstStyle/>
          <a:p>
            <a:r>
              <a:rPr lang="pt-BR" dirty="0" smtClean="0"/>
              <a:t>&lt;HTML&gt; &lt;/HTML&gt;</a:t>
            </a:r>
          </a:p>
          <a:p>
            <a:pPr lvl="1"/>
            <a:r>
              <a:rPr lang="pt-BR" dirty="0" smtClean="0"/>
              <a:t>Identificam o inicio e o fim de um página.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– </a:t>
            </a:r>
            <a:r>
              <a:rPr lang="pt-BR" dirty="0" err="1" smtClean="0"/>
              <a:t>head</a:t>
            </a:r>
            <a:r>
              <a:rPr lang="pt-BR" dirty="0" smtClean="0"/>
              <a:t>, </a:t>
            </a:r>
            <a:r>
              <a:rPr lang="pt-BR" dirty="0" err="1" smtClean="0"/>
              <a:t>title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&lt;HEAD&gt; &lt;/HEAD&gt;</a:t>
            </a:r>
          </a:p>
          <a:p>
            <a:pPr lvl="1"/>
            <a:r>
              <a:rPr lang="pt-BR" dirty="0" smtClean="0"/>
              <a:t>Área para publicação de informações sobre a página que auxiliam a indexação por buscadores.</a:t>
            </a:r>
          </a:p>
          <a:p>
            <a:r>
              <a:rPr lang="pt-BR" dirty="0" smtClean="0"/>
              <a:t>&lt;TITLE&gt;&lt;/TITLE&gt;</a:t>
            </a:r>
          </a:p>
          <a:p>
            <a:pPr lvl="1"/>
            <a:r>
              <a:rPr lang="pt-BR" dirty="0" smtClean="0"/>
              <a:t>Define o titulo da página que aparece no topo dos navegadores.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 meta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&lt;META NAME....</a:t>
            </a:r>
          </a:p>
          <a:p>
            <a:pPr lvl="1"/>
            <a:r>
              <a:rPr lang="pt-BR" dirty="0" smtClean="0"/>
              <a:t>publicação de informações sobre a página que auxiliam a indexação por buscadores.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=“pagina sobre”&gt;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keywords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web”&gt;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author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=“Norton”&gt;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 </a:t>
            </a:r>
            <a:r>
              <a:rPr lang="pt-BR" dirty="0" err="1" smtClean="0"/>
              <a:t>body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&lt;BODY&gt;&lt;/BODY&gt;</a:t>
            </a:r>
          </a:p>
          <a:p>
            <a:pPr lvl="1"/>
            <a:r>
              <a:rPr lang="pt-BR" dirty="0" smtClean="0"/>
              <a:t>Define o inicio e fim do corpo de uma página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 - 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&lt;P&gt;&lt;/P&gt;</a:t>
            </a:r>
          </a:p>
          <a:p>
            <a:pPr lvl="1"/>
            <a:r>
              <a:rPr lang="pt-BR" dirty="0" smtClean="0"/>
              <a:t>Define um </a:t>
            </a:r>
            <a:r>
              <a:rPr lang="pt-BR" dirty="0" err="1" smtClean="0"/>
              <a:t>paragrafo</a:t>
            </a:r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 - </a:t>
            </a:r>
            <a:r>
              <a:rPr lang="pt-BR" dirty="0" err="1" smtClean="0"/>
              <a:t>br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br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Quebra de linha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– h1...h6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&lt;h1&gt;&lt;/h1&gt;</a:t>
            </a:r>
          </a:p>
          <a:p>
            <a:pPr lvl="1"/>
            <a:r>
              <a:rPr lang="pt-BR" dirty="0" smtClean="0"/>
              <a:t>Definição de títulos</a:t>
            </a:r>
          </a:p>
          <a:p>
            <a:pPr lvl="1"/>
            <a:r>
              <a:rPr lang="pt-BR" dirty="0" smtClean="0"/>
              <a:t>Podem ir de  1 ate 6</a:t>
            </a:r>
          </a:p>
          <a:p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&lt;h1&gt;Titulo Tipo 1 &lt;/h1&gt;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-div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&lt;div&gt;&lt;/div&gt;</a:t>
            </a:r>
          </a:p>
          <a:p>
            <a:pPr lvl="1"/>
            <a:r>
              <a:rPr lang="pt-BR" dirty="0" smtClean="0"/>
              <a:t>Definem uma área isolada de formatação na página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&lt;DIV&gt; Menu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/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 </a:t>
            </a:r>
            <a:r>
              <a:rPr lang="pt-BR" dirty="0" err="1" smtClean="0"/>
              <a:t>table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table</a:t>
            </a:r>
            <a:r>
              <a:rPr lang="pt-BR" dirty="0" smtClean="0"/>
              <a:t>&gt;&lt;/</a:t>
            </a:r>
            <a:r>
              <a:rPr lang="pt-BR" dirty="0" err="1" smtClean="0"/>
              <a:t>table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Tag</a:t>
            </a:r>
            <a:r>
              <a:rPr lang="pt-BR" dirty="0" smtClean="0"/>
              <a:t> para criação de tabelas 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tr</a:t>
            </a:r>
            <a:r>
              <a:rPr lang="pt-BR" dirty="0" smtClean="0"/>
              <a:t>&gt;&lt;/</a:t>
            </a:r>
            <a:r>
              <a:rPr lang="pt-BR" dirty="0" err="1" smtClean="0"/>
              <a:t>tr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Row</a:t>
            </a:r>
            <a:r>
              <a:rPr lang="pt-BR" dirty="0" smtClean="0"/>
              <a:t> - Linha de tabla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td</a:t>
            </a:r>
            <a:r>
              <a:rPr lang="pt-BR" dirty="0" smtClean="0"/>
              <a:t>&gt;&lt;/</a:t>
            </a:r>
            <a:r>
              <a:rPr lang="pt-BR" dirty="0" err="1" smtClean="0"/>
              <a:t>td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Detail</a:t>
            </a:r>
            <a:r>
              <a:rPr lang="pt-BR" dirty="0" smtClean="0"/>
              <a:t> – coluna de tabela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Estrutura - </a:t>
            </a:r>
            <a:r>
              <a:rPr lang="pt-BR" dirty="0" err="1" smtClean="0"/>
              <a:t>table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border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=1&gt;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Azul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Verde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Amarelo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Estrutura - </a:t>
            </a:r>
            <a:r>
              <a:rPr lang="pt-BR" dirty="0" err="1" smtClean="0"/>
              <a:t>br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Comentários</a:t>
            </a:r>
          </a:p>
          <a:p>
            <a:pPr lvl="1"/>
            <a:r>
              <a:rPr lang="pt-BR" dirty="0" smtClean="0"/>
              <a:t>Para colocar um comentário na página que não será exibido pelo navegado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&lt;!– - Pagina principal - -&gt;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</a:t>
            </a:r>
            <a:r>
              <a:rPr lang="pt-BR" dirty="0" err="1" smtClean="0"/>
              <a:t>tags</a:t>
            </a:r>
            <a:r>
              <a:rPr lang="pt-BR" dirty="0" smtClean="0"/>
              <a:t> que alteram a formatação de um conteúdo estático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 Cor, </a:t>
            </a:r>
            <a:r>
              <a:rPr lang="pt-BR" dirty="0" err="1" smtClean="0"/>
              <a:t>estitlo</a:t>
            </a:r>
            <a:r>
              <a:rPr lang="pt-BR" dirty="0" smtClean="0"/>
              <a:t> de fonte, cor de letra etc.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– b, i, u, 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&lt;B&gt; Conteúdo &lt;/B&gt; - Negrito / </a:t>
            </a:r>
            <a:r>
              <a:rPr lang="pt-BR" dirty="0" err="1" smtClean="0"/>
              <a:t>Bold</a:t>
            </a:r>
            <a:endParaRPr lang="pt-BR" dirty="0" smtClean="0"/>
          </a:p>
          <a:p>
            <a:r>
              <a:rPr lang="pt-BR" dirty="0" smtClean="0"/>
              <a:t>&lt;i&gt; Conteúdo &lt;/i&gt; - </a:t>
            </a:r>
            <a:r>
              <a:rPr lang="pt-BR" dirty="0" err="1" smtClean="0"/>
              <a:t>Italico</a:t>
            </a:r>
            <a:r>
              <a:rPr lang="pt-BR" dirty="0" smtClean="0"/>
              <a:t> / </a:t>
            </a:r>
            <a:r>
              <a:rPr lang="pt-BR" dirty="0" err="1" smtClean="0"/>
              <a:t>Italic</a:t>
            </a:r>
            <a:endParaRPr lang="pt-BR" dirty="0" smtClean="0"/>
          </a:p>
          <a:p>
            <a:r>
              <a:rPr lang="pt-BR" dirty="0" smtClean="0"/>
              <a:t>&lt;u&gt;Conteúdo &lt;/u&gt; - sublinhado / Underline</a:t>
            </a:r>
          </a:p>
          <a:p>
            <a:r>
              <a:rPr lang="pt-BR" dirty="0" smtClean="0"/>
              <a:t>&lt;s&gt;Conteúdo &lt;/s&gt; -riscado / </a:t>
            </a:r>
            <a:r>
              <a:rPr lang="pt-BR" dirty="0" err="1" smtClean="0"/>
              <a:t>Strike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 - </a:t>
            </a:r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</a:t>
            </a:r>
            <a:r>
              <a:rPr lang="pt-BR" dirty="0" err="1" smtClean="0"/>
              <a:t>Font</a:t>
            </a:r>
            <a:r>
              <a:rPr lang="pt-BR" dirty="0" smtClean="0"/>
              <a:t> – Altera a formatação de cor, fonte e tamanho de um </a:t>
            </a:r>
            <a:r>
              <a:rPr lang="pt-BR" dirty="0" err="1" smtClean="0"/>
              <a:t>conteudo</a:t>
            </a:r>
            <a:r>
              <a:rPr lang="pt-BR" dirty="0" smtClean="0"/>
              <a:t>.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font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” face=“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verdana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size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=“14px”&gt;</a:t>
            </a:r>
          </a:p>
          <a:p>
            <a:pPr lvl="1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CONTEUDO</a:t>
            </a:r>
          </a:p>
          <a:p>
            <a:pPr lvl="1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font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– Nome da cor ou valor em hexadecimal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Exe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#ff0000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Size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– tamanho da fonte, geralmente descrito em pixel: 14px</a:t>
            </a:r>
          </a:p>
          <a:p>
            <a:pPr lvl="1"/>
            <a:r>
              <a:rPr lang="pt-BR" dirty="0" smtClean="0">
                <a:latin typeface="Courier New" pitchFamily="49" charset="0"/>
                <a:cs typeface="Courier New" pitchFamily="49" charset="0"/>
              </a:rPr>
              <a:t>Face – nome da fonte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exe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verdana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ul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Lista de tópicos</a:t>
            </a:r>
          </a:p>
          <a:p>
            <a:pPr>
              <a:buNone/>
            </a:pPr>
            <a:r>
              <a:rPr lang="it-IT" dirty="0" smtClean="0"/>
              <a:t>		&lt;ul&gt;</a:t>
            </a:r>
          </a:p>
          <a:p>
            <a:pPr>
              <a:buNone/>
            </a:pPr>
            <a:r>
              <a:rPr lang="it-IT" dirty="0" smtClean="0"/>
              <a:t>			&lt;li&gt;azul&lt;/li&gt;</a:t>
            </a:r>
          </a:p>
          <a:p>
            <a:pPr>
              <a:buNone/>
            </a:pPr>
            <a:r>
              <a:rPr lang="it-IT" dirty="0" smtClean="0"/>
              <a:t>			&lt;li&gt;verde&lt;/li&gt;</a:t>
            </a:r>
          </a:p>
          <a:p>
            <a:pPr>
              <a:buNone/>
            </a:pPr>
            <a:r>
              <a:rPr lang="it-IT" dirty="0" smtClean="0"/>
              <a:t>			&lt;li&gt;amarelo&lt;/li&gt;</a:t>
            </a:r>
          </a:p>
          <a:p>
            <a:pPr>
              <a:buNone/>
            </a:pPr>
            <a:r>
              <a:rPr lang="it-IT" dirty="0" smtClean="0"/>
              <a:t>			&lt;li&gt;branco&lt;/li&gt;</a:t>
            </a:r>
          </a:p>
          <a:p>
            <a:pPr>
              <a:buNone/>
            </a:pPr>
            <a:r>
              <a:rPr lang="it-IT" dirty="0" smtClean="0"/>
              <a:t>		&lt;/ul&gt;</a:t>
            </a:r>
          </a:p>
          <a:p>
            <a:pPr>
              <a:buNone/>
            </a:pPr>
            <a:r>
              <a:rPr lang="it-IT" dirty="0" smtClean="0"/>
              <a:t>		</a:t>
            </a:r>
          </a:p>
          <a:p>
            <a:pPr>
              <a:buNone/>
            </a:pPr>
            <a:r>
              <a:rPr lang="it-IT" dirty="0" smtClean="0"/>
              <a:t>		</a:t>
            </a: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ol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Lista ordenada</a:t>
            </a:r>
          </a:p>
          <a:p>
            <a:pPr>
              <a:buNone/>
            </a:pPr>
            <a:r>
              <a:rPr lang="it-IT" dirty="0" smtClean="0"/>
              <a:t>		&lt;ol&gt;</a:t>
            </a:r>
          </a:p>
          <a:p>
            <a:pPr>
              <a:buNone/>
            </a:pPr>
            <a:r>
              <a:rPr lang="it-IT" dirty="0" smtClean="0"/>
              <a:t>			&lt;li&gt;Maça&lt;/li&gt;</a:t>
            </a:r>
          </a:p>
          <a:p>
            <a:pPr>
              <a:buNone/>
            </a:pPr>
            <a:r>
              <a:rPr lang="it-IT" dirty="0" smtClean="0"/>
              <a:t>			&lt;li&gt;Laranja&lt;/li&gt;</a:t>
            </a:r>
          </a:p>
          <a:p>
            <a:pPr>
              <a:buNone/>
            </a:pPr>
            <a:r>
              <a:rPr lang="it-IT" dirty="0" smtClean="0"/>
              <a:t>			&lt;li&gt;Manga&lt;/li&gt;</a:t>
            </a:r>
          </a:p>
          <a:p>
            <a:pPr>
              <a:buNone/>
            </a:pPr>
            <a:r>
              <a:rPr lang="it-IT" dirty="0" smtClean="0"/>
              <a:t>		&lt;/ol&gt;</a:t>
            </a:r>
            <a:endParaRPr lang="pt-BR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Link ou ancora, redireciona a navegação para outra página ou documento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="http://www.norton.net.br"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target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Link externo&lt;/a&gt;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: caminho local ou virtual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Target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: local de carga do destino do link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</a:t>
            </a:r>
            <a:r>
              <a:rPr lang="pt-BR" dirty="0" err="1" smtClean="0"/>
              <a:t>tags</a:t>
            </a:r>
            <a:r>
              <a:rPr lang="pt-BR" dirty="0" smtClean="0"/>
              <a:t> para coletar dados de formulário da navegação do cliente.</a:t>
            </a:r>
          </a:p>
          <a:p>
            <a:r>
              <a:rPr lang="pt-BR" dirty="0" smtClean="0"/>
              <a:t>Geralmente estes dados são enviados para um servidor de aplicação para serem processado.</a:t>
            </a:r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Text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Caixa de texto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type="text"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id="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size="60"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maxlength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="50"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value="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carregado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readonly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Text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Atributos da caixa de texto</a:t>
            </a: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Id : define o </a:t>
            </a:r>
            <a:r>
              <a:rPr lang="en-US" dirty="0" err="1" smtClean="0">
                <a:latin typeface="+mj-lt"/>
                <a:cs typeface="Courier New" pitchFamily="49" charset="0"/>
              </a:rPr>
              <a:t>nome</a:t>
            </a:r>
            <a:r>
              <a:rPr lang="en-US" dirty="0" smtClean="0">
                <a:latin typeface="+mj-lt"/>
                <a:cs typeface="Courier New" pitchFamily="49" charset="0"/>
              </a:rPr>
              <a:t> do </a:t>
            </a:r>
            <a:r>
              <a:rPr lang="en-US" dirty="0" err="1" smtClean="0">
                <a:latin typeface="+mj-lt"/>
                <a:cs typeface="Courier New" pitchFamily="49" charset="0"/>
              </a:rPr>
              <a:t>objeto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Size : </a:t>
            </a:r>
            <a:r>
              <a:rPr lang="en-US" dirty="0" err="1" smtClean="0">
                <a:latin typeface="+mj-lt"/>
                <a:cs typeface="Courier New" pitchFamily="49" charset="0"/>
              </a:rPr>
              <a:t>tamanho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em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exibição</a:t>
            </a:r>
            <a:r>
              <a:rPr lang="en-US" dirty="0" smtClean="0">
                <a:latin typeface="+mj-lt"/>
                <a:cs typeface="Courier New" pitchFamily="49" charset="0"/>
              </a:rPr>
              <a:t> e </a:t>
            </a:r>
            <a:r>
              <a:rPr lang="en-US" dirty="0" err="1" smtClean="0">
                <a:latin typeface="+mj-lt"/>
                <a:cs typeface="Courier New" pitchFamily="49" charset="0"/>
              </a:rPr>
              <a:t>colunas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err="1" smtClean="0">
                <a:latin typeface="+mj-lt"/>
                <a:cs typeface="Courier New" pitchFamily="49" charset="0"/>
              </a:rPr>
              <a:t>Maxlength</a:t>
            </a:r>
            <a:r>
              <a:rPr lang="en-US" dirty="0" smtClean="0">
                <a:latin typeface="+mj-lt"/>
                <a:cs typeface="Courier New" pitchFamily="49" charset="0"/>
              </a:rPr>
              <a:t>: </a:t>
            </a:r>
            <a:r>
              <a:rPr lang="en-US" dirty="0" err="1" smtClean="0">
                <a:latin typeface="+mj-lt"/>
                <a:cs typeface="Courier New" pitchFamily="49" charset="0"/>
              </a:rPr>
              <a:t>quantidade</a:t>
            </a:r>
            <a:r>
              <a:rPr lang="en-US" dirty="0" smtClean="0">
                <a:latin typeface="+mj-lt"/>
                <a:cs typeface="Courier New" pitchFamily="49" charset="0"/>
              </a:rPr>
              <a:t> maxima de </a:t>
            </a:r>
            <a:r>
              <a:rPr lang="en-US" dirty="0" err="1" smtClean="0">
                <a:latin typeface="+mj-lt"/>
                <a:cs typeface="Courier New" pitchFamily="49" charset="0"/>
              </a:rPr>
              <a:t>caracteres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digitados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Value : valor pre </a:t>
            </a:r>
            <a:r>
              <a:rPr lang="en-US" dirty="0" err="1" smtClean="0">
                <a:latin typeface="+mj-lt"/>
                <a:cs typeface="Courier New" pitchFamily="49" charset="0"/>
              </a:rPr>
              <a:t>definido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err="1" smtClean="0">
                <a:latin typeface="+mj-lt"/>
                <a:cs typeface="Courier New" pitchFamily="49" charset="0"/>
              </a:rPr>
              <a:t>Readonly</a:t>
            </a:r>
            <a:r>
              <a:rPr lang="en-US" dirty="0" smtClean="0">
                <a:latin typeface="+mj-lt"/>
                <a:cs typeface="Courier New" pitchFamily="49" charset="0"/>
              </a:rPr>
              <a:t> : </a:t>
            </a:r>
            <a:r>
              <a:rPr lang="en-US" dirty="0" err="1" smtClean="0">
                <a:latin typeface="+mj-lt"/>
                <a:cs typeface="Courier New" pitchFamily="49" charset="0"/>
              </a:rPr>
              <a:t>trava</a:t>
            </a:r>
            <a:r>
              <a:rPr lang="en-US" dirty="0" smtClean="0">
                <a:latin typeface="+mj-lt"/>
                <a:cs typeface="Courier New" pitchFamily="49" charset="0"/>
              </a:rPr>
              <a:t> a </a:t>
            </a:r>
            <a:r>
              <a:rPr lang="en-US" dirty="0" err="1" smtClean="0">
                <a:latin typeface="+mj-lt"/>
                <a:cs typeface="Courier New" pitchFamily="49" charset="0"/>
              </a:rPr>
              <a:t>digitação</a:t>
            </a:r>
            <a:r>
              <a:rPr lang="en-US" dirty="0" smtClean="0">
                <a:latin typeface="+mj-lt"/>
                <a:cs typeface="Courier New" pitchFamily="49" charset="0"/>
              </a:rPr>
              <a:t> de um </a:t>
            </a:r>
            <a:r>
              <a:rPr lang="en-US" dirty="0" err="1" smtClean="0">
                <a:latin typeface="+mj-lt"/>
                <a:cs typeface="Courier New" pitchFamily="49" charset="0"/>
              </a:rPr>
              <a:t>conteudo</a:t>
            </a:r>
            <a:endParaRPr lang="pt-BR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Password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Password – permite a digitação de um texto oculto por símbolos.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&lt;input type="password" id="</a:t>
            </a:r>
            <a:r>
              <a:rPr lang="en-US" dirty="0" err="1" smtClean="0">
                <a:solidFill>
                  <a:srgbClr val="FF0000"/>
                </a:solidFill>
              </a:rPr>
              <a:t>senha</a:t>
            </a:r>
            <a:r>
              <a:rPr lang="en-US" dirty="0" smtClean="0">
                <a:solidFill>
                  <a:srgbClr val="FF0000"/>
                </a:solidFill>
              </a:rPr>
              <a:t>" size="10“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</a:t>
            </a:r>
            <a:r>
              <a:rPr lang="en-US" dirty="0" err="1" smtClean="0">
                <a:solidFill>
                  <a:srgbClr val="FF0000"/>
                </a:solidFill>
              </a:rPr>
              <a:t>maxlength</a:t>
            </a:r>
            <a:r>
              <a:rPr lang="en-US" dirty="0" smtClean="0">
                <a:solidFill>
                  <a:srgbClr val="FF0000"/>
                </a:solidFill>
              </a:rPr>
              <a:t>="8" value="" &gt; 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/>
              <a:t>Atributos</a:t>
            </a:r>
          </a:p>
          <a:p>
            <a:pPr lvl="1"/>
            <a:r>
              <a:rPr lang="pt-BR" dirty="0" smtClean="0"/>
              <a:t>Id : identifica o objeto na página</a:t>
            </a:r>
          </a:p>
          <a:p>
            <a:pPr lvl="1"/>
            <a:r>
              <a:rPr lang="pt-BR" dirty="0" err="1" smtClean="0"/>
              <a:t>Size</a:t>
            </a:r>
            <a:r>
              <a:rPr lang="pt-BR" dirty="0" smtClean="0"/>
              <a:t>: tamanho em colunas da caixa de texto</a:t>
            </a:r>
          </a:p>
          <a:p>
            <a:pPr lvl="1"/>
            <a:r>
              <a:rPr lang="pt-BR" dirty="0" err="1" smtClean="0"/>
              <a:t>Maxlength</a:t>
            </a:r>
            <a:r>
              <a:rPr lang="pt-BR" dirty="0" smtClean="0"/>
              <a:t>: quantidade máxima de caracteres digitados.</a:t>
            </a:r>
          </a:p>
          <a:p>
            <a:pPr lvl="1"/>
            <a:r>
              <a:rPr lang="pt-BR" dirty="0" err="1" smtClean="0"/>
              <a:t>Value</a:t>
            </a:r>
            <a:r>
              <a:rPr lang="pt-BR" dirty="0" smtClean="0"/>
              <a:t>: texto pré informado</a:t>
            </a:r>
            <a:endParaRPr lang="pt-B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Hidden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Utilizada para armazenar dados que não serão exibidos belo cliente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type="hidden"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id="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escondido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value="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teste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 </a:t>
            </a:r>
          </a:p>
          <a:p>
            <a:r>
              <a:rPr lang="en-US" sz="2800" dirty="0" err="1" smtClean="0">
                <a:latin typeface="+mj-lt"/>
                <a:cs typeface="Courier New" pitchFamily="49" charset="0"/>
              </a:rPr>
              <a:t>Atributos</a:t>
            </a:r>
            <a:endParaRPr lang="en-US" sz="2800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sz="2400" dirty="0" smtClean="0">
                <a:latin typeface="+mj-lt"/>
                <a:cs typeface="Courier New" pitchFamily="49" charset="0"/>
              </a:rPr>
              <a:t>Id  :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identificação</a:t>
            </a:r>
            <a:r>
              <a:rPr lang="en-US" sz="2400" dirty="0" smtClean="0">
                <a:latin typeface="+mj-lt"/>
                <a:cs typeface="Courier New" pitchFamily="49" charset="0"/>
              </a:rPr>
              <a:t> do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objeto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sz="2400" dirty="0" smtClean="0">
                <a:latin typeface="+mj-lt"/>
                <a:cs typeface="Courier New" pitchFamily="49" charset="0"/>
              </a:rPr>
              <a:t>Value: dado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associado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ao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objeto</a:t>
            </a:r>
            <a:endParaRPr lang="pt-BR" sz="24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Checkbox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Utilizado para coletar uma informação afirmativa ou negativa, não permite associação em grupos.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checkbox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id="receber"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checked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pt-BR" sz="2400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100" dirty="0" smtClean="0">
                <a:latin typeface="+mj-lt"/>
                <a:cs typeface="Courier New" pitchFamily="49" charset="0"/>
              </a:rPr>
              <a:t>Id : identifica o objeto na página</a:t>
            </a:r>
          </a:p>
          <a:p>
            <a:pPr lvl="1"/>
            <a:r>
              <a:rPr lang="pt-BR" sz="2100" dirty="0" err="1" smtClean="0">
                <a:latin typeface="+mj-lt"/>
                <a:cs typeface="Courier New" pitchFamily="49" charset="0"/>
              </a:rPr>
              <a:t>Checked</a:t>
            </a:r>
            <a:r>
              <a:rPr lang="pt-BR" sz="2100" dirty="0" smtClean="0">
                <a:latin typeface="+mj-lt"/>
                <a:cs typeface="Courier New" pitchFamily="49" charset="0"/>
              </a:rPr>
              <a:t> : quando informado vem pré selecionado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Radio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Utilizado para coletar uma informação optativa permitindo a associação em grupos de objetos.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="radio" id="masculino”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genero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“&gt; M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="radio" id="feminino“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genero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“&gt; F</a:t>
            </a:r>
          </a:p>
          <a:p>
            <a:r>
              <a:rPr lang="pt-BR" sz="2400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100" dirty="0" smtClean="0">
                <a:latin typeface="+mj-lt"/>
                <a:cs typeface="Courier New" pitchFamily="49" charset="0"/>
              </a:rPr>
              <a:t>Id: identificação do objeto na página</a:t>
            </a:r>
          </a:p>
          <a:p>
            <a:pPr lvl="1"/>
            <a:r>
              <a:rPr lang="pt-BR" sz="2100" dirty="0" err="1" smtClean="0">
                <a:latin typeface="+mj-lt"/>
                <a:cs typeface="Courier New" pitchFamily="49" charset="0"/>
              </a:rPr>
              <a:t>Name</a:t>
            </a:r>
            <a:r>
              <a:rPr lang="pt-BR" sz="2100" dirty="0" smtClean="0">
                <a:latin typeface="+mj-lt"/>
                <a:cs typeface="Courier New" pitchFamily="49" charset="0"/>
              </a:rPr>
              <a:t>: nome do grupo relacionado, sem este atributo os objetos trabalham  isolados.</a:t>
            </a:r>
          </a:p>
          <a:p>
            <a:pPr lvl="1"/>
            <a:r>
              <a:rPr lang="pt-BR" sz="2100" dirty="0" err="1" smtClean="0">
                <a:cs typeface="Courier New" pitchFamily="49" charset="0"/>
              </a:rPr>
              <a:t>Checked</a:t>
            </a:r>
            <a:r>
              <a:rPr lang="pt-BR" sz="2100" dirty="0" smtClean="0">
                <a:cs typeface="Courier New" pitchFamily="49" charset="0"/>
              </a:rPr>
              <a:t> : quando informado a opção vem pré selecionada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Button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Cria um botão, onde pode ser associado eventos</a:t>
            </a:r>
          </a:p>
          <a:p>
            <a:pPr>
              <a:buNone/>
            </a:pP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type="button" id="btn1"</a:t>
            </a:r>
          </a:p>
          <a:p>
            <a:pPr>
              <a:buNone/>
            </a:pP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value="</a:t>
            </a:r>
            <a:r>
              <a:rPr lang="en-US" sz="2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Enviar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"&gt;&lt;</a:t>
            </a:r>
            <a:r>
              <a:rPr lang="en-US" sz="2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2400" dirty="0" smtClean="0">
                <a:cs typeface="Courier New" pitchFamily="49" charset="0"/>
              </a:rPr>
              <a:t>Atributos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pt-BR" sz="2000" dirty="0" smtClean="0">
                <a:cs typeface="Courier New" pitchFamily="49" charset="0"/>
              </a:rPr>
              <a:t>Id : identifica o objeto na página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pt-BR" sz="2000" dirty="0" err="1" smtClean="0">
                <a:cs typeface="Courier New" pitchFamily="49" charset="0"/>
              </a:rPr>
              <a:t>Value</a:t>
            </a:r>
            <a:r>
              <a:rPr lang="pt-BR" sz="2000" dirty="0" smtClean="0">
                <a:cs typeface="Courier New" pitchFamily="49" charset="0"/>
              </a:rPr>
              <a:t>: texto exibido na tela</a:t>
            </a:r>
          </a:p>
          <a:p>
            <a:endParaRPr lang="en-US" sz="2800" dirty="0" smtClean="0">
              <a:latin typeface="+mj-lt"/>
              <a:cs typeface="Courier New" pitchFamily="49" charset="0"/>
            </a:endParaRPr>
          </a:p>
          <a:p>
            <a:endParaRPr lang="pt-BR" sz="2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Textarea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Caixa para textos extensos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id="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msg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 					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rows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="10"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cols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="50"&gt;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texto pré definido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r>
              <a:rPr lang="pt-BR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800" dirty="0" smtClean="0">
                <a:cs typeface="Courier New" pitchFamily="49" charset="0"/>
              </a:rPr>
              <a:t>Id : identifica o objeto na página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Rows</a:t>
            </a:r>
            <a:r>
              <a:rPr lang="pt-BR" dirty="0" smtClean="0">
                <a:latin typeface="+mj-lt"/>
                <a:cs typeface="Courier New" pitchFamily="49" charset="0"/>
              </a:rPr>
              <a:t>: quantidade de linhas a serem exibidas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Cols</a:t>
            </a:r>
            <a:r>
              <a:rPr lang="pt-BR" dirty="0" smtClean="0">
                <a:latin typeface="+mj-lt"/>
                <a:cs typeface="Courier New" pitchFamily="49" charset="0"/>
              </a:rPr>
              <a:t>: quantidade de colunas a serem exibidas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Select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Caixa de seleção composta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id="unidade"&gt;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 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Ipiranga&lt;/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ZS&lt;/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SC&lt;/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	</a:t>
            </a:r>
          </a:p>
          <a:p>
            <a:pPr lvl="1"/>
            <a:r>
              <a:rPr lang="pt-BR" dirty="0" smtClean="0">
                <a:latin typeface="+mj-lt"/>
                <a:cs typeface="Courier New" pitchFamily="49" charset="0"/>
              </a:rPr>
              <a:t>Atributos	</a:t>
            </a:r>
          </a:p>
          <a:p>
            <a:pPr lvl="2"/>
            <a:r>
              <a:rPr lang="pt-BR" sz="2000" dirty="0" smtClean="0">
                <a:cs typeface="Courier New" pitchFamily="49" charset="0"/>
              </a:rPr>
              <a:t>Id : identifica o objeto na página</a:t>
            </a:r>
          </a:p>
          <a:p>
            <a:pPr lvl="2"/>
            <a:r>
              <a:rPr lang="pt-BR" sz="2000" dirty="0" smtClean="0">
                <a:latin typeface="+mj-lt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sz="2000" dirty="0" smtClean="0">
                <a:latin typeface="+mj-lt"/>
                <a:cs typeface="Courier New" pitchFamily="49" charset="0"/>
              </a:rPr>
              <a:t>&gt;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conteudo</a:t>
            </a:r>
            <a:r>
              <a:rPr lang="pt-BR" sz="2000" dirty="0" smtClean="0">
                <a:latin typeface="+mj-lt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sz="2000" dirty="0" smtClean="0">
                <a:latin typeface="+mj-lt"/>
                <a:cs typeface="Courier New" pitchFamily="49" charset="0"/>
              </a:rPr>
              <a:t>&gt; </a:t>
            </a:r>
            <a:r>
              <a:rPr lang="pt-BR" dirty="0" smtClean="0">
                <a:latin typeface="+mj-lt"/>
                <a:cs typeface="Courier New" pitchFamily="49" charset="0"/>
              </a:rPr>
              <a:t>: item da seleção</a:t>
            </a:r>
          </a:p>
          <a:p>
            <a:pPr lvl="3"/>
            <a:r>
              <a:rPr lang="pt-BR" dirty="0" smtClean="0">
                <a:latin typeface="+mj-lt"/>
                <a:cs typeface="Courier New" pitchFamily="49" charset="0"/>
              </a:rPr>
              <a:t>&lt;</a:t>
            </a:r>
            <a:r>
              <a:rPr lang="pt-BR" dirty="0" err="1" smtClean="0">
                <a:latin typeface="+mj-lt"/>
                <a:cs typeface="Courier New" pitchFamily="49" charset="0"/>
              </a:rPr>
              <a:t>optio</a:t>
            </a:r>
            <a:r>
              <a:rPr lang="pt-BR" dirty="0" smtClean="0">
                <a:latin typeface="+mj-lt"/>
                <a:cs typeface="Courier New" pitchFamily="49" charset="0"/>
              </a:rPr>
              <a:t> </a:t>
            </a:r>
            <a:r>
              <a:rPr lang="pt-BR" dirty="0" err="1" smtClean="0">
                <a:latin typeface="+mj-lt"/>
                <a:cs typeface="Courier New" pitchFamily="49" charset="0"/>
              </a:rPr>
              <a:t>value</a:t>
            </a:r>
            <a:r>
              <a:rPr lang="pt-BR" dirty="0" smtClean="0">
                <a:latin typeface="+mj-lt"/>
                <a:cs typeface="Courier New" pitchFamily="49" charset="0"/>
              </a:rPr>
              <a:t>=“IP”&gt;Ipiranga&lt;/</a:t>
            </a:r>
            <a:r>
              <a:rPr lang="pt-BR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dirty="0" smtClean="0">
                <a:latin typeface="+mj-lt"/>
                <a:cs typeface="Courier New" pitchFamily="49" charset="0"/>
              </a:rPr>
              <a:t>&gt;: o atributo </a:t>
            </a:r>
            <a:r>
              <a:rPr lang="pt-BR" dirty="0" err="1" smtClean="0">
                <a:latin typeface="+mj-lt"/>
                <a:cs typeface="Courier New" pitchFamily="49" charset="0"/>
              </a:rPr>
              <a:t>value</a:t>
            </a:r>
            <a:r>
              <a:rPr lang="pt-BR" dirty="0" smtClean="0">
                <a:latin typeface="+mj-lt"/>
                <a:cs typeface="Courier New" pitchFamily="49" charset="0"/>
              </a:rPr>
              <a:t> permite associar um valor diferente ao texto exibido.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Objeto de imagem </a:t>
            </a:r>
            <a:endParaRPr lang="pt-BR" u="sng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="koala.jpg" id="img1"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Koala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="200px“&gt;</a:t>
            </a:r>
          </a:p>
          <a:p>
            <a:r>
              <a:rPr lang="pt-BR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Src</a:t>
            </a:r>
            <a:r>
              <a:rPr lang="pt-BR" dirty="0" smtClean="0">
                <a:latin typeface="+mj-lt"/>
                <a:cs typeface="Courier New" pitchFamily="49" charset="0"/>
              </a:rPr>
              <a:t>: caminho onde esta localizada a imagem, local ou virtual</a:t>
            </a:r>
          </a:p>
          <a:p>
            <a:pPr lvl="1"/>
            <a:r>
              <a:rPr lang="pt-BR" sz="2800" dirty="0" smtClean="0">
                <a:cs typeface="Courier New" pitchFamily="49" charset="0"/>
              </a:rPr>
              <a:t>Id: identifica o objeto na página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Alt</a:t>
            </a:r>
            <a:r>
              <a:rPr lang="pt-BR" sz="2800" dirty="0" smtClean="0">
                <a:latin typeface="+mj-lt"/>
                <a:cs typeface="Courier New" pitchFamily="49" charset="0"/>
              </a:rPr>
              <a:t>: texto alternativo da imagem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Width</a:t>
            </a:r>
            <a:r>
              <a:rPr lang="pt-BR" sz="2800" dirty="0" smtClean="0">
                <a:latin typeface="+mj-lt"/>
                <a:cs typeface="Courier New" pitchFamily="49" charset="0"/>
              </a:rPr>
              <a:t>: largura ajustada da imagem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Height</a:t>
            </a:r>
            <a:r>
              <a:rPr lang="pt-BR" sz="2800" dirty="0" smtClean="0">
                <a:latin typeface="+mj-lt"/>
                <a:cs typeface="Courier New" pitchFamily="49" charset="0"/>
              </a:rPr>
              <a:t>: altura </a:t>
            </a:r>
            <a:r>
              <a:rPr lang="pt-BR" sz="2800" u="sng" dirty="0" smtClean="0">
                <a:latin typeface="+mj-lt"/>
                <a:cs typeface="Courier New" pitchFamily="49" charset="0"/>
              </a:rPr>
              <a:t>ajustada</a:t>
            </a:r>
            <a:r>
              <a:rPr lang="pt-BR" sz="2800" dirty="0" smtClean="0">
                <a:latin typeface="+mj-lt"/>
                <a:cs typeface="Courier New" pitchFamily="49" charset="0"/>
              </a:rPr>
              <a:t> da imagem</a:t>
            </a:r>
            <a:endParaRPr lang="pt-BR" dirty="0" smtClean="0">
              <a:latin typeface="+mj-lt"/>
              <a:cs typeface="Courier New" pitchFamily="49" charset="0"/>
            </a:endParaRPr>
          </a:p>
          <a:p>
            <a:pPr lvl="1"/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276</TotalTime>
  <Words>1264</Words>
  <Application>Microsoft Office PowerPoint</Application>
  <PresentationFormat>Apresentação na tela (4:3)</PresentationFormat>
  <Paragraphs>294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Mediano</vt:lpstr>
      <vt:lpstr>Ferramentas de Desenvolvimento WEB</vt:lpstr>
      <vt:lpstr>O que é </vt:lpstr>
      <vt:lpstr>Características</vt:lpstr>
      <vt:lpstr>TAGS</vt:lpstr>
      <vt:lpstr>Tags de Estrutura - html</vt:lpstr>
      <vt:lpstr>Tags de Estrutura – head, title</vt:lpstr>
      <vt:lpstr>Tags de Estrutura - meta</vt:lpstr>
      <vt:lpstr>Tags de Estrutura - body</vt:lpstr>
      <vt:lpstr>Tag de Estrutura - p</vt:lpstr>
      <vt:lpstr>Tag de Estrutura - br</vt:lpstr>
      <vt:lpstr>Tags de Estrutura – h1...h6</vt:lpstr>
      <vt:lpstr>Tags de Estrutura -div</vt:lpstr>
      <vt:lpstr>Tags de Estrutura - table</vt:lpstr>
      <vt:lpstr>Tag de Estrutura - table</vt:lpstr>
      <vt:lpstr>Tags de Estrutura - br</vt:lpstr>
      <vt:lpstr>Tags de Formatação</vt:lpstr>
      <vt:lpstr>Tags de Formatação – b, i, u, s</vt:lpstr>
      <vt:lpstr>Tags de Formatação  - font</vt:lpstr>
      <vt:lpstr>Tags de Formatação - font</vt:lpstr>
      <vt:lpstr>Tags de Formatação - ul</vt:lpstr>
      <vt:lpstr>Tags de formatação - ol</vt:lpstr>
      <vt:lpstr>Tags de Formatação - a</vt:lpstr>
      <vt:lpstr>Tags de Objetos</vt:lpstr>
      <vt:lpstr>Tags de Objetos - Text</vt:lpstr>
      <vt:lpstr>Tags de Objetos - Text</vt:lpstr>
      <vt:lpstr>Tags de Objetos - Password</vt:lpstr>
      <vt:lpstr>Tags de Objetos - Hidden</vt:lpstr>
      <vt:lpstr>Tags de Objetos - Checkbox</vt:lpstr>
      <vt:lpstr>Tags de Objetos - Radio</vt:lpstr>
      <vt:lpstr>Tags de Objetos - Button</vt:lpstr>
      <vt:lpstr>Tags de Objetos - Textarea</vt:lpstr>
      <vt:lpstr>Tags de Objetos - Select</vt:lpstr>
      <vt:lpstr>Tags de Objetos - Img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aluno</cp:lastModifiedBy>
  <cp:revision>54</cp:revision>
  <dcterms:created xsi:type="dcterms:W3CDTF">2013-02-08T17:26:03Z</dcterms:created>
  <dcterms:modified xsi:type="dcterms:W3CDTF">2014-07-29T23:59:13Z</dcterms:modified>
</cp:coreProperties>
</file>