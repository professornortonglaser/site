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779327A-FB62-4EEF-A5B2-905563F99837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9AA55B4-73E9-47FF-97A2-28ADA577816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27DAF-211E-4295-9A3E-57B8DCB250BD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9B61B-BD05-4080-B20A-E8DAC2A6E17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A23AA-531A-470C-8002-7E5E6F062057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2BBA8B1-DE65-496A-B6D1-20165C3349F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A5D1F15-A127-4927-AEB0-6C748DD14745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8CA1D5D-C389-4538-8AB1-A2EDA7C8C9C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E2BED28-77B4-4767-99FF-2D69B6250148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73ED7F5-75F0-4D96-BFB8-51F22B028BC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F3DA8-97BB-4E96-B9AD-9BAD75893304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832EE-E6ED-43E4-BA67-E860E255C44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FC4AF-661A-428E-BC99-64A0EAEEA14B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FF43730-EF7F-4D83-9E7A-233660118F8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6128F-9E4D-4270-B5B8-33340209B793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35226-D32E-40AC-9AF9-E4B7E8615BF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B095486-6257-4DB4-92F0-1783BE696F5D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18A01AF9-1387-4109-B48C-1278F122331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9E116-F77B-4AE5-BA79-8E16BCD045D6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0AD19-D3D1-4703-A84D-6FD75F9B3C0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D6BB8-4333-4716-A9C4-7FF2D62E9447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CBAE2-24F3-4D2E-8332-1F5F738D0E2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A5D9BF-EC7B-4F7E-BAEA-9413DA89DF31}" type="datetimeFigureOut">
              <a:rPr lang="pt-BR"/>
              <a:pPr>
                <a:defRPr/>
              </a:pPr>
              <a:t>11/09/2014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63FA73-889A-442D-B8F0-69E515AAAE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5" r:id="rId4"/>
    <p:sldLayoutId id="2147483686" r:id="rId5"/>
    <p:sldLayoutId id="2147483680" r:id="rId6"/>
    <p:sldLayoutId id="2147483687" r:id="rId7"/>
    <p:sldLayoutId id="2147483681" r:id="rId8"/>
    <p:sldLayoutId id="2147483688" r:id="rId9"/>
    <p:sldLayoutId id="2147483682" r:id="rId10"/>
    <p:sldLayoutId id="214748368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JQUERY – Parte 2</a:t>
            </a:r>
            <a:endParaRPr lang="pt-BR" dirty="0"/>
          </a:p>
        </p:txBody>
      </p:sp>
      <p:sp>
        <p:nvSpPr>
          <p:cNvPr id="9219" name="Subtítulo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r>
              <a:rPr lang="pt-BR" smtClean="0"/>
              <a:t>Programação de Scripts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Exibição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hide() e show()</a:t>
            </a:r>
          </a:p>
          <a:p>
            <a:pPr lvl="1"/>
            <a:r>
              <a:rPr lang="pt-BR" smtClean="0"/>
              <a:t>Com jQuery, você pode se esconder e mostrar elementos HTML com o hide () e show ():</a:t>
            </a:r>
          </a:p>
          <a:p>
            <a:pPr lvl="1"/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$("#hide").click(function(){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mtClean="0">
                <a:latin typeface="Courier New" pitchFamily="49" charset="0"/>
                <a:cs typeface="Courier New" pitchFamily="49" charset="0"/>
              </a:rPr>
            </a:br>
            <a:r>
              <a:rPr lang="en-US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mtClean="0"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$("#show").click(function(){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$("p").show();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Exibição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O parâmetro de velocidade opcional especifica a velocidade da esconder / mostrar, e pode ter os seguintes valores: "slow", "fast", ou milésimos de segundo.</a:t>
            </a:r>
          </a:p>
          <a:p>
            <a:endParaRPr lang="pt-BR" smtClean="0"/>
          </a:p>
          <a:p>
            <a:r>
              <a:rPr lang="pt-BR" smtClean="0"/>
              <a:t>O parâmetro opcional callback é uma função a ser executada após o hide () ou show () método for.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Exibição</a:t>
            </a:r>
          </a:p>
        </p:txBody>
      </p:sp>
      <p:sp>
        <p:nvSpPr>
          <p:cNvPr id="1229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smtClean="0">
                <a:latin typeface="Courier New" pitchFamily="49" charset="0"/>
                <a:cs typeface="Courier New" pitchFamily="49" charset="0"/>
              </a:rPr>
            </a:br>
            <a:r>
              <a:rPr lang="pt-BR" smtClean="0">
                <a:latin typeface="Courier New" pitchFamily="49" charset="0"/>
                <a:cs typeface="Courier New" pitchFamily="49" charset="0"/>
              </a:rPr>
              <a:t>  $("p").hide(1000);</a:t>
            </a:r>
            <a:br>
              <a:rPr lang="pt-BR" smtClean="0">
                <a:latin typeface="Courier New" pitchFamily="49" charset="0"/>
                <a:cs typeface="Courier New" pitchFamily="49" charset="0"/>
              </a:rPr>
            </a:br>
            <a:r>
              <a:rPr lang="pt-BR" smtClean="0"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Exibição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toggle()</a:t>
            </a:r>
          </a:p>
          <a:p>
            <a:pPr lvl="1"/>
            <a:r>
              <a:rPr lang="pt-BR" smtClean="0"/>
              <a:t>Com jQuery, você pode alternar entre o hide () e show () métodos com o método de alternância ().</a:t>
            </a:r>
          </a:p>
          <a:p>
            <a:pPr lvl="1"/>
            <a:r>
              <a:rPr lang="pt-BR" smtClean="0"/>
              <a:t>Elementos mostrados são escondidos e elementos ocultos são mostrados:</a:t>
            </a:r>
          </a:p>
          <a:p>
            <a:pPr lvl="2"/>
            <a:r>
              <a:rPr lang="pt-BR" smtClean="0"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smtClean="0">
                <a:latin typeface="Courier New" pitchFamily="49" charset="0"/>
                <a:cs typeface="Courier New" pitchFamily="49" charset="0"/>
              </a:rPr>
            </a:br>
            <a:r>
              <a:rPr lang="pt-BR" smtClean="0">
                <a:latin typeface="Courier New" pitchFamily="49" charset="0"/>
                <a:cs typeface="Courier New" pitchFamily="49" charset="0"/>
              </a:rPr>
              <a:t>  $("p").toggle();</a:t>
            </a:r>
            <a:br>
              <a:rPr lang="pt-BR" smtClean="0">
                <a:latin typeface="Courier New" pitchFamily="49" charset="0"/>
                <a:cs typeface="Courier New" pitchFamily="49" charset="0"/>
              </a:rPr>
            </a:br>
            <a:r>
              <a:rPr lang="pt-BR" smtClean="0"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Exibição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O parâmetro opcional de velocidade pode ter os seguintes valores: "slow", "fast", ou milésimos de segundo.</a:t>
            </a:r>
          </a:p>
          <a:p>
            <a:r>
              <a:rPr lang="pt-BR" smtClean="0"/>
              <a:t>O parâmetro opcional callback é uma função a ser executada após alternar () completa.</a:t>
            </a:r>
          </a:p>
          <a:p>
            <a:pPr marL="593725" lvl="2" indent="-319088">
              <a:spcBef>
                <a:spcPts val="700"/>
              </a:spcBef>
              <a:buSzPct val="60000"/>
              <a:buFont typeface="Wingdings" pitchFamily="2" charset="2"/>
              <a:buChar char=""/>
            </a:pP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).toggle(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1536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Com jQuery você pode desaparecer um elemento dentro e fora de visibilidade.</a:t>
            </a:r>
          </a:p>
          <a:p>
            <a:r>
              <a:rPr lang="pt-BR" smtClean="0"/>
              <a:t>jQuery tem os seguintes métodos de fade:</a:t>
            </a:r>
          </a:p>
          <a:p>
            <a:pPr lvl="1"/>
            <a:r>
              <a:rPr lang="pt-BR" smtClean="0"/>
              <a:t>fadeIn()</a:t>
            </a:r>
          </a:p>
          <a:p>
            <a:pPr lvl="1"/>
            <a:r>
              <a:rPr lang="pt-BR" smtClean="0"/>
              <a:t>fadeOut()</a:t>
            </a:r>
          </a:p>
          <a:p>
            <a:pPr lvl="1"/>
            <a:r>
              <a:rPr lang="pt-BR" smtClean="0"/>
              <a:t>fadeToggle()</a:t>
            </a:r>
          </a:p>
          <a:p>
            <a:pPr lvl="1"/>
            <a:r>
              <a:rPr lang="pt-BR" smtClean="0"/>
              <a:t>fadeTo()</a:t>
            </a:r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O método fadeIn jQuery () é usado para roborar um elemento escondido.</a:t>
            </a:r>
          </a:p>
          <a:p>
            <a:pPr lvl="1"/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).fadeIn(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smtClean="0">
                <a:cs typeface="Courier New" pitchFamily="49" charset="0"/>
              </a:rPr>
              <a:t>O parâmetro de velocidade opcional especifica a duração do efeito. Ele pode ter os seguintes valores: "slow", "fast", ou milésimos de segundo.</a:t>
            </a:r>
          </a:p>
          <a:p>
            <a:r>
              <a:rPr lang="pt-BR" smtClean="0">
                <a:cs typeface="Courier New" pitchFamily="49" charset="0"/>
              </a:rPr>
              <a:t>O parâmetro opcional callback é uma função a ser executada após o desaparecimento completa.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$("button").click(function(){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$("#div1").fadeIn();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$("#div2").fadeIn("slow");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$("#div3").fadeIn(3000);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fadeOut()</a:t>
            </a:r>
          </a:p>
          <a:p>
            <a:pPr lvl="1"/>
            <a:r>
              <a:rPr lang="pt-BR" smtClean="0"/>
              <a:t>O método fadeOut jQuery () é usado para esmaecer um elemento visível.</a:t>
            </a:r>
          </a:p>
          <a:p>
            <a:pPr lvl="2"/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).fadeOut(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smtClean="0">
                <a:cs typeface="Courier New" pitchFamily="49" charset="0"/>
              </a:rPr>
              <a:t>O parâmetro de velocidade opcional especifica a duração do efeito. Ele pode ter os seguintes valores: "slow", "fast", ou milésimos de segundo.</a:t>
            </a:r>
          </a:p>
          <a:p>
            <a:r>
              <a:rPr lang="pt-BR" smtClean="0">
                <a:cs typeface="Courier New" pitchFamily="49" charset="0"/>
              </a:rPr>
              <a:t>O parâmetro opcional callback é uma função a ser executada após o desaparecimento completa.</a:t>
            </a:r>
          </a:p>
          <a:p>
            <a:pPr lvl="1"/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$("#div1").fadeOut();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$("#div2").fadeOut("slow");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$("#div3").fadeOut(3000);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fadeToggle() </a:t>
            </a:r>
          </a:p>
          <a:p>
            <a:pPr lvl="1"/>
            <a:r>
              <a:rPr lang="pt-BR" smtClean="0"/>
              <a:t>O método fadeToggle() alterna entre o fadeIn () e fadeOut() métodos.</a:t>
            </a:r>
          </a:p>
          <a:p>
            <a:pPr lvl="1"/>
            <a:r>
              <a:rPr lang="pt-BR" smtClean="0"/>
              <a:t>Se os elementos vão desaparecendo gradualmente, fadeToggle () vai desaparecer dentro</a:t>
            </a:r>
          </a:p>
          <a:p>
            <a:pPr lvl="1"/>
            <a:r>
              <a:rPr lang="pt-BR" smtClean="0"/>
              <a:t>Se os elementos estão desbotadas em, fadeToggle () vai desaparecer</a:t>
            </a:r>
          </a:p>
          <a:p>
            <a:pPr lvl="2"/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).fadeToggle(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lvl="2"/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$("#div1").fadeToggle();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$("#div2").fadeToggle("slow");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$("#div3").fadeToggle(3000);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err="1" smtClean="0"/>
              <a:t>fadeTo</a:t>
            </a:r>
            <a:r>
              <a:rPr lang="pt-BR" dirty="0" smtClean="0"/>
              <a:t>() 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método </a:t>
            </a:r>
            <a:r>
              <a:rPr lang="pt-BR" dirty="0" err="1" smtClean="0"/>
              <a:t>fadeTo</a:t>
            </a:r>
            <a:r>
              <a:rPr lang="pt-BR" dirty="0" smtClean="0"/>
              <a:t>() permite esmaecer para uma determinada opacidade (valor entre 0 e 1).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parâmetro da velocidade requerida especifica a duração do efeito. Ele pode ter os seguintes valores: "</a:t>
            </a:r>
            <a:r>
              <a:rPr lang="pt-BR" dirty="0" err="1" smtClean="0"/>
              <a:t>slow</a:t>
            </a:r>
            <a:r>
              <a:rPr lang="pt-BR" dirty="0" smtClean="0"/>
              <a:t>", 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parâmetro opacidade desejada na </a:t>
            </a:r>
            <a:r>
              <a:rPr lang="pt-BR" dirty="0" err="1" smtClean="0"/>
              <a:t>fadeTo</a:t>
            </a:r>
            <a:r>
              <a:rPr lang="pt-BR" dirty="0" smtClean="0"/>
              <a:t> () especifica o método de desvanecimento para uma dada opacidade (valor entre 0 e 1).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parâmetro opcional callback é uma função a ser executada após a função terminar.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Fade</a:t>
            </a:r>
          </a:p>
        </p:txBody>
      </p:sp>
      <p:sp>
        <p:nvSpPr>
          <p:cNvPr id="2355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$("#div1").fadeTo("slow",0.15);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$("#div2").fadeTo("slow",0.4);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$("#div3").fadeTo("slow",0.7);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2457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Com jQuery você pode criar um efeito de deslizamento sobre os elementos.</a:t>
            </a:r>
          </a:p>
          <a:p>
            <a:r>
              <a:rPr lang="pt-BR" smtClean="0"/>
              <a:t>jQuery tem os seguintes métodos:</a:t>
            </a:r>
          </a:p>
          <a:p>
            <a:pPr lvl="1"/>
            <a:r>
              <a:rPr lang="pt-BR" smtClean="0"/>
              <a:t>slideDown()</a:t>
            </a:r>
          </a:p>
          <a:p>
            <a:pPr lvl="1"/>
            <a:r>
              <a:rPr lang="pt-BR" smtClean="0"/>
              <a:t>slideUp()</a:t>
            </a:r>
          </a:p>
          <a:p>
            <a:pPr lvl="1"/>
            <a:r>
              <a:rPr lang="pt-BR" smtClean="0"/>
              <a:t>slideToggle()</a:t>
            </a:r>
          </a:p>
          <a:p>
            <a:pPr>
              <a:buFont typeface="Wingdings" pitchFamily="2" charset="2"/>
              <a:buNone/>
            </a:pPr>
            <a:r>
              <a:rPr lang="pt-BR" smtClean="0"/>
              <a:t/>
            </a:r>
            <a:br>
              <a:rPr lang="pt-BR" smtClean="0"/>
            </a:br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err="1" smtClean="0"/>
              <a:t>slideDown</a:t>
            </a:r>
            <a:r>
              <a:rPr lang="pt-BR" dirty="0" smtClean="0"/>
              <a:t>()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método </a:t>
            </a:r>
            <a:r>
              <a:rPr lang="pt-BR" dirty="0" err="1" smtClean="0"/>
              <a:t>slideDown</a:t>
            </a:r>
            <a:r>
              <a:rPr lang="pt-BR" dirty="0" smtClean="0"/>
              <a:t>() é usada para abrir um elemento deslizando para baixo.</a:t>
            </a:r>
          </a:p>
          <a:p>
            <a:pPr lvl="2" fontAlgn="auto">
              <a:spcAft>
                <a:spcPts val="0"/>
              </a:spcAft>
              <a:buFont typeface="Wingdings"/>
              <a:buChar char=""/>
              <a:defRPr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slideDown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>
                <a:latin typeface="+mj-lt"/>
                <a:cs typeface="Courier New" pitchFamily="49" charset="0"/>
              </a:rPr>
              <a:t>O parâmetro de velocidade opcional especifica a duração do efeito. Ele pode ter os seguintes valores: "</a:t>
            </a:r>
            <a:r>
              <a:rPr lang="pt-BR" dirty="0" err="1" smtClean="0">
                <a:latin typeface="+mj-lt"/>
                <a:cs typeface="Courier New" pitchFamily="49" charset="0"/>
              </a:rPr>
              <a:t>slow</a:t>
            </a:r>
            <a:r>
              <a:rPr lang="pt-BR" dirty="0" smtClean="0">
                <a:latin typeface="+mj-lt"/>
                <a:cs typeface="Courier New" pitchFamily="49" charset="0"/>
              </a:rPr>
              <a:t>", "</a:t>
            </a:r>
            <a:r>
              <a:rPr lang="pt-BR" dirty="0" err="1" smtClean="0">
                <a:latin typeface="+mj-lt"/>
                <a:cs typeface="Courier New" pitchFamily="49" charset="0"/>
              </a:rPr>
              <a:t>fast</a:t>
            </a:r>
            <a:r>
              <a:rPr lang="pt-BR" dirty="0" smtClean="0">
                <a:latin typeface="+mj-lt"/>
                <a:cs typeface="Courier New" pitchFamily="49" charset="0"/>
              </a:rPr>
              <a:t>", ou milésimos de segundo.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>
                <a:latin typeface="+mj-lt"/>
                <a:cs typeface="Courier New" pitchFamily="49" charset="0"/>
              </a:rPr>
              <a:t>O parâmetro opcional callback é uma função a ser executada após a conclusão do deslizamento.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2662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$("#flip").click(function(){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$("#panel").slideDown();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 slideUp() </a:t>
            </a:r>
          </a:p>
          <a:p>
            <a:pPr lvl="1"/>
            <a:r>
              <a:rPr lang="pt-BR" smtClean="0"/>
              <a:t>método slideUp () é usada para fechar um elemento deslizando para cima.</a:t>
            </a:r>
          </a:p>
          <a:p>
            <a:pPr lvl="2"/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).slideUp(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pt-BR" smtClean="0">
                <a:cs typeface="Courier New" pitchFamily="49" charset="0"/>
              </a:rPr>
              <a:t>O parâmetro de velocidade opcional especifica a duração do efeito. Ele pode ter os seguintes valores: "slow", "fast", ou milésimos de segundo.</a:t>
            </a:r>
          </a:p>
          <a:p>
            <a:pPr lvl="1"/>
            <a:r>
              <a:rPr lang="pt-BR" smtClean="0">
                <a:cs typeface="Courier New" pitchFamily="49" charset="0"/>
              </a:rPr>
              <a:t>O parâmetro opcional callback é uma função a ser executada após a conclusão do deslizamento.</a:t>
            </a:r>
          </a:p>
          <a:p>
            <a:pPr lvl="1"/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$("#flip").click(function(){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$("#panel").slideUp();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slideToggle()</a:t>
            </a:r>
          </a:p>
          <a:p>
            <a:pPr lvl="1"/>
            <a:r>
              <a:rPr lang="pt-BR" smtClean="0"/>
              <a:t>slideToggle () método alterna entre o slideDown () e slideUp () métodos.</a:t>
            </a:r>
          </a:p>
          <a:p>
            <a:pPr lvl="1"/>
            <a:r>
              <a:rPr lang="pt-BR" smtClean="0"/>
              <a:t>Se os elementos foram deslizou para baixo, slideToggle () irá deslizar.</a:t>
            </a:r>
          </a:p>
          <a:p>
            <a:pPr lvl="1"/>
            <a:r>
              <a:rPr lang="pt-BR" smtClean="0"/>
              <a:t>Se os elementos foram deslizou para cima, slideToggle () irá deslizar para baixo.</a:t>
            </a:r>
          </a:p>
          <a:p>
            <a:pPr lvl="2"/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).slideToggle(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Movimento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$("#flip").click(function(){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$("#panel").slideToggle();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850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método </a:t>
            </a:r>
            <a:r>
              <a:rPr lang="pt-BR" dirty="0" err="1" smtClean="0"/>
              <a:t>animate</a:t>
            </a:r>
            <a:r>
              <a:rPr lang="pt-BR" dirty="0" smtClean="0"/>
              <a:t>() é usada para criar animações personalizadas.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parâmetro </a:t>
            </a:r>
            <a:r>
              <a:rPr lang="pt-BR" dirty="0" err="1" smtClean="0"/>
              <a:t>params</a:t>
            </a:r>
            <a:r>
              <a:rPr lang="pt-BR" dirty="0" smtClean="0"/>
              <a:t> exigido define as propriedades CSS para ser animado.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parâmetro de velocidade opcional especifica a duração do efeito. Ele pode ter os seguintes valores: “</a:t>
            </a:r>
            <a:r>
              <a:rPr lang="pt-BR" dirty="0" err="1" smtClean="0"/>
              <a:t>slow</a:t>
            </a:r>
            <a:r>
              <a:rPr lang="pt-BR" dirty="0" smtClean="0"/>
              <a:t>", 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parâmetro opcional callback é uma função a ser executada após a animação completa.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exemplo a seguir demonstra um uso simples de </a:t>
            </a:r>
            <a:r>
              <a:rPr lang="pt-BR" dirty="0" err="1" smtClean="0"/>
              <a:t>animate</a:t>
            </a:r>
            <a:r>
              <a:rPr lang="pt-BR" dirty="0" smtClean="0"/>
              <a:t>() método, que move um elemento &lt;div&gt; para a esquerda, até que chegou a uma propriedade esquerda de 250px: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277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$("div").animate({left:'250px'});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b="1" dirty="0" smtClean="0">
                <a:solidFill>
                  <a:srgbClr val="FF0000"/>
                </a:solidFill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</a:rPr>
              <a:t>button</a:t>
            </a:r>
            <a:r>
              <a:rPr lang="pt-BR" b="1" dirty="0" smtClean="0">
                <a:solidFill>
                  <a:srgbClr val="FF0000"/>
                </a:solidFill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</a:rPr>
              <a:t>click</a:t>
            </a:r>
            <a:r>
              <a:rPr lang="pt-BR" b="1" dirty="0" smtClean="0">
                <a:solidFill>
                  <a:srgbClr val="FF0000"/>
                </a:solidFill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</a:rPr>
              <a:t>function</a:t>
            </a:r>
            <a:r>
              <a:rPr lang="pt-BR" b="1" dirty="0" smtClean="0">
                <a:solidFill>
                  <a:srgbClr val="FF0000"/>
                </a:solidFill>
              </a:rPr>
              <a:t>(){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 $("div").</a:t>
            </a:r>
            <a:r>
              <a:rPr lang="pt-BR" b="1" dirty="0" err="1" smtClean="0">
                <a:solidFill>
                  <a:srgbClr val="FF0000"/>
                </a:solidFill>
              </a:rPr>
              <a:t>animate</a:t>
            </a:r>
            <a:r>
              <a:rPr lang="pt-BR" b="1" dirty="0" smtClean="0">
                <a:solidFill>
                  <a:srgbClr val="FF0000"/>
                </a:solidFill>
              </a:rPr>
              <a:t>({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left</a:t>
            </a:r>
            <a:r>
              <a:rPr lang="pt-BR" b="1" dirty="0" smtClean="0">
                <a:solidFill>
                  <a:srgbClr val="FF0000"/>
                </a:solidFill>
              </a:rPr>
              <a:t>:'250px',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opacity</a:t>
            </a:r>
            <a:r>
              <a:rPr lang="pt-BR" b="1" dirty="0" smtClean="0">
                <a:solidFill>
                  <a:srgbClr val="FF0000"/>
                </a:solidFill>
              </a:rPr>
              <a:t>:'0.5',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height</a:t>
            </a:r>
            <a:r>
              <a:rPr lang="pt-BR" b="1" dirty="0" smtClean="0">
                <a:solidFill>
                  <a:srgbClr val="FF0000"/>
                </a:solidFill>
              </a:rPr>
              <a:t>:'150px',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width</a:t>
            </a:r>
            <a:r>
              <a:rPr lang="pt-BR" b="1" dirty="0" smtClean="0">
                <a:solidFill>
                  <a:srgbClr val="FF0000"/>
                </a:solidFill>
              </a:rPr>
              <a:t>:'150px'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 });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}); 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>
                <a:cs typeface="Courier New" pitchFamily="49" charset="0"/>
              </a:rPr>
              <a:t>Note-se que várias propriedades pode ser animada, ao mesmo tempo:</a:t>
            </a:r>
            <a:endParaRPr lang="pt-BR" dirty="0"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err="1" smtClean="0"/>
              <a:t>animate</a:t>
            </a:r>
            <a:r>
              <a:rPr lang="pt-BR" dirty="0" smtClean="0"/>
              <a:t>() – usando valores relativos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Também é possível definir os valores relativos (o valor é, em seguida, em relação ao valor atual do elemento). Isto é feito pondo + = ou - = na frente do valor: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:'250px',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:'+=150px',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:'+=150px'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58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animate() - Usando valores pre-determinados</a:t>
            </a:r>
          </a:p>
          <a:p>
            <a:r>
              <a:rPr lang="pt-BR" smtClean="0"/>
              <a:t>Você pode até especificar o valor de uma propriedade de animação como "show", "hide", ou "toggle":</a:t>
            </a:r>
          </a:p>
          <a:p>
            <a:pPr lvl="1"/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$("div").animate({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height:'toggle'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r>
              <a:rPr lang="en-US" b="1" smtClean="0"/>
              <a:t> </a:t>
            </a:r>
            <a:endParaRPr lang="pt-BR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68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Usando eventos em fila</a:t>
            </a:r>
          </a:p>
          <a:p>
            <a:pPr lvl="1"/>
            <a:r>
              <a:rPr lang="pt-BR" smtClean="0"/>
              <a:t>Isso significa que se você escrever várias comandos animate() chamando uma após a outro, jQuery cria uma fila de "interna" com estas chamadas.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Efeitos de animação</a:t>
            </a:r>
          </a:p>
        </p:txBody>
      </p:sp>
      <p:sp>
        <p:nvSpPr>
          <p:cNvPr id="3789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319088" lvl="1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var div=$("div");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div.animate({height:'300px',opacity:'0.4'},"slow");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div.animate({width:'300px',opacity:'0.8'},"slow");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div.animate({height:'100px',opacity:'0.4'},"slow");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div.animate({width:'100px',opacity:'0.8'},"slow");</a:t>
            </a:r>
            <a:b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</a:p>
          <a:p>
            <a:pPr marL="319088" lvl="1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pt-BR" sz="1800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var div=$("div");</a:t>
            </a:r>
            <a:b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div.animate({left:'100px'},"slow");</a:t>
            </a:r>
            <a:b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div.animate({fontSize:'3em'},"slow");</a:t>
            </a:r>
            <a:b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Interrompendo uma animação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850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err="1" smtClean="0"/>
              <a:t>stop</a:t>
            </a:r>
            <a:r>
              <a:rPr lang="pt-BR" dirty="0" smtClean="0"/>
              <a:t>() 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método </a:t>
            </a:r>
            <a:r>
              <a:rPr lang="pt-BR" dirty="0" err="1" smtClean="0"/>
              <a:t>stop</a:t>
            </a:r>
            <a:r>
              <a:rPr lang="pt-BR" dirty="0" smtClean="0"/>
              <a:t> () é usado para interromper uma animação ou efeito antes de terminar.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método </a:t>
            </a:r>
            <a:r>
              <a:rPr lang="pt-BR" dirty="0" err="1" smtClean="0"/>
              <a:t>stop</a:t>
            </a:r>
            <a:r>
              <a:rPr lang="pt-BR" dirty="0" smtClean="0"/>
              <a:t> () funciona para todas as funções de efeito </a:t>
            </a:r>
            <a:r>
              <a:rPr lang="pt-BR" dirty="0" err="1" smtClean="0"/>
              <a:t>jQuery</a:t>
            </a:r>
            <a:r>
              <a:rPr lang="pt-BR" dirty="0" smtClean="0"/>
              <a:t>, incluindo animações deslizantes, desvanecimento e personalizado.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parâmetro </a:t>
            </a:r>
            <a:r>
              <a:rPr lang="pt-BR" dirty="0" err="1" smtClean="0"/>
              <a:t>stopAll</a:t>
            </a:r>
            <a:r>
              <a:rPr lang="pt-BR" dirty="0" smtClean="0"/>
              <a:t> opcional especifica se também a fila de animação deve ser limpo ou não. O padrão é falso, o que significa que apenas a animação ativo será interrompido, permitindo que as animações na fila para ser executada depois.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O parâmetro </a:t>
            </a:r>
            <a:r>
              <a:rPr lang="pt-BR" dirty="0" err="1" smtClean="0"/>
              <a:t>goToEnd</a:t>
            </a:r>
            <a:r>
              <a:rPr lang="pt-BR" dirty="0" smtClean="0"/>
              <a:t> opcional especifica se ou não para completar a animação atual imediatamente. O padrão é </a:t>
            </a:r>
            <a:r>
              <a:rPr lang="pt-BR" dirty="0" err="1" smtClean="0"/>
              <a:t>false</a:t>
            </a:r>
            <a:r>
              <a:rPr lang="pt-BR" dirty="0" smtClean="0"/>
              <a:t>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Então, por padrão, o método </a:t>
            </a:r>
            <a:r>
              <a:rPr lang="pt-BR" dirty="0" err="1" smtClean="0"/>
              <a:t>stop</a:t>
            </a:r>
            <a:r>
              <a:rPr lang="pt-BR" dirty="0" smtClean="0"/>
              <a:t> () mata a animação atual que está sendo realizada no elemento selecionado.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Interrompendo uma animação</a:t>
            </a:r>
          </a:p>
        </p:txBody>
      </p:sp>
      <p:sp>
        <p:nvSpPr>
          <p:cNvPr id="3993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$("#stop").click(function(){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$("#panel").stop();</a:t>
            </a:r>
            <a:b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Função de Retorno</a:t>
            </a:r>
          </a:p>
        </p:txBody>
      </p:sp>
      <p:sp>
        <p:nvSpPr>
          <p:cNvPr id="4096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Instruções JavaScript são executados linha por linha. No entanto, com efeitos, a próxima linha de código pode ser executado mesmo que o efeito não está terminado. Isso pode criar erros.</a:t>
            </a:r>
          </a:p>
          <a:p>
            <a:r>
              <a:rPr lang="pt-BR" smtClean="0"/>
              <a:t>Para evitar isso, você pode criar uma função de callback.</a:t>
            </a:r>
          </a:p>
          <a:p>
            <a:r>
              <a:rPr lang="pt-BR" smtClean="0"/>
              <a:t>A função callback é executado depois que o efeito atual é concluída.</a:t>
            </a:r>
          </a:p>
          <a:p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).hide(</a:t>
            </a:r>
            <a:r>
              <a:rPr lang="pt-BR" b="1" i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speed,callback</a:t>
            </a:r>
            <a:r>
              <a:rPr lang="pt-BR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pt-BR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Função de Retorno</a:t>
            </a:r>
          </a:p>
        </p:txBody>
      </p:sp>
      <p:sp>
        <p:nvSpPr>
          <p:cNvPr id="419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$("p").hide("slow",function(){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alert("The paragraph is now hidden");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2400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$("p").hide(1000);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alert("The paragraph is now hidden");</a:t>
            </a:r>
            <a:b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400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Encadeamento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77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Você pode encadear ações / métodos.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Encadeamento nos permite executar vários métodos </a:t>
            </a:r>
            <a:r>
              <a:rPr lang="pt-BR" dirty="0" err="1" smtClean="0"/>
              <a:t>jQuery</a:t>
            </a:r>
            <a:r>
              <a:rPr lang="pt-BR" dirty="0" smtClean="0"/>
              <a:t> (no mesmo elemento) dentro de uma única instrução.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Até agora temos estado a escrever declarações </a:t>
            </a:r>
            <a:r>
              <a:rPr lang="pt-BR" dirty="0" err="1" smtClean="0"/>
              <a:t>jQuery</a:t>
            </a:r>
            <a:r>
              <a:rPr lang="pt-BR" dirty="0" smtClean="0"/>
              <a:t> um de cada vez (um após o outro).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No entanto, existe uma técnica chamada encadeamento, que nos permite executar vários comandos </a:t>
            </a:r>
            <a:r>
              <a:rPr lang="pt-BR" dirty="0" err="1" smtClean="0"/>
              <a:t>jQuery</a:t>
            </a:r>
            <a:r>
              <a:rPr lang="pt-BR" dirty="0" smtClean="0"/>
              <a:t>, um após o outro, no mesmo elemento (s).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 cadeia de uma ação, você simplesmente anexar a ação para a ação anterior.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O exemplo a seguir cadeias junto a </a:t>
            </a:r>
            <a:r>
              <a:rPr lang="pt-BR" dirty="0" err="1" smtClean="0"/>
              <a:t>css</a:t>
            </a:r>
            <a:r>
              <a:rPr lang="pt-BR" dirty="0" smtClean="0"/>
              <a:t> (), </a:t>
            </a:r>
            <a:r>
              <a:rPr lang="pt-BR" dirty="0" err="1" smtClean="0"/>
              <a:t>slideUp</a:t>
            </a:r>
            <a:r>
              <a:rPr lang="pt-BR" dirty="0" smtClean="0"/>
              <a:t> (), e </a:t>
            </a:r>
            <a:r>
              <a:rPr lang="pt-BR" dirty="0" err="1" smtClean="0"/>
              <a:t>slideDown</a:t>
            </a:r>
            <a:r>
              <a:rPr lang="pt-BR" dirty="0" smtClean="0"/>
              <a:t> () métodos. O "p1" elemento primeiro muda para vermelho, então ele desliza para cima e, em seguida, ele desliza para baixo: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Encadeamento</a:t>
            </a:r>
          </a:p>
        </p:txBody>
      </p:sp>
      <p:sp>
        <p:nvSpPr>
          <p:cNvPr id="4403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$("#p1").css("color","red").slideUp(2000).slideDown(2000);</a:t>
            </a:r>
          </a:p>
          <a:p>
            <a:endParaRPr lang="pt-BR" b="1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o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142</TotalTime>
  <Words>1012</Words>
  <Application>Microsoft Office PowerPoint</Application>
  <PresentationFormat>Apresentação na tela (4:3)</PresentationFormat>
  <Paragraphs>145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Tw Cen MT</vt:lpstr>
      <vt:lpstr>Arial</vt:lpstr>
      <vt:lpstr>Wingdings</vt:lpstr>
      <vt:lpstr>Wingdings 2</vt:lpstr>
      <vt:lpstr>Calibri</vt:lpstr>
      <vt:lpstr>Courier New</vt:lpstr>
      <vt:lpstr>Mediano</vt:lpstr>
      <vt:lpstr>JQUERY – Parte 2</vt:lpstr>
      <vt:lpstr>Efeitos de Exibição</vt:lpstr>
      <vt:lpstr>Efeitos de Exibição</vt:lpstr>
      <vt:lpstr>Efeitos de Exibição</vt:lpstr>
      <vt:lpstr>Efeitos de Exibição</vt:lpstr>
      <vt:lpstr>Efeitos de Exibição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Movimento</vt:lpstr>
      <vt:lpstr>Efeitos de Movimento</vt:lpstr>
      <vt:lpstr>Efeitos de Movimento</vt:lpstr>
      <vt:lpstr>Efeitos de Movimento</vt:lpstr>
      <vt:lpstr>Efeitos de Movimento</vt:lpstr>
      <vt:lpstr>Efeitos de Movimento</vt:lpstr>
      <vt:lpstr>Efeitos de Movimento</vt:lpstr>
      <vt:lpstr>Efeitos de animação</vt:lpstr>
      <vt:lpstr>Efeitos de animação</vt:lpstr>
      <vt:lpstr>Efeitos de animação</vt:lpstr>
      <vt:lpstr>Efeitos de animação</vt:lpstr>
      <vt:lpstr>Efeitos de animação</vt:lpstr>
      <vt:lpstr>Efeitos de animação</vt:lpstr>
      <vt:lpstr>Efeitos de animação</vt:lpstr>
      <vt:lpstr>Interrompendo uma animação</vt:lpstr>
      <vt:lpstr>Interrompendo uma animação</vt:lpstr>
      <vt:lpstr>Função de Retorno</vt:lpstr>
      <vt:lpstr>Função de Retorno</vt:lpstr>
      <vt:lpstr>Encadeamento</vt:lpstr>
      <vt:lpstr>Encadeamento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– Parte 2</dc:title>
  <dc:creator>aluno</dc:creator>
  <cp:lastModifiedBy>professor</cp:lastModifiedBy>
  <cp:revision>28</cp:revision>
  <dcterms:created xsi:type="dcterms:W3CDTF">2013-04-25T21:26:25Z</dcterms:created>
  <dcterms:modified xsi:type="dcterms:W3CDTF">2014-09-11T22:06:42Z</dcterms:modified>
</cp:coreProperties>
</file>