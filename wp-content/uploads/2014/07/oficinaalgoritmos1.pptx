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311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6" r:id="rId18"/>
    <p:sldId id="273" r:id="rId19"/>
    <p:sldId id="274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9" r:id="rId50"/>
    <p:sldId id="310" r:id="rId51"/>
    <p:sldId id="308" r:id="rId5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A415BEEA-E91E-4753-8CAE-9D41E4CA36A5}">
          <p14:sldIdLst>
            <p14:sldId id="256"/>
            <p14:sldId id="311"/>
            <p14:sldId id="257"/>
            <p14:sldId id="258"/>
            <p14:sldId id="259"/>
            <p14:sldId id="260"/>
            <p14:sldId id="261"/>
            <p14:sldId id="262"/>
            <p14:sldId id="264"/>
            <p14:sldId id="265"/>
            <p14:sldId id="266"/>
            <p14:sldId id="267"/>
            <p14:sldId id="268"/>
            <p14:sldId id="269"/>
            <p14:sldId id="271"/>
            <p14:sldId id="270"/>
            <p14:sldId id="276"/>
            <p14:sldId id="273"/>
            <p14:sldId id="274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9"/>
            <p14:sldId id="310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7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DD7D1-9FCF-4500-AD1E-1DDAABE3E24A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A490B-8F07-4E87-A4D2-7FD0F0D8BAA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04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299EE8-7ACF-4D89-B4D2-C073D942631C}" type="slidenum">
              <a:rPr lang="pt-BR" smtClean="0">
                <a:latin typeface="Times New Roman" pitchFamily="18" charset="0"/>
              </a:rPr>
              <a:pPr/>
              <a:t>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432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67E71E7-05D6-4D93-95E1-CD39FB2EE575}" type="slidenum">
              <a:rPr lang="pt-BR" smtClean="0">
                <a:latin typeface="Times New Roman" pitchFamily="18" charset="0"/>
              </a:rPr>
              <a:pPr/>
              <a:t>10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455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ECBEAD-0A4C-445D-9D09-4D4B53FC0102}" type="slidenum">
              <a:rPr lang="pt-BR" smtClean="0">
                <a:latin typeface="Times New Roman" pitchFamily="18" charset="0"/>
              </a:rPr>
              <a:pPr/>
              <a:t>11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79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2139E0-3B94-4DBB-9852-5EDFC90DC50B}" type="slidenum">
              <a:rPr lang="pt-BR" smtClean="0">
                <a:latin typeface="Times New Roman" pitchFamily="18" charset="0"/>
              </a:rPr>
              <a:pPr/>
              <a:t>12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873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13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987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18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8612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19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326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20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735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22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429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24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2345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30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690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32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1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37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010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41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953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45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486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8F85C0-E55B-44E0-84D8-2F33B96C1E43}" type="slidenum">
              <a:rPr lang="pt-BR" smtClean="0">
                <a:latin typeface="Times New Roman" pitchFamily="18" charset="0"/>
              </a:rPr>
              <a:pPr/>
              <a:t>51</a:t>
            </a:fld>
            <a:endParaRPr lang="pt-BR" smtClean="0">
              <a:latin typeface="Times New Roman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434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4BBA47B-536B-4A9B-BD7C-D0048E24CEF1}" type="datetimeFigureOut">
              <a:rPr lang="pt-BR" smtClean="0"/>
              <a:t>28/07/2014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9AC2FC6-DA0A-4225-84B8-122794DCDB70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Algoritmos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Oficinas de Desenvolvimento de Software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801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4400" dirty="0" smtClean="0"/>
              <a:t>www.norton.net.br</a:t>
            </a:r>
          </a:p>
          <a:p>
            <a:r>
              <a:rPr lang="pt-BR" sz="4400" dirty="0" smtClean="0"/>
              <a:t>Norton.Glaser@fatec.sp.gov.br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8141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Programação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Inicio as 19:00</a:t>
            </a:r>
          </a:p>
          <a:p>
            <a:r>
              <a:rPr lang="pt-BR" dirty="0" smtClean="0"/>
              <a:t>Conceitos e definição de algoritmos</a:t>
            </a:r>
          </a:p>
          <a:p>
            <a:r>
              <a:rPr lang="pt-BR" dirty="0" smtClean="0"/>
              <a:t>Vetores e matrizes</a:t>
            </a:r>
          </a:p>
          <a:p>
            <a:r>
              <a:rPr lang="pt-BR" dirty="0" smtClean="0"/>
              <a:t>Recursão</a:t>
            </a:r>
          </a:p>
          <a:p>
            <a:r>
              <a:rPr lang="pt-BR" dirty="0" smtClean="0"/>
              <a:t>Intervalo 20:40 </a:t>
            </a:r>
          </a:p>
          <a:p>
            <a:r>
              <a:rPr lang="pt-BR" dirty="0" smtClean="0"/>
              <a:t>Retorno 21:00</a:t>
            </a:r>
          </a:p>
          <a:p>
            <a:r>
              <a:rPr lang="pt-BR" dirty="0" smtClean="0"/>
              <a:t>Pesquisa</a:t>
            </a:r>
          </a:p>
          <a:p>
            <a:r>
              <a:rPr lang="pt-BR" dirty="0" smtClean="0"/>
              <a:t>Ordenação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25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algoritmo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884238">
              <a:defRPr/>
            </a:pPr>
            <a:r>
              <a:rPr lang="en-US" sz="2000" dirty="0"/>
              <a:t>U</a:t>
            </a:r>
            <a:r>
              <a:rPr lang="en-US" sz="2000" dirty="0" smtClean="0"/>
              <a:t>m </a:t>
            </a:r>
            <a:r>
              <a:rPr lang="en-US" sz="2000" b="1" dirty="0" err="1">
                <a:solidFill>
                  <a:srgbClr val="006699"/>
                </a:solidFill>
              </a:rPr>
              <a:t>algoritmo</a:t>
            </a:r>
            <a:r>
              <a:rPr lang="en-US" sz="2000" dirty="0"/>
              <a:t> é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sequência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ordenada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instruções</a:t>
            </a:r>
            <a:r>
              <a:rPr lang="en-US" sz="2000" b="1" dirty="0">
                <a:solidFill>
                  <a:srgbClr val="FF0000"/>
                </a:solidFill>
              </a:rPr>
              <a:t> para resolver um </a:t>
            </a:r>
            <a:r>
              <a:rPr lang="en-US" sz="2000" b="1" dirty="0" err="1">
                <a:solidFill>
                  <a:srgbClr val="FF0000"/>
                </a:solidFill>
              </a:rPr>
              <a:t>problema</a:t>
            </a:r>
            <a:r>
              <a:rPr lang="en-US" sz="2000" b="1" dirty="0" smtClean="0">
                <a:solidFill>
                  <a:srgbClr val="FF0000"/>
                </a:solidFill>
              </a:rPr>
              <a:t>.</a:t>
            </a:r>
          </a:p>
          <a:p>
            <a:pPr marL="884238">
              <a:defRPr/>
            </a:pPr>
            <a:endParaRPr lang="en-US" sz="2000" b="1" dirty="0">
              <a:solidFill>
                <a:srgbClr val="FF0000"/>
              </a:solidFill>
            </a:endParaRPr>
          </a:p>
          <a:p>
            <a:pPr marL="884238">
              <a:defRPr/>
            </a:pPr>
            <a:r>
              <a:rPr lang="en-US" sz="2000" dirty="0"/>
              <a:t>Um </a:t>
            </a:r>
            <a:r>
              <a:rPr lang="en-US" sz="2000" dirty="0" err="1"/>
              <a:t>algoritmo</a:t>
            </a:r>
            <a:r>
              <a:rPr lang="en-US" sz="2000" dirty="0"/>
              <a:t> </a:t>
            </a:r>
            <a:r>
              <a:rPr lang="en-US" sz="2000" dirty="0" err="1"/>
              <a:t>deve</a:t>
            </a:r>
            <a:r>
              <a:rPr lang="en-US" sz="2000" dirty="0"/>
              <a:t> </a:t>
            </a:r>
            <a:r>
              <a:rPr lang="en-US" sz="2000" dirty="0" err="1"/>
              <a:t>possuir</a:t>
            </a:r>
            <a:r>
              <a:rPr lang="en-US" sz="2000" dirty="0"/>
              <a:t> as </a:t>
            </a:r>
            <a:r>
              <a:rPr lang="en-US" sz="2000" dirty="0" err="1"/>
              <a:t>seguintes</a:t>
            </a:r>
            <a:r>
              <a:rPr lang="en-US" sz="2000" dirty="0"/>
              <a:t> </a:t>
            </a:r>
            <a:r>
              <a:rPr lang="en-US" sz="2000" dirty="0" err="1"/>
              <a:t>propriedades</a:t>
            </a:r>
            <a:r>
              <a:rPr lang="en-US" sz="2000" dirty="0"/>
              <a:t>: </a:t>
            </a:r>
            <a:r>
              <a:rPr lang="en-US" sz="2000" b="1" dirty="0" err="1">
                <a:solidFill>
                  <a:srgbClr val="FF0000"/>
                </a:solidFill>
              </a:rPr>
              <a:t>garantia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término</a:t>
            </a:r>
            <a:r>
              <a:rPr lang="en-US" sz="2000" b="1" dirty="0">
                <a:solidFill>
                  <a:srgbClr val="FF0000"/>
                </a:solidFill>
              </a:rPr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exatidão</a:t>
            </a:r>
            <a:r>
              <a:rPr lang="en-US" sz="2000" b="1" dirty="0">
                <a:solidFill>
                  <a:srgbClr val="FF0000"/>
                </a:solidFill>
              </a:rPr>
              <a:t> e </a:t>
            </a:r>
            <a:r>
              <a:rPr lang="en-US" sz="2000" b="1" dirty="0" err="1">
                <a:solidFill>
                  <a:srgbClr val="FF0000"/>
                </a:solidFill>
              </a:rPr>
              <a:t>efetividade</a:t>
            </a:r>
            <a:r>
              <a:rPr lang="en-US" sz="2000" b="1" dirty="0">
                <a:solidFill>
                  <a:srgbClr val="FF0000"/>
                </a:solidFill>
              </a:rPr>
              <a:t>. 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 marL="884238">
              <a:defRPr/>
            </a:pPr>
            <a:endParaRPr lang="en-US" sz="2000" b="1" dirty="0">
              <a:solidFill>
                <a:srgbClr val="FF0000"/>
              </a:solidFill>
            </a:endParaRPr>
          </a:p>
          <a:p>
            <a:pPr algn="ctr"/>
            <a:r>
              <a:rPr lang="pt-BR" altLang="en-US" sz="2000" dirty="0"/>
              <a:t>“</a:t>
            </a:r>
            <a:r>
              <a:rPr lang="pt-BR" altLang="pt-BR" sz="2000" dirty="0"/>
              <a:t>Algoritmo é uma </a:t>
            </a:r>
            <a:r>
              <a:rPr lang="pt-BR" altLang="pt-BR" sz="2000" dirty="0" smtClean="0"/>
              <a:t>sequência </a:t>
            </a:r>
            <a:r>
              <a:rPr lang="pt-BR" altLang="pt-BR" sz="2000" dirty="0"/>
              <a:t>de passos que visa atingir um objetivo bem definido</a:t>
            </a:r>
            <a:r>
              <a:rPr lang="pt-BR" altLang="en-US" sz="2000" dirty="0"/>
              <a:t>”</a:t>
            </a:r>
            <a:r>
              <a:rPr lang="pt-BR" altLang="pt-BR" sz="2000" dirty="0"/>
              <a:t> (FORBELLONE, 1999</a:t>
            </a:r>
            <a:r>
              <a:rPr lang="pt-BR" altLang="pt-BR" sz="2000" dirty="0" smtClean="0"/>
              <a:t>)</a:t>
            </a:r>
          </a:p>
          <a:p>
            <a:pPr algn="ctr"/>
            <a:endParaRPr lang="pt-BR" altLang="pt-BR" sz="2000" dirty="0"/>
          </a:p>
          <a:p>
            <a:pPr algn="ctr"/>
            <a:r>
              <a:rPr lang="pt-BR" altLang="en-US" sz="2000" dirty="0"/>
              <a:t>“</a:t>
            </a:r>
            <a:r>
              <a:rPr lang="pt-BR" altLang="pt-BR" sz="2000" dirty="0"/>
              <a:t>Algoritmo é a descrição de uma </a:t>
            </a:r>
            <a:r>
              <a:rPr lang="pt-BR" altLang="pt-BR" sz="2000" dirty="0" smtClean="0"/>
              <a:t>sequência </a:t>
            </a:r>
            <a:r>
              <a:rPr lang="pt-BR" altLang="pt-BR" sz="2000" dirty="0"/>
              <a:t>de passos que deve ser seguida para a realização de uma tarefa</a:t>
            </a:r>
            <a:r>
              <a:rPr lang="pt-BR" altLang="en-US" sz="2000" dirty="0"/>
              <a:t>”</a:t>
            </a:r>
            <a:r>
              <a:rPr lang="pt-BR" altLang="pt-BR" sz="2000" dirty="0"/>
              <a:t> (ASCENCIO, 1999)</a:t>
            </a:r>
          </a:p>
          <a:p>
            <a:pPr marL="884238">
              <a:defRPr/>
            </a:pPr>
            <a:endParaRPr lang="en-US" sz="2000" b="1" dirty="0" smtClean="0">
              <a:solidFill>
                <a:srgbClr val="FF0000"/>
              </a:solidFill>
            </a:endParaRPr>
          </a:p>
          <a:p>
            <a:pPr marL="884238">
              <a:defRPr/>
            </a:pPr>
            <a:endParaRPr lang="en-US" sz="2000" b="1" dirty="0">
              <a:solidFill>
                <a:srgbClr val="FF0000"/>
              </a:solidFill>
            </a:endParaRPr>
          </a:p>
          <a:p>
            <a:pPr marL="884238">
              <a:defRPr/>
            </a:pPr>
            <a:endParaRPr lang="en-US" sz="2000" b="1" dirty="0" smtClean="0">
              <a:solidFill>
                <a:srgbClr val="FF0000"/>
              </a:solidFill>
            </a:endParaRPr>
          </a:p>
          <a:p>
            <a:pPr marL="884238">
              <a:defRPr/>
            </a:pPr>
            <a:endParaRPr lang="en-US" sz="2000" b="1" dirty="0">
              <a:solidFill>
                <a:srgbClr val="FF0000"/>
              </a:solidFill>
            </a:endParaRPr>
          </a:p>
          <a:p>
            <a:pPr marL="884238">
              <a:defRPr/>
            </a:pPr>
            <a:endParaRPr lang="en-US" sz="2000" b="1" dirty="0">
              <a:solidFill>
                <a:srgbClr val="FF0000"/>
              </a:solidFill>
            </a:endParaRP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43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é algoritmo </a:t>
            </a:r>
            <a:r>
              <a:rPr lang="pt-BR" dirty="0" smtClean="0"/>
              <a:t>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Um algoritmo e composto por:</a:t>
            </a:r>
          </a:p>
          <a:p>
            <a:pPr lvl="1"/>
            <a:r>
              <a:rPr lang="pt-BR" dirty="0" smtClean="0"/>
              <a:t>Problematização</a:t>
            </a:r>
          </a:p>
          <a:p>
            <a:pPr lvl="1"/>
            <a:r>
              <a:rPr lang="pt-BR" dirty="0" smtClean="0"/>
              <a:t>Instruções </a:t>
            </a:r>
            <a:r>
              <a:rPr lang="pt-BR" dirty="0" err="1" smtClean="0"/>
              <a:t>unitarias</a:t>
            </a:r>
            <a:endParaRPr lang="pt-BR" dirty="0" smtClean="0"/>
          </a:p>
          <a:p>
            <a:pPr lvl="1"/>
            <a:r>
              <a:rPr lang="pt-BR" dirty="0" smtClean="0"/>
              <a:t>Sequencia Logica</a:t>
            </a:r>
          </a:p>
          <a:p>
            <a:r>
              <a:rPr lang="pt-BR" dirty="0" smtClean="0"/>
              <a:t>Um algoritmo pode ser representado por:</a:t>
            </a:r>
          </a:p>
          <a:p>
            <a:pPr lvl="1"/>
            <a:r>
              <a:rPr lang="pt-BR" dirty="0" smtClean="0"/>
              <a:t>Uma descrição narrativa</a:t>
            </a:r>
          </a:p>
          <a:p>
            <a:pPr lvl="1"/>
            <a:r>
              <a:rPr lang="pt-BR" dirty="0" smtClean="0"/>
              <a:t>Um Fluxograma</a:t>
            </a:r>
          </a:p>
          <a:p>
            <a:pPr lvl="1"/>
            <a:r>
              <a:rPr lang="pt-BR" dirty="0" smtClean="0"/>
              <a:t>Um Programa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523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Variáveis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38912">
              <a:spcBef>
                <a:spcPts val="0"/>
              </a:spcBef>
              <a:buFont typeface="Wingdings 2"/>
              <a:buChar char=""/>
              <a:defRPr/>
            </a:pPr>
            <a:r>
              <a:rPr lang="pt-BR" sz="3200" dirty="0"/>
              <a:t>Variável e um espaço alocado na memoria para o armazenamento de um dado, durante a execução de um programa.</a:t>
            </a:r>
          </a:p>
          <a:p>
            <a:pPr marL="438912">
              <a:spcBef>
                <a:spcPts val="0"/>
              </a:spcBef>
              <a:buFont typeface="Wingdings 2"/>
              <a:buChar char=""/>
              <a:defRPr/>
            </a:pPr>
            <a:r>
              <a:rPr lang="pt-BR" sz="3200" dirty="0"/>
              <a:t>Este valor pode ser modificado durante o processamento do </a:t>
            </a:r>
            <a:r>
              <a:rPr lang="pt-BR" sz="3200" dirty="0" smtClean="0"/>
              <a:t>algoritmo</a:t>
            </a:r>
          </a:p>
          <a:p>
            <a:pPr marL="438912">
              <a:spcBef>
                <a:spcPts val="0"/>
              </a:spcBef>
              <a:buFont typeface="Wingdings 2"/>
              <a:buChar char=""/>
              <a:defRPr/>
            </a:pPr>
            <a:r>
              <a:rPr lang="pt-BR" sz="3200" dirty="0" smtClean="0"/>
              <a:t>Exemplo:</a:t>
            </a:r>
          </a:p>
          <a:p>
            <a:pPr marL="1993392" lvl="5" indent="0">
              <a:spcBef>
                <a:spcPts val="0"/>
              </a:spcBef>
              <a:buNone/>
              <a:defRPr/>
            </a:pPr>
            <a:r>
              <a:rPr lang="pt-BR" sz="28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quantidade = 8;</a:t>
            </a:r>
          </a:p>
          <a:p>
            <a:pPr marL="1993392" lvl="5" indent="0">
              <a:spcBef>
                <a:spcPts val="0"/>
              </a:spcBef>
              <a:buNone/>
              <a:defRPr/>
            </a:pPr>
            <a:r>
              <a:rPr lang="pt-BR" sz="2800" b="1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pt-BR" sz="2800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temperatura = 21.5;</a:t>
            </a:r>
          </a:p>
          <a:p>
            <a:pPr marL="484632" lvl="1" indent="0">
              <a:spcBef>
                <a:spcPts val="0"/>
              </a:spcBef>
              <a:buNone/>
              <a:defRPr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46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2">
                    <a:satMod val="200000"/>
                  </a:schemeClr>
                </a:solidFill>
              </a:rPr>
              <a:t>Estruturas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200" dirty="0"/>
              <a:t>Os tipos primitivos (inteiro, real, </a:t>
            </a:r>
            <a:r>
              <a:rPr lang="pt-BR" sz="3200" dirty="0" err="1"/>
              <a:t>caracter</a:t>
            </a:r>
            <a:r>
              <a:rPr lang="pt-BR" sz="3200" dirty="0"/>
              <a:t> e lógico) não são suficientes para representar todos os tipos de informação.</a:t>
            </a:r>
          </a:p>
          <a:p>
            <a:r>
              <a:rPr lang="pt-BR" sz="3200" dirty="0"/>
              <a:t>Particularmente quando temos mais de uma informação relacionada. </a:t>
            </a:r>
            <a:r>
              <a:rPr lang="pt-BR" sz="3200" dirty="0" err="1"/>
              <a:t>Ex</a:t>
            </a:r>
            <a:r>
              <a:rPr lang="pt-BR" sz="3200" dirty="0"/>
              <a:t>: Lista dos nomes dos alunos de uma sala, endereço de alguém etc.</a:t>
            </a:r>
          </a:p>
          <a:p>
            <a:r>
              <a:rPr lang="pt-BR" sz="3200" dirty="0"/>
              <a:t>Utilizaremos os tipos primitivos para </a:t>
            </a:r>
            <a:r>
              <a:rPr lang="pt-BR" sz="3200" u="sng" dirty="0"/>
              <a:t>construir</a:t>
            </a:r>
            <a:r>
              <a:rPr lang="pt-BR" sz="3200" dirty="0"/>
              <a:t> outras estruturas de dados mais complexas.</a:t>
            </a: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8235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chemeClr val="tx2">
                    <a:satMod val="200000"/>
                  </a:schemeClr>
                </a:solidFill>
              </a:rPr>
              <a:t>Vetores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11480">
              <a:buFont typeface="Wingdings"/>
              <a:buChar char=""/>
              <a:defRPr/>
            </a:pPr>
            <a:r>
              <a:rPr lang="pt-BR" sz="2400" dirty="0"/>
              <a:t>Também </a:t>
            </a:r>
            <a:r>
              <a:rPr lang="pt-BR" sz="2400" dirty="0" smtClean="0"/>
              <a:t>denominados:</a:t>
            </a:r>
          </a:p>
          <a:p>
            <a:pPr marL="731520" lvl="1">
              <a:buFont typeface="Wingdings"/>
              <a:buChar char=""/>
              <a:defRPr/>
            </a:pPr>
            <a:r>
              <a:rPr lang="pt-BR" sz="2100" dirty="0" smtClean="0"/>
              <a:t>Estruturas </a:t>
            </a:r>
            <a:r>
              <a:rPr lang="pt-BR" sz="2100" dirty="0"/>
              <a:t>compostas homogêneas </a:t>
            </a:r>
            <a:r>
              <a:rPr lang="pt-BR" sz="2100" b="1" dirty="0"/>
              <a:t>uni</a:t>
            </a:r>
            <a:r>
              <a:rPr lang="pt-BR" sz="2100" dirty="0"/>
              <a:t>dimensionais</a:t>
            </a:r>
          </a:p>
          <a:p>
            <a:pPr marL="411480">
              <a:buFont typeface="Wingdings"/>
              <a:buChar char=""/>
              <a:defRPr/>
            </a:pPr>
            <a:r>
              <a:rPr lang="pt-BR" sz="2400" dirty="0"/>
              <a:t>Permitem a manipulação de um conjunto de </a:t>
            </a:r>
            <a:r>
              <a:rPr lang="pt-BR" sz="2400" dirty="0" smtClean="0"/>
              <a:t>informações </a:t>
            </a:r>
            <a:r>
              <a:rPr lang="pt-BR" sz="2400" dirty="0"/>
              <a:t>de um mesmo tipo </a:t>
            </a:r>
            <a:r>
              <a:rPr lang="pt-BR" sz="2400" dirty="0" smtClean="0"/>
              <a:t>primitivo</a:t>
            </a:r>
          </a:p>
          <a:p>
            <a:pPr marL="411480">
              <a:buFont typeface="Wingdings"/>
              <a:buChar char=""/>
              <a:defRPr/>
            </a:pPr>
            <a:r>
              <a:rPr lang="pt-BR" sz="2400" dirty="0" smtClean="0"/>
              <a:t>Exemplo: </a:t>
            </a:r>
            <a:endParaRPr lang="pt-BR" sz="2400" dirty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err="1" smtClean="0"/>
              <a:t>float</a:t>
            </a:r>
            <a:r>
              <a:rPr lang="pt-BR" sz="1800" dirty="0" smtClean="0"/>
              <a:t> </a:t>
            </a:r>
            <a:r>
              <a:rPr lang="pt-BR" sz="1800" b="1" dirty="0" smtClean="0"/>
              <a:t>valores</a:t>
            </a:r>
            <a:r>
              <a:rPr lang="pt-BR" sz="1800" dirty="0" smtClean="0"/>
              <a:t> [40];</a:t>
            </a:r>
            <a:endParaRPr lang="pt-BR" sz="1800" dirty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endParaRPr lang="pt-BR" sz="1800" dirty="0" smtClean="0"/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dirty="0" smtClean="0"/>
              <a:t>Onde</a:t>
            </a:r>
            <a:r>
              <a:rPr lang="pt-BR" sz="1800" dirty="0"/>
              <a:t>: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40</a:t>
            </a:r>
            <a:r>
              <a:rPr lang="pt-BR" sz="1800" dirty="0"/>
              <a:t>: </a:t>
            </a:r>
            <a:r>
              <a:rPr lang="pt-BR" sz="1800" dirty="0" smtClean="0"/>
              <a:t>Quantidade total de elementos do vetor</a:t>
            </a:r>
            <a:endParaRPr lang="pt-BR" sz="1800" dirty="0"/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err="1" smtClean="0"/>
              <a:t>float</a:t>
            </a:r>
            <a:r>
              <a:rPr lang="pt-BR" sz="1800" dirty="0" smtClean="0"/>
              <a:t>: </a:t>
            </a:r>
            <a:r>
              <a:rPr lang="pt-BR" sz="1800" dirty="0"/>
              <a:t>Tipo primitivo base do </a:t>
            </a:r>
            <a:r>
              <a:rPr lang="pt-BR" sz="1800" dirty="0" smtClean="0"/>
              <a:t>vetor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valores: nome que representa o vetor no programa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O índice do vetor inicia-se em 0 (zero)  indo até 39 (n – 1)</a:t>
            </a:r>
          </a:p>
          <a:p>
            <a:pPr marL="768096" lvl="2" indent="0" fontAlgn="auto">
              <a:spcAft>
                <a:spcPts val="0"/>
              </a:spcAft>
              <a:buNone/>
              <a:defRPr/>
            </a:pPr>
            <a:endParaRPr lang="pt-BR" sz="18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478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498475"/>
          </a:xfrm>
        </p:spPr>
        <p:txBody>
          <a:bodyPr>
            <a:normAutofit/>
          </a:bodyPr>
          <a:lstStyle/>
          <a:p>
            <a:pPr lvl="1"/>
            <a:r>
              <a:rPr lang="pt-BR" dirty="0" smtClean="0"/>
              <a:t>Manipulação:</a:t>
            </a:r>
          </a:p>
        </p:txBody>
      </p:sp>
      <p:sp>
        <p:nvSpPr>
          <p:cNvPr id="57348" name="Rectangle 23"/>
          <p:cNvSpPr>
            <a:spLocks noChangeArrowheads="1"/>
          </p:cNvSpPr>
          <p:nvPr/>
        </p:nvSpPr>
        <p:spPr bwMode="auto">
          <a:xfrm>
            <a:off x="609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49" name="Rectangle 24"/>
          <p:cNvSpPr>
            <a:spLocks noChangeArrowheads="1"/>
          </p:cNvSpPr>
          <p:nvPr/>
        </p:nvSpPr>
        <p:spPr bwMode="auto">
          <a:xfrm>
            <a:off x="1219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0" name="Rectangle 25"/>
          <p:cNvSpPr>
            <a:spLocks noChangeArrowheads="1"/>
          </p:cNvSpPr>
          <p:nvPr/>
        </p:nvSpPr>
        <p:spPr bwMode="auto">
          <a:xfrm>
            <a:off x="18288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1" name="Rectangle 26"/>
          <p:cNvSpPr>
            <a:spLocks noChangeArrowheads="1"/>
          </p:cNvSpPr>
          <p:nvPr/>
        </p:nvSpPr>
        <p:spPr bwMode="auto">
          <a:xfrm>
            <a:off x="24384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2" name="Rectangle 27"/>
          <p:cNvSpPr>
            <a:spLocks noChangeArrowheads="1"/>
          </p:cNvSpPr>
          <p:nvPr/>
        </p:nvSpPr>
        <p:spPr bwMode="auto">
          <a:xfrm>
            <a:off x="30480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3" name="Rectangle 28"/>
          <p:cNvSpPr>
            <a:spLocks noChangeArrowheads="1"/>
          </p:cNvSpPr>
          <p:nvPr/>
        </p:nvSpPr>
        <p:spPr bwMode="auto">
          <a:xfrm>
            <a:off x="3657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4" name="Rectangle 29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5" name="Rectangle 30"/>
          <p:cNvSpPr>
            <a:spLocks noChangeArrowheads="1"/>
          </p:cNvSpPr>
          <p:nvPr/>
        </p:nvSpPr>
        <p:spPr bwMode="auto">
          <a:xfrm>
            <a:off x="48768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6" name="Rectangle 31"/>
          <p:cNvSpPr>
            <a:spLocks noChangeArrowheads="1"/>
          </p:cNvSpPr>
          <p:nvPr/>
        </p:nvSpPr>
        <p:spPr bwMode="auto">
          <a:xfrm>
            <a:off x="54864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7" name="Rectangle 32"/>
          <p:cNvSpPr>
            <a:spLocks noChangeArrowheads="1"/>
          </p:cNvSpPr>
          <p:nvPr/>
        </p:nvSpPr>
        <p:spPr bwMode="auto">
          <a:xfrm>
            <a:off x="64770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8" name="Rectangle 33"/>
          <p:cNvSpPr>
            <a:spLocks noChangeArrowheads="1"/>
          </p:cNvSpPr>
          <p:nvPr/>
        </p:nvSpPr>
        <p:spPr bwMode="auto">
          <a:xfrm>
            <a:off x="70866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59" name="Rectangle 34"/>
          <p:cNvSpPr>
            <a:spLocks noChangeArrowheads="1"/>
          </p:cNvSpPr>
          <p:nvPr/>
        </p:nvSpPr>
        <p:spPr bwMode="auto">
          <a:xfrm>
            <a:off x="7696200" y="5029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57360" name="Text Box 35"/>
          <p:cNvSpPr txBox="1">
            <a:spLocks noChangeArrowheads="1"/>
          </p:cNvSpPr>
          <p:nvPr/>
        </p:nvSpPr>
        <p:spPr bwMode="auto">
          <a:xfrm>
            <a:off x="533400" y="5549900"/>
            <a:ext cx="7772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dirty="0">
                <a:latin typeface="Verdana" pitchFamily="34" charset="0"/>
              </a:rPr>
              <a:t>    </a:t>
            </a:r>
            <a:r>
              <a:rPr lang="pt-BR" sz="1400" b="1" dirty="0">
                <a:latin typeface="Verdana" pitchFamily="34" charset="0"/>
              </a:rPr>
              <a:t>0</a:t>
            </a:r>
            <a:r>
              <a:rPr lang="pt-BR" sz="1400" b="1" dirty="0" smtClean="0">
                <a:latin typeface="Verdana" pitchFamily="34" charset="0"/>
              </a:rPr>
              <a:t>       </a:t>
            </a:r>
            <a:r>
              <a:rPr lang="pt-BR" sz="1400" b="1" dirty="0">
                <a:latin typeface="Verdana" pitchFamily="34" charset="0"/>
              </a:rPr>
              <a:t>1</a:t>
            </a:r>
            <a:r>
              <a:rPr lang="pt-BR" sz="1400" b="1" dirty="0" smtClean="0">
                <a:latin typeface="Verdana" pitchFamily="34" charset="0"/>
              </a:rPr>
              <a:t>        </a:t>
            </a:r>
            <a:r>
              <a:rPr lang="pt-BR" sz="1400" b="1" dirty="0">
                <a:latin typeface="Verdana" pitchFamily="34" charset="0"/>
              </a:rPr>
              <a:t>2</a:t>
            </a:r>
            <a:r>
              <a:rPr lang="pt-BR" sz="1400" b="1" dirty="0" smtClean="0">
                <a:latin typeface="Verdana" pitchFamily="34" charset="0"/>
              </a:rPr>
              <a:t>         </a:t>
            </a:r>
            <a:r>
              <a:rPr lang="pt-BR" sz="1400" b="1" dirty="0">
                <a:latin typeface="Verdana" pitchFamily="34" charset="0"/>
              </a:rPr>
              <a:t>3</a:t>
            </a:r>
            <a:r>
              <a:rPr lang="pt-BR" sz="1400" b="1" dirty="0" smtClean="0">
                <a:latin typeface="Verdana" pitchFamily="34" charset="0"/>
              </a:rPr>
              <a:t>        </a:t>
            </a:r>
            <a:r>
              <a:rPr lang="pt-BR" sz="1400" b="1" dirty="0">
                <a:latin typeface="Verdana" pitchFamily="34" charset="0"/>
              </a:rPr>
              <a:t>4</a:t>
            </a:r>
            <a:r>
              <a:rPr lang="pt-BR" sz="1400" b="1" dirty="0" smtClean="0">
                <a:latin typeface="Verdana" pitchFamily="34" charset="0"/>
              </a:rPr>
              <a:t>        </a:t>
            </a:r>
            <a:r>
              <a:rPr lang="pt-BR" sz="1400" b="1" dirty="0">
                <a:latin typeface="Verdana" pitchFamily="34" charset="0"/>
              </a:rPr>
              <a:t>5</a:t>
            </a:r>
            <a:r>
              <a:rPr lang="pt-BR" sz="1400" b="1" dirty="0" smtClean="0">
                <a:latin typeface="Verdana" pitchFamily="34" charset="0"/>
              </a:rPr>
              <a:t>        </a:t>
            </a:r>
            <a:r>
              <a:rPr lang="pt-BR" sz="1400" b="1" dirty="0">
                <a:latin typeface="Verdana" pitchFamily="34" charset="0"/>
              </a:rPr>
              <a:t>6</a:t>
            </a:r>
            <a:r>
              <a:rPr lang="pt-BR" sz="1400" b="1" dirty="0" smtClean="0">
                <a:latin typeface="Verdana" pitchFamily="34" charset="0"/>
              </a:rPr>
              <a:t>       </a:t>
            </a:r>
            <a:r>
              <a:rPr lang="pt-BR" sz="1400" b="1" dirty="0">
                <a:latin typeface="Verdana" pitchFamily="34" charset="0"/>
              </a:rPr>
              <a:t>7</a:t>
            </a:r>
            <a:r>
              <a:rPr lang="pt-BR" sz="1400" b="1" dirty="0" smtClean="0">
                <a:latin typeface="Verdana" pitchFamily="34" charset="0"/>
              </a:rPr>
              <a:t>        </a:t>
            </a:r>
            <a:r>
              <a:rPr lang="pt-BR" sz="1400" b="1" dirty="0">
                <a:latin typeface="Verdana" pitchFamily="34" charset="0"/>
              </a:rPr>
              <a:t>8</a:t>
            </a:r>
            <a:r>
              <a:rPr lang="pt-BR" sz="1400" b="1" dirty="0" smtClean="0">
                <a:latin typeface="Verdana" pitchFamily="34" charset="0"/>
              </a:rPr>
              <a:t>              37       38     39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57380" name="Text Box 36"/>
          <p:cNvSpPr txBox="1">
            <a:spLocks noChangeArrowheads="1"/>
          </p:cNvSpPr>
          <p:nvPr/>
        </p:nvSpPr>
        <p:spPr bwMode="auto">
          <a:xfrm>
            <a:off x="914400" y="1828800"/>
            <a:ext cx="73914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b="1" dirty="0" err="1">
                <a:latin typeface="Arial" charset="0"/>
                <a:cs typeface="Times New Roman" pitchFamily="18" charset="0"/>
              </a:rPr>
              <a:t>i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nt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A = 5;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valores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6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6.5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57381" name="Rectangle 37"/>
          <p:cNvSpPr>
            <a:spLocks noChangeArrowheads="1"/>
          </p:cNvSpPr>
          <p:nvPr/>
        </p:nvSpPr>
        <p:spPr bwMode="auto">
          <a:xfrm>
            <a:off x="42672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 dirty="0" smtClean="0">
                <a:latin typeface="Verdana" pitchFamily="34" charset="0"/>
              </a:rPr>
              <a:t>6.5</a:t>
            </a:r>
            <a:endParaRPr lang="pt-BR" sz="1600" b="1" dirty="0">
              <a:latin typeface="Verdana" pitchFamily="34" charset="0"/>
            </a:endParaRPr>
          </a:p>
        </p:txBody>
      </p:sp>
      <p:sp>
        <p:nvSpPr>
          <p:cNvPr id="57382" name="Rectangle 38"/>
          <p:cNvSpPr>
            <a:spLocks noChangeArrowheads="1"/>
          </p:cNvSpPr>
          <p:nvPr/>
        </p:nvSpPr>
        <p:spPr bwMode="auto">
          <a:xfrm>
            <a:off x="12192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 dirty="0" smtClean="0">
                <a:latin typeface="Verdana" pitchFamily="34" charset="0"/>
              </a:rPr>
              <a:t>7.8</a:t>
            </a:r>
            <a:endParaRPr lang="pt-BR" sz="1600" b="1" dirty="0">
              <a:latin typeface="Verdana" pitchFamily="34" charset="0"/>
            </a:endParaRPr>
          </a:p>
        </p:txBody>
      </p:sp>
      <p:sp>
        <p:nvSpPr>
          <p:cNvPr id="57383" name="Rectangle 39"/>
          <p:cNvSpPr>
            <a:spLocks noChangeArrowheads="1"/>
          </p:cNvSpPr>
          <p:nvPr/>
        </p:nvSpPr>
        <p:spPr bwMode="auto">
          <a:xfrm>
            <a:off x="24384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 dirty="0" smtClean="0">
                <a:latin typeface="Verdana" pitchFamily="34" charset="0"/>
              </a:rPr>
              <a:t>5.3</a:t>
            </a:r>
            <a:endParaRPr lang="pt-BR" sz="1600" b="1" dirty="0">
              <a:latin typeface="Verdana" pitchFamily="34" charset="0"/>
            </a:endParaRPr>
          </a:p>
        </p:txBody>
      </p:sp>
      <p:sp>
        <p:nvSpPr>
          <p:cNvPr id="57365" name="Text Box 40"/>
          <p:cNvSpPr txBox="1">
            <a:spLocks noChangeArrowheads="1"/>
          </p:cNvSpPr>
          <p:nvPr/>
        </p:nvSpPr>
        <p:spPr bwMode="auto">
          <a:xfrm>
            <a:off x="533400" y="47244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valores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57385" name="Text Box 41"/>
          <p:cNvSpPr txBox="1">
            <a:spLocks noChangeArrowheads="1"/>
          </p:cNvSpPr>
          <p:nvPr/>
        </p:nvSpPr>
        <p:spPr bwMode="auto">
          <a:xfrm>
            <a:off x="914400" y="24384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valores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dirty="0">
                <a:latin typeface="Arial" charset="0"/>
                <a:cs typeface="Times New Roman" pitchFamily="18" charset="0"/>
              </a:rPr>
              <a:t>1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7.8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57386" name="Text Box 42"/>
          <p:cNvSpPr txBox="1">
            <a:spLocks noChangeArrowheads="1"/>
          </p:cNvSpPr>
          <p:nvPr/>
        </p:nvSpPr>
        <p:spPr bwMode="auto">
          <a:xfrm>
            <a:off x="914400" y="27066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valores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3 </a:t>
            </a:r>
            <a:r>
              <a:rPr lang="pt-BR" sz="1800" dirty="0">
                <a:latin typeface="Arial" charset="0"/>
                <a:cs typeface="Times New Roman" pitchFamily="18" charset="0"/>
              </a:rPr>
              <a:t>]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5.3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57391" name="Text Box 47"/>
          <p:cNvSpPr txBox="1">
            <a:spLocks noChangeArrowheads="1"/>
          </p:cNvSpPr>
          <p:nvPr/>
        </p:nvSpPr>
        <p:spPr bwMode="auto">
          <a:xfrm>
            <a:off x="914400" y="32400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valores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A ]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9.8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57392" name="Text Box 48"/>
          <p:cNvSpPr txBox="1">
            <a:spLocks noChangeArrowheads="1"/>
          </p:cNvSpPr>
          <p:nvPr/>
        </p:nvSpPr>
        <p:spPr bwMode="auto">
          <a:xfrm>
            <a:off x="914400" y="3505200"/>
            <a:ext cx="7391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valores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A-1 ]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9.1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57393" name="Text Box 49"/>
          <p:cNvSpPr txBox="1">
            <a:spLocks noChangeArrowheads="1"/>
          </p:cNvSpPr>
          <p:nvPr/>
        </p:nvSpPr>
        <p:spPr bwMode="auto">
          <a:xfrm>
            <a:off x="914400" y="3773488"/>
            <a:ext cx="7391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 dirty="0">
                <a:latin typeface="Arial" charset="0"/>
                <a:cs typeface="Times New Roman" pitchFamily="18" charset="0"/>
              </a:rPr>
              <a:t>leia </a:t>
            </a:r>
            <a:r>
              <a:rPr lang="pt-BR" sz="1800" dirty="0">
                <a:latin typeface="Arial" charset="0"/>
                <a:cs typeface="Times New Roman" pitchFamily="18" charset="0"/>
              </a:rPr>
              <a:t>(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valores </a:t>
            </a:r>
            <a:r>
              <a:rPr lang="pt-BR" sz="1800" dirty="0">
                <a:latin typeface="Arial" charset="0"/>
                <a:cs typeface="Times New Roman" pitchFamily="18" charset="0"/>
              </a:rPr>
              <a:t>[ A+3 ] ); </a:t>
            </a:r>
            <a:r>
              <a:rPr lang="pt-BR" sz="1800" dirty="0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// </a:t>
            </a:r>
            <a:r>
              <a:rPr lang="pt-BR" sz="1800" i="1" dirty="0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supondo que foi informado </a:t>
            </a:r>
            <a:r>
              <a:rPr lang="pt-BR" sz="1800" i="1" dirty="0" smtClean="0">
                <a:solidFill>
                  <a:srgbClr val="000099"/>
                </a:solidFill>
                <a:latin typeface="Arial" charset="0"/>
                <a:cs typeface="Times New Roman" pitchFamily="18" charset="0"/>
              </a:rPr>
              <a:t>4.7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57396" name="Rectangle 52"/>
          <p:cNvSpPr>
            <a:spLocks noChangeArrowheads="1"/>
          </p:cNvSpPr>
          <p:nvPr/>
        </p:nvSpPr>
        <p:spPr bwMode="auto">
          <a:xfrm>
            <a:off x="36576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 dirty="0" smtClean="0">
                <a:latin typeface="Verdana" pitchFamily="34" charset="0"/>
              </a:rPr>
              <a:t>9.8</a:t>
            </a:r>
            <a:endParaRPr lang="pt-BR" sz="1600" b="1" dirty="0">
              <a:latin typeface="Verdana" pitchFamily="34" charset="0"/>
            </a:endParaRPr>
          </a:p>
        </p:txBody>
      </p:sp>
      <p:sp>
        <p:nvSpPr>
          <p:cNvPr id="57397" name="Rectangle 53"/>
          <p:cNvSpPr>
            <a:spLocks noChangeArrowheads="1"/>
          </p:cNvSpPr>
          <p:nvPr/>
        </p:nvSpPr>
        <p:spPr bwMode="auto">
          <a:xfrm>
            <a:off x="30480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 dirty="0" smtClean="0">
                <a:latin typeface="Verdana" pitchFamily="34" charset="0"/>
              </a:rPr>
              <a:t>9.1</a:t>
            </a:r>
            <a:endParaRPr lang="pt-BR" sz="1600" b="1" dirty="0">
              <a:latin typeface="Verdana" pitchFamily="34" charset="0"/>
            </a:endParaRPr>
          </a:p>
        </p:txBody>
      </p:sp>
      <p:sp>
        <p:nvSpPr>
          <p:cNvPr id="57398" name="Rectangle 54"/>
          <p:cNvSpPr>
            <a:spLocks noChangeArrowheads="1"/>
          </p:cNvSpPr>
          <p:nvPr/>
        </p:nvSpPr>
        <p:spPr bwMode="auto">
          <a:xfrm>
            <a:off x="5486400" y="5029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 dirty="0" smtClean="0">
                <a:latin typeface="Verdana" pitchFamily="34" charset="0"/>
              </a:rPr>
              <a:t>4.7</a:t>
            </a:r>
            <a:endParaRPr lang="pt-BR" sz="1600" b="1" dirty="0"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61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7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7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7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80" grpId="0" build="p" autoUpdateAnimBg="0"/>
      <p:bldP spid="57381" grpId="0" animBg="1" autoUpdateAnimBg="0"/>
      <p:bldP spid="57382" grpId="0" animBg="1" autoUpdateAnimBg="0"/>
      <p:bldP spid="57383" grpId="0" animBg="1" autoUpdateAnimBg="0"/>
      <p:bldP spid="57385" grpId="0" build="p" autoUpdateAnimBg="0"/>
      <p:bldP spid="57386" grpId="0" build="p" autoUpdateAnimBg="0"/>
      <p:bldP spid="57391" grpId="0" build="p" autoUpdateAnimBg="0"/>
      <p:bldP spid="57392" grpId="0" build="p" autoUpdateAnimBg="0"/>
      <p:bldP spid="57393" grpId="0" build="p" autoUpdateAnimBg="0"/>
      <p:bldP spid="57396" grpId="0" animBg="1" autoUpdateAnimBg="0"/>
      <p:bldP spid="57397" grpId="0" animBg="1" autoUpdateAnimBg="0"/>
      <p:bldP spid="57398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Vetores - </a:t>
            </a:r>
            <a:r>
              <a:rPr lang="pt-BR" sz="3100" dirty="0">
                <a:latin typeface="Arial" charset="0"/>
                <a:cs typeface="Times New Roman" pitchFamily="18" charset="0"/>
              </a:rPr>
              <a:t>Notas acima da média usando </a:t>
            </a:r>
            <a:r>
              <a:rPr lang="pt-BR" sz="3100" dirty="0" smtClean="0">
                <a:latin typeface="Arial" charset="0"/>
                <a:cs typeface="Times New Roman" pitchFamily="18" charset="0"/>
              </a:rPr>
              <a:t>vetor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228600" y="1556792"/>
            <a:ext cx="8610600" cy="3928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float</a:t>
            </a:r>
            <a:r>
              <a:rPr lang="pt-BR" sz="1800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 notas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[10];</a:t>
            </a:r>
            <a:endParaRPr lang="pt-BR" sz="1800" dirty="0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NotaAcima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;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float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Soma,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Media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Soma </a:t>
            </a:r>
            <a:r>
              <a:rPr lang="pt-BR" sz="1800" dirty="0" smtClean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err="1">
                <a:latin typeface="Arial" charset="0"/>
                <a:cs typeface="Times New Roman" pitchFamily="18" charset="0"/>
              </a:rPr>
              <a:t>NotaAcima</a:t>
            </a:r>
            <a:r>
              <a:rPr lang="pt-BR" sz="1800" dirty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 0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  <a:endParaRPr lang="pt-BR" sz="1800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for(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X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=0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; X &lt; 10; X++){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&gt;&gt;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notas[X];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Soma=Soma </a:t>
            </a:r>
            <a:r>
              <a:rPr lang="pt-BR" sz="1800" dirty="0">
                <a:latin typeface="Arial" charset="0"/>
                <a:cs typeface="Times New Roman" pitchFamily="18" charset="0"/>
              </a:rPr>
              <a:t>+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notas[X</a:t>
            </a:r>
            <a:r>
              <a:rPr lang="pt-BR" sz="1800" dirty="0">
                <a:latin typeface="Arial" charset="0"/>
                <a:cs typeface="Times New Roman" pitchFamily="18" charset="0"/>
              </a:rPr>
              <a:t>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dirty="0">
                <a:latin typeface="Arial" charset="0"/>
                <a:cs typeface="Times New Roman" pitchFamily="18" charset="0"/>
              </a:rPr>
              <a:t>M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edia = </a:t>
            </a:r>
            <a:r>
              <a:rPr lang="pt-BR" sz="1800" dirty="0">
                <a:latin typeface="Arial" charset="0"/>
                <a:cs typeface="Times New Roman" pitchFamily="18" charset="0"/>
              </a:rPr>
              <a:t>Soma / 10;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for(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X=0; X&lt;10; X++){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if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(notas[X</a:t>
            </a:r>
            <a:r>
              <a:rPr lang="pt-BR" sz="1800" dirty="0">
                <a:latin typeface="Arial" charset="0"/>
                <a:cs typeface="Times New Roman" pitchFamily="18" charset="0"/>
              </a:rPr>
              <a:t>] &gt; Média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){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	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NotaAcima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NotaAcima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+ 1;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}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NotaAcima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;</a:t>
            </a:r>
            <a:endParaRPr lang="pt-BR" sz="1800" dirty="0"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20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37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Também denominadas:</a:t>
            </a:r>
          </a:p>
          <a:p>
            <a:pPr marL="731520" lvl="1">
              <a:buFont typeface="Wingdings"/>
              <a:buChar char=""/>
              <a:defRPr/>
            </a:pPr>
            <a:r>
              <a:rPr lang="pt-BR" sz="2100" dirty="0" smtClean="0"/>
              <a:t>Estruturas compostas homogêneas </a:t>
            </a:r>
            <a:r>
              <a:rPr lang="pt-BR" sz="2100" b="1" dirty="0" smtClean="0"/>
              <a:t>multi</a:t>
            </a:r>
            <a:r>
              <a:rPr lang="pt-BR" sz="2100" dirty="0" smtClean="0"/>
              <a:t>dimensionais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Permitem a manipulação de um conjunto de informações de um mesmo tipo primitivo.</a:t>
            </a:r>
          </a:p>
          <a:p>
            <a:pPr marL="411480" fontAlgn="auto">
              <a:spcAft>
                <a:spcPts val="0"/>
              </a:spcAft>
              <a:buFont typeface="Wingdings"/>
              <a:buChar char=""/>
              <a:defRPr/>
            </a:pPr>
            <a:r>
              <a:rPr lang="pt-BR" sz="2400" dirty="0" smtClean="0"/>
              <a:t>Exemplo: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b="1" dirty="0" err="1" smtClean="0"/>
              <a:t>int</a:t>
            </a:r>
            <a:r>
              <a:rPr lang="pt-BR" sz="1800" dirty="0" smtClean="0"/>
              <a:t> SALA[4][4];</a:t>
            </a:r>
          </a:p>
          <a:p>
            <a:pPr marL="996696" lvl="2" fontAlgn="auto">
              <a:spcAft>
                <a:spcPts val="0"/>
              </a:spcAft>
              <a:buFont typeface="Wingdings 3" pitchFamily="18" charset="2"/>
              <a:buNone/>
              <a:defRPr/>
            </a:pPr>
            <a:r>
              <a:rPr lang="pt-BR" sz="1800" dirty="0" smtClean="0"/>
              <a:t>Onde: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SALA: Nome da matriz 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smtClean="0"/>
              <a:t>4: Capacidade da primeira e da segunda dimensão</a:t>
            </a:r>
          </a:p>
          <a:p>
            <a:pPr marL="996696" lvl="2" fontAlgn="auto">
              <a:spcAft>
                <a:spcPts val="0"/>
              </a:spcAft>
              <a:buFont typeface="Wingdings 2"/>
              <a:buChar char=""/>
              <a:defRPr/>
            </a:pPr>
            <a:r>
              <a:rPr lang="pt-BR" sz="1800" dirty="0" err="1" smtClean="0"/>
              <a:t>int</a:t>
            </a:r>
            <a:r>
              <a:rPr lang="pt-BR" sz="1800" dirty="0" smtClean="0"/>
              <a:t>: Tipo primitivo base da matriz</a:t>
            </a:r>
          </a:p>
        </p:txBody>
      </p:sp>
    </p:spTree>
    <p:extLst>
      <p:ext uri="{BB962C8B-B14F-4D97-AF65-F5344CB8AC3E}">
        <p14:creationId xmlns:p14="http://schemas.microsoft.com/office/powerpoint/2010/main" val="468788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371600"/>
            <a:ext cx="8839200" cy="498475"/>
          </a:xfrm>
        </p:spPr>
        <p:txBody>
          <a:bodyPr/>
          <a:lstStyle/>
          <a:p>
            <a:pPr lvl="1"/>
            <a:r>
              <a:rPr lang="pt-BR" dirty="0" smtClean="0"/>
              <a:t>Manipulação: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62484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68580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74676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8077200" y="20574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62484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68580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74676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1" name="Rectangle 11"/>
          <p:cNvSpPr>
            <a:spLocks noChangeArrowheads="1"/>
          </p:cNvSpPr>
          <p:nvPr/>
        </p:nvSpPr>
        <p:spPr bwMode="auto">
          <a:xfrm>
            <a:off x="8077200" y="25908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62484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68580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74676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8077200" y="31242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56" name="Text Box 16"/>
          <p:cNvSpPr txBox="1">
            <a:spLocks noChangeArrowheads="1"/>
          </p:cNvSpPr>
          <p:nvPr/>
        </p:nvSpPr>
        <p:spPr bwMode="auto">
          <a:xfrm>
            <a:off x="6096000" y="1752600"/>
            <a:ext cx="259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dirty="0">
                <a:latin typeface="Verdana" pitchFamily="34" charset="0"/>
              </a:rPr>
              <a:t>     </a:t>
            </a:r>
            <a:r>
              <a:rPr lang="pt-BR" sz="1400" b="1" dirty="0">
                <a:latin typeface="Verdana" pitchFamily="34" charset="0"/>
              </a:rPr>
              <a:t>0</a:t>
            </a:r>
            <a:r>
              <a:rPr lang="pt-BR" sz="1400" b="1" dirty="0" smtClean="0">
                <a:latin typeface="Verdana" pitchFamily="34" charset="0"/>
              </a:rPr>
              <a:t>       1        2        3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0433" name="Text Box 17"/>
          <p:cNvSpPr txBox="1">
            <a:spLocks noChangeArrowheads="1"/>
          </p:cNvSpPr>
          <p:nvPr/>
        </p:nvSpPr>
        <p:spPr bwMode="auto">
          <a:xfrm>
            <a:off x="914400" y="1828800"/>
            <a:ext cx="5105400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A, B;</a:t>
            </a:r>
          </a:p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[1][2] </a:t>
            </a:r>
            <a:r>
              <a:rPr lang="pt-BR" sz="1800" dirty="0" smtClean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5;</a:t>
            </a:r>
          </a:p>
        </p:txBody>
      </p:sp>
      <p:sp>
        <p:nvSpPr>
          <p:cNvPr id="61458" name="Text Box 21"/>
          <p:cNvSpPr txBox="1">
            <a:spLocks noChangeArrowheads="1"/>
          </p:cNvSpPr>
          <p:nvPr/>
        </p:nvSpPr>
        <p:spPr bwMode="auto">
          <a:xfrm>
            <a:off x="6172200" y="1447800"/>
            <a:ext cx="1143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SALA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0438" name="Text Box 22"/>
          <p:cNvSpPr txBox="1">
            <a:spLocks noChangeArrowheads="1"/>
          </p:cNvSpPr>
          <p:nvPr/>
        </p:nvSpPr>
        <p:spPr bwMode="auto">
          <a:xfrm>
            <a:off x="914400" y="2438400"/>
            <a:ext cx="518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[2][1]= </a:t>
            </a:r>
            <a:r>
              <a:rPr lang="pt-BR" sz="1800" dirty="0">
                <a:latin typeface="Arial" charset="0"/>
                <a:cs typeface="Times New Roman" pitchFamily="18" charset="0"/>
              </a:rPr>
              <a:t>6;</a:t>
            </a:r>
          </a:p>
        </p:txBody>
      </p:sp>
      <p:sp>
        <p:nvSpPr>
          <p:cNvPr id="60439" name="Text Box 23"/>
          <p:cNvSpPr txBox="1">
            <a:spLocks noChangeArrowheads="1"/>
          </p:cNvSpPr>
          <p:nvPr/>
        </p:nvSpPr>
        <p:spPr bwMode="auto">
          <a:xfrm>
            <a:off x="914400" y="2706688"/>
            <a:ext cx="51816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[0][1]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7;</a:t>
            </a:r>
          </a:p>
        </p:txBody>
      </p:sp>
      <p:sp>
        <p:nvSpPr>
          <p:cNvPr id="60440" name="Text Box 24"/>
          <p:cNvSpPr txBox="1">
            <a:spLocks noChangeArrowheads="1"/>
          </p:cNvSpPr>
          <p:nvPr/>
        </p:nvSpPr>
        <p:spPr bwMode="auto">
          <a:xfrm>
            <a:off x="914400" y="29718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>
                <a:latin typeface="Arial" charset="0"/>
                <a:cs typeface="Times New Roman" pitchFamily="18" charset="0"/>
              </a:rPr>
              <a:t>A </a:t>
            </a:r>
            <a:r>
              <a:rPr lang="pt-BR" dirty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3;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60441" name="Text Box 25"/>
          <p:cNvSpPr txBox="1">
            <a:spLocks noChangeArrowheads="1"/>
          </p:cNvSpPr>
          <p:nvPr/>
        </p:nvSpPr>
        <p:spPr bwMode="auto">
          <a:xfrm>
            <a:off x="914400" y="34544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[A][B]= </a:t>
            </a:r>
            <a:r>
              <a:rPr lang="pt-BR" sz="1800" dirty="0">
                <a:latin typeface="Arial" charset="0"/>
                <a:cs typeface="Times New Roman" pitchFamily="18" charset="0"/>
              </a:rPr>
              <a:t>8;</a:t>
            </a:r>
          </a:p>
        </p:txBody>
      </p:sp>
      <p:sp>
        <p:nvSpPr>
          <p:cNvPr id="60442" name="Text Box 26"/>
          <p:cNvSpPr txBox="1">
            <a:spLocks noChangeArrowheads="1"/>
          </p:cNvSpPr>
          <p:nvPr/>
        </p:nvSpPr>
        <p:spPr bwMode="auto">
          <a:xfrm>
            <a:off x="914400" y="3719513"/>
            <a:ext cx="525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[A][B-2]= </a:t>
            </a:r>
            <a:r>
              <a:rPr lang="pt-BR" sz="1800" dirty="0">
                <a:latin typeface="Arial" charset="0"/>
                <a:cs typeface="Times New Roman" pitchFamily="18" charset="0"/>
              </a:rPr>
              <a:t>9;</a:t>
            </a:r>
          </a:p>
        </p:txBody>
      </p:sp>
      <p:sp>
        <p:nvSpPr>
          <p:cNvPr id="60443" name="Text Box 27"/>
          <p:cNvSpPr txBox="1">
            <a:spLocks noChangeArrowheads="1"/>
          </p:cNvSpPr>
          <p:nvPr/>
        </p:nvSpPr>
        <p:spPr bwMode="auto">
          <a:xfrm>
            <a:off x="914400" y="39878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[A-2][B-2]= </a:t>
            </a:r>
            <a:r>
              <a:rPr lang="pt-BR" sz="1800" dirty="0">
                <a:latin typeface="Arial" charset="0"/>
                <a:cs typeface="Times New Roman" pitchFamily="18" charset="0"/>
              </a:rPr>
              <a:t>10;</a:t>
            </a:r>
          </a:p>
        </p:txBody>
      </p:sp>
      <p:sp>
        <p:nvSpPr>
          <p:cNvPr id="61465" name="Rectangle 31"/>
          <p:cNvSpPr>
            <a:spLocks noChangeArrowheads="1"/>
          </p:cNvSpPr>
          <p:nvPr/>
        </p:nvSpPr>
        <p:spPr bwMode="auto">
          <a:xfrm>
            <a:off x="62484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6" name="Rectangle 32"/>
          <p:cNvSpPr>
            <a:spLocks noChangeArrowheads="1"/>
          </p:cNvSpPr>
          <p:nvPr/>
        </p:nvSpPr>
        <p:spPr bwMode="auto">
          <a:xfrm>
            <a:off x="68580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7" name="Rectangle 33"/>
          <p:cNvSpPr>
            <a:spLocks noChangeArrowheads="1"/>
          </p:cNvSpPr>
          <p:nvPr/>
        </p:nvSpPr>
        <p:spPr bwMode="auto">
          <a:xfrm>
            <a:off x="74676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8" name="Rectangle 34"/>
          <p:cNvSpPr>
            <a:spLocks noChangeArrowheads="1"/>
          </p:cNvSpPr>
          <p:nvPr/>
        </p:nvSpPr>
        <p:spPr bwMode="auto">
          <a:xfrm>
            <a:off x="8077200" y="3657600"/>
            <a:ext cx="609600" cy="533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/>
          </a:p>
        </p:txBody>
      </p:sp>
      <p:sp>
        <p:nvSpPr>
          <p:cNvPr id="61469" name="Text Box 35"/>
          <p:cNvSpPr txBox="1">
            <a:spLocks noChangeArrowheads="1"/>
          </p:cNvSpPr>
          <p:nvPr/>
        </p:nvSpPr>
        <p:spPr bwMode="auto">
          <a:xfrm>
            <a:off x="5943600" y="2209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0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1470" name="Text Box 36"/>
          <p:cNvSpPr txBox="1">
            <a:spLocks noChangeArrowheads="1"/>
          </p:cNvSpPr>
          <p:nvPr/>
        </p:nvSpPr>
        <p:spPr bwMode="auto">
          <a:xfrm>
            <a:off x="5943600" y="26670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 smtClean="0">
                <a:latin typeface="Verdana" pitchFamily="34" charset="0"/>
              </a:rPr>
              <a:t>1</a:t>
            </a:r>
            <a:endParaRPr lang="pt-BR" sz="1400" b="1" dirty="0">
              <a:latin typeface="Verdana" pitchFamily="34" charset="0"/>
            </a:endParaRPr>
          </a:p>
        </p:txBody>
      </p:sp>
      <p:sp>
        <p:nvSpPr>
          <p:cNvPr id="61471" name="Text Box 37"/>
          <p:cNvSpPr txBox="1">
            <a:spLocks noChangeArrowheads="1"/>
          </p:cNvSpPr>
          <p:nvPr/>
        </p:nvSpPr>
        <p:spPr bwMode="auto">
          <a:xfrm>
            <a:off x="5943600" y="32004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>
                <a:latin typeface="Verdana" pitchFamily="34" charset="0"/>
              </a:rPr>
              <a:t>2</a:t>
            </a:r>
          </a:p>
        </p:txBody>
      </p:sp>
      <p:sp>
        <p:nvSpPr>
          <p:cNvPr id="61472" name="Text Box 38"/>
          <p:cNvSpPr txBox="1">
            <a:spLocks noChangeArrowheads="1"/>
          </p:cNvSpPr>
          <p:nvPr/>
        </p:nvSpPr>
        <p:spPr bwMode="auto">
          <a:xfrm>
            <a:off x="5943600" y="3733800"/>
            <a:ext cx="304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dirty="0">
                <a:latin typeface="Verdana" pitchFamily="34" charset="0"/>
              </a:rPr>
              <a:t>3</a:t>
            </a:r>
          </a:p>
        </p:txBody>
      </p:sp>
      <p:sp>
        <p:nvSpPr>
          <p:cNvPr id="60456" name="Rectangle 40"/>
          <p:cNvSpPr>
            <a:spLocks noChangeArrowheads="1"/>
          </p:cNvSpPr>
          <p:nvPr/>
        </p:nvSpPr>
        <p:spPr bwMode="auto">
          <a:xfrm>
            <a:off x="7467600" y="25908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5</a:t>
            </a:r>
          </a:p>
        </p:txBody>
      </p:sp>
      <p:sp>
        <p:nvSpPr>
          <p:cNvPr id="60457" name="Rectangle 41"/>
          <p:cNvSpPr>
            <a:spLocks noChangeArrowheads="1"/>
          </p:cNvSpPr>
          <p:nvPr/>
        </p:nvSpPr>
        <p:spPr bwMode="auto">
          <a:xfrm>
            <a:off x="6858000" y="3124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6</a:t>
            </a:r>
          </a:p>
        </p:txBody>
      </p:sp>
      <p:sp>
        <p:nvSpPr>
          <p:cNvPr id="60458" name="Rectangle 42"/>
          <p:cNvSpPr>
            <a:spLocks noChangeArrowheads="1"/>
          </p:cNvSpPr>
          <p:nvPr/>
        </p:nvSpPr>
        <p:spPr bwMode="auto">
          <a:xfrm>
            <a:off x="6858000" y="20574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7</a:t>
            </a:r>
          </a:p>
        </p:txBody>
      </p:sp>
      <p:sp>
        <p:nvSpPr>
          <p:cNvPr id="60459" name="Rectangle 43"/>
          <p:cNvSpPr>
            <a:spLocks noChangeArrowheads="1"/>
          </p:cNvSpPr>
          <p:nvPr/>
        </p:nvSpPr>
        <p:spPr bwMode="auto">
          <a:xfrm>
            <a:off x="7467600" y="36576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8</a:t>
            </a:r>
          </a:p>
        </p:txBody>
      </p:sp>
      <p:sp>
        <p:nvSpPr>
          <p:cNvPr id="60460" name="Rectangle 44"/>
          <p:cNvSpPr>
            <a:spLocks noChangeArrowheads="1"/>
          </p:cNvSpPr>
          <p:nvPr/>
        </p:nvSpPr>
        <p:spPr bwMode="auto">
          <a:xfrm>
            <a:off x="6248400" y="36576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9</a:t>
            </a:r>
          </a:p>
        </p:txBody>
      </p:sp>
      <p:sp>
        <p:nvSpPr>
          <p:cNvPr id="60461" name="Rectangle 45"/>
          <p:cNvSpPr>
            <a:spLocks noChangeArrowheads="1"/>
          </p:cNvSpPr>
          <p:nvPr/>
        </p:nvSpPr>
        <p:spPr bwMode="auto">
          <a:xfrm>
            <a:off x="6248400" y="25908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10</a:t>
            </a:r>
          </a:p>
        </p:txBody>
      </p:sp>
      <p:sp>
        <p:nvSpPr>
          <p:cNvPr id="60462" name="Rectangle 46"/>
          <p:cNvSpPr>
            <a:spLocks noChangeArrowheads="1"/>
          </p:cNvSpPr>
          <p:nvPr/>
        </p:nvSpPr>
        <p:spPr bwMode="auto">
          <a:xfrm>
            <a:off x="8077200" y="31242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11</a:t>
            </a:r>
          </a:p>
        </p:txBody>
      </p:sp>
      <p:sp>
        <p:nvSpPr>
          <p:cNvPr id="60463" name="Rectangle 47"/>
          <p:cNvSpPr>
            <a:spLocks noChangeArrowheads="1"/>
          </p:cNvSpPr>
          <p:nvPr/>
        </p:nvSpPr>
        <p:spPr bwMode="auto">
          <a:xfrm>
            <a:off x="8077200" y="2057400"/>
            <a:ext cx="609600" cy="533400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pt-BR" sz="1600" b="1">
                <a:latin typeface="Verdana" pitchFamily="34" charset="0"/>
              </a:rPr>
              <a:t>12</a:t>
            </a:r>
          </a:p>
        </p:txBody>
      </p:sp>
      <p:sp>
        <p:nvSpPr>
          <p:cNvPr id="60464" name="Text Box 48"/>
          <p:cNvSpPr txBox="1">
            <a:spLocks noChangeArrowheads="1"/>
          </p:cNvSpPr>
          <p:nvPr/>
        </p:nvSpPr>
        <p:spPr bwMode="auto">
          <a:xfrm>
            <a:off x="914400" y="4252913"/>
            <a:ext cx="525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[B][A] =11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60465" name="Text Box 49"/>
          <p:cNvSpPr txBox="1">
            <a:spLocks noChangeArrowheads="1"/>
          </p:cNvSpPr>
          <p:nvPr/>
        </p:nvSpPr>
        <p:spPr bwMode="auto">
          <a:xfrm>
            <a:off x="914400" y="4521200"/>
            <a:ext cx="525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SALA [B-2][A] =12</a:t>
            </a:r>
            <a:r>
              <a:rPr lang="pt-BR" sz="1800" dirty="0">
                <a:latin typeface="Arial" charset="0"/>
                <a:cs typeface="Times New Roman" pitchFamily="18" charset="0"/>
              </a:rPr>
              <a:t>;</a:t>
            </a:r>
          </a:p>
        </p:txBody>
      </p:sp>
      <p:sp>
        <p:nvSpPr>
          <p:cNvPr id="60466" name="Text Box 50"/>
          <p:cNvSpPr txBox="1">
            <a:spLocks noChangeArrowheads="1"/>
          </p:cNvSpPr>
          <p:nvPr/>
        </p:nvSpPr>
        <p:spPr bwMode="auto">
          <a:xfrm>
            <a:off x="914400" y="3200400"/>
            <a:ext cx="510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Font typeface="Wingdings 3" pitchFamily="18" charset="2"/>
              <a:buNone/>
            </a:pPr>
            <a:r>
              <a:rPr lang="pt-BR" sz="1800" dirty="0">
                <a:latin typeface="Arial" charset="0"/>
                <a:cs typeface="Times New Roman" pitchFamily="18" charset="0"/>
              </a:rPr>
              <a:t>B </a:t>
            </a:r>
            <a:r>
              <a:rPr lang="pt-BR" sz="1800" dirty="0" smtClean="0">
                <a:latin typeface="Symbol" pitchFamily="18" charset="2"/>
                <a:cs typeface="Times New Roman" pitchFamily="18" charset="0"/>
              </a:rPr>
              <a:t>=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2;</a:t>
            </a:r>
            <a:endParaRPr lang="pt-BR" sz="1800" i="1" dirty="0">
              <a:solidFill>
                <a:srgbClr val="000099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16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6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6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3" grpId="0" build="p" autoUpdateAnimBg="0"/>
      <p:bldP spid="60438" grpId="0" build="p" autoUpdateAnimBg="0"/>
      <p:bldP spid="60439" grpId="0" build="p" autoUpdateAnimBg="0"/>
      <p:bldP spid="60440" grpId="0" build="p" autoUpdateAnimBg="0"/>
      <p:bldP spid="60441" grpId="0" build="p" autoUpdateAnimBg="0"/>
      <p:bldP spid="60442" grpId="0" build="p" autoUpdateAnimBg="0"/>
      <p:bldP spid="60443" grpId="0" build="p" autoUpdateAnimBg="0"/>
      <p:bldP spid="60456" grpId="0" animBg="1" autoUpdateAnimBg="0"/>
      <p:bldP spid="60457" grpId="0" animBg="1" autoUpdateAnimBg="0"/>
      <p:bldP spid="60458" grpId="0" animBg="1" autoUpdateAnimBg="0"/>
      <p:bldP spid="60459" grpId="0" animBg="1" autoUpdateAnimBg="0"/>
      <p:bldP spid="60460" grpId="0" animBg="1" autoUpdateAnimBg="0"/>
      <p:bldP spid="60461" grpId="0" animBg="1" autoUpdateAnimBg="0"/>
      <p:bldP spid="60462" grpId="0" animBg="1" autoUpdateAnimBg="0"/>
      <p:bldP spid="60463" grpId="0" animBg="1" autoUpdateAnimBg="0"/>
      <p:bldP spid="60464" grpId="0" build="p" autoUpdateAnimBg="0"/>
      <p:bldP spid="60465" grpId="0" build="p" autoUpdateAnimBg="0"/>
      <p:bldP spid="60466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Matrizes – </a:t>
            </a:r>
            <a:r>
              <a:rPr lang="pt-BR" sz="3200" dirty="0" smtClean="0">
                <a:solidFill>
                  <a:schemeClr val="tx2">
                    <a:satMod val="200000"/>
                  </a:schemeClr>
                </a:solidFill>
              </a:rPr>
              <a:t>Temperatura Semanal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float</a:t>
            </a:r>
            <a:r>
              <a:rPr lang="pt-BR" sz="1800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sz="1800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temperatura [7][3];</a:t>
            </a:r>
            <a:endParaRPr lang="pt-BR" sz="1800" dirty="0">
              <a:solidFill>
                <a:srgbClr val="333333"/>
              </a:solidFill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		</a:t>
            </a:r>
            <a:r>
              <a:rPr lang="pt-BR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float</a:t>
            </a:r>
            <a:r>
              <a:rPr lang="pt-BR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</a:t>
            </a:r>
            <a:r>
              <a:rPr lang="pt-BR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minima</a:t>
            </a:r>
            <a:r>
              <a:rPr lang="pt-BR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, </a:t>
            </a:r>
            <a:r>
              <a:rPr lang="pt-BR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maxima</a:t>
            </a:r>
            <a:r>
              <a:rPr lang="pt-BR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, media;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minima</a:t>
            </a:r>
            <a:r>
              <a:rPr lang="pt-BR" sz="1800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 = 99;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b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b="1" dirty="0" err="1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maxima</a:t>
            </a:r>
            <a:r>
              <a:rPr lang="pt-BR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 = -99;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1800" b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media = 0;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for(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int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sz="1800" dirty="0">
                <a:latin typeface="Arial" charset="0"/>
                <a:cs typeface="Times New Roman" pitchFamily="18" charset="0"/>
              </a:rPr>
              <a:t>J 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=0 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;</a:t>
            </a:r>
            <a:r>
              <a:rPr lang="pt-BR" dirty="0">
                <a:latin typeface="Arial" charset="0"/>
                <a:cs typeface="Times New Roman" pitchFamily="18" charset="0"/>
              </a:rPr>
              <a:t>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J&lt;7; J++){</a:t>
            </a:r>
            <a:endParaRPr lang="pt-BR" sz="1800" b="1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>
                <a:latin typeface="Arial" charset="0"/>
                <a:cs typeface="Times New Roman" pitchFamily="18" charset="0"/>
              </a:rPr>
              <a:t>			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cin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&gt;&gt; temperatura[J][0] ; //Temperatura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minima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do dia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b="1" dirty="0">
                <a:latin typeface="Arial" charset="0"/>
                <a:cs typeface="Times New Roman" pitchFamily="18" charset="0"/>
              </a:rPr>
              <a:t>			</a:t>
            </a:r>
            <a:r>
              <a:rPr lang="pt-BR" dirty="0" err="1">
                <a:latin typeface="Arial" charset="0"/>
                <a:cs typeface="Times New Roman" pitchFamily="18" charset="0"/>
              </a:rPr>
              <a:t>cin</a:t>
            </a:r>
            <a:r>
              <a:rPr lang="pt-BR" dirty="0">
                <a:latin typeface="Arial" charset="0"/>
                <a:cs typeface="Times New Roman" pitchFamily="18" charset="0"/>
              </a:rPr>
              <a:t> &gt;&gt; temperatura[J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][1] </a:t>
            </a:r>
            <a:r>
              <a:rPr lang="pt-BR" dirty="0">
                <a:latin typeface="Arial" charset="0"/>
                <a:cs typeface="Times New Roman" pitchFamily="18" charset="0"/>
              </a:rPr>
              <a:t>; //Temperatura 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maxima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do dia</a:t>
            </a:r>
            <a:endParaRPr lang="pt-BR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			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temperatura[J][2]  = (</a:t>
            </a:r>
            <a:r>
              <a:rPr lang="pt-BR" dirty="0">
                <a:latin typeface="Arial" charset="0"/>
                <a:cs typeface="Times New Roman" pitchFamily="18" charset="0"/>
              </a:rPr>
              <a:t>temperatura[J][0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 + </a:t>
            </a:r>
            <a:r>
              <a:rPr lang="pt-BR" dirty="0">
                <a:latin typeface="Arial" charset="0"/>
                <a:cs typeface="Times New Roman" pitchFamily="18" charset="0"/>
              </a:rPr>
              <a:t>temperatura[J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][1]) /2;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b="1" dirty="0" smtClean="0">
                <a:latin typeface="Arial" charset="0"/>
                <a:cs typeface="Times New Roman" pitchFamily="18" charset="0"/>
              </a:rPr>
              <a:t>			</a:t>
            </a:r>
            <a:r>
              <a:rPr lang="pt-BR" sz="1800" b="1" dirty="0" err="1" smtClean="0">
                <a:latin typeface="Arial" charset="0"/>
                <a:cs typeface="Times New Roman" pitchFamily="18" charset="0"/>
              </a:rPr>
              <a:t>if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(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temperatura[J][0] &lt;=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minima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)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minima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r>
              <a:rPr lang="pt-BR" dirty="0">
                <a:latin typeface="Arial" charset="0"/>
                <a:cs typeface="Times New Roman" pitchFamily="18" charset="0"/>
              </a:rPr>
              <a:t>= temperatura[J][0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b="1" dirty="0">
                <a:latin typeface="Arial" charset="0"/>
                <a:cs typeface="Times New Roman" pitchFamily="18" charset="0"/>
              </a:rPr>
              <a:t>			</a:t>
            </a:r>
            <a:r>
              <a:rPr lang="pt-BR" b="1" dirty="0" err="1">
                <a:latin typeface="Arial" charset="0"/>
                <a:cs typeface="Times New Roman" pitchFamily="18" charset="0"/>
              </a:rPr>
              <a:t>if</a:t>
            </a:r>
            <a:r>
              <a:rPr lang="pt-BR" b="1" dirty="0">
                <a:latin typeface="Arial" charset="0"/>
                <a:cs typeface="Times New Roman" pitchFamily="18" charset="0"/>
              </a:rPr>
              <a:t>(</a:t>
            </a:r>
            <a:r>
              <a:rPr lang="pt-BR" dirty="0">
                <a:latin typeface="Arial" charset="0"/>
                <a:cs typeface="Times New Roman" pitchFamily="18" charset="0"/>
              </a:rPr>
              <a:t>temperatura[J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][1]  &gt;= 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maxima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) </a:t>
            </a:r>
            <a:r>
              <a:rPr lang="pt-BR" dirty="0" err="1" smtClean="0">
                <a:latin typeface="Arial" charset="0"/>
                <a:cs typeface="Times New Roman" pitchFamily="18" charset="0"/>
              </a:rPr>
              <a:t>maxima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 = temperatura[J][1];</a:t>
            </a:r>
            <a:endParaRPr lang="pt-BR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 smtClean="0">
                <a:latin typeface="Arial" charset="0"/>
                <a:cs typeface="Times New Roman" pitchFamily="18" charset="0"/>
              </a:rPr>
              <a:t>	</a:t>
            </a: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media += </a:t>
            </a:r>
            <a:r>
              <a:rPr lang="pt-BR" dirty="0" smtClean="0">
                <a:latin typeface="Arial" charset="0"/>
                <a:cs typeface="Times New Roman" pitchFamily="18" charset="0"/>
              </a:rPr>
              <a:t>temperatura[J][2];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b="1" dirty="0" smtClean="0">
                <a:latin typeface="Arial" charset="0"/>
                <a:cs typeface="Times New Roman" pitchFamily="18" charset="0"/>
              </a:rPr>
              <a:t>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b="1" dirty="0">
                <a:latin typeface="Arial" charset="0"/>
                <a:cs typeface="Times New Roman" pitchFamily="18" charset="0"/>
              </a:rPr>
              <a:t>	</a:t>
            </a:r>
            <a:r>
              <a:rPr lang="pt-BR" b="1" dirty="0" smtClean="0">
                <a:latin typeface="Arial" charset="0"/>
                <a:cs typeface="Times New Roman" pitchFamily="18" charset="0"/>
              </a:rPr>
              <a:t>	media = media / 7;</a:t>
            </a:r>
            <a:endParaRPr lang="pt-BR" sz="1800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	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cout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minima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&lt;&lt; </a:t>
            </a:r>
            <a:r>
              <a:rPr lang="pt-BR" sz="1800" dirty="0" err="1" smtClean="0">
                <a:latin typeface="Arial" charset="0"/>
                <a:cs typeface="Times New Roman" pitchFamily="18" charset="0"/>
              </a:rPr>
              <a:t>maxima</a:t>
            </a:r>
            <a:r>
              <a:rPr lang="pt-BR" sz="1800" dirty="0" smtClean="0">
                <a:latin typeface="Arial" charset="0"/>
                <a:cs typeface="Times New Roman" pitchFamily="18" charset="0"/>
              </a:rPr>
              <a:t> &lt;&lt; media;</a:t>
            </a:r>
            <a:endParaRPr lang="pt-BR" sz="1800" dirty="0"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17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Recursão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1560" y="1556792"/>
            <a:ext cx="8153400" cy="4495800"/>
          </a:xfrm>
        </p:spPr>
        <p:txBody>
          <a:bodyPr>
            <a:normAutofit/>
          </a:bodyPr>
          <a:lstStyle/>
          <a:p>
            <a:r>
              <a:rPr lang="pt-BR" dirty="0" smtClean="0"/>
              <a:t>Recursividade </a:t>
            </a:r>
            <a:r>
              <a:rPr lang="pt-BR" dirty="0"/>
              <a:t>é o mecanismo de programação no qual </a:t>
            </a:r>
            <a:r>
              <a:rPr lang="pt-BR" dirty="0" smtClean="0"/>
              <a:t>uma definição </a:t>
            </a:r>
            <a:r>
              <a:rPr lang="pt-BR" dirty="0"/>
              <a:t>de função ou de outro objeto refere-se ao próprio </a:t>
            </a:r>
            <a:r>
              <a:rPr lang="pt-BR" dirty="0" smtClean="0"/>
              <a:t>objeto sendo </a:t>
            </a:r>
            <a:r>
              <a:rPr lang="pt-BR" dirty="0"/>
              <a:t>definido.</a:t>
            </a:r>
          </a:p>
          <a:p>
            <a:r>
              <a:rPr lang="pt-BR" dirty="0" smtClean="0"/>
              <a:t>São </a:t>
            </a:r>
            <a:r>
              <a:rPr lang="pt-BR" dirty="0"/>
              <a:t>sinônimos: recursividade, recursão, recorrência</a:t>
            </a:r>
            <a:r>
              <a:rPr lang="pt-B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8317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Recursão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Funções Recursivas</a:t>
            </a:r>
          </a:p>
          <a:p>
            <a:r>
              <a:rPr lang="pt-BR" dirty="0" smtClean="0"/>
              <a:t>Recursividade Mutua</a:t>
            </a:r>
          </a:p>
          <a:p>
            <a:r>
              <a:rPr lang="pt-BR" dirty="0" smtClean="0"/>
              <a:t>Recursividade de cauda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322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Recursão – Funções Recursivas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Estratégia para a definição recursiva de uma função:</a:t>
            </a:r>
          </a:p>
          <a:p>
            <a:pPr lvl="1"/>
            <a:r>
              <a:rPr lang="pt-BR" dirty="0" smtClean="0"/>
              <a:t>dividir </a:t>
            </a:r>
            <a:r>
              <a:rPr lang="pt-BR" dirty="0"/>
              <a:t>o problema em problemas menores do mesmo tipo</a:t>
            </a:r>
          </a:p>
          <a:p>
            <a:pPr lvl="1"/>
            <a:r>
              <a:rPr lang="pt-BR" dirty="0" smtClean="0"/>
              <a:t>resolver </a:t>
            </a:r>
            <a:r>
              <a:rPr lang="pt-BR" dirty="0"/>
              <a:t>os problemas menores (dividindo-os em </a:t>
            </a:r>
            <a:r>
              <a:rPr lang="pt-BR" dirty="0" smtClean="0"/>
              <a:t>problemas ainda </a:t>
            </a:r>
            <a:r>
              <a:rPr lang="pt-BR" dirty="0"/>
              <a:t>menores, se necessário)</a:t>
            </a:r>
          </a:p>
          <a:p>
            <a:pPr lvl="1"/>
            <a:r>
              <a:rPr lang="pt-BR" dirty="0" smtClean="0"/>
              <a:t>combinar </a:t>
            </a:r>
            <a:r>
              <a:rPr lang="pt-BR" dirty="0"/>
              <a:t>as soluções dos problemas menores para formar </a:t>
            </a:r>
            <a:r>
              <a:rPr lang="pt-BR" dirty="0" smtClean="0"/>
              <a:t>a solução </a:t>
            </a:r>
            <a:r>
              <a:rPr lang="pt-BR" dirty="0"/>
              <a:t>final</a:t>
            </a:r>
          </a:p>
          <a:p>
            <a:r>
              <a:rPr lang="pt-BR" dirty="0"/>
              <a:t>Ao dividir o problema sucessivamente em problemas </a:t>
            </a:r>
            <a:r>
              <a:rPr lang="pt-BR" dirty="0" smtClean="0"/>
              <a:t>menores eventualmente </a:t>
            </a:r>
            <a:r>
              <a:rPr lang="pt-BR" dirty="0"/>
              <a:t>os casos simples são alcançados:</a:t>
            </a:r>
          </a:p>
          <a:p>
            <a:pPr lvl="1"/>
            <a:r>
              <a:rPr lang="pt-BR" dirty="0" smtClean="0"/>
              <a:t>não </a:t>
            </a:r>
            <a:r>
              <a:rPr lang="pt-BR" dirty="0"/>
              <a:t>podem ser mais </a:t>
            </a:r>
            <a:r>
              <a:rPr lang="pt-BR" dirty="0" smtClean="0"/>
              <a:t>divididos</a:t>
            </a:r>
          </a:p>
          <a:p>
            <a:pPr lvl="1"/>
            <a:r>
              <a:rPr lang="pt-BR" dirty="0" smtClean="0"/>
              <a:t>suas </a:t>
            </a:r>
            <a:r>
              <a:rPr lang="pt-BR" dirty="0"/>
              <a:t>soluções são definidas </a:t>
            </a:r>
            <a:r>
              <a:rPr lang="pt-BR" dirty="0" smtClean="0"/>
              <a:t>explicitamente</a:t>
            </a:r>
          </a:p>
          <a:p>
            <a:pPr marL="365760" lvl="1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178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Recursão – Funções Recursivas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Em todas as funções recursivas existe:</a:t>
            </a:r>
          </a:p>
          <a:p>
            <a:pPr lvl="1"/>
            <a:r>
              <a:rPr lang="pt-BR" dirty="0" smtClean="0"/>
              <a:t>Um </a:t>
            </a:r>
            <a:r>
              <a:rPr lang="pt-BR" dirty="0"/>
              <a:t>caso base, ou condição de parada, cujo resultado é imediatamente </a:t>
            </a:r>
            <a:r>
              <a:rPr lang="pt-BR" dirty="0" smtClean="0"/>
              <a:t>conhecido.</a:t>
            </a:r>
          </a:p>
          <a:p>
            <a:pPr lvl="1"/>
            <a:r>
              <a:rPr lang="pt-BR" dirty="0" smtClean="0"/>
              <a:t> </a:t>
            </a:r>
            <a:r>
              <a:rPr lang="pt-BR" dirty="0"/>
              <a:t>Um passo recursivo em que se tenta resolver um </a:t>
            </a:r>
            <a:r>
              <a:rPr lang="pt-BR" dirty="0" smtClean="0"/>
              <a:t>sub problema </a:t>
            </a:r>
            <a:r>
              <a:rPr lang="pt-BR" dirty="0"/>
              <a:t>do </a:t>
            </a:r>
            <a:r>
              <a:rPr lang="pt-BR" dirty="0" smtClean="0"/>
              <a:t>problema </a:t>
            </a:r>
            <a:r>
              <a:rPr lang="pt-BR" dirty="0"/>
              <a:t>inicial</a:t>
            </a:r>
            <a:r>
              <a:rPr lang="pt-BR" dirty="0" smtClean="0"/>
              <a:t>.</a:t>
            </a:r>
          </a:p>
          <a:p>
            <a:r>
              <a:rPr lang="pt-BR" dirty="0"/>
              <a:t>Assim função recursiva é uma função que é definida em termos de si mesma.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4869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Recursão – Fatorial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4000" i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4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fatorial(</a:t>
            </a:r>
            <a:r>
              <a:rPr lang="pt-BR" sz="4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  <a:endParaRPr lang="pt-BR" sz="40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4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4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 == 1) </a:t>
            </a:r>
            <a:r>
              <a:rPr lang="pt-BR" sz="4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4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fatorial(n-1) * n;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4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pt-BR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56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Recursão – Potencia de 2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228600" y="1370013"/>
            <a:ext cx="8610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3200" i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pt-BR" sz="28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0)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(base *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(base, exp-1));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82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Recursão – Fibonacci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07504" y="1700808"/>
            <a:ext cx="889708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3200" i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fibonacci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  <a:endParaRPr lang="pt-BR" sz="28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(n==1 || n==2)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pt-BR" sz="2800" b="1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fibonacci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(n-1)+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fibonacci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(n-2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495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8153400" cy="990600"/>
          </a:xfrm>
        </p:spPr>
        <p:txBody>
          <a:bodyPr/>
          <a:lstStyle/>
          <a:p>
            <a:r>
              <a:rPr lang="pt-BR" dirty="0" smtClean="0"/>
              <a:t>Recursão – Recursividade Mutua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b="1" dirty="0"/>
              <a:t>Recursividade mútua </a:t>
            </a:r>
            <a:r>
              <a:rPr lang="pt-BR" dirty="0"/>
              <a:t>ocorre quando duas ou mais funções </a:t>
            </a:r>
            <a:r>
              <a:rPr lang="pt-BR" dirty="0" smtClean="0"/>
              <a:t>são definidas </a:t>
            </a:r>
            <a:r>
              <a:rPr lang="pt-BR" dirty="0"/>
              <a:t>em termos uma da outra</a:t>
            </a:r>
            <a:r>
              <a:rPr lang="pt-BR" dirty="0" smtClean="0"/>
              <a:t>.</a:t>
            </a:r>
          </a:p>
          <a:p>
            <a:r>
              <a:rPr lang="pt-BR" b="1" dirty="0"/>
              <a:t>Na Recursividade mútua </a:t>
            </a:r>
            <a:r>
              <a:rPr lang="pt-BR" b="1" dirty="0" smtClean="0"/>
              <a:t>, </a:t>
            </a:r>
            <a:r>
              <a:rPr lang="pt-BR" dirty="0"/>
              <a:t>as </a:t>
            </a:r>
            <a:r>
              <a:rPr lang="pt-BR" dirty="0" err="1"/>
              <a:t>subrotinas</a:t>
            </a:r>
            <a:r>
              <a:rPr lang="pt-BR" dirty="0"/>
              <a:t> são conectadas através de uma cadeia de chamadas sucessivas que acaba retornando à primeira que desencadeou. </a:t>
            </a:r>
            <a:endParaRPr lang="pt-BR" dirty="0" smtClean="0"/>
          </a:p>
          <a:p>
            <a:r>
              <a:rPr lang="pt-BR" dirty="0" smtClean="0"/>
              <a:t>Para </a:t>
            </a:r>
            <a:r>
              <a:rPr lang="pt-BR" dirty="0"/>
              <a:t>exemplificar a recursividade indireta vamos utilizar um código que verifica se um número é par ou ímpar:</a:t>
            </a:r>
          </a:p>
        </p:txBody>
      </p:sp>
    </p:spTree>
    <p:extLst>
      <p:ext uri="{BB962C8B-B14F-4D97-AF65-F5344CB8AC3E}">
        <p14:creationId xmlns:p14="http://schemas.microsoft.com/office/powerpoint/2010/main" val="2441950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>
                <a:solidFill>
                  <a:schemeClr val="tx2">
                    <a:satMod val="200000"/>
                  </a:schemeClr>
                </a:solidFill>
              </a:rPr>
              <a:t>Recursão – Par e Impar</a:t>
            </a: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07504" y="1700808"/>
            <a:ext cx="889708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i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3200" i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  <a:endParaRPr lang="pt-BR" sz="28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(n==0)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impar(n-1);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dirty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i="1" dirty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3200" i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impar(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n){</a:t>
            </a:r>
            <a:endParaRPr lang="pt-BR" sz="2800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(n==0) </a:t>
            </a:r>
            <a:r>
              <a:rPr lang="pt-BR" sz="2800" b="1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0;</a:t>
            </a:r>
            <a:endParaRPr lang="pt-BR" sz="28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800" b="1" dirty="0" err="1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par(n-1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303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Recursividade de Cauda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Uma função recursiva apresenta </a:t>
            </a:r>
            <a:r>
              <a:rPr lang="pt-BR" b="1" dirty="0"/>
              <a:t>recursividade de cauda </a:t>
            </a:r>
            <a:r>
              <a:rPr lang="pt-BR" dirty="0"/>
              <a:t>se </a:t>
            </a:r>
            <a:r>
              <a:rPr lang="pt-BR" dirty="0" smtClean="0"/>
              <a:t>o resultado </a:t>
            </a:r>
            <a:r>
              <a:rPr lang="pt-BR" dirty="0"/>
              <a:t>final da chamada recursiva é o resultado final </a:t>
            </a:r>
            <a:r>
              <a:rPr lang="pt-BR" dirty="0" smtClean="0"/>
              <a:t>da própria </a:t>
            </a:r>
            <a:r>
              <a:rPr lang="pt-BR" dirty="0"/>
              <a:t>função.</a:t>
            </a:r>
          </a:p>
          <a:p>
            <a:r>
              <a:rPr lang="pt-BR" dirty="0" smtClean="0"/>
              <a:t>Se </a:t>
            </a:r>
            <a:r>
              <a:rPr lang="pt-BR" dirty="0"/>
              <a:t>o resultado da chamada recursiva deve ser processado </a:t>
            </a:r>
            <a:r>
              <a:rPr lang="pt-BR" dirty="0" smtClean="0"/>
              <a:t>de alguma </a:t>
            </a:r>
            <a:r>
              <a:rPr lang="pt-BR" dirty="0"/>
              <a:t>maneira para produzir o resultado final, então a </a:t>
            </a:r>
            <a:r>
              <a:rPr lang="pt-BR" dirty="0" smtClean="0"/>
              <a:t>função não </a:t>
            </a:r>
            <a:r>
              <a:rPr lang="pt-BR" dirty="0"/>
              <a:t>apresenta recursividade de cauda</a:t>
            </a:r>
            <a:r>
              <a:rPr lang="pt-BR" dirty="0" smtClean="0"/>
              <a:t>.</a:t>
            </a:r>
          </a:p>
          <a:p>
            <a:r>
              <a:rPr lang="pt-BR" dirty="0"/>
              <a:t>A recursão de cauda é uma técnica de recursão que faz menos uso de memória durante o processo de </a:t>
            </a:r>
            <a:r>
              <a:rPr lang="pt-BR" dirty="0" smtClean="0"/>
              <a:t>empilhamento</a:t>
            </a:r>
            <a:r>
              <a:rPr lang="pt-BR" dirty="0"/>
              <a:t>, o que a torna mais rápida que a recursão comum.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8103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Recursividade de Cauda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107504" y="1700808"/>
            <a:ext cx="889708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fatorial_aux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n,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parcial){</a:t>
            </a:r>
            <a:endParaRPr lang="pt-BR" sz="28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(n==1)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parcial;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fatorial_aux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((n-1), parcial*n));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i="1" dirty="0" smtClean="0">
                <a:solidFill>
                  <a:srgbClr val="333333"/>
                </a:solidFill>
                <a:latin typeface="Arial" charset="0"/>
                <a:cs typeface="Times New Roman" pitchFamily="18" charset="0"/>
              </a:rPr>
              <a:t>	</a:t>
            </a:r>
            <a:r>
              <a:rPr lang="pt-BR" sz="3200" i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fatorial_cauda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  <a:endParaRPr lang="pt-BR" sz="2800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fatorial_aux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(n, 1);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pt-BR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endParaRPr lang="pt-B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16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Recursividade de Cauda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sz="3400" dirty="0"/>
              <a:t>O que acontece é uma transcrição </a:t>
            </a:r>
            <a:r>
              <a:rPr lang="pt-BR" sz="3400" dirty="0" smtClean="0"/>
              <a:t> direta </a:t>
            </a:r>
            <a:r>
              <a:rPr lang="pt-BR" sz="3400" dirty="0"/>
              <a:t>de um cálculo iterativo: </a:t>
            </a:r>
            <a:endParaRPr lang="pt-BR" sz="3400" dirty="0" smtClean="0"/>
          </a:p>
          <a:p>
            <a:pPr lvl="1"/>
            <a:r>
              <a:rPr lang="pt-BR" sz="3400" dirty="0" smtClean="0"/>
              <a:t>passa-se </a:t>
            </a:r>
            <a:r>
              <a:rPr lang="pt-BR" sz="3400" dirty="0"/>
              <a:t>inicialmente o valor parcial 1 para a função </a:t>
            </a:r>
            <a:r>
              <a:rPr lang="pt-BR" sz="3400" dirty="0" err="1"/>
              <a:t>fatorial_aux</a:t>
            </a:r>
            <a:r>
              <a:rPr lang="pt-BR" sz="3400" dirty="0" smtClean="0"/>
              <a:t>() e </a:t>
            </a:r>
            <a:r>
              <a:rPr lang="pt-BR" sz="3400" dirty="0"/>
              <a:t>ela “atualiza” este valor a cada chamada recursiva, multiplicando o cálculo parcial do </a:t>
            </a:r>
            <a:r>
              <a:rPr lang="pt-BR" sz="3400" dirty="0" smtClean="0"/>
              <a:t>fatorial por </a:t>
            </a:r>
            <a:r>
              <a:rPr lang="pt-BR" sz="3400" dirty="0"/>
              <a:t>n, n – 1, n – 2, …, até o “caso base</a:t>
            </a:r>
            <a:r>
              <a:rPr lang="pt-BR" sz="3400" dirty="0" smtClean="0"/>
              <a:t>”.</a:t>
            </a:r>
          </a:p>
          <a:p>
            <a:pPr lvl="1"/>
            <a:r>
              <a:rPr lang="pt-BR" sz="3400" dirty="0" smtClean="0"/>
              <a:t>Neste </a:t>
            </a:r>
            <a:r>
              <a:rPr lang="pt-BR" sz="3400" dirty="0"/>
              <a:t>ponto, o valor do fatorial já foi calculado e é </a:t>
            </a:r>
            <a:r>
              <a:rPr lang="pt-BR" sz="3400" dirty="0" smtClean="0"/>
              <a:t>apenas retornado.</a:t>
            </a:r>
          </a:p>
          <a:p>
            <a:r>
              <a:rPr lang="pt-BR" sz="3400" dirty="0"/>
              <a:t>Esta recursão de cauda poderia gastar menos memória ainda se utilizasse passagem por referência dos </a:t>
            </a:r>
            <a:r>
              <a:rPr lang="pt-BR" sz="3400" dirty="0" smtClean="0"/>
              <a:t>parâmetros</a:t>
            </a:r>
            <a:r>
              <a:rPr lang="pt-BR" sz="3400" dirty="0"/>
              <a:t>. </a:t>
            </a:r>
            <a:endParaRPr lang="pt-BR" sz="3400" dirty="0" smtClean="0"/>
          </a:p>
          <a:p>
            <a:r>
              <a:rPr lang="pt-BR" sz="3400" dirty="0" smtClean="0"/>
              <a:t>Desta </a:t>
            </a:r>
            <a:r>
              <a:rPr lang="pt-BR" sz="3400" dirty="0"/>
              <a:t>forma, cada função recursiva empilhada não criaria um espaço de memória para os </a:t>
            </a:r>
            <a:r>
              <a:rPr lang="pt-BR" sz="3400" dirty="0" smtClean="0"/>
              <a:t>parâmetros </a:t>
            </a:r>
            <a:r>
              <a:rPr lang="pt-BR" sz="3400" dirty="0"/>
              <a:t>n e parcial, mas apenas atualizaria estas duas variáveis sem ficar fazendo cópias delas.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49678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Recursão versus Iteração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565282428"/>
              </p:ext>
            </p:extLst>
          </p:nvPr>
        </p:nvGraphicFramePr>
        <p:xfrm>
          <a:off x="612775" y="1600200"/>
          <a:ext cx="8153400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4076700"/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Recursão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Iteração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Estruturas de seleção </a:t>
                      </a:r>
                      <a:r>
                        <a:rPr lang="pt-BR" dirty="0" err="1" smtClean="0"/>
                        <a:t>if</a:t>
                      </a:r>
                      <a:r>
                        <a:rPr lang="pt-BR" dirty="0" smtClean="0"/>
                        <a:t>, </a:t>
                      </a:r>
                      <a:r>
                        <a:rPr lang="pt-BR" dirty="0" err="1" smtClean="0"/>
                        <a:t>if-else</a:t>
                      </a:r>
                      <a:r>
                        <a:rPr lang="pt-BR" dirty="0" smtClean="0"/>
                        <a:t> ou switch.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Estruturas de repetição for, </a:t>
                      </a:r>
                      <a:r>
                        <a:rPr lang="pt-BR" dirty="0" err="1" smtClean="0"/>
                        <a:t>while</a:t>
                      </a:r>
                      <a:r>
                        <a:rPr lang="pt-BR" dirty="0" smtClean="0"/>
                        <a:t> ou do-</a:t>
                      </a:r>
                      <a:r>
                        <a:rPr lang="pt-BR" dirty="0" err="1" smtClean="0"/>
                        <a:t>while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Repetição por chamadas de funções repetidas. 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Repetição explícita.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Termina quando um caso base é reconhecido.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Termina quando teste do laço falha.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Pode ocorrer infinitamente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Pode ocorrer infinitamente.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Lento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Rápido.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Soluções simples e de fácil manutenção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Soluções complicadas e de difícil manutenção.</a:t>
                      </a:r>
                    </a:p>
                    <a:p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843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Recursão versus Iteração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Mesmo diminuindo-se os gastos de memória da recursão através de uma implementação que usa recursão </a:t>
            </a:r>
            <a:r>
              <a:rPr lang="pt-BR" dirty="0" smtClean="0"/>
              <a:t>de </a:t>
            </a:r>
            <a:r>
              <a:rPr lang="pt-BR" dirty="0"/>
              <a:t>cauda e passagem de parâmetros por referência, o cálculo iterativo será comumente mais rápido por não </a:t>
            </a:r>
            <a:r>
              <a:rPr lang="pt-BR" dirty="0" smtClean="0"/>
              <a:t>fazer </a:t>
            </a:r>
            <a:r>
              <a:rPr lang="pt-BR" dirty="0"/>
              <a:t>repetidas chamadas de </a:t>
            </a:r>
            <a:r>
              <a:rPr lang="pt-BR" dirty="0" smtClean="0"/>
              <a:t>funções.</a:t>
            </a:r>
          </a:p>
          <a:p>
            <a:r>
              <a:rPr lang="pt-BR" dirty="0" smtClean="0"/>
              <a:t>No </a:t>
            </a:r>
            <a:r>
              <a:rPr lang="pt-BR" dirty="0"/>
              <a:t>entanto, a recursão de cauda é importante principalmente em </a:t>
            </a:r>
            <a:r>
              <a:rPr lang="pt-BR" dirty="0" smtClean="0"/>
              <a:t>linguagens </a:t>
            </a:r>
            <a:r>
              <a:rPr lang="pt-BR" dirty="0"/>
              <a:t>de programação </a:t>
            </a:r>
            <a:r>
              <a:rPr lang="pt-BR" dirty="0" smtClean="0"/>
              <a:t>funcionais, </a:t>
            </a:r>
            <a:r>
              <a:rPr lang="pt-BR" dirty="0"/>
              <a:t>onde não existem estruturas de </a:t>
            </a:r>
            <a:r>
              <a:rPr lang="pt-BR" dirty="0" smtClean="0"/>
              <a:t>repetição.</a:t>
            </a:r>
          </a:p>
          <a:p>
            <a:r>
              <a:rPr lang="pt-BR" dirty="0" smtClean="0"/>
              <a:t>Neste </a:t>
            </a:r>
            <a:r>
              <a:rPr lang="pt-BR" dirty="0"/>
              <a:t>caso, a recursão é a única abordagem disponível e o desempenho pode ser fator crítico, </a:t>
            </a:r>
            <a:r>
              <a:rPr lang="pt-BR" dirty="0" smtClean="0"/>
              <a:t> exigindo </a:t>
            </a:r>
            <a:r>
              <a:rPr lang="pt-BR" dirty="0"/>
              <a:t>implementações de recursão de cauda.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7144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Algoritmos de pesquisa tem o objetivo de encontrar valores em uma estrutura de dados.</a:t>
            </a:r>
          </a:p>
          <a:p>
            <a:r>
              <a:rPr lang="pt-BR" dirty="0" smtClean="0"/>
              <a:t>Para vetores ou matrizes não ordenadas utilizamos a pesquisa linear.</a:t>
            </a:r>
          </a:p>
          <a:p>
            <a:r>
              <a:rPr lang="pt-BR" dirty="0" smtClean="0"/>
              <a:t>Para vetores ou matrizes ordenadas podemos utilizar a pesquisa binaria.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0333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Pesquisa Linear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Busca </a:t>
            </a:r>
            <a:r>
              <a:rPr lang="pt-BR" dirty="0"/>
              <a:t>linear </a:t>
            </a:r>
            <a:r>
              <a:rPr lang="pt-BR" dirty="0" smtClean="0"/>
              <a:t>ou sequencial e um </a:t>
            </a:r>
            <a:r>
              <a:rPr lang="pt-BR" dirty="0"/>
              <a:t>tipo de pesquisa em vetores ou listas de modo sequencial</a:t>
            </a:r>
            <a:r>
              <a:rPr lang="pt-BR" dirty="0" smtClean="0"/>
              <a:t>, </a:t>
            </a:r>
            <a:r>
              <a:rPr lang="pt-BR" dirty="0"/>
              <a:t>elemento por elemento, de modo que a função do tempo em relação ao número de elementos é linear, ou seja, cresce proporcionalmente. </a:t>
            </a:r>
            <a:endParaRPr lang="pt-BR" dirty="0" smtClean="0"/>
          </a:p>
          <a:p>
            <a:r>
              <a:rPr lang="pt-BR" dirty="0"/>
              <a:t>No melhor caso, o elemento a ser buscado é encontrado logo na primeira tentativa da busca. </a:t>
            </a:r>
            <a:endParaRPr lang="pt-BR" dirty="0" smtClean="0"/>
          </a:p>
          <a:p>
            <a:r>
              <a:rPr lang="pt-BR" dirty="0" smtClean="0"/>
              <a:t>No </a:t>
            </a:r>
            <a:r>
              <a:rPr lang="pt-BR" dirty="0"/>
              <a:t>pior caso, o elemento a ser buscado encontra-se na última posição e são feitas N comparações, sendo N o número total de elementos. </a:t>
            </a:r>
            <a:endParaRPr lang="pt-BR" dirty="0" smtClean="0"/>
          </a:p>
          <a:p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39813867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Pesquisa Linear - Iterativo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700808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linearI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tamanho, 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busca){</a:t>
            </a:r>
            <a:endParaRPr lang="pt-BR" sz="24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for(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i=0; i&lt;tamanho; i++){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(v[i] == busca){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i;	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  <a:endParaRPr lang="pt-BR" sz="2400" b="1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4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4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3800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Pesquisa Binaria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 pesquisa ou busca </a:t>
            </a:r>
            <a:r>
              <a:rPr lang="pt-BR" dirty="0" smtClean="0"/>
              <a:t>binária </a:t>
            </a:r>
            <a:r>
              <a:rPr lang="pt-BR" dirty="0"/>
              <a:t>é um algoritmo de busca em vetores que segue o paradigma de divisão e conquista. </a:t>
            </a:r>
            <a:endParaRPr lang="pt-BR" dirty="0" smtClean="0"/>
          </a:p>
          <a:p>
            <a:r>
              <a:rPr lang="pt-BR" dirty="0" smtClean="0"/>
              <a:t>Ela </a:t>
            </a:r>
            <a:r>
              <a:rPr lang="pt-BR" dirty="0"/>
              <a:t>parte do pressuposto de que o vetor está ordenado e realiza sucessivas divisões do espaço de busca comparando o elemento buscado (chave) com o elemento no meio do vetor. </a:t>
            </a:r>
            <a:endParaRPr lang="pt-BR" dirty="0" smtClean="0"/>
          </a:p>
          <a:p>
            <a:r>
              <a:rPr lang="pt-BR" dirty="0" smtClean="0"/>
              <a:t>Se </a:t>
            </a:r>
            <a:r>
              <a:rPr lang="pt-BR" dirty="0"/>
              <a:t>o elemento do meio do vetor for a chave, a busca termina com sucesso. </a:t>
            </a:r>
            <a:endParaRPr lang="pt-BR" dirty="0" smtClean="0"/>
          </a:p>
          <a:p>
            <a:r>
              <a:rPr lang="pt-BR" dirty="0" smtClean="0"/>
              <a:t>Caso </a:t>
            </a:r>
            <a:r>
              <a:rPr lang="pt-BR" dirty="0"/>
              <a:t>contrário, se o elemento do meio vier antes do elemento buscado, então a busca continua na metade posterior do vetor. </a:t>
            </a:r>
            <a:endParaRPr lang="pt-BR" dirty="0" smtClean="0"/>
          </a:p>
          <a:p>
            <a:r>
              <a:rPr lang="pt-BR" dirty="0" smtClean="0"/>
              <a:t>E </a:t>
            </a:r>
            <a:r>
              <a:rPr lang="pt-BR" dirty="0"/>
              <a:t>finalmente, se o elemento do meio vier depois da chave, a busca continua na metade anterior do vetor.</a:t>
            </a:r>
            <a:endParaRPr lang="pt-BR" u="sng" dirty="0"/>
          </a:p>
        </p:txBody>
      </p:sp>
    </p:spTree>
    <p:extLst>
      <p:ext uri="{BB962C8B-B14F-4D97-AF65-F5344CB8AC3E}">
        <p14:creationId xmlns:p14="http://schemas.microsoft.com/office/powerpoint/2010/main" val="835412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 smtClean="0"/>
              <a:t>Pesquisa Binaria - Iterativo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2192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binariaI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chave,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N){</a:t>
            </a:r>
            <a:endParaRPr lang="pt-BR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//limite inferior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N-1; //limite superior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meio;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meio =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(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sup-inf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)/2;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(chave == v[meio]){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meio;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		 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(chave &lt; v[meio])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meio –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meio + 1;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-1; //não encontrado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54207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Ordenação é o ato de se colocar os elementos de uma sequência de informações, ou dados, em uma ordem predefinida. </a:t>
            </a:r>
            <a:endParaRPr lang="pt-BR" dirty="0" smtClean="0"/>
          </a:p>
          <a:p>
            <a:r>
              <a:rPr lang="pt-BR" dirty="0"/>
              <a:t>Os algoritmos que ordenam um conjunto, geralmente representados em um vetor, são chamados de algoritmos de ordenação. </a:t>
            </a:r>
            <a:endParaRPr lang="pt-BR" dirty="0" smtClean="0"/>
          </a:p>
          <a:p>
            <a:r>
              <a:rPr lang="pt-BR" dirty="0" smtClean="0"/>
              <a:t>Os algoritmos de ordenação auxiliam os algoritmos de busca.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1558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Métodos Simples</a:t>
            </a:r>
          </a:p>
          <a:p>
            <a:pPr lvl="1"/>
            <a:r>
              <a:rPr lang="pt-BR" dirty="0" err="1" smtClean="0"/>
              <a:t>Selection</a:t>
            </a:r>
            <a:r>
              <a:rPr lang="pt-BR" dirty="0" smtClean="0"/>
              <a:t> </a:t>
            </a:r>
            <a:r>
              <a:rPr lang="pt-BR" dirty="0" err="1" smtClean="0"/>
              <a:t>sort</a:t>
            </a:r>
            <a:r>
              <a:rPr lang="pt-BR" dirty="0" smtClean="0"/>
              <a:t> – Ordenação por seleção</a:t>
            </a:r>
          </a:p>
          <a:p>
            <a:pPr lvl="1"/>
            <a:r>
              <a:rPr lang="pt-BR" dirty="0" err="1" smtClean="0"/>
              <a:t>Insertion</a:t>
            </a:r>
            <a:r>
              <a:rPr lang="pt-BR" dirty="0" smtClean="0"/>
              <a:t> </a:t>
            </a:r>
            <a:r>
              <a:rPr lang="pt-BR" dirty="0" err="1"/>
              <a:t>sort</a:t>
            </a:r>
            <a:r>
              <a:rPr lang="pt-BR" dirty="0"/>
              <a:t> -  Ordenação </a:t>
            </a:r>
            <a:r>
              <a:rPr lang="pt-BR" dirty="0" smtClean="0"/>
              <a:t>por inserção</a:t>
            </a:r>
          </a:p>
          <a:p>
            <a:pPr lvl="1"/>
            <a:r>
              <a:rPr lang="pt-BR" dirty="0" err="1"/>
              <a:t>B</a:t>
            </a:r>
            <a:r>
              <a:rPr lang="pt-BR" dirty="0" err="1" smtClean="0"/>
              <a:t>ubble</a:t>
            </a:r>
            <a:r>
              <a:rPr lang="pt-BR" dirty="0" smtClean="0"/>
              <a:t> </a:t>
            </a:r>
            <a:r>
              <a:rPr lang="pt-BR" dirty="0" err="1"/>
              <a:t>sort</a:t>
            </a:r>
            <a:r>
              <a:rPr lang="pt-BR" dirty="0"/>
              <a:t> </a:t>
            </a:r>
            <a:r>
              <a:rPr lang="pt-BR" dirty="0" smtClean="0"/>
              <a:t>- Ordenação </a:t>
            </a:r>
            <a:r>
              <a:rPr lang="pt-BR" dirty="0"/>
              <a:t>por </a:t>
            </a:r>
            <a:r>
              <a:rPr lang="pt-BR" dirty="0" smtClean="0"/>
              <a:t>flutuação</a:t>
            </a:r>
          </a:p>
          <a:p>
            <a:r>
              <a:rPr lang="pt-BR" dirty="0" smtClean="0"/>
              <a:t>Métodos Sofisticados</a:t>
            </a:r>
          </a:p>
          <a:p>
            <a:pPr lvl="1"/>
            <a:r>
              <a:rPr lang="pt-BR" dirty="0" err="1" smtClean="0"/>
              <a:t>Quicksort</a:t>
            </a:r>
            <a:r>
              <a:rPr lang="pt-BR" dirty="0" smtClean="0"/>
              <a:t> – Ordenação Eficiente</a:t>
            </a:r>
          </a:p>
        </p:txBody>
      </p:sp>
    </p:spTree>
    <p:extLst>
      <p:ext uri="{BB962C8B-B14F-4D97-AF65-F5344CB8AC3E}">
        <p14:creationId xmlns:p14="http://schemas.microsoft.com/office/powerpoint/2010/main" val="4127911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Seleção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Algoritmo </a:t>
            </a:r>
            <a:r>
              <a:rPr lang="pt-BR" dirty="0"/>
              <a:t>de ordenação baseado em se passar sempre o menor valor do vetor para a primeira posição (ou o maior dependendo da ordem requerida), </a:t>
            </a:r>
            <a:endParaRPr lang="pt-BR" dirty="0" smtClean="0"/>
          </a:p>
          <a:p>
            <a:r>
              <a:rPr lang="pt-BR" dirty="0" smtClean="0"/>
              <a:t>Depois </a:t>
            </a:r>
            <a:r>
              <a:rPr lang="pt-BR" dirty="0"/>
              <a:t>o de segundo menor valor para a segunda posição, e assim é feito sucessivamente com os (n-1) elementos restantes, até os últimos dois elementos.</a:t>
            </a:r>
          </a:p>
        </p:txBody>
      </p:sp>
    </p:spTree>
    <p:extLst>
      <p:ext uri="{BB962C8B-B14F-4D97-AF65-F5344CB8AC3E}">
        <p14:creationId xmlns:p14="http://schemas.microsoft.com/office/powerpoint/2010/main" val="2979382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Seleção</a:t>
            </a:r>
          </a:p>
        </p:txBody>
      </p:sp>
      <p:pic>
        <p:nvPicPr>
          <p:cNvPr id="1026" name="Picture 2" descr="algoritmo selection sort"/>
          <p:cNvPicPr>
            <a:picLocks noGrp="1" noChangeAspect="1" noChangeArrowheads="1" noCro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714401"/>
            <a:ext cx="4680519" cy="4680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836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Ordenação por Seleção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2192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selection_sort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tam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pt-BR" sz="20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min,aux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i=0; i &lt; (tam-1); i++)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min = i;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 = (i+1); j&lt;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tam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j++){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(v[j] &lt; num[min]){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	min = j;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 != min){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num[i];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num[i] = num[min];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num[min] = </a:t>
            </a:r>
            <a:r>
              <a:rPr lang="pt-BR" sz="20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0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2000" b="1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0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790144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Seleção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8658544" cy="4495800"/>
          </a:xfrm>
        </p:spPr>
        <p:txBody>
          <a:bodyPr/>
          <a:lstStyle/>
          <a:p>
            <a:r>
              <a:rPr lang="pt-BR" dirty="0"/>
              <a:t>5 3 1 4 2 4 comparações (5 e 3; 3 e 1; 1 e 4; 1 e 2) </a:t>
            </a:r>
          </a:p>
          <a:p>
            <a:r>
              <a:rPr lang="pt-BR" dirty="0"/>
              <a:t>1 3 5 4 2 3 comparações (3 e 5; 3 e 4; 3 e 2) </a:t>
            </a:r>
          </a:p>
          <a:p>
            <a:r>
              <a:rPr lang="pt-BR" dirty="0"/>
              <a:t>1 2 5 4 3 2 comparações (5 e 4; 4 e 3) </a:t>
            </a:r>
          </a:p>
          <a:p>
            <a:r>
              <a:rPr lang="pt-BR" dirty="0"/>
              <a:t>1 2 3 4 5 1 comparação (4 e 5) </a:t>
            </a:r>
          </a:p>
          <a:p>
            <a:r>
              <a:rPr lang="pt-BR" dirty="0"/>
              <a:t>1 2 3 4 5 n – 1 iterações realizadas: vetor ordenado</a:t>
            </a:r>
          </a:p>
        </p:txBody>
      </p:sp>
    </p:spTree>
    <p:extLst>
      <p:ext uri="{BB962C8B-B14F-4D97-AF65-F5344CB8AC3E}">
        <p14:creationId xmlns:p14="http://schemas.microsoft.com/office/powerpoint/2010/main" val="40151427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Inserção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Semelhante ao processo de ordenação de cartas usado por jogadores de baralho. </a:t>
            </a:r>
          </a:p>
          <a:p>
            <a:pPr lvl="1"/>
            <a:r>
              <a:rPr lang="pt-BR" dirty="0" smtClean="0"/>
              <a:t>Olhar </a:t>
            </a:r>
            <a:r>
              <a:rPr lang="pt-BR" dirty="0"/>
              <a:t>a </a:t>
            </a:r>
            <a:r>
              <a:rPr lang="pt-BR" dirty="0" smtClean="0"/>
              <a:t>sequência </a:t>
            </a:r>
            <a:r>
              <a:rPr lang="pt-BR" dirty="0"/>
              <a:t>de cartas da esquerda para a direita e ver se alguma está fora da ordem. </a:t>
            </a:r>
          </a:p>
          <a:p>
            <a:pPr lvl="1"/>
            <a:r>
              <a:rPr lang="pt-BR" dirty="0" smtClean="0"/>
              <a:t>Ao </a:t>
            </a:r>
            <a:r>
              <a:rPr lang="pt-BR" dirty="0"/>
              <a:t>encontrar uma fora da ordem, procura sua posição correta nas cartas já olhadas que estão em ordem. </a:t>
            </a:r>
            <a:endParaRPr lang="pt-BR" dirty="0" smtClean="0"/>
          </a:p>
          <a:p>
            <a:pPr lvl="1"/>
            <a:r>
              <a:rPr lang="pt-BR" dirty="0"/>
              <a:t>E</a:t>
            </a:r>
            <a:r>
              <a:rPr lang="pt-BR" dirty="0" smtClean="0"/>
              <a:t>ficiente </a:t>
            </a:r>
            <a:r>
              <a:rPr lang="pt-BR" dirty="0"/>
              <a:t>quando aplicado a um pequeno número de elementos. </a:t>
            </a:r>
            <a:endParaRPr lang="pt-BR" dirty="0" smtClean="0"/>
          </a:p>
          <a:p>
            <a:pPr lvl="1"/>
            <a:r>
              <a:rPr lang="pt-BR" dirty="0" smtClean="0"/>
              <a:t>Em </a:t>
            </a:r>
            <a:r>
              <a:rPr lang="pt-BR" dirty="0"/>
              <a:t>termos gerais, ele percorre um vetor de elementos da esquerda para a direita e à medida que avança vai deixando os elementos mais à esquerda ordenados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9178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Inserção</a:t>
            </a:r>
          </a:p>
        </p:txBody>
      </p:sp>
      <p:pic>
        <p:nvPicPr>
          <p:cNvPr id="2050" name="Picture 2" descr="http://upload.wikimedia.org/wikipedia/commons/2/25/Insertion_sort_animation.gif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438401"/>
            <a:ext cx="39624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upload.wikimedia.org/wikipedia/commons/thumb/0/0f/Insertion-sort-example-300px.gif/220px-Insertion-sort-example-300px.gif"/>
          <p:cNvPicPr>
            <a:picLocks noGrp="1" noChangeAspect="1" noChangeArrowheads="1" noCrop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3002280"/>
            <a:ext cx="4311600" cy="258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37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Ordenação por </a:t>
            </a:r>
            <a:r>
              <a:rPr lang="pt-BR" dirty="0" smtClean="0"/>
              <a:t>Inserção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2192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insertSort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tam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pt-BR" sz="28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eleito, j;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i=1; i &lt; 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tam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i++)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eleito = v[i];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j = i-1;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28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((j&gt;=0) &amp;&amp; (eleito &lt; v[j])){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v[j+1] = números[j];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j--;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v[j+1] = eleito;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28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2800" b="1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28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91532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por Inserção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107504" y="1600200"/>
            <a:ext cx="8856984" cy="4495800"/>
          </a:xfrm>
        </p:spPr>
        <p:txBody>
          <a:bodyPr/>
          <a:lstStyle/>
          <a:p>
            <a:r>
              <a:rPr lang="pt-BR" dirty="0"/>
              <a:t>5 4 3 2 1 1 comparação (5 e 4) </a:t>
            </a:r>
          </a:p>
          <a:p>
            <a:r>
              <a:rPr lang="pt-BR" dirty="0"/>
              <a:t>4 5 3 2 1 2 comparações (3 e 5; 3 e 4) </a:t>
            </a:r>
          </a:p>
          <a:p>
            <a:r>
              <a:rPr lang="pt-BR" dirty="0"/>
              <a:t>3 4 5 2 1 3 comparações (2 e 5; 2 e 4; 2 e 3) </a:t>
            </a:r>
          </a:p>
          <a:p>
            <a:r>
              <a:rPr lang="pt-BR" dirty="0"/>
              <a:t>2 3 4 5 1 4 comparações (1 e 5; 1 e 4; 1 e 3; 1 e 2) </a:t>
            </a:r>
          </a:p>
          <a:p>
            <a:r>
              <a:rPr lang="pt-BR" dirty="0"/>
              <a:t>1 2 3 4 5 N vazio e O igual ao tamanho do vetor: vetor ordenado </a:t>
            </a:r>
          </a:p>
        </p:txBody>
      </p:sp>
    </p:spTree>
    <p:extLst>
      <p:ext uri="{BB962C8B-B14F-4D97-AF65-F5344CB8AC3E}">
        <p14:creationId xmlns:p14="http://schemas.microsoft.com/office/powerpoint/2010/main" val="16961668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Bolha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Dado um vetor de </a:t>
            </a:r>
            <a:r>
              <a:rPr lang="pt-BR" dirty="0" smtClean="0"/>
              <a:t>N </a:t>
            </a:r>
            <a:r>
              <a:rPr lang="pt-BR" dirty="0"/>
              <a:t>elementos, inicia a iteração comparando o primeiro elemento com o </a:t>
            </a:r>
            <a:r>
              <a:rPr lang="pt-BR" dirty="0" smtClean="0"/>
              <a:t>segundo</a:t>
            </a:r>
            <a:r>
              <a:rPr lang="pt-BR" dirty="0"/>
              <a:t>: </a:t>
            </a:r>
            <a:endParaRPr lang="pt-BR" dirty="0" smtClean="0"/>
          </a:p>
          <a:p>
            <a:pPr lvl="1"/>
            <a:r>
              <a:rPr lang="pt-BR" dirty="0" smtClean="0"/>
              <a:t>se </a:t>
            </a:r>
            <a:r>
              <a:rPr lang="pt-BR" dirty="0"/>
              <a:t>não estiverem em ordem (primeiro maior que o segundo), eles são trocados; </a:t>
            </a:r>
            <a:endParaRPr lang="pt-BR" dirty="0" smtClean="0"/>
          </a:p>
          <a:p>
            <a:pPr lvl="1"/>
            <a:r>
              <a:rPr lang="pt-BR" dirty="0" smtClean="0"/>
              <a:t>caso </a:t>
            </a:r>
            <a:r>
              <a:rPr lang="pt-BR" dirty="0"/>
              <a:t>contrário, </a:t>
            </a:r>
            <a:r>
              <a:rPr lang="pt-BR" dirty="0" smtClean="0"/>
              <a:t>nada </a:t>
            </a:r>
            <a:r>
              <a:rPr lang="pt-BR" dirty="0"/>
              <a:t>acontece. </a:t>
            </a:r>
            <a:endParaRPr lang="pt-BR" dirty="0" smtClean="0"/>
          </a:p>
          <a:p>
            <a:pPr lvl="1"/>
            <a:r>
              <a:rPr lang="pt-BR" dirty="0" smtClean="0"/>
              <a:t>Em </a:t>
            </a:r>
            <a:r>
              <a:rPr lang="pt-BR" dirty="0"/>
              <a:t>seguida, faz-se o mesmo para o segundo e terceiro elementos. </a:t>
            </a:r>
            <a:endParaRPr lang="pt-BR" dirty="0" smtClean="0"/>
          </a:p>
          <a:p>
            <a:pPr lvl="1"/>
            <a:r>
              <a:rPr lang="pt-BR" dirty="0" smtClean="0"/>
              <a:t>O </a:t>
            </a:r>
            <a:r>
              <a:rPr lang="pt-BR" dirty="0"/>
              <a:t>processo se repete até </a:t>
            </a:r>
            <a:r>
              <a:rPr lang="pt-BR" dirty="0" smtClean="0"/>
              <a:t>que</a:t>
            </a:r>
            <a:r>
              <a:rPr lang="pt-BR" dirty="0"/>
              <a:t>, ao final de n – 1 iterações, o maior elemento do vetor será deslocado de sua posição inicial para a </a:t>
            </a:r>
            <a:r>
              <a:rPr lang="pt-BR" dirty="0" smtClean="0"/>
              <a:t>última</a:t>
            </a:r>
            <a:r>
              <a:rPr lang="pt-BR" dirty="0"/>
              <a:t>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4056872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bolha</a:t>
            </a:r>
            <a:endParaRPr lang="pt-BR" dirty="0"/>
          </a:p>
        </p:txBody>
      </p:sp>
      <p:pic>
        <p:nvPicPr>
          <p:cNvPr id="3074" name="Picture 2" descr="Bubble sort animation.gif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56" y="1916832"/>
            <a:ext cx="5544020" cy="468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0002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Ordenação por </a:t>
            </a:r>
            <a:r>
              <a:rPr lang="pt-BR" dirty="0" smtClean="0"/>
              <a:t>bolha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2192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bubbleSort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tam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pt-BR" sz="32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for(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i=tam-1; i &gt;=1; i--)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for(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j=0; j &lt; i; j++)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(v[j]&gt;v[j+1]){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lang="pt-BR" sz="32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aux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v[j];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v[j] = v[j+1];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32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972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Ordenação por Bolha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9144000" cy="5257800"/>
          </a:xfrm>
        </p:spPr>
        <p:txBody>
          <a:bodyPr/>
          <a:lstStyle/>
          <a:p>
            <a:r>
              <a:rPr lang="pt-BR" dirty="0"/>
              <a:t>5 4 3 2 1 4 comparações (5 e 4; 5 e 3; 5 e 2; 5 e 1) </a:t>
            </a:r>
          </a:p>
          <a:p>
            <a:r>
              <a:rPr lang="pt-BR" dirty="0"/>
              <a:t>4 3 2 1 5 3 comparações (4 e 3; 4 e 2; 4 e 1) </a:t>
            </a:r>
          </a:p>
          <a:p>
            <a:r>
              <a:rPr lang="pt-BR" dirty="0"/>
              <a:t>3 2 1 4 5 2 comparações (3 e 2; 3 e 1) </a:t>
            </a:r>
          </a:p>
          <a:p>
            <a:r>
              <a:rPr lang="pt-BR" dirty="0"/>
              <a:t>2 1 3 4 5 1 comparação (2 e 1) </a:t>
            </a:r>
          </a:p>
          <a:p>
            <a:r>
              <a:rPr lang="pt-BR" dirty="0"/>
              <a:t>1 2 3 4 5 n – 1 iterações realizadas: vetor ordenado </a:t>
            </a:r>
          </a:p>
        </p:txBody>
      </p:sp>
    </p:spTree>
    <p:extLst>
      <p:ext uri="{BB962C8B-B14F-4D97-AF65-F5344CB8AC3E}">
        <p14:creationId xmlns:p14="http://schemas.microsoft.com/office/powerpoint/2010/main" val="671156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</a:t>
            </a:r>
            <a:r>
              <a:rPr lang="pt-BR" dirty="0" smtClean="0"/>
              <a:t>Eficiente - </a:t>
            </a:r>
            <a:r>
              <a:rPr lang="pt-BR" dirty="0" err="1" smtClean="0"/>
              <a:t>QuickSort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dirty="0" err="1"/>
              <a:t>Quicksort</a:t>
            </a:r>
            <a:r>
              <a:rPr lang="pt-BR" dirty="0"/>
              <a:t> adota a estratégia de divisão e conquista. </a:t>
            </a:r>
            <a:endParaRPr lang="pt-BR" dirty="0" smtClean="0"/>
          </a:p>
          <a:p>
            <a:r>
              <a:rPr lang="pt-BR" dirty="0" smtClean="0"/>
              <a:t>A </a:t>
            </a:r>
            <a:r>
              <a:rPr lang="pt-BR" dirty="0"/>
              <a:t>estratégia consiste em rearranjar as chaves de modo que as chaves "menores" precedam as chaves "maiores". </a:t>
            </a:r>
            <a:endParaRPr lang="pt-BR" dirty="0" smtClean="0"/>
          </a:p>
          <a:p>
            <a:r>
              <a:rPr lang="pt-BR" dirty="0" smtClean="0"/>
              <a:t>Em </a:t>
            </a:r>
            <a:r>
              <a:rPr lang="pt-BR" dirty="0"/>
              <a:t>seguida o </a:t>
            </a:r>
            <a:r>
              <a:rPr lang="pt-BR" dirty="0" err="1"/>
              <a:t>Quicksort</a:t>
            </a:r>
            <a:r>
              <a:rPr lang="pt-BR" dirty="0"/>
              <a:t> ordena as duas </a:t>
            </a:r>
            <a:r>
              <a:rPr lang="pt-BR" dirty="0" err="1"/>
              <a:t>sublistas</a:t>
            </a:r>
            <a:r>
              <a:rPr lang="pt-BR" dirty="0"/>
              <a:t> de chaves menores e maiores recursivamente até que a lista completa se encontre ordenada. </a:t>
            </a:r>
          </a:p>
        </p:txBody>
      </p:sp>
    </p:spTree>
    <p:extLst>
      <p:ext uri="{BB962C8B-B14F-4D97-AF65-F5344CB8AC3E}">
        <p14:creationId xmlns:p14="http://schemas.microsoft.com/office/powerpoint/2010/main" val="32765824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3371" y="260648"/>
            <a:ext cx="8153400" cy="990600"/>
          </a:xfrm>
        </p:spPr>
        <p:txBody>
          <a:bodyPr/>
          <a:lstStyle/>
          <a:p>
            <a:r>
              <a:rPr lang="pt-BR" dirty="0"/>
              <a:t>Ordenação Eficiente - </a:t>
            </a:r>
            <a:r>
              <a:rPr lang="pt-BR" dirty="0" err="1"/>
              <a:t>QuickSort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Os </a:t>
            </a:r>
            <a:r>
              <a:rPr lang="pt-BR" dirty="0"/>
              <a:t>passos são: </a:t>
            </a:r>
            <a:endParaRPr lang="pt-BR" dirty="0" smtClean="0"/>
          </a:p>
          <a:p>
            <a:pPr marL="880110" lvl="1" indent="-514350">
              <a:buFont typeface="+mj-lt"/>
              <a:buAutoNum type="arabicPeriod"/>
            </a:pPr>
            <a:r>
              <a:rPr lang="pt-BR" dirty="0"/>
              <a:t>Escolha um elemento da lista, denominado pivô;</a:t>
            </a:r>
          </a:p>
          <a:p>
            <a:pPr marL="880110" lvl="1" indent="-514350">
              <a:buFont typeface="+mj-lt"/>
              <a:buAutoNum type="arabicPeriod"/>
            </a:pPr>
            <a:r>
              <a:rPr lang="pt-BR" dirty="0"/>
              <a:t>Rearranje a lista de forma que todos os elementos anteriores ao pivô sejam menores que ele, e todos os elementos posteriores ao pivô sejam maiores que </a:t>
            </a:r>
            <a:r>
              <a:rPr lang="pt-BR" dirty="0" smtClean="0"/>
              <a:t>ele. Ao </a:t>
            </a:r>
            <a:r>
              <a:rPr lang="pt-BR" dirty="0"/>
              <a:t>fim do processo o pivô estará em sua posição final e haverá duas </a:t>
            </a:r>
            <a:r>
              <a:rPr lang="pt-BR" dirty="0" err="1"/>
              <a:t>sublistas</a:t>
            </a:r>
            <a:r>
              <a:rPr lang="pt-BR" dirty="0"/>
              <a:t> não ordenadas. Essa operação é denominada partição;</a:t>
            </a:r>
          </a:p>
          <a:p>
            <a:pPr marL="880110" lvl="1" indent="-514350">
              <a:buFont typeface="+mj-lt"/>
              <a:buAutoNum type="arabicPeriod"/>
            </a:pPr>
            <a:r>
              <a:rPr lang="pt-BR" dirty="0"/>
              <a:t>Recursivamente ordene a </a:t>
            </a:r>
            <a:r>
              <a:rPr lang="pt-BR" dirty="0" err="1"/>
              <a:t>sublista</a:t>
            </a:r>
            <a:r>
              <a:rPr lang="pt-BR" dirty="0"/>
              <a:t> dos elementos menores e a </a:t>
            </a:r>
            <a:r>
              <a:rPr lang="pt-BR" dirty="0" err="1"/>
              <a:t>sublista</a:t>
            </a:r>
            <a:r>
              <a:rPr lang="pt-BR" dirty="0"/>
              <a:t> dos elementos maiores;</a:t>
            </a:r>
          </a:p>
        </p:txBody>
      </p:sp>
    </p:spTree>
    <p:extLst>
      <p:ext uri="{BB962C8B-B14F-4D97-AF65-F5344CB8AC3E}">
        <p14:creationId xmlns:p14="http://schemas.microsoft.com/office/powerpoint/2010/main" val="12464270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Eficiente - </a:t>
            </a:r>
            <a:r>
              <a:rPr lang="pt-BR" dirty="0" err="1"/>
              <a:t>QuickSort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A base da recursão são as listas de tamanho zero ou um, que estão sempre ordenadas. O processo é finito, pois a cada iteração pelo menos um elemento é posto em sua posição final e não será mais manipulado na iteração seguinte</a:t>
            </a:r>
            <a:endParaRPr lang="pt-BR" dirty="0"/>
          </a:p>
        </p:txBody>
      </p:sp>
      <p:pic>
        <p:nvPicPr>
          <p:cNvPr id="5122" name="Picture 2" descr="http://upload.wikimedia.org/wikipedia/commons/thumb/4/4a/Quicksort_example_small.png/220px-Quicksort_example_small.pn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589087"/>
            <a:ext cx="3974976" cy="518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39203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Ordenação Eficiente - </a:t>
            </a:r>
            <a:r>
              <a:rPr lang="pt-BR" dirty="0" err="1"/>
              <a:t>QuickSort</a:t>
            </a:r>
            <a:endParaRPr lang="pt-BR" dirty="0"/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648" y="1603328"/>
            <a:ext cx="8154426" cy="448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796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pt-BR" dirty="0"/>
              <a:t>Ordenação Eficiente - </a:t>
            </a:r>
            <a:r>
              <a:rPr lang="pt-BR" dirty="0" err="1"/>
              <a:t>QuickSort</a:t>
            </a:r>
            <a:endParaRPr lang="pt-BR" dirty="0" smtClean="0">
              <a:solidFill>
                <a:schemeClr val="tx2">
                  <a:satMod val="200000"/>
                </a:schemeClr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0" y="1219200"/>
            <a:ext cx="9144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800" dirty="0">
                <a:latin typeface="Arial" charset="0"/>
                <a:cs typeface="Times New Roman" pitchFamily="18" charset="0"/>
              </a:rPr>
              <a:t>	</a:t>
            </a:r>
            <a:endParaRPr lang="pt-BR" sz="1800" dirty="0" smtClean="0">
              <a:latin typeface="Arial" charset="0"/>
              <a:cs typeface="Times New Roman" pitchFamily="18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600" b="1" u="sng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pt-BR" sz="1600" b="1" u="sng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pt-BR" sz="1600" b="1" u="sng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esquerda, 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direita){</a:t>
            </a:r>
            <a:endParaRPr lang="pt-BR" sz="16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i, j, x, y;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 = esquerda;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j = direita;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x = v[(esquerda + direita) / 2];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(i&lt;=j)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(valor[i] &lt; x &amp;&amp; i &lt; direita) 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i++;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  <a:endParaRPr lang="pt-BR" sz="1600" b="1" dirty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(valor[j] &gt; x &amp;&amp; j &gt; esquerda){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j--;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 &lt;=j){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y = valor[i];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valor[i] = valor[j];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valor[j] = y;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i++;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j--;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(j &gt; esquerda) 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(v, esquerda, j);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 &lt; direita) </a:t>
            </a:r>
            <a:r>
              <a:rPr lang="pt-BR" sz="1600" b="1" dirty="0" err="1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quickSort</a:t>
            </a:r>
            <a:r>
              <a:rPr lang="pt-BR" sz="1600" b="1" dirty="0" smtClean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(v, i, direita);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tabLst>
                <a:tab pos="187325" algn="l"/>
                <a:tab pos="376238" algn="l"/>
                <a:tab pos="576263" algn="l"/>
                <a:tab pos="765175" algn="l"/>
                <a:tab pos="952500" algn="l"/>
                <a:tab pos="1139825" algn="l"/>
                <a:tab pos="1328738" algn="l"/>
                <a:tab pos="1528763" algn="l"/>
                <a:tab pos="1717675" algn="l"/>
                <a:tab pos="1905000" algn="l"/>
              </a:tabLst>
            </a:pPr>
            <a:r>
              <a:rPr lang="pt-BR" sz="1600" b="1" dirty="0">
                <a:solidFill>
                  <a:srgbClr val="3333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pt-BR" sz="1600" b="1" dirty="0" smtClean="0">
              <a:solidFill>
                <a:srgbClr val="3333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26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491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2096</TotalTime>
  <Words>2258</Words>
  <Application>Microsoft Office PowerPoint</Application>
  <PresentationFormat>Apresentação na tela (4:3)</PresentationFormat>
  <Paragraphs>426</Paragraphs>
  <Slides>51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62" baseType="lpstr">
      <vt:lpstr>Arial</vt:lpstr>
      <vt:lpstr>Calibri</vt:lpstr>
      <vt:lpstr>Courier New</vt:lpstr>
      <vt:lpstr>Symbol</vt:lpstr>
      <vt:lpstr>Times New Roman</vt:lpstr>
      <vt:lpstr>Tw Cen MT</vt:lpstr>
      <vt:lpstr>Verdana</vt:lpstr>
      <vt:lpstr>Wingdings</vt:lpstr>
      <vt:lpstr>Wingdings 2</vt:lpstr>
      <vt:lpstr>Wingdings 3</vt:lpstr>
      <vt:lpstr>Mediano</vt:lpstr>
      <vt:lpstr>Algoritmos</vt:lpstr>
      <vt:lpstr>Prof. Norton</vt:lpstr>
      <vt:lpstr>Programação</vt:lpstr>
      <vt:lpstr>O que é algoritmo ?</vt:lpstr>
      <vt:lpstr>O que é algoritmo ?</vt:lpstr>
      <vt:lpstr>Variáveis</vt:lpstr>
      <vt:lpstr>Estruturas de Dados</vt:lpstr>
      <vt:lpstr>Vetores</vt:lpstr>
      <vt:lpstr>Vetores</vt:lpstr>
      <vt:lpstr>Vetores - Notas acima da média usando vetor</vt:lpstr>
      <vt:lpstr>Matrizes</vt:lpstr>
      <vt:lpstr>Matrizes</vt:lpstr>
      <vt:lpstr>Matrizes – Temperatura Semanal</vt:lpstr>
      <vt:lpstr>Recursão</vt:lpstr>
      <vt:lpstr>Recursão</vt:lpstr>
      <vt:lpstr>Recursão – Funções Recursivas</vt:lpstr>
      <vt:lpstr>Recursão – Funções Recursivas</vt:lpstr>
      <vt:lpstr>Recursão – Fatorial</vt:lpstr>
      <vt:lpstr>Recursão – Potencia de 2</vt:lpstr>
      <vt:lpstr>Recursão – Fibonacci</vt:lpstr>
      <vt:lpstr>Recursão – Recursividade Mutua</vt:lpstr>
      <vt:lpstr>Recursão – Par e Impar</vt:lpstr>
      <vt:lpstr>Recursividade de Cauda</vt:lpstr>
      <vt:lpstr>Recursividade de Cauda</vt:lpstr>
      <vt:lpstr>Recursividade de Cauda</vt:lpstr>
      <vt:lpstr>Recursão versus Iteração</vt:lpstr>
      <vt:lpstr>Recursão versus Iteração</vt:lpstr>
      <vt:lpstr>Pesquisa</vt:lpstr>
      <vt:lpstr>Pesquisa Linear</vt:lpstr>
      <vt:lpstr>Pesquisa Linear - Iterativo</vt:lpstr>
      <vt:lpstr>Pesquisa Binaria</vt:lpstr>
      <vt:lpstr>Pesquisa Binaria - Iterativo</vt:lpstr>
      <vt:lpstr>Ordenação</vt:lpstr>
      <vt:lpstr>Ordenação</vt:lpstr>
      <vt:lpstr>Ordenação por Seleção</vt:lpstr>
      <vt:lpstr>Ordenação por Seleção</vt:lpstr>
      <vt:lpstr>Ordenação por Seleção</vt:lpstr>
      <vt:lpstr>Ordenação por Seleção</vt:lpstr>
      <vt:lpstr>Ordenação por Inserção</vt:lpstr>
      <vt:lpstr>Ordenação por Inserção</vt:lpstr>
      <vt:lpstr>Ordenação por Inserção</vt:lpstr>
      <vt:lpstr>Ordenação por Inserção</vt:lpstr>
      <vt:lpstr>Ordenação por Bolha</vt:lpstr>
      <vt:lpstr>Ordenação por bolha</vt:lpstr>
      <vt:lpstr>Ordenação por bolha</vt:lpstr>
      <vt:lpstr>Ordenação por Bolha</vt:lpstr>
      <vt:lpstr>Ordenação Eficiente - QuickSort</vt:lpstr>
      <vt:lpstr>Ordenação Eficiente - QuickSort</vt:lpstr>
      <vt:lpstr>Ordenação Eficiente - QuickSort</vt:lpstr>
      <vt:lpstr>Ordenação Eficiente - QuickSort</vt:lpstr>
      <vt:lpstr>Ordenação Eficiente - QuickSort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</dc:title>
  <dc:creator>norton</dc:creator>
  <cp:lastModifiedBy>Norton Barros</cp:lastModifiedBy>
  <cp:revision>68</cp:revision>
  <dcterms:created xsi:type="dcterms:W3CDTF">2014-07-26T15:17:22Z</dcterms:created>
  <dcterms:modified xsi:type="dcterms:W3CDTF">2014-07-28T15:15:01Z</dcterms:modified>
</cp:coreProperties>
</file>