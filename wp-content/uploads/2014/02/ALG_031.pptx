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6143D-C547-4AAE-9154-58B555EB5552}" type="datetimeFigureOut">
              <a:rPr lang="pt-BR" smtClean="0"/>
              <a:t>10/02/2014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6C6DD-A3E4-4CDC-A9B9-43E8A128052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9A6BF3-3EAA-4209-B0F8-9BAFD80DAA69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AEC15E-6475-46EB-BE89-0DFC695E97A5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28F7F6-A442-41EE-9CA4-4FA3B2D9A074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66817-1D46-4C8B-A6B9-5BA7DAED300F}" type="slidenum">
              <a:rPr lang="pt-BR" smtClean="0">
                <a:latin typeface="Times New Roman" pitchFamily="18" charset="0"/>
              </a:rPr>
              <a:pPr/>
              <a:t>13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720F58-5908-4F63-B49B-0029EAF303D4}" type="slidenum">
              <a:rPr lang="pt-BR" smtClean="0">
                <a:latin typeface="Times New Roman" pitchFamily="18" charset="0"/>
              </a:rPr>
              <a:pPr/>
              <a:t>14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B1A342-D3CB-49E7-AA85-33F0D1EFF587}" type="slidenum">
              <a:rPr lang="pt-BR" smtClean="0">
                <a:latin typeface="Times New Roman" pitchFamily="18" charset="0"/>
              </a:rPr>
              <a:pPr/>
              <a:t>15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B21838-141F-4E6A-A408-A70AD6EC2917}" type="slidenum">
              <a:rPr lang="pt-BR" smtClean="0">
                <a:latin typeface="Times New Roman" pitchFamily="18" charset="0"/>
              </a:rPr>
              <a:pPr/>
              <a:t>16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9F7F15-60FE-4504-887D-A448AAF4A949}" type="slidenum">
              <a:rPr lang="pt-BR" smtClean="0">
                <a:latin typeface="Times New Roman" pitchFamily="18" charset="0"/>
              </a:rPr>
              <a:pPr/>
              <a:t>17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F5947C-9FEF-4DF0-BA2E-3F3469A079BA}" type="slidenum">
              <a:rPr lang="pt-BR" smtClean="0">
                <a:latin typeface="Times New Roman" pitchFamily="18" charset="0"/>
              </a:rPr>
              <a:pPr/>
              <a:t>18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3D61DF-7DA5-4949-9580-CA3197D28FAE}" type="slidenum">
              <a:rPr lang="pt-BR" smtClean="0">
                <a:latin typeface="Times New Roman" pitchFamily="18" charset="0"/>
              </a:rPr>
              <a:pPr/>
              <a:t>19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8EDA81-8A85-423E-A988-BE145CD376FC}" type="slidenum">
              <a:rPr lang="pt-BR" smtClean="0">
                <a:latin typeface="Times New Roman" pitchFamily="18" charset="0"/>
              </a:rPr>
              <a:pPr/>
              <a:t>20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2A6F1D-8313-4E92-969B-6CA15CC6FCBD}" type="slidenum">
              <a:rPr lang="pt-BR" smtClean="0">
                <a:latin typeface="Times New Roman" pitchFamily="18" charset="0"/>
              </a:rPr>
              <a:pPr/>
              <a:t>21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09059-1994-4ECB-BA8A-95DE2FBA392A}" type="slidenum">
              <a:rPr lang="pt-BR" smtClean="0">
                <a:latin typeface="Times New Roman" pitchFamily="18" charset="0"/>
              </a:rPr>
              <a:pPr/>
              <a:t>22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93B80F-9B30-4639-8BC1-1B94F94D8629}" type="slidenum">
              <a:rPr lang="pt-BR" smtClean="0">
                <a:latin typeface="Times New Roman" pitchFamily="18" charset="0"/>
              </a:rPr>
              <a:pPr/>
              <a:t>23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C8A912-40B9-4CFC-B653-EB35B9073BF5}" type="slidenum">
              <a:rPr lang="pt-BR" smtClean="0">
                <a:latin typeface="Times New Roman" pitchFamily="18" charset="0"/>
              </a:rPr>
              <a:pPr/>
              <a:t>24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386057-6BED-49DF-B6C9-724722DF8DDD}" type="slidenum">
              <a:rPr lang="pt-BR" smtClean="0">
                <a:latin typeface="Times New Roman" pitchFamily="18" charset="0"/>
              </a:rPr>
              <a:pPr/>
              <a:t>25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067288-83A6-4079-954A-7C7799141851}" type="slidenum">
              <a:rPr lang="pt-BR" smtClean="0">
                <a:latin typeface="Times New Roman" pitchFamily="18" charset="0"/>
              </a:rPr>
              <a:pPr/>
              <a:t>26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3EE875-7F49-46DA-9F69-1C2423B8D1B5}" type="slidenum">
              <a:rPr lang="pt-BR" smtClean="0">
                <a:latin typeface="Times New Roman" pitchFamily="18" charset="0"/>
              </a:rPr>
              <a:pPr/>
              <a:t>27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7DBA09E-5A1D-42DE-B2D9-D516496DC058}" type="datetimeFigureOut">
              <a:rPr lang="pt-BR" smtClean="0"/>
              <a:pPr/>
              <a:t>10/02/2014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DB8523F-89F5-44F4-BB84-6C7BFCBDC8E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Algoritmos – Aula 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Operadores </a:t>
            </a:r>
            <a:r>
              <a:rPr lang="pt-BR" dirty="0" smtClean="0"/>
              <a:t>Relacionais, Lógicos e </a:t>
            </a:r>
            <a:r>
              <a:rPr lang="pt-BR" dirty="0" smtClean="0"/>
              <a:t>comandos de condição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Expressões Lógicas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2017713"/>
            <a:ext cx="8343900" cy="1627187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Denomina-se </a:t>
            </a:r>
            <a:r>
              <a:rPr lang="pt-BR" sz="2400" b="1" smtClean="0">
                <a:solidFill>
                  <a:srgbClr val="FF0000"/>
                </a:solidFill>
              </a:rPr>
              <a:t>expressão lógica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aquela cujos </a:t>
            </a:r>
            <a:r>
              <a:rPr lang="pt-BR" sz="2400" b="1" smtClean="0">
                <a:solidFill>
                  <a:srgbClr val="FF0000"/>
                </a:solidFill>
              </a:rPr>
              <a:t>operadores</a:t>
            </a:r>
            <a:r>
              <a:rPr lang="pt-BR" sz="2400" smtClean="0"/>
              <a:t> são </a:t>
            </a:r>
            <a:r>
              <a:rPr lang="pt-BR" sz="2400" b="1" smtClean="0">
                <a:solidFill>
                  <a:srgbClr val="FF0000"/>
                </a:solidFill>
              </a:rPr>
              <a:t>lógicos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e/ou </a:t>
            </a:r>
            <a:r>
              <a:rPr lang="pt-BR" sz="2400" b="1" smtClean="0">
                <a:solidFill>
                  <a:srgbClr val="FF0000"/>
                </a:solidFill>
              </a:rPr>
              <a:t>relacionais</a:t>
            </a:r>
            <a:r>
              <a:rPr lang="pt-BR" sz="2400" smtClean="0"/>
              <a:t> e cujos </a:t>
            </a:r>
            <a:r>
              <a:rPr lang="pt-BR" sz="2400" b="1" smtClean="0">
                <a:solidFill>
                  <a:srgbClr val="FF0000"/>
                </a:solidFill>
              </a:rPr>
              <a:t>operandos</a:t>
            </a:r>
            <a:r>
              <a:rPr lang="pt-BR" sz="2400" smtClean="0"/>
              <a:t> são </a:t>
            </a:r>
            <a:r>
              <a:rPr lang="pt-BR" sz="2400" b="1" smtClean="0">
                <a:solidFill>
                  <a:srgbClr val="FF0000"/>
                </a:solidFill>
              </a:rPr>
              <a:t>relações</a:t>
            </a:r>
            <a:r>
              <a:rPr lang="pt-BR" sz="2400" smtClean="0"/>
              <a:t> e/ou </a:t>
            </a:r>
            <a:r>
              <a:rPr lang="pt-BR" sz="2400" b="1" smtClean="0">
                <a:solidFill>
                  <a:srgbClr val="FF0000"/>
                </a:solidFill>
              </a:rPr>
              <a:t>variáveis</a:t>
            </a:r>
            <a:r>
              <a:rPr lang="pt-BR" sz="2400" smtClean="0"/>
              <a:t> e/ou </a:t>
            </a:r>
            <a:r>
              <a:rPr lang="pt-BR" sz="2400" b="1" smtClean="0">
                <a:solidFill>
                  <a:srgbClr val="FF0000"/>
                </a:solidFill>
              </a:rPr>
              <a:t>constantes do tipo lógico</a:t>
            </a:r>
            <a:r>
              <a:rPr lang="pt-BR" sz="2400" smtClean="0"/>
              <a:t>.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755650" y="4005263"/>
            <a:ext cx="7272338" cy="2303462"/>
            <a:chOff x="476" y="2523"/>
            <a:chExt cx="4581" cy="1451"/>
          </a:xfrm>
        </p:grpSpPr>
        <p:sp>
          <p:nvSpPr>
            <p:cNvPr id="28677" name="Rectangle 5"/>
            <p:cNvSpPr>
              <a:spLocks noChangeArrowheads="1"/>
            </p:cNvSpPr>
            <p:nvPr/>
          </p:nvSpPr>
          <p:spPr bwMode="auto">
            <a:xfrm>
              <a:off x="2018" y="2613"/>
              <a:ext cx="1089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78" name="Rectangle 6"/>
            <p:cNvSpPr>
              <a:spLocks noChangeArrowheads="1"/>
            </p:cNvSpPr>
            <p:nvPr/>
          </p:nvSpPr>
          <p:spPr bwMode="auto">
            <a:xfrm>
              <a:off x="3379" y="2613"/>
              <a:ext cx="1089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79" name="Rectangle 7"/>
            <p:cNvSpPr>
              <a:spLocks noChangeArrowheads="1"/>
            </p:cNvSpPr>
            <p:nvPr/>
          </p:nvSpPr>
          <p:spPr bwMode="auto">
            <a:xfrm>
              <a:off x="3152" y="3202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3152" y="3475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1" name="Rectangle 9"/>
            <p:cNvSpPr>
              <a:spLocks noChangeArrowheads="1"/>
            </p:cNvSpPr>
            <p:nvPr/>
          </p:nvSpPr>
          <p:spPr bwMode="auto">
            <a:xfrm>
              <a:off x="3152" y="3747"/>
              <a:ext cx="1270" cy="2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2" name="AutoShape 10"/>
            <p:cNvSpPr>
              <a:spLocks noChangeArrowheads="1"/>
            </p:cNvSpPr>
            <p:nvPr/>
          </p:nvSpPr>
          <p:spPr bwMode="auto">
            <a:xfrm>
              <a:off x="2200" y="3474"/>
              <a:ext cx="317" cy="18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3107" y="270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4423" y="329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4423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6" name="Line 15"/>
            <p:cNvSpPr>
              <a:spLocks noChangeShapeType="1"/>
            </p:cNvSpPr>
            <p:nvPr/>
          </p:nvSpPr>
          <p:spPr bwMode="auto">
            <a:xfrm>
              <a:off x="2926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7" name="Line 16"/>
            <p:cNvSpPr>
              <a:spLocks noChangeShapeType="1"/>
            </p:cNvSpPr>
            <p:nvPr/>
          </p:nvSpPr>
          <p:spPr bwMode="auto">
            <a:xfrm>
              <a:off x="2926" y="383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8" name="Line 17"/>
            <p:cNvSpPr>
              <a:spLocks noChangeShapeType="1"/>
            </p:cNvSpPr>
            <p:nvPr/>
          </p:nvSpPr>
          <p:spPr bwMode="auto">
            <a:xfrm>
              <a:off x="1973" y="35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9" name="Line 18"/>
            <p:cNvSpPr>
              <a:spLocks noChangeShapeType="1"/>
            </p:cNvSpPr>
            <p:nvPr/>
          </p:nvSpPr>
          <p:spPr bwMode="auto">
            <a:xfrm>
              <a:off x="1746" y="3293"/>
              <a:ext cx="1316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0" name="Line 19"/>
            <p:cNvSpPr>
              <a:spLocks noChangeShapeType="1"/>
            </p:cNvSpPr>
            <p:nvPr/>
          </p:nvSpPr>
          <p:spPr bwMode="auto">
            <a:xfrm flipV="1">
              <a:off x="1973" y="329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1" name="Line 20"/>
            <p:cNvSpPr>
              <a:spLocks noChangeShapeType="1"/>
            </p:cNvSpPr>
            <p:nvPr/>
          </p:nvSpPr>
          <p:spPr bwMode="auto">
            <a:xfrm>
              <a:off x="2517" y="356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2" name="Line 21"/>
            <p:cNvSpPr>
              <a:spLocks noChangeShapeType="1"/>
            </p:cNvSpPr>
            <p:nvPr/>
          </p:nvSpPr>
          <p:spPr bwMode="auto">
            <a:xfrm flipV="1">
              <a:off x="2653" y="329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3" name="Line 22"/>
            <p:cNvSpPr>
              <a:spLocks noChangeShapeType="1"/>
            </p:cNvSpPr>
            <p:nvPr/>
          </p:nvSpPr>
          <p:spPr bwMode="auto">
            <a:xfrm flipV="1">
              <a:off x="2926" y="3293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4" name="Line 24"/>
            <p:cNvSpPr>
              <a:spLocks noChangeShapeType="1"/>
            </p:cNvSpPr>
            <p:nvPr/>
          </p:nvSpPr>
          <p:spPr bwMode="auto">
            <a:xfrm flipV="1">
              <a:off x="4650" y="3293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5" name="Line 25"/>
            <p:cNvSpPr>
              <a:spLocks noChangeShapeType="1"/>
            </p:cNvSpPr>
            <p:nvPr/>
          </p:nvSpPr>
          <p:spPr bwMode="auto">
            <a:xfrm flipH="1">
              <a:off x="4423" y="383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6" name="Line 26"/>
            <p:cNvSpPr>
              <a:spLocks noChangeShapeType="1"/>
            </p:cNvSpPr>
            <p:nvPr/>
          </p:nvSpPr>
          <p:spPr bwMode="auto">
            <a:xfrm>
              <a:off x="4468" y="270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7" name="Line 27"/>
            <p:cNvSpPr>
              <a:spLocks noChangeShapeType="1"/>
            </p:cNvSpPr>
            <p:nvPr/>
          </p:nvSpPr>
          <p:spPr bwMode="auto">
            <a:xfrm flipV="1">
              <a:off x="4649" y="25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8" name="Line 28"/>
            <p:cNvSpPr>
              <a:spLocks noChangeShapeType="1"/>
            </p:cNvSpPr>
            <p:nvPr/>
          </p:nvSpPr>
          <p:spPr bwMode="auto">
            <a:xfrm flipH="1">
              <a:off x="1837" y="2523"/>
              <a:ext cx="28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9" name="Line 29"/>
            <p:cNvSpPr>
              <a:spLocks noChangeShapeType="1"/>
            </p:cNvSpPr>
            <p:nvPr/>
          </p:nvSpPr>
          <p:spPr bwMode="auto">
            <a:xfrm>
              <a:off x="1837" y="25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0" name="Line 30"/>
            <p:cNvSpPr>
              <a:spLocks noChangeShapeType="1"/>
            </p:cNvSpPr>
            <p:nvPr/>
          </p:nvSpPr>
          <p:spPr bwMode="auto">
            <a:xfrm>
              <a:off x="1655" y="2704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1" name="Line 31"/>
            <p:cNvSpPr>
              <a:spLocks noChangeShapeType="1"/>
            </p:cNvSpPr>
            <p:nvPr/>
          </p:nvSpPr>
          <p:spPr bwMode="auto">
            <a:xfrm>
              <a:off x="3243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2" name="Line 33"/>
            <p:cNvSpPr>
              <a:spLocks noChangeShapeType="1"/>
            </p:cNvSpPr>
            <p:nvPr/>
          </p:nvSpPr>
          <p:spPr bwMode="auto">
            <a:xfrm>
              <a:off x="3243" y="2931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3" name="Line 34"/>
            <p:cNvSpPr>
              <a:spLocks noChangeShapeType="1"/>
            </p:cNvSpPr>
            <p:nvPr/>
          </p:nvSpPr>
          <p:spPr bwMode="auto">
            <a:xfrm flipV="1">
              <a:off x="4876" y="270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4" name="Line 35"/>
            <p:cNvSpPr>
              <a:spLocks noChangeShapeType="1"/>
            </p:cNvSpPr>
            <p:nvPr/>
          </p:nvSpPr>
          <p:spPr bwMode="auto">
            <a:xfrm>
              <a:off x="4876" y="270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5" name="Text Box 40"/>
            <p:cNvSpPr txBox="1">
              <a:spLocks noChangeArrowheads="1"/>
            </p:cNvSpPr>
            <p:nvPr/>
          </p:nvSpPr>
          <p:spPr bwMode="auto">
            <a:xfrm>
              <a:off x="2064" y="261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operando lógico</a:t>
              </a:r>
            </a:p>
          </p:txBody>
        </p:sp>
        <p:sp>
          <p:nvSpPr>
            <p:cNvPr id="28706" name="Text Box 41"/>
            <p:cNvSpPr txBox="1">
              <a:spLocks noChangeArrowheads="1"/>
            </p:cNvSpPr>
            <p:nvPr/>
          </p:nvSpPr>
          <p:spPr bwMode="auto">
            <a:xfrm>
              <a:off x="3425" y="261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operador lógico</a:t>
              </a:r>
            </a:p>
          </p:txBody>
        </p:sp>
        <p:sp>
          <p:nvSpPr>
            <p:cNvPr id="28707" name="Text Box 42"/>
            <p:cNvSpPr txBox="1">
              <a:spLocks noChangeArrowheads="1"/>
            </p:cNvSpPr>
            <p:nvPr/>
          </p:nvSpPr>
          <p:spPr bwMode="auto">
            <a:xfrm>
              <a:off x="3288" y="3203"/>
              <a:ext cx="10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constante lógica</a:t>
              </a:r>
            </a:p>
          </p:txBody>
        </p:sp>
        <p:sp>
          <p:nvSpPr>
            <p:cNvPr id="28708" name="Text Box 43"/>
            <p:cNvSpPr txBox="1">
              <a:spLocks noChangeArrowheads="1"/>
            </p:cNvSpPr>
            <p:nvPr/>
          </p:nvSpPr>
          <p:spPr bwMode="auto">
            <a:xfrm>
              <a:off x="3334" y="3475"/>
              <a:ext cx="99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variável lógica</a:t>
              </a:r>
            </a:p>
          </p:txBody>
        </p:sp>
        <p:sp>
          <p:nvSpPr>
            <p:cNvPr id="28709" name="Text Box 44"/>
            <p:cNvSpPr txBox="1">
              <a:spLocks noChangeArrowheads="1"/>
            </p:cNvSpPr>
            <p:nvPr/>
          </p:nvSpPr>
          <p:spPr bwMode="auto">
            <a:xfrm>
              <a:off x="3152" y="3747"/>
              <a:ext cx="1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relacional</a:t>
              </a:r>
            </a:p>
          </p:txBody>
        </p:sp>
        <p:sp>
          <p:nvSpPr>
            <p:cNvPr id="28710" name="Text Box 45"/>
            <p:cNvSpPr txBox="1">
              <a:spLocks noChangeArrowheads="1"/>
            </p:cNvSpPr>
            <p:nvPr/>
          </p:nvSpPr>
          <p:spPr bwMode="auto">
            <a:xfrm>
              <a:off x="2200" y="3444"/>
              <a:ext cx="4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não</a:t>
              </a:r>
            </a:p>
          </p:txBody>
        </p:sp>
        <p:sp>
          <p:nvSpPr>
            <p:cNvPr id="28711" name="Text Box 46"/>
            <p:cNvSpPr txBox="1">
              <a:spLocks noChangeArrowheads="1"/>
            </p:cNvSpPr>
            <p:nvPr/>
          </p:nvSpPr>
          <p:spPr bwMode="auto">
            <a:xfrm>
              <a:off x="476" y="2568"/>
              <a:ext cx="12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expressão lógica</a:t>
              </a:r>
            </a:p>
          </p:txBody>
        </p:sp>
        <p:sp>
          <p:nvSpPr>
            <p:cNvPr id="28712" name="Text Box 47"/>
            <p:cNvSpPr txBox="1">
              <a:spLocks noChangeArrowheads="1"/>
            </p:cNvSpPr>
            <p:nvPr/>
          </p:nvSpPr>
          <p:spPr bwMode="auto">
            <a:xfrm>
              <a:off x="612" y="3172"/>
              <a:ext cx="12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operando lógico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Operadores Relacionais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2017713"/>
            <a:ext cx="8415338" cy="1627187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Os </a:t>
            </a:r>
            <a:r>
              <a:rPr lang="pt-BR" sz="2400" b="1" smtClean="0">
                <a:solidFill>
                  <a:srgbClr val="FF0000"/>
                </a:solidFill>
              </a:rPr>
              <a:t>operadores relacionais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são utilizados para realizar </a:t>
            </a:r>
            <a:r>
              <a:rPr lang="pt-BR" sz="2400" b="1" smtClean="0">
                <a:solidFill>
                  <a:srgbClr val="FF0000"/>
                </a:solidFill>
              </a:rPr>
              <a:t>comparações</a:t>
            </a:r>
            <a:r>
              <a:rPr lang="pt-BR" sz="2400" smtClean="0"/>
              <a:t> entre </a:t>
            </a:r>
            <a:r>
              <a:rPr lang="pt-BR" sz="2400" b="1" smtClean="0">
                <a:solidFill>
                  <a:srgbClr val="FF0000"/>
                </a:solidFill>
              </a:rPr>
              <a:t>dois valores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(constantes, variáveis ou expressões aritméticas) de </a:t>
            </a:r>
            <a:r>
              <a:rPr lang="pt-BR" sz="2400" b="1" smtClean="0">
                <a:solidFill>
                  <a:srgbClr val="FF0000"/>
                </a:solidFill>
              </a:rPr>
              <a:t>mesmo tipo primitivo</a:t>
            </a:r>
            <a:r>
              <a:rPr lang="pt-BR" sz="2400" smtClean="0"/>
              <a:t>.</a:t>
            </a:r>
          </a:p>
          <a:p>
            <a:pPr algn="just" eaLnBrk="1" hangingPunct="1"/>
            <a:endParaRPr lang="pt-BR" sz="2400" smtClean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8400" y="3716338"/>
            <a:ext cx="2016125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395288" y="5661025"/>
            <a:ext cx="8640762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O </a:t>
            </a:r>
            <a:r>
              <a:rPr lang="pt-BR" sz="2400" b="1">
                <a:solidFill>
                  <a:srgbClr val="FF0000"/>
                </a:solidFill>
              </a:rPr>
              <a:t>resultado</a:t>
            </a:r>
            <a:r>
              <a:rPr lang="pt-BR" sz="2400"/>
              <a:t> obtido de uma </a:t>
            </a:r>
            <a:r>
              <a:rPr lang="pt-BR" sz="2400" b="1">
                <a:solidFill>
                  <a:srgbClr val="FF0000"/>
                </a:solidFill>
              </a:rPr>
              <a:t>expressão relacional</a:t>
            </a:r>
            <a:r>
              <a:rPr lang="pt-BR" sz="2400">
                <a:solidFill>
                  <a:srgbClr val="FF0000"/>
                </a:solidFill>
              </a:rPr>
              <a:t> </a:t>
            </a:r>
            <a:r>
              <a:rPr lang="pt-BR" sz="2400"/>
              <a:t>é sempre um valor </a:t>
            </a:r>
            <a:r>
              <a:rPr lang="pt-BR" sz="2400" b="1">
                <a:solidFill>
                  <a:srgbClr val="FF0000"/>
                </a:solidFill>
              </a:rPr>
              <a:t>lógico</a:t>
            </a:r>
            <a:r>
              <a:rPr lang="pt-BR" sz="24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Operadores Lógicos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4213" y="2017713"/>
            <a:ext cx="8270875" cy="547687"/>
          </a:xfrm>
        </p:spPr>
        <p:txBody>
          <a:bodyPr/>
          <a:lstStyle/>
          <a:p>
            <a:pPr eaLnBrk="1" hangingPunct="1"/>
            <a:r>
              <a:rPr lang="pt-BR" sz="2400" smtClean="0"/>
              <a:t>Os operadores lógicos mais utilizados são: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075" y="2636838"/>
            <a:ext cx="4176713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Comando de Atribuição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288" y="2017713"/>
            <a:ext cx="8559800" cy="1698625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Permite-nos fornecer um </a:t>
            </a:r>
            <a:r>
              <a:rPr lang="pt-BR" sz="2400" b="1" smtClean="0">
                <a:solidFill>
                  <a:srgbClr val="FF0000"/>
                </a:solidFill>
              </a:rPr>
              <a:t>valor</a:t>
            </a:r>
            <a:r>
              <a:rPr lang="pt-BR" sz="2400" smtClean="0"/>
              <a:t> a uma certa </a:t>
            </a:r>
            <a:r>
              <a:rPr lang="pt-BR" sz="2400" b="1" smtClean="0">
                <a:solidFill>
                  <a:srgbClr val="FF0000"/>
                </a:solidFill>
              </a:rPr>
              <a:t>variável</a:t>
            </a:r>
            <a:r>
              <a:rPr lang="pt-BR" sz="2400" smtClean="0"/>
              <a:t>, onde o tipo dessa informação deve ser </a:t>
            </a:r>
            <a:r>
              <a:rPr lang="pt-BR" sz="2400" b="1" smtClean="0">
                <a:solidFill>
                  <a:srgbClr val="FF0000"/>
                </a:solidFill>
              </a:rPr>
              <a:t>compatível</a:t>
            </a:r>
            <a:r>
              <a:rPr lang="pt-BR" sz="2400" smtClean="0"/>
              <a:t> com o tipo da variável.</a:t>
            </a:r>
          </a:p>
          <a:p>
            <a:pPr algn="just" eaLnBrk="1" hangingPunct="1"/>
            <a:r>
              <a:rPr lang="pt-BR" sz="2400" smtClean="0"/>
              <a:t>O comando da atribuição possui a seguinte sintaxe: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79388" y="3933825"/>
            <a:ext cx="6481762" cy="1728788"/>
            <a:chOff x="113" y="2478"/>
            <a:chExt cx="4083" cy="1089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1292" y="2524"/>
              <a:ext cx="817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2790" y="2524"/>
              <a:ext cx="7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2245" y="2524"/>
              <a:ext cx="408" cy="2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3" name="Oval 7"/>
            <p:cNvSpPr>
              <a:spLocks noChangeArrowheads="1"/>
            </p:cNvSpPr>
            <p:nvPr/>
          </p:nvSpPr>
          <p:spPr bwMode="auto">
            <a:xfrm>
              <a:off x="3697" y="2524"/>
              <a:ext cx="181" cy="22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4" name="Rectangle 8"/>
            <p:cNvSpPr>
              <a:spLocks noChangeArrowheads="1"/>
            </p:cNvSpPr>
            <p:nvPr/>
          </p:nvSpPr>
          <p:spPr bwMode="auto">
            <a:xfrm>
              <a:off x="1292" y="3069"/>
              <a:ext cx="136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5" name="Rectangle 9"/>
            <p:cNvSpPr>
              <a:spLocks noChangeArrowheads="1"/>
            </p:cNvSpPr>
            <p:nvPr/>
          </p:nvSpPr>
          <p:spPr bwMode="auto">
            <a:xfrm>
              <a:off x="1292" y="3341"/>
              <a:ext cx="1361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756" name="Line 10"/>
            <p:cNvSpPr>
              <a:spLocks noChangeShapeType="1"/>
            </p:cNvSpPr>
            <p:nvPr/>
          </p:nvSpPr>
          <p:spPr bwMode="auto">
            <a:xfrm>
              <a:off x="2109" y="2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7" name="Line 11"/>
            <p:cNvSpPr>
              <a:spLocks noChangeShapeType="1"/>
            </p:cNvSpPr>
            <p:nvPr/>
          </p:nvSpPr>
          <p:spPr bwMode="auto">
            <a:xfrm>
              <a:off x="2653" y="2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8" name="Line 12"/>
            <p:cNvSpPr>
              <a:spLocks noChangeShapeType="1"/>
            </p:cNvSpPr>
            <p:nvPr/>
          </p:nvSpPr>
          <p:spPr bwMode="auto">
            <a:xfrm>
              <a:off x="3515" y="261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59" name="Line 13"/>
            <p:cNvSpPr>
              <a:spLocks noChangeShapeType="1"/>
            </p:cNvSpPr>
            <p:nvPr/>
          </p:nvSpPr>
          <p:spPr bwMode="auto">
            <a:xfrm>
              <a:off x="3878" y="261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0" name="Line 15"/>
            <p:cNvSpPr>
              <a:spLocks noChangeShapeType="1"/>
            </p:cNvSpPr>
            <p:nvPr/>
          </p:nvSpPr>
          <p:spPr bwMode="auto">
            <a:xfrm>
              <a:off x="884" y="2614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1" name="Line 16"/>
            <p:cNvSpPr>
              <a:spLocks noChangeShapeType="1"/>
            </p:cNvSpPr>
            <p:nvPr/>
          </p:nvSpPr>
          <p:spPr bwMode="auto">
            <a:xfrm>
              <a:off x="884" y="3159"/>
              <a:ext cx="31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2" name="Line 17"/>
            <p:cNvSpPr>
              <a:spLocks noChangeShapeType="1"/>
            </p:cNvSpPr>
            <p:nvPr/>
          </p:nvSpPr>
          <p:spPr bwMode="auto">
            <a:xfrm>
              <a:off x="2653" y="3159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3" name="Line 18"/>
            <p:cNvSpPr>
              <a:spLocks noChangeShapeType="1"/>
            </p:cNvSpPr>
            <p:nvPr/>
          </p:nvSpPr>
          <p:spPr bwMode="auto">
            <a:xfrm>
              <a:off x="1065" y="3431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4" name="Line 19"/>
            <p:cNvSpPr>
              <a:spLocks noChangeShapeType="1"/>
            </p:cNvSpPr>
            <p:nvPr/>
          </p:nvSpPr>
          <p:spPr bwMode="auto">
            <a:xfrm flipV="1">
              <a:off x="1065" y="31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5" name="Line 20"/>
            <p:cNvSpPr>
              <a:spLocks noChangeShapeType="1"/>
            </p:cNvSpPr>
            <p:nvPr/>
          </p:nvSpPr>
          <p:spPr bwMode="auto">
            <a:xfrm>
              <a:off x="2654" y="343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6" name="Line 21"/>
            <p:cNvSpPr>
              <a:spLocks noChangeShapeType="1"/>
            </p:cNvSpPr>
            <p:nvPr/>
          </p:nvSpPr>
          <p:spPr bwMode="auto">
            <a:xfrm flipV="1">
              <a:off x="2835" y="31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7" name="Line 22"/>
            <p:cNvSpPr>
              <a:spLocks noChangeShapeType="1"/>
            </p:cNvSpPr>
            <p:nvPr/>
          </p:nvSpPr>
          <p:spPr bwMode="auto">
            <a:xfrm flipH="1">
              <a:off x="2336" y="2614"/>
              <a:ext cx="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768" name="Text Box 23"/>
            <p:cNvSpPr txBox="1">
              <a:spLocks noChangeArrowheads="1"/>
            </p:cNvSpPr>
            <p:nvPr/>
          </p:nvSpPr>
          <p:spPr bwMode="auto">
            <a:xfrm>
              <a:off x="1292" y="2524"/>
              <a:ext cx="81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identificador</a:t>
              </a:r>
            </a:p>
          </p:txBody>
        </p:sp>
        <p:sp>
          <p:nvSpPr>
            <p:cNvPr id="31769" name="Text Box 26"/>
            <p:cNvSpPr txBox="1">
              <a:spLocks noChangeArrowheads="1"/>
            </p:cNvSpPr>
            <p:nvPr/>
          </p:nvSpPr>
          <p:spPr bwMode="auto">
            <a:xfrm>
              <a:off x="2789" y="2524"/>
              <a:ext cx="72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</a:t>
              </a:r>
            </a:p>
          </p:txBody>
        </p:sp>
        <p:sp>
          <p:nvSpPr>
            <p:cNvPr id="31770" name="Text Box 27"/>
            <p:cNvSpPr txBox="1">
              <a:spLocks noChangeArrowheads="1"/>
            </p:cNvSpPr>
            <p:nvPr/>
          </p:nvSpPr>
          <p:spPr bwMode="auto">
            <a:xfrm>
              <a:off x="3696" y="2493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;</a:t>
              </a:r>
            </a:p>
          </p:txBody>
        </p:sp>
        <p:sp>
          <p:nvSpPr>
            <p:cNvPr id="31771" name="Text Box 28"/>
            <p:cNvSpPr txBox="1">
              <a:spLocks noChangeArrowheads="1"/>
            </p:cNvSpPr>
            <p:nvPr/>
          </p:nvSpPr>
          <p:spPr bwMode="auto">
            <a:xfrm>
              <a:off x="1338" y="3068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aritmética</a:t>
              </a:r>
            </a:p>
          </p:txBody>
        </p:sp>
        <p:sp>
          <p:nvSpPr>
            <p:cNvPr id="31772" name="Text Box 29"/>
            <p:cNvSpPr txBox="1">
              <a:spLocks noChangeArrowheads="1"/>
            </p:cNvSpPr>
            <p:nvPr/>
          </p:nvSpPr>
          <p:spPr bwMode="auto">
            <a:xfrm>
              <a:off x="1428" y="3340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expressão lógica</a:t>
              </a:r>
            </a:p>
          </p:txBody>
        </p:sp>
        <p:sp>
          <p:nvSpPr>
            <p:cNvPr id="31773" name="Text Box 30"/>
            <p:cNvSpPr txBox="1">
              <a:spLocks noChangeArrowheads="1"/>
            </p:cNvSpPr>
            <p:nvPr/>
          </p:nvSpPr>
          <p:spPr bwMode="auto">
            <a:xfrm>
              <a:off x="113" y="2478"/>
              <a:ext cx="81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atribuição</a:t>
              </a:r>
            </a:p>
          </p:txBody>
        </p:sp>
        <p:sp>
          <p:nvSpPr>
            <p:cNvPr id="31774" name="Text Box 31"/>
            <p:cNvSpPr txBox="1">
              <a:spLocks noChangeArrowheads="1"/>
            </p:cNvSpPr>
            <p:nvPr/>
          </p:nvSpPr>
          <p:spPr bwMode="auto">
            <a:xfrm>
              <a:off x="113" y="3022"/>
              <a:ext cx="7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expressão</a:t>
              </a:r>
            </a:p>
          </p:txBody>
        </p:sp>
      </p:grpSp>
      <p:sp>
        <p:nvSpPr>
          <p:cNvPr id="31749" name="Rectangle 32"/>
          <p:cNvSpPr>
            <a:spLocks noChangeArrowheads="1"/>
          </p:cNvSpPr>
          <p:nvPr/>
        </p:nvSpPr>
        <p:spPr bwMode="auto">
          <a:xfrm>
            <a:off x="4859338" y="4508500"/>
            <a:ext cx="4111625" cy="213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Exemplo: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lógico: A, B;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inteiro: X;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/>
              <a:t>			A </a:t>
            </a:r>
            <a:r>
              <a:rPr lang="pt-BR" sz="1600">
                <a:sym typeface="Wingdings" pitchFamily="2" charset="2"/>
              </a:rPr>
              <a:t> verdadeiro;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>
                <a:sym typeface="Wingdings" pitchFamily="2" charset="2"/>
              </a:rPr>
              <a:t>			X  8 + 13 div 5;</a:t>
            </a:r>
          </a:p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pt-BR" sz="1600">
                <a:sym typeface="Wingdings" pitchFamily="2" charset="2"/>
              </a:rPr>
              <a:t>			B  5 = 3;</a:t>
            </a:r>
            <a:endParaRPr lang="pt-BR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Comandos de Entrada e Saída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82688" y="2060575"/>
            <a:ext cx="7772400" cy="547688"/>
          </a:xfrm>
        </p:spPr>
        <p:txBody>
          <a:bodyPr/>
          <a:lstStyle/>
          <a:p>
            <a:pPr eaLnBrk="1" hangingPunct="1"/>
            <a:r>
              <a:rPr lang="pt-BR" sz="2400" smtClean="0"/>
              <a:t>Sintaxe do comando da </a:t>
            </a:r>
            <a:r>
              <a:rPr lang="pt-BR" sz="2400" b="1" smtClean="0">
                <a:solidFill>
                  <a:srgbClr val="FF0000"/>
                </a:solidFill>
              </a:rPr>
              <a:t>entrada de dados</a:t>
            </a:r>
            <a:r>
              <a:rPr lang="pt-BR" sz="2400" smtClean="0"/>
              <a:t>: 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28675" y="3141663"/>
            <a:ext cx="7199313" cy="1008062"/>
            <a:chOff x="522" y="1979"/>
            <a:chExt cx="4535" cy="635"/>
          </a:xfrm>
        </p:grpSpPr>
        <p:sp>
          <p:nvSpPr>
            <p:cNvPr id="32774" name="AutoShape 5"/>
            <p:cNvSpPr>
              <a:spLocks noChangeArrowheads="1"/>
            </p:cNvSpPr>
            <p:nvPr/>
          </p:nvSpPr>
          <p:spPr bwMode="auto">
            <a:xfrm>
              <a:off x="2156" y="2024"/>
              <a:ext cx="453" cy="22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2926" y="2023"/>
              <a:ext cx="182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6" name="Rectangle 10"/>
            <p:cNvSpPr>
              <a:spLocks noChangeArrowheads="1"/>
            </p:cNvSpPr>
            <p:nvPr/>
          </p:nvSpPr>
          <p:spPr bwMode="auto">
            <a:xfrm>
              <a:off x="3289" y="1979"/>
              <a:ext cx="726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77" name="Line 11"/>
            <p:cNvSpPr>
              <a:spLocks noChangeShapeType="1"/>
            </p:cNvSpPr>
            <p:nvPr/>
          </p:nvSpPr>
          <p:spPr bwMode="auto">
            <a:xfrm>
              <a:off x="1793" y="2115"/>
              <a:ext cx="317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78" name="Line 12"/>
            <p:cNvSpPr>
              <a:spLocks noChangeShapeType="1"/>
            </p:cNvSpPr>
            <p:nvPr/>
          </p:nvSpPr>
          <p:spPr bwMode="auto">
            <a:xfrm>
              <a:off x="2609" y="211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79" name="Line 13"/>
            <p:cNvSpPr>
              <a:spLocks noChangeShapeType="1"/>
            </p:cNvSpPr>
            <p:nvPr/>
          </p:nvSpPr>
          <p:spPr bwMode="auto">
            <a:xfrm>
              <a:off x="3108" y="211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0" name="Line 14"/>
            <p:cNvSpPr>
              <a:spLocks noChangeShapeType="1"/>
            </p:cNvSpPr>
            <p:nvPr/>
          </p:nvSpPr>
          <p:spPr bwMode="auto">
            <a:xfrm>
              <a:off x="4015" y="211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1" name="Line 15"/>
            <p:cNvSpPr>
              <a:spLocks noChangeShapeType="1"/>
            </p:cNvSpPr>
            <p:nvPr/>
          </p:nvSpPr>
          <p:spPr bwMode="auto">
            <a:xfrm>
              <a:off x="4377" y="2115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2" name="Line 16"/>
            <p:cNvSpPr>
              <a:spLocks noChangeShapeType="1"/>
            </p:cNvSpPr>
            <p:nvPr/>
          </p:nvSpPr>
          <p:spPr bwMode="auto">
            <a:xfrm>
              <a:off x="4740" y="211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3" name="Oval 17"/>
            <p:cNvSpPr>
              <a:spLocks noChangeArrowheads="1"/>
            </p:cNvSpPr>
            <p:nvPr/>
          </p:nvSpPr>
          <p:spPr bwMode="auto">
            <a:xfrm>
              <a:off x="4196" y="2024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4" name="Oval 18"/>
            <p:cNvSpPr>
              <a:spLocks noChangeArrowheads="1"/>
            </p:cNvSpPr>
            <p:nvPr/>
          </p:nvSpPr>
          <p:spPr bwMode="auto">
            <a:xfrm>
              <a:off x="4559" y="2024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5" name="Oval 19"/>
            <p:cNvSpPr>
              <a:spLocks noChangeArrowheads="1"/>
            </p:cNvSpPr>
            <p:nvPr/>
          </p:nvSpPr>
          <p:spPr bwMode="auto">
            <a:xfrm>
              <a:off x="3516" y="2386"/>
              <a:ext cx="181" cy="22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2786" name="Line 20"/>
            <p:cNvSpPr>
              <a:spLocks noChangeShapeType="1"/>
            </p:cNvSpPr>
            <p:nvPr/>
          </p:nvSpPr>
          <p:spPr bwMode="auto">
            <a:xfrm flipH="1">
              <a:off x="3153" y="252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7" name="Line 21"/>
            <p:cNvSpPr>
              <a:spLocks noChangeShapeType="1"/>
            </p:cNvSpPr>
            <p:nvPr/>
          </p:nvSpPr>
          <p:spPr bwMode="auto">
            <a:xfrm>
              <a:off x="4060" y="211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8" name="Line 22"/>
            <p:cNvSpPr>
              <a:spLocks noChangeShapeType="1"/>
            </p:cNvSpPr>
            <p:nvPr/>
          </p:nvSpPr>
          <p:spPr bwMode="auto">
            <a:xfrm flipH="1">
              <a:off x="3697" y="252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89" name="Line 23"/>
            <p:cNvSpPr>
              <a:spLocks noChangeShapeType="1"/>
            </p:cNvSpPr>
            <p:nvPr/>
          </p:nvSpPr>
          <p:spPr bwMode="auto">
            <a:xfrm flipV="1">
              <a:off x="3153" y="2115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790" name="Text Box 24"/>
            <p:cNvSpPr txBox="1">
              <a:spLocks noChangeArrowheads="1"/>
            </p:cNvSpPr>
            <p:nvPr/>
          </p:nvSpPr>
          <p:spPr bwMode="auto">
            <a:xfrm>
              <a:off x="522" y="1994"/>
              <a:ext cx="131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entrada de dados</a:t>
              </a:r>
            </a:p>
          </p:txBody>
        </p:sp>
        <p:sp>
          <p:nvSpPr>
            <p:cNvPr id="32791" name="Text Box 25"/>
            <p:cNvSpPr txBox="1">
              <a:spLocks noChangeArrowheads="1"/>
            </p:cNvSpPr>
            <p:nvPr/>
          </p:nvSpPr>
          <p:spPr bwMode="auto">
            <a:xfrm>
              <a:off x="2245" y="2024"/>
              <a:ext cx="31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leia</a:t>
              </a:r>
            </a:p>
          </p:txBody>
        </p:sp>
        <p:sp>
          <p:nvSpPr>
            <p:cNvPr id="32792" name="Text Box 27"/>
            <p:cNvSpPr txBox="1">
              <a:spLocks noChangeArrowheads="1"/>
            </p:cNvSpPr>
            <p:nvPr/>
          </p:nvSpPr>
          <p:spPr bwMode="auto">
            <a:xfrm>
              <a:off x="3379" y="1994"/>
              <a:ext cx="6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/>
                <a:t>variável</a:t>
              </a:r>
            </a:p>
          </p:txBody>
        </p:sp>
        <p:sp>
          <p:nvSpPr>
            <p:cNvPr id="32793" name="Text Box 28"/>
            <p:cNvSpPr txBox="1">
              <a:spLocks noChangeArrowheads="1"/>
            </p:cNvSpPr>
            <p:nvPr/>
          </p:nvSpPr>
          <p:spPr bwMode="auto">
            <a:xfrm>
              <a:off x="2926" y="2024"/>
              <a:ext cx="18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(</a:t>
              </a:r>
            </a:p>
          </p:txBody>
        </p:sp>
        <p:sp>
          <p:nvSpPr>
            <p:cNvPr id="32794" name="Text Box 29"/>
            <p:cNvSpPr txBox="1">
              <a:spLocks noChangeArrowheads="1"/>
            </p:cNvSpPr>
            <p:nvPr/>
          </p:nvSpPr>
          <p:spPr bwMode="auto">
            <a:xfrm>
              <a:off x="4196" y="2024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)</a:t>
              </a:r>
            </a:p>
          </p:txBody>
        </p:sp>
        <p:sp>
          <p:nvSpPr>
            <p:cNvPr id="32795" name="Text Box 30"/>
            <p:cNvSpPr txBox="1">
              <a:spLocks noChangeArrowheads="1"/>
            </p:cNvSpPr>
            <p:nvPr/>
          </p:nvSpPr>
          <p:spPr bwMode="auto">
            <a:xfrm>
              <a:off x="3515" y="2387"/>
              <a:ext cx="13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,</a:t>
              </a:r>
            </a:p>
          </p:txBody>
        </p:sp>
        <p:sp>
          <p:nvSpPr>
            <p:cNvPr id="32796" name="Text Box 31"/>
            <p:cNvSpPr txBox="1">
              <a:spLocks noChangeArrowheads="1"/>
            </p:cNvSpPr>
            <p:nvPr/>
          </p:nvSpPr>
          <p:spPr bwMode="auto">
            <a:xfrm>
              <a:off x="4559" y="2024"/>
              <a:ext cx="13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/>
                <a:t>;</a:t>
              </a:r>
            </a:p>
          </p:txBody>
        </p:sp>
      </p:grpSp>
      <p:sp>
        <p:nvSpPr>
          <p:cNvPr id="32773" name="Rectangle 32"/>
          <p:cNvSpPr>
            <a:spLocks noChangeArrowheads="1"/>
          </p:cNvSpPr>
          <p:nvPr/>
        </p:nvSpPr>
        <p:spPr bwMode="auto">
          <a:xfrm>
            <a:off x="1182688" y="4465638"/>
            <a:ext cx="7772400" cy="162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Exemplos: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leia (X);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leia (A, XPTO, NOTA);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pt-BR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Saída de Dados</a:t>
            </a: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82688" y="2060575"/>
            <a:ext cx="7772400" cy="547688"/>
          </a:xfrm>
        </p:spPr>
        <p:txBody>
          <a:bodyPr/>
          <a:lstStyle/>
          <a:p>
            <a:pPr eaLnBrk="1" hangingPunct="1"/>
            <a:r>
              <a:rPr lang="pt-BR" sz="2400" smtClean="0"/>
              <a:t>Sintaxe do comando da </a:t>
            </a:r>
            <a:r>
              <a:rPr lang="pt-BR" sz="2400" b="1" smtClean="0">
                <a:solidFill>
                  <a:srgbClr val="FF0000"/>
                </a:solidFill>
              </a:rPr>
              <a:t>saída de dados</a:t>
            </a:r>
            <a:r>
              <a:rPr lang="pt-BR" sz="2400" smtClean="0"/>
              <a:t>: </a:t>
            </a:r>
          </a:p>
        </p:txBody>
      </p:sp>
      <p:sp>
        <p:nvSpPr>
          <p:cNvPr id="33796" name="AutoShape 5"/>
          <p:cNvSpPr>
            <a:spLocks noChangeArrowheads="1"/>
          </p:cNvSpPr>
          <p:nvPr/>
        </p:nvSpPr>
        <p:spPr bwMode="auto">
          <a:xfrm>
            <a:off x="3203575" y="3213100"/>
            <a:ext cx="938213" cy="3603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7" name="Oval 6"/>
          <p:cNvSpPr>
            <a:spLocks noChangeArrowheads="1"/>
          </p:cNvSpPr>
          <p:nvPr/>
        </p:nvSpPr>
        <p:spPr bwMode="auto">
          <a:xfrm>
            <a:off x="4645025" y="3211513"/>
            <a:ext cx="288925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5221288" y="3141663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2555875" y="3357563"/>
            <a:ext cx="503238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>
            <a:off x="4141788" y="3357563"/>
            <a:ext cx="503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4933950" y="3357563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6373813" y="3357563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7021513" y="3357563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4" name="Line 13"/>
          <p:cNvSpPr>
            <a:spLocks noChangeShapeType="1"/>
          </p:cNvSpPr>
          <p:nvPr/>
        </p:nvSpPr>
        <p:spPr bwMode="auto">
          <a:xfrm>
            <a:off x="7597775" y="3357563"/>
            <a:ext cx="503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05" name="Oval 14"/>
          <p:cNvSpPr>
            <a:spLocks noChangeArrowheads="1"/>
          </p:cNvSpPr>
          <p:nvPr/>
        </p:nvSpPr>
        <p:spPr bwMode="auto">
          <a:xfrm>
            <a:off x="6734175" y="3213100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6" name="Oval 15"/>
          <p:cNvSpPr>
            <a:spLocks noChangeArrowheads="1"/>
          </p:cNvSpPr>
          <p:nvPr/>
        </p:nvSpPr>
        <p:spPr bwMode="auto">
          <a:xfrm>
            <a:off x="7310438" y="3213100"/>
            <a:ext cx="287337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7" name="Oval 16"/>
          <p:cNvSpPr>
            <a:spLocks noChangeArrowheads="1"/>
          </p:cNvSpPr>
          <p:nvPr/>
        </p:nvSpPr>
        <p:spPr bwMode="auto">
          <a:xfrm>
            <a:off x="5724525" y="2565400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08" name="Line 17"/>
          <p:cNvSpPr>
            <a:spLocks noChangeShapeType="1"/>
          </p:cNvSpPr>
          <p:nvPr/>
        </p:nvSpPr>
        <p:spPr bwMode="auto">
          <a:xfrm flipH="1">
            <a:off x="5005388" y="270827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09" name="Line 18"/>
          <p:cNvSpPr>
            <a:spLocks noChangeShapeType="1"/>
          </p:cNvSpPr>
          <p:nvPr/>
        </p:nvSpPr>
        <p:spPr bwMode="auto">
          <a:xfrm>
            <a:off x="6588125" y="270827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10" name="Line 19"/>
          <p:cNvSpPr>
            <a:spLocks noChangeShapeType="1"/>
          </p:cNvSpPr>
          <p:nvPr/>
        </p:nvSpPr>
        <p:spPr bwMode="auto">
          <a:xfrm flipH="1">
            <a:off x="6011863" y="2708275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11" name="Text Box 21"/>
          <p:cNvSpPr txBox="1">
            <a:spLocks noChangeArrowheads="1"/>
          </p:cNvSpPr>
          <p:nvPr/>
        </p:nvSpPr>
        <p:spPr bwMode="auto">
          <a:xfrm>
            <a:off x="828675" y="3165475"/>
            <a:ext cx="1798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saída de dados</a:t>
            </a:r>
          </a:p>
        </p:txBody>
      </p:sp>
      <p:sp>
        <p:nvSpPr>
          <p:cNvPr id="33812" name="Text Box 22"/>
          <p:cNvSpPr txBox="1">
            <a:spLocks noChangeArrowheads="1"/>
          </p:cNvSpPr>
          <p:nvPr/>
        </p:nvSpPr>
        <p:spPr bwMode="auto">
          <a:xfrm>
            <a:off x="3203575" y="3213100"/>
            <a:ext cx="865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escreva</a:t>
            </a:r>
          </a:p>
        </p:txBody>
      </p:sp>
      <p:sp>
        <p:nvSpPr>
          <p:cNvPr id="33813" name="Text Box 23"/>
          <p:cNvSpPr txBox="1">
            <a:spLocks noChangeArrowheads="1"/>
          </p:cNvSpPr>
          <p:nvPr/>
        </p:nvSpPr>
        <p:spPr bwMode="auto">
          <a:xfrm>
            <a:off x="5364163" y="3165475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variável</a:t>
            </a:r>
          </a:p>
        </p:txBody>
      </p:sp>
      <p:sp>
        <p:nvSpPr>
          <p:cNvPr id="33814" name="Text Box 24"/>
          <p:cNvSpPr txBox="1">
            <a:spLocks noChangeArrowheads="1"/>
          </p:cNvSpPr>
          <p:nvPr/>
        </p:nvSpPr>
        <p:spPr bwMode="auto">
          <a:xfrm>
            <a:off x="4645025" y="3213100"/>
            <a:ext cx="288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(</a:t>
            </a:r>
          </a:p>
        </p:txBody>
      </p:sp>
      <p:sp>
        <p:nvSpPr>
          <p:cNvPr id="33815" name="Text Box 25"/>
          <p:cNvSpPr txBox="1">
            <a:spLocks noChangeArrowheads="1"/>
          </p:cNvSpPr>
          <p:nvPr/>
        </p:nvSpPr>
        <p:spPr bwMode="auto">
          <a:xfrm>
            <a:off x="6734175" y="3213100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)</a:t>
            </a:r>
          </a:p>
        </p:txBody>
      </p:sp>
      <p:sp>
        <p:nvSpPr>
          <p:cNvPr id="33816" name="Text Box 26"/>
          <p:cNvSpPr txBox="1">
            <a:spLocks noChangeArrowheads="1"/>
          </p:cNvSpPr>
          <p:nvPr/>
        </p:nvSpPr>
        <p:spPr bwMode="auto">
          <a:xfrm>
            <a:off x="5722938" y="2565400"/>
            <a:ext cx="2174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,</a:t>
            </a:r>
          </a:p>
        </p:txBody>
      </p:sp>
      <p:sp>
        <p:nvSpPr>
          <p:cNvPr id="33817" name="Text Box 27"/>
          <p:cNvSpPr txBox="1">
            <a:spLocks noChangeArrowheads="1"/>
          </p:cNvSpPr>
          <p:nvPr/>
        </p:nvSpPr>
        <p:spPr bwMode="auto">
          <a:xfrm>
            <a:off x="7310438" y="3213100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;</a:t>
            </a:r>
          </a:p>
        </p:txBody>
      </p:sp>
      <p:sp>
        <p:nvSpPr>
          <p:cNvPr id="33818" name="Rectangle 28"/>
          <p:cNvSpPr>
            <a:spLocks noChangeArrowheads="1"/>
          </p:cNvSpPr>
          <p:nvPr/>
        </p:nvSpPr>
        <p:spPr bwMode="auto">
          <a:xfrm>
            <a:off x="1182688" y="4752975"/>
            <a:ext cx="77724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400"/>
              <a:t>Exemplos: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(Y);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(B, XPTO, MEDIA);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(“Bom Dia ”, NOME);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pt-BR" sz="2000"/>
              <a:t>escreva (“Você pesa ”, X*2, “quilos.”);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pt-BR" sz="2400"/>
          </a:p>
        </p:txBody>
      </p:sp>
      <p:sp>
        <p:nvSpPr>
          <p:cNvPr id="33819" name="Line 29"/>
          <p:cNvSpPr>
            <a:spLocks noChangeShapeType="1"/>
          </p:cNvSpPr>
          <p:nvPr/>
        </p:nvSpPr>
        <p:spPr bwMode="auto">
          <a:xfrm>
            <a:off x="5003800" y="2708275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0" name="Rectangle 30"/>
          <p:cNvSpPr>
            <a:spLocks noChangeArrowheads="1"/>
          </p:cNvSpPr>
          <p:nvPr/>
        </p:nvSpPr>
        <p:spPr bwMode="auto">
          <a:xfrm>
            <a:off x="5219700" y="3644900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21" name="Rectangle 31"/>
          <p:cNvSpPr>
            <a:spLocks noChangeArrowheads="1"/>
          </p:cNvSpPr>
          <p:nvPr/>
        </p:nvSpPr>
        <p:spPr bwMode="auto">
          <a:xfrm>
            <a:off x="5219700" y="4149725"/>
            <a:ext cx="11525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3822" name="Text Box 32"/>
          <p:cNvSpPr txBox="1">
            <a:spLocks noChangeArrowheads="1"/>
          </p:cNvSpPr>
          <p:nvPr/>
        </p:nvSpPr>
        <p:spPr bwMode="auto">
          <a:xfrm>
            <a:off x="5219700" y="3668713"/>
            <a:ext cx="1079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constante</a:t>
            </a:r>
          </a:p>
        </p:txBody>
      </p:sp>
      <p:sp>
        <p:nvSpPr>
          <p:cNvPr id="33823" name="Text Box 33"/>
          <p:cNvSpPr txBox="1">
            <a:spLocks noChangeArrowheads="1"/>
          </p:cNvSpPr>
          <p:nvPr/>
        </p:nvSpPr>
        <p:spPr bwMode="auto">
          <a:xfrm>
            <a:off x="5219700" y="4171950"/>
            <a:ext cx="11525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expressão</a:t>
            </a:r>
          </a:p>
        </p:txBody>
      </p:sp>
      <p:sp>
        <p:nvSpPr>
          <p:cNvPr id="33824" name="Line 34"/>
          <p:cNvSpPr>
            <a:spLocks noChangeShapeType="1"/>
          </p:cNvSpPr>
          <p:nvPr/>
        </p:nvSpPr>
        <p:spPr bwMode="auto">
          <a:xfrm>
            <a:off x="6372225" y="436562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3825" name="Line 36"/>
          <p:cNvSpPr>
            <a:spLocks noChangeShapeType="1"/>
          </p:cNvSpPr>
          <p:nvPr/>
        </p:nvSpPr>
        <p:spPr bwMode="auto">
          <a:xfrm flipV="1">
            <a:off x="6516688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6" name="Line 37"/>
          <p:cNvSpPr>
            <a:spLocks noChangeShapeType="1"/>
          </p:cNvSpPr>
          <p:nvPr/>
        </p:nvSpPr>
        <p:spPr bwMode="auto">
          <a:xfrm>
            <a:off x="5076825" y="38608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7" name="Line 38"/>
          <p:cNvSpPr>
            <a:spLocks noChangeShapeType="1"/>
          </p:cNvSpPr>
          <p:nvPr/>
        </p:nvSpPr>
        <p:spPr bwMode="auto">
          <a:xfrm>
            <a:off x="5076825" y="4365625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3828" name="Line 39"/>
          <p:cNvSpPr>
            <a:spLocks noChangeShapeType="1"/>
          </p:cNvSpPr>
          <p:nvPr/>
        </p:nvSpPr>
        <p:spPr bwMode="auto">
          <a:xfrm>
            <a:off x="5076825" y="3357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Blocos</a:t>
            </a:r>
            <a:br>
              <a:rPr lang="pt-BR" sz="3600" dirty="0">
                <a:solidFill>
                  <a:schemeClr val="accent1">
                    <a:satMod val="150000"/>
                  </a:schemeClr>
                </a:solidFill>
              </a:rPr>
            </a:br>
            <a:endParaRPr lang="pt-BR" sz="1800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2017713"/>
            <a:ext cx="8415338" cy="3355975"/>
          </a:xfrm>
        </p:spPr>
        <p:txBody>
          <a:bodyPr/>
          <a:lstStyle/>
          <a:p>
            <a:pPr algn="just" eaLnBrk="1" hangingPunct="1"/>
            <a:r>
              <a:rPr lang="pt-BR" sz="2400" smtClean="0"/>
              <a:t>Um bloco é definido como um </a:t>
            </a:r>
            <a:r>
              <a:rPr lang="pt-BR" sz="2400" b="1" smtClean="0">
                <a:solidFill>
                  <a:srgbClr val="FF0000"/>
                </a:solidFill>
              </a:rPr>
              <a:t>conjunto de ações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smtClean="0"/>
              <a:t>com uma </a:t>
            </a:r>
            <a:r>
              <a:rPr lang="pt-BR" sz="2400" b="1" smtClean="0">
                <a:solidFill>
                  <a:srgbClr val="FF0000"/>
                </a:solidFill>
              </a:rPr>
              <a:t>função</a:t>
            </a:r>
            <a:r>
              <a:rPr lang="pt-BR" sz="2400" smtClean="0">
                <a:solidFill>
                  <a:srgbClr val="FF0000"/>
                </a:solidFill>
              </a:rPr>
              <a:t> </a:t>
            </a:r>
            <a:r>
              <a:rPr lang="pt-BR" sz="2400" b="1" smtClean="0">
                <a:solidFill>
                  <a:srgbClr val="FF0000"/>
                </a:solidFill>
              </a:rPr>
              <a:t>definida</a:t>
            </a:r>
            <a:r>
              <a:rPr lang="pt-BR" sz="2400" smtClean="0"/>
              <a:t>.</a:t>
            </a:r>
          </a:p>
          <a:p>
            <a:pPr algn="just" eaLnBrk="1" hangingPunct="1"/>
            <a:r>
              <a:rPr lang="pt-BR" sz="2400" smtClean="0"/>
              <a:t>Algoritmo seria um bloco !?</a:t>
            </a:r>
          </a:p>
          <a:p>
            <a:pPr algn="just" eaLnBrk="1" hangingPunct="1"/>
            <a:r>
              <a:rPr lang="pt-BR" sz="2400" smtClean="0"/>
              <a:t>Serve também para definir os </a:t>
            </a:r>
            <a:r>
              <a:rPr lang="pt-BR" sz="2400" b="1" smtClean="0">
                <a:solidFill>
                  <a:srgbClr val="FF0000"/>
                </a:solidFill>
              </a:rPr>
              <a:t>limites</a:t>
            </a:r>
            <a:r>
              <a:rPr lang="pt-BR" sz="2400" smtClean="0"/>
              <a:t> nos quais as variáveis declaradas em seu interior </a:t>
            </a:r>
            <a:r>
              <a:rPr lang="pt-BR" sz="2400" b="1" smtClean="0">
                <a:solidFill>
                  <a:srgbClr val="FF0000"/>
                </a:solidFill>
              </a:rPr>
              <a:t>são conhecidos</a:t>
            </a:r>
            <a:r>
              <a:rPr lang="pt-BR" sz="2400" smtClean="0"/>
              <a:t>.</a:t>
            </a:r>
          </a:p>
          <a:p>
            <a:pPr algn="just" eaLnBrk="1" hangingPunct="1"/>
            <a:r>
              <a:rPr lang="pt-BR" sz="2400" smtClean="0"/>
              <a:t>Para delimitar um bloco, utiliza-se os delimitadores: </a:t>
            </a:r>
            <a:r>
              <a:rPr lang="pt-BR" sz="2400" b="1" smtClean="0">
                <a:solidFill>
                  <a:srgbClr val="FF0000"/>
                </a:solidFill>
              </a:rPr>
              <a:t>inicio</a:t>
            </a:r>
            <a:r>
              <a:rPr lang="pt-BR" sz="2400" smtClean="0"/>
              <a:t> e </a:t>
            </a:r>
            <a:r>
              <a:rPr lang="pt-BR" sz="2400" b="1" smtClean="0">
                <a:solidFill>
                  <a:srgbClr val="FF0000"/>
                </a:solidFill>
              </a:rPr>
              <a:t>fim</a:t>
            </a:r>
            <a:r>
              <a:rPr lang="pt-BR" sz="2400" smtClean="0"/>
              <a:t>, como segue:</a:t>
            </a:r>
          </a:p>
        </p:txBody>
      </p:sp>
      <p:sp>
        <p:nvSpPr>
          <p:cNvPr id="34820" name="AutoShape 4"/>
          <p:cNvSpPr>
            <a:spLocks noChangeArrowheads="1"/>
          </p:cNvSpPr>
          <p:nvPr/>
        </p:nvSpPr>
        <p:spPr bwMode="auto">
          <a:xfrm>
            <a:off x="3203575" y="5783263"/>
            <a:ext cx="792163" cy="358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4427538" y="5783263"/>
            <a:ext cx="649287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2" name="AutoShape 6"/>
          <p:cNvSpPr>
            <a:spLocks noChangeArrowheads="1"/>
          </p:cNvSpPr>
          <p:nvPr/>
        </p:nvSpPr>
        <p:spPr bwMode="auto">
          <a:xfrm>
            <a:off x="5508625" y="5783263"/>
            <a:ext cx="792163" cy="358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4823" name="Oval 9"/>
          <p:cNvSpPr>
            <a:spLocks noChangeArrowheads="1"/>
          </p:cNvSpPr>
          <p:nvPr/>
        </p:nvSpPr>
        <p:spPr bwMode="auto">
          <a:xfrm>
            <a:off x="6732588" y="5780088"/>
            <a:ext cx="287337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34824" name="Line 10"/>
          <p:cNvSpPr>
            <a:spLocks noChangeShapeType="1"/>
          </p:cNvSpPr>
          <p:nvPr/>
        </p:nvSpPr>
        <p:spPr bwMode="auto">
          <a:xfrm>
            <a:off x="3995738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5" name="Line 11"/>
          <p:cNvSpPr>
            <a:spLocks noChangeShapeType="1"/>
          </p:cNvSpPr>
          <p:nvPr/>
        </p:nvSpPr>
        <p:spPr bwMode="auto">
          <a:xfrm>
            <a:off x="5076825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6" name="Line 12"/>
          <p:cNvSpPr>
            <a:spLocks noChangeShapeType="1"/>
          </p:cNvSpPr>
          <p:nvPr/>
        </p:nvSpPr>
        <p:spPr bwMode="auto">
          <a:xfrm>
            <a:off x="6300788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7" name="Line 13"/>
          <p:cNvSpPr>
            <a:spLocks noChangeShapeType="1"/>
          </p:cNvSpPr>
          <p:nvPr/>
        </p:nvSpPr>
        <p:spPr bwMode="auto">
          <a:xfrm>
            <a:off x="7019925" y="592613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28" name="Oval 14"/>
          <p:cNvSpPr>
            <a:spLocks noChangeArrowheads="1"/>
          </p:cNvSpPr>
          <p:nvPr/>
        </p:nvSpPr>
        <p:spPr bwMode="auto">
          <a:xfrm>
            <a:off x="4572000" y="6284913"/>
            <a:ext cx="287338" cy="3619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34829" name="Line 15"/>
          <p:cNvSpPr>
            <a:spLocks noChangeShapeType="1"/>
          </p:cNvSpPr>
          <p:nvPr/>
        </p:nvSpPr>
        <p:spPr bwMode="auto">
          <a:xfrm>
            <a:off x="2484438" y="5926138"/>
            <a:ext cx="5746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30" name="Text Box 17"/>
          <p:cNvSpPr txBox="1">
            <a:spLocks noChangeArrowheads="1"/>
          </p:cNvSpPr>
          <p:nvPr/>
        </p:nvSpPr>
        <p:spPr bwMode="auto">
          <a:xfrm>
            <a:off x="1619250" y="5734050"/>
            <a:ext cx="86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blocos</a:t>
            </a:r>
          </a:p>
        </p:txBody>
      </p:sp>
      <p:sp>
        <p:nvSpPr>
          <p:cNvPr id="34831" name="Text Box 18"/>
          <p:cNvSpPr txBox="1">
            <a:spLocks noChangeArrowheads="1"/>
          </p:cNvSpPr>
          <p:nvPr/>
        </p:nvSpPr>
        <p:spPr bwMode="auto">
          <a:xfrm>
            <a:off x="3275013" y="5783263"/>
            <a:ext cx="86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inicio</a:t>
            </a:r>
          </a:p>
        </p:txBody>
      </p:sp>
      <p:sp>
        <p:nvSpPr>
          <p:cNvPr id="34832" name="Text Box 19"/>
          <p:cNvSpPr txBox="1">
            <a:spLocks noChangeArrowheads="1"/>
          </p:cNvSpPr>
          <p:nvPr/>
        </p:nvSpPr>
        <p:spPr bwMode="auto">
          <a:xfrm>
            <a:off x="4427538" y="5783263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ação</a:t>
            </a:r>
          </a:p>
        </p:txBody>
      </p:sp>
      <p:sp>
        <p:nvSpPr>
          <p:cNvPr id="34833" name="Text Box 20"/>
          <p:cNvSpPr txBox="1">
            <a:spLocks noChangeArrowheads="1"/>
          </p:cNvSpPr>
          <p:nvPr/>
        </p:nvSpPr>
        <p:spPr bwMode="auto">
          <a:xfrm>
            <a:off x="5651500" y="5783263"/>
            <a:ext cx="504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/>
              <a:t>fim</a:t>
            </a:r>
          </a:p>
        </p:txBody>
      </p:sp>
      <p:sp>
        <p:nvSpPr>
          <p:cNvPr id="34834" name="Text Box 21"/>
          <p:cNvSpPr txBox="1">
            <a:spLocks noChangeArrowheads="1"/>
          </p:cNvSpPr>
          <p:nvPr/>
        </p:nvSpPr>
        <p:spPr bwMode="auto">
          <a:xfrm>
            <a:off x="6731000" y="5783263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;</a:t>
            </a:r>
          </a:p>
        </p:txBody>
      </p:sp>
      <p:sp>
        <p:nvSpPr>
          <p:cNvPr id="34835" name="Text Box 22"/>
          <p:cNvSpPr txBox="1">
            <a:spLocks noChangeArrowheads="1"/>
          </p:cNvSpPr>
          <p:nvPr/>
        </p:nvSpPr>
        <p:spPr bwMode="auto">
          <a:xfrm>
            <a:off x="4570413" y="6237288"/>
            <a:ext cx="215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/>
              <a:t>,</a:t>
            </a:r>
          </a:p>
        </p:txBody>
      </p:sp>
      <p:sp>
        <p:nvSpPr>
          <p:cNvPr id="34836" name="Line 23"/>
          <p:cNvSpPr>
            <a:spLocks noChangeShapeType="1"/>
          </p:cNvSpPr>
          <p:nvPr/>
        </p:nvSpPr>
        <p:spPr bwMode="auto">
          <a:xfrm>
            <a:off x="5291138" y="59261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837" name="Line 24"/>
          <p:cNvSpPr>
            <a:spLocks noChangeShapeType="1"/>
          </p:cNvSpPr>
          <p:nvPr/>
        </p:nvSpPr>
        <p:spPr bwMode="auto">
          <a:xfrm flipH="1">
            <a:off x="4210050" y="65024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838" name="Line 25"/>
          <p:cNvSpPr>
            <a:spLocks noChangeShapeType="1"/>
          </p:cNvSpPr>
          <p:nvPr/>
        </p:nvSpPr>
        <p:spPr bwMode="auto">
          <a:xfrm flipV="1">
            <a:off x="4210050" y="59261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34839" name="Line 26"/>
          <p:cNvSpPr>
            <a:spLocks noChangeShapeType="1"/>
          </p:cNvSpPr>
          <p:nvPr/>
        </p:nvSpPr>
        <p:spPr bwMode="auto">
          <a:xfrm flipH="1">
            <a:off x="4859338" y="65024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accent1">
                    <a:satMod val="150000"/>
                  </a:schemeClr>
                </a:solidFill>
              </a:rPr>
              <a:t>Exemplo de Bloco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pt-BR" sz="3600" b="1" smtClean="0"/>
              <a:t>inicio</a:t>
            </a:r>
            <a:r>
              <a:rPr lang="pt-BR" sz="3600" smtClean="0"/>
              <a:t> {início do bloco (algoritmo)}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{declaração de variáveis} 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		{seqüência de ações}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smtClean="0"/>
              <a:t>|</a:t>
            </a:r>
          </a:p>
          <a:p>
            <a:pPr eaLnBrk="1" hangingPunct="1">
              <a:buFont typeface="Wingdings" pitchFamily="2" charset="2"/>
              <a:buNone/>
            </a:pPr>
            <a:r>
              <a:rPr lang="pt-BR" sz="3600" b="1" smtClean="0"/>
              <a:t>fim</a:t>
            </a:r>
            <a:r>
              <a:rPr lang="pt-BR" sz="3600" smtClean="0"/>
              <a:t>. {bloco (algoritmo)}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 Sequencial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O Fluxo de Controle segue a mesma sequência linear da nossa escrita, ou seja:</a:t>
            </a:r>
          </a:p>
          <a:p>
            <a:pPr lvl="1"/>
            <a:r>
              <a:rPr lang="pt-BR" sz="2000" dirty="0" smtClean="0"/>
              <a:t>De cima para baixo;</a:t>
            </a:r>
          </a:p>
          <a:p>
            <a:pPr lvl="1"/>
            <a:r>
              <a:rPr lang="pt-BR" sz="2000" dirty="0" smtClean="0"/>
              <a:t>Da esquerda para direita</a:t>
            </a:r>
          </a:p>
          <a:p>
            <a:pPr lvl="1"/>
            <a:endParaRPr lang="pt-BR" sz="2000" dirty="0" smtClean="0"/>
          </a:p>
          <a:p>
            <a:r>
              <a:rPr lang="pt-BR" sz="2400" dirty="0" smtClean="0"/>
              <a:t>Cada ação é seguida de um </a:t>
            </a:r>
            <a:r>
              <a:rPr lang="pt-BR" b="1" dirty="0" smtClean="0"/>
              <a:t>;</a:t>
            </a:r>
          </a:p>
          <a:p>
            <a:pPr lvl="1"/>
            <a:r>
              <a:rPr lang="pt-BR" sz="2000" dirty="0" smtClean="0"/>
              <a:t>Objetiva separar uma ação da outra</a:t>
            </a:r>
          </a:p>
          <a:p>
            <a:pPr lvl="1"/>
            <a:r>
              <a:rPr lang="pt-BR" sz="2000" dirty="0" smtClean="0"/>
              <a:t>Indica que a próxima ação da sequência deve ser executada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 sequencial</a:t>
            </a: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179512" y="2420888"/>
            <a:ext cx="8610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1200" i="1" dirty="0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     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	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    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corpo do algoritmo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ação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ação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ação 3;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          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          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        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ação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.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fim do algoritmo</a:t>
            </a: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228600" y="1844824"/>
            <a:ext cx="891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3.1 – Modelo geral</a:t>
            </a:r>
          </a:p>
        </p:txBody>
      </p:sp>
      <p:sp>
        <p:nvSpPr>
          <p:cNvPr id="22533" name="Line 7"/>
          <p:cNvSpPr>
            <a:spLocks noChangeShapeType="1"/>
          </p:cNvSpPr>
          <p:nvPr/>
        </p:nvSpPr>
        <p:spPr bwMode="auto">
          <a:xfrm>
            <a:off x="304800" y="1752600"/>
            <a:ext cx="853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 sequencial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228600" y="1905000"/>
            <a:ext cx="8610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real</a:t>
            </a:r>
            <a:r>
              <a:rPr lang="pt-BR" sz="2000" dirty="0">
                <a:latin typeface="Arial" charset="0"/>
                <a:cs typeface="Times New Roman" pitchFamily="18" charset="0"/>
              </a:rPr>
              <a:t>: N1, N2, N3, N4,</a:t>
            </a:r>
            <a:r>
              <a:rPr lang="pt-BR" sz="20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notas bimestrais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		MA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;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// entrada de dados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leia</a:t>
            </a:r>
            <a:r>
              <a:rPr lang="pt-BR" sz="2000" dirty="0">
                <a:latin typeface="Arial" charset="0"/>
                <a:cs typeface="Times New Roman" pitchFamily="18" charset="0"/>
              </a:rPr>
              <a:t> (N1, N2, N3, N4);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// processamento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dirty="0">
                <a:latin typeface="Arial" charset="0"/>
                <a:cs typeface="Times New Roman" pitchFamily="18" charset="0"/>
              </a:rPr>
              <a:t>MA </a:t>
            </a:r>
            <a:r>
              <a:rPr lang="pt-BR" sz="20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 dirty="0">
                <a:latin typeface="Arial" charset="0"/>
                <a:cs typeface="Times New Roman" pitchFamily="18" charset="0"/>
              </a:rPr>
              <a:t> (N1 + N2 + N3 + N4) / 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saída de dados</a:t>
            </a:r>
            <a:endParaRPr lang="pt-BR" sz="20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2000" dirty="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latin typeface="Arial" charset="0"/>
                <a:cs typeface="Times New Roman" pitchFamily="18" charset="0"/>
              </a:rPr>
              <a:t>.</a:t>
            </a:r>
            <a:endParaRPr lang="pt-BR" sz="2000" b="1" dirty="0">
              <a:latin typeface="Symbol" pitchFamily="18" charset="2"/>
              <a:cs typeface="Times New Roman" pitchFamily="18" charset="0"/>
            </a:endParaRP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28600" y="1484784"/>
            <a:ext cx="891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3.2 - Média Aritmética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Seleção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784350"/>
            <a:ext cx="8075612" cy="4572000"/>
          </a:xfrm>
        </p:spPr>
        <p:txBody>
          <a:bodyPr/>
          <a:lstStyle/>
          <a:p>
            <a:r>
              <a:rPr lang="pt-BR" sz="2400" dirty="0" smtClean="0"/>
              <a:t>São aquelas que permitem alterar o </a:t>
            </a:r>
            <a:r>
              <a:rPr lang="pt-BR" sz="2400" dirty="0" smtClean="0">
                <a:solidFill>
                  <a:srgbClr val="FF6600"/>
                </a:solidFill>
              </a:rPr>
              <a:t>Fluxo de Execução</a:t>
            </a:r>
            <a:r>
              <a:rPr lang="pt-BR" sz="2400" dirty="0" smtClean="0"/>
              <a:t>, de forma a selecionar qual parte deve ser executada</a:t>
            </a:r>
          </a:p>
          <a:p>
            <a:r>
              <a:rPr lang="pt-BR" sz="2400" dirty="0" smtClean="0"/>
              <a:t>Essa “decisão” de execução é tomada a partir de uma condição, que pode resultar apenas em Verdade ou Falsidade</a:t>
            </a:r>
          </a:p>
          <a:p>
            <a:r>
              <a:rPr lang="pt-BR" sz="2400" dirty="0" smtClean="0"/>
              <a:t>Uma condição é representada por expressões relacionais ou lógicas</a:t>
            </a:r>
          </a:p>
          <a:p>
            <a:r>
              <a:rPr lang="pt-BR" sz="2400" dirty="0" smtClean="0"/>
              <a:t>As estruturas de seleção podem ser classificadas em </a:t>
            </a:r>
            <a:r>
              <a:rPr lang="pt-BR" sz="2400" dirty="0" smtClean="0">
                <a:solidFill>
                  <a:srgbClr val="FF6600"/>
                </a:solidFill>
              </a:rPr>
              <a:t>simples, compostas ou encadeadas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Simples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304800" y="4221088"/>
            <a:ext cx="8839200" cy="1676400"/>
          </a:xfrm>
        </p:spPr>
        <p:txBody>
          <a:bodyPr/>
          <a:lstStyle/>
          <a:p>
            <a:r>
              <a:rPr lang="pt-BR" sz="2400" dirty="0" smtClean="0"/>
              <a:t>Quando a &lt;condição&gt; for verdadeira o “bloco verdade” é executado</a:t>
            </a:r>
          </a:p>
          <a:p>
            <a:r>
              <a:rPr lang="pt-BR" sz="2400" dirty="0" smtClean="0"/>
              <a:t>Quando a &lt;condição&gt; for falsa o “bloco verdade” </a:t>
            </a:r>
            <a:r>
              <a:rPr lang="pt-BR" sz="2400" b="1" dirty="0" smtClean="0"/>
              <a:t>não</a:t>
            </a:r>
            <a:r>
              <a:rPr lang="pt-BR" sz="2400" dirty="0" smtClean="0"/>
              <a:t> é executado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179512" y="1556792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&lt;condição&gt;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início</a:t>
            </a:r>
            <a:r>
              <a:rPr lang="pt-BR" sz="2000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início do bloco verdade</a:t>
            </a:r>
            <a:endParaRPr lang="pt-BR" sz="2000" b="1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latin typeface="Arial" charset="0"/>
                <a:cs typeface="Times New Roman" pitchFamily="18" charset="0"/>
              </a:rPr>
              <a:t>;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fim do bloco verdade</a:t>
            </a:r>
            <a:endParaRPr lang="pt-BR" sz="20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  <a:endParaRPr lang="pt-BR" sz="2000" b="1" dirty="0">
              <a:latin typeface="Symbol" pitchFamily="18" charset="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Simples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228600" y="1619250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latin typeface="Arial" charset="0"/>
                <a:cs typeface="Times New Roman" pitchFamily="18" charset="0"/>
              </a:rPr>
              <a:t>início</a:t>
            </a:r>
            <a:endParaRPr lang="pt-BR" sz="20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real</a:t>
            </a:r>
            <a:r>
              <a:rPr lang="pt-BR" sz="2000" dirty="0">
                <a:latin typeface="Arial" charset="0"/>
                <a:cs typeface="Times New Roman" pitchFamily="18" charset="0"/>
              </a:rPr>
              <a:t>: N1, N2, N3, N4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,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notas bimestrais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		MA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;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entrada de dados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leia</a:t>
            </a:r>
            <a:r>
              <a:rPr lang="pt-BR" sz="2000" dirty="0">
                <a:latin typeface="Arial" charset="0"/>
                <a:cs typeface="Times New Roman" pitchFamily="18" charset="0"/>
              </a:rPr>
              <a:t> (N1, N2, N3, N4);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// processamento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dirty="0">
                <a:latin typeface="Arial" charset="0"/>
                <a:cs typeface="Times New Roman" pitchFamily="18" charset="0"/>
              </a:rPr>
              <a:t>MA </a:t>
            </a:r>
            <a:r>
              <a:rPr lang="pt-BR" sz="20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 dirty="0">
                <a:latin typeface="Arial" charset="0"/>
                <a:cs typeface="Times New Roman" pitchFamily="18" charset="0"/>
              </a:rPr>
              <a:t> (N1 + N2 + N3 + N4) / 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saída de dados</a:t>
            </a:r>
            <a:endParaRPr lang="pt-BR" sz="20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2000" dirty="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(MA &gt;= 7)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2000" dirty="0">
                <a:latin typeface="Arial" charset="0"/>
                <a:cs typeface="Times New Roman" pitchFamily="18" charset="0"/>
              </a:rPr>
              <a:t> (“Aluno Aprovado !”);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latin typeface="Arial" charset="0"/>
                <a:cs typeface="Times New Roman" pitchFamily="18" charset="0"/>
              </a:rPr>
              <a:t>.</a:t>
            </a:r>
            <a:endParaRPr lang="pt-BR" sz="2000" b="1" dirty="0">
              <a:latin typeface="Symbol" pitchFamily="18" charset="2"/>
              <a:cs typeface="Times New Roman" pitchFamily="18" charset="0"/>
            </a:endParaRPr>
          </a:p>
        </p:txBody>
      </p:sp>
      <p:sp>
        <p:nvSpPr>
          <p:cNvPr id="26628" name="Text Box 7"/>
          <p:cNvSpPr txBox="1">
            <a:spLocks noChangeArrowheads="1"/>
          </p:cNvSpPr>
          <p:nvPr/>
        </p:nvSpPr>
        <p:spPr bwMode="auto">
          <a:xfrm>
            <a:off x="228600" y="1556792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3.3 - Média Aritmética com Aprovação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Composta</a:t>
            </a:r>
          </a:p>
        </p:txBody>
      </p:sp>
      <p:sp>
        <p:nvSpPr>
          <p:cNvPr id="27651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79512" y="5136976"/>
            <a:ext cx="8839200" cy="1676400"/>
          </a:xfrm>
        </p:spPr>
        <p:txBody>
          <a:bodyPr/>
          <a:lstStyle/>
          <a:p>
            <a:r>
              <a:rPr lang="pt-BR" sz="2400" dirty="0" smtClean="0"/>
              <a:t>Quando a &lt;condição&gt; for verdadeira o “bloco verdade” é executado</a:t>
            </a:r>
          </a:p>
          <a:p>
            <a:r>
              <a:rPr lang="pt-BR" sz="2400" dirty="0" smtClean="0"/>
              <a:t>Quando a &lt;condição&gt; for falsa o “bloco falsidade” é executado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228600" y="163448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&lt;condição&gt;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início</a:t>
            </a:r>
            <a:r>
              <a:rPr lang="pt-BR" sz="2000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início do bloco verdade</a:t>
            </a:r>
            <a:endParaRPr lang="pt-BR" sz="2000" b="1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latin typeface="Arial" charset="0"/>
                <a:cs typeface="Times New Roman" pitchFamily="18" charset="0"/>
              </a:rPr>
              <a:t>;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fim do bloco verdade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senão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início</a:t>
            </a:r>
            <a:r>
              <a:rPr lang="pt-BR" sz="2000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início do bloco falsidade</a:t>
            </a:r>
            <a:endParaRPr lang="pt-BR" sz="2000" b="1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2000" dirty="0">
                <a:latin typeface="Arial" charset="0"/>
                <a:cs typeface="Times New Roman" pitchFamily="18" charset="0"/>
              </a:rPr>
              <a:t>; </a:t>
            </a:r>
            <a:r>
              <a:rPr lang="pt-BR" sz="20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fim do bloco falsidade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8900"/>
            <a:ext cx="7772400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Composta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28600" y="1690464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real</a:t>
            </a:r>
            <a:r>
              <a:rPr lang="pt-BR" sz="1800" dirty="0">
                <a:latin typeface="Arial" charset="0"/>
                <a:cs typeface="Times New Roman" pitchFamily="18" charset="0"/>
              </a:rPr>
              <a:t>: N1, N2, N3, N4</a:t>
            </a:r>
            <a:r>
              <a:rPr lang="pt-BR" sz="18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,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notas bimestrais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	MA;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leia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(N1, N2, N3, N4);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>
                <a:latin typeface="Arial" charset="0"/>
                <a:cs typeface="Times New Roman" pitchFamily="18" charset="0"/>
              </a:rPr>
              <a:t>MA </a:t>
            </a:r>
            <a:r>
              <a:rPr lang="pt-BR" sz="1800" dirty="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 dirty="0">
                <a:latin typeface="Arial" charset="0"/>
                <a:cs typeface="Times New Roman" pitchFamily="18" charset="0"/>
              </a:rPr>
              <a:t> (N1 + N2 + N3 + N4) / 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1800" dirty="0">
                <a:latin typeface="Arial" charset="0"/>
                <a:cs typeface="Times New Roman" pitchFamily="18" charset="0"/>
              </a:rPr>
              <a:t> (MA &gt;= 7) 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então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			início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(“Aluno Aprovado !”);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(“Parabéns !”);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senão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			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				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(“Aluno Reprovado !”);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escreva</a:t>
            </a:r>
            <a:r>
              <a:rPr lang="pt-BR" sz="1800" dirty="0">
                <a:latin typeface="Arial" charset="0"/>
                <a:cs typeface="Times New Roman" pitchFamily="18" charset="0"/>
              </a:rPr>
              <a:t> (“Estude mais !”);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fim</a:t>
            </a:r>
            <a:r>
              <a:rPr lang="pt-BR" sz="1800" dirty="0">
                <a:latin typeface="Arial" charset="0"/>
                <a:cs typeface="Times New Roman" pitchFamily="18" charset="0"/>
              </a:rPr>
              <a:t>.</a:t>
            </a:r>
            <a:endParaRPr lang="pt-BR" sz="1800" b="1" dirty="0">
              <a:latin typeface="Symbol" pitchFamily="18" charset="2"/>
              <a:cs typeface="Times New Roman" pitchFamily="18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28600" y="1003300"/>
            <a:ext cx="891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3.4 - Média Aritmética com aprovação e reprovação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784350"/>
            <a:ext cx="8075612" cy="4572000"/>
          </a:xfrm>
        </p:spPr>
        <p:txBody>
          <a:bodyPr>
            <a:normAutofit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dirty="0" smtClean="0"/>
              <a:t>Ocorre quando uma seleção tem como ação uma outra seleção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dirty="0" smtClean="0"/>
              <a:t>Uma seleção encadeada pode ser: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>
                <a:solidFill>
                  <a:srgbClr val="FFFF00"/>
                </a:solidFill>
              </a:rPr>
              <a:t>Heterogênea: Quando não é possível identificar padrão de comportamento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Homogênea: Quando é possível identificar padrão de comportamento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dirty="0" smtClean="0"/>
              <a:t>se – então – se: quando depois de cada </a:t>
            </a:r>
            <a:r>
              <a:rPr lang="pt-BR" b="1" dirty="0" smtClean="0"/>
              <a:t>então</a:t>
            </a:r>
            <a:r>
              <a:rPr lang="pt-BR" dirty="0" smtClean="0"/>
              <a:t> ocorre outro </a:t>
            </a:r>
            <a:r>
              <a:rPr lang="pt-BR" b="1" dirty="0" smtClean="0"/>
              <a:t>se</a:t>
            </a:r>
            <a:endParaRPr lang="pt-BR" dirty="0" smtClean="0"/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dirty="0" smtClean="0"/>
              <a:t>se – senão – se: quando depois de cada </a:t>
            </a:r>
            <a:r>
              <a:rPr lang="pt-BR" b="1" dirty="0" smtClean="0"/>
              <a:t>senão</a:t>
            </a:r>
            <a:r>
              <a:rPr lang="pt-BR" dirty="0" smtClean="0"/>
              <a:t> ocorre outro </a:t>
            </a:r>
            <a:r>
              <a:rPr lang="pt-BR" b="1" dirty="0" smtClean="0"/>
              <a:t>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Dados três valores A, B, C, verificar se eles podem ser os comprimentos dos lados de um triângulo</a:t>
            </a:r>
          </a:p>
          <a:p>
            <a:r>
              <a:rPr lang="pt-BR" dirty="0" smtClean="0"/>
              <a:t>Caso positivo, verificar se compõem</a:t>
            </a:r>
          </a:p>
          <a:p>
            <a:pPr lvl="1"/>
            <a:r>
              <a:rPr lang="pt-BR" dirty="0" smtClean="0"/>
              <a:t>Triângulo equilátero</a:t>
            </a:r>
          </a:p>
          <a:p>
            <a:pPr lvl="1"/>
            <a:r>
              <a:rPr lang="pt-BR" dirty="0" smtClean="0"/>
              <a:t>Triângulo isósceles</a:t>
            </a:r>
          </a:p>
          <a:p>
            <a:pPr lvl="1"/>
            <a:r>
              <a:rPr lang="pt-BR" dirty="0" smtClean="0"/>
              <a:t>Triângulo escaleno</a:t>
            </a:r>
          </a:p>
        </p:txBody>
      </p:sp>
      <p:sp>
        <p:nvSpPr>
          <p:cNvPr id="30724" name="AutoShape 4"/>
          <p:cNvSpPr>
            <a:spLocks noChangeArrowheads="1"/>
          </p:cNvSpPr>
          <p:nvPr/>
        </p:nvSpPr>
        <p:spPr bwMode="auto">
          <a:xfrm>
            <a:off x="3657600" y="4724400"/>
            <a:ext cx="2057400" cy="1371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581400" y="50292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562600" y="51054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4556125" y="6137275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Dados três valores A, B, C, verificar se eles podem ser os comprimentos dos lados de um triângulo</a:t>
            </a:r>
          </a:p>
          <a:p>
            <a:r>
              <a:rPr lang="pt-BR" dirty="0" smtClean="0"/>
              <a:t>Caso positivo, verificar se compõem</a:t>
            </a:r>
          </a:p>
          <a:p>
            <a:pPr lvl="1"/>
            <a:r>
              <a:rPr lang="pt-BR" dirty="0" smtClean="0"/>
              <a:t>Triângulo equilátero – </a:t>
            </a:r>
            <a:r>
              <a:rPr lang="pt-BR" b="1" dirty="0" smtClean="0"/>
              <a:t>três lados iguais</a:t>
            </a:r>
          </a:p>
          <a:p>
            <a:pPr lvl="1"/>
            <a:r>
              <a:rPr lang="pt-BR" dirty="0" smtClean="0"/>
              <a:t>Triângulo isósceles – </a:t>
            </a:r>
            <a:r>
              <a:rPr lang="pt-BR" b="1" dirty="0" smtClean="0"/>
              <a:t>dois lados iguais</a:t>
            </a:r>
          </a:p>
          <a:p>
            <a:pPr lvl="1"/>
            <a:r>
              <a:rPr lang="pt-BR" dirty="0" smtClean="0"/>
              <a:t>Triângulo escaleno – </a:t>
            </a:r>
            <a:r>
              <a:rPr lang="pt-BR" b="1" dirty="0" smtClean="0"/>
              <a:t>todos os lados diferentes</a:t>
            </a:r>
          </a:p>
        </p:txBody>
      </p:sp>
      <p:sp>
        <p:nvSpPr>
          <p:cNvPr id="31748" name="AutoShape 4"/>
          <p:cNvSpPr>
            <a:spLocks noChangeArrowheads="1"/>
          </p:cNvSpPr>
          <p:nvPr/>
        </p:nvSpPr>
        <p:spPr bwMode="auto">
          <a:xfrm>
            <a:off x="3657600" y="4724400"/>
            <a:ext cx="2057400" cy="1371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581400" y="50292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5562600" y="51054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4556125" y="6137275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3886200"/>
            <a:ext cx="8839200" cy="2514600"/>
          </a:xfrm>
        </p:spPr>
        <p:txBody>
          <a:bodyPr/>
          <a:lstStyle/>
          <a:p>
            <a:r>
              <a:rPr lang="pt-BR" sz="2400" dirty="0" smtClean="0"/>
              <a:t>Triângulo: </a:t>
            </a:r>
            <a:r>
              <a:rPr lang="pt-BR" sz="2400" dirty="0" smtClean="0">
                <a:cs typeface="Times New Roman" pitchFamily="18" charset="0"/>
              </a:rPr>
              <a:t>(A&lt;B+C) </a:t>
            </a:r>
            <a:r>
              <a:rPr lang="pt-BR" sz="2400" b="1" dirty="0" smtClean="0">
                <a:cs typeface="Times New Roman" pitchFamily="18" charset="0"/>
              </a:rPr>
              <a:t>e</a:t>
            </a:r>
            <a:r>
              <a:rPr lang="pt-BR" sz="2400" dirty="0" smtClean="0">
                <a:cs typeface="Times New Roman" pitchFamily="18" charset="0"/>
              </a:rPr>
              <a:t> (B&lt;A+C) </a:t>
            </a:r>
            <a:r>
              <a:rPr lang="pt-BR" sz="2400" b="1" dirty="0" smtClean="0">
                <a:cs typeface="Times New Roman" pitchFamily="18" charset="0"/>
              </a:rPr>
              <a:t>e</a:t>
            </a:r>
            <a:r>
              <a:rPr lang="pt-BR" sz="2400" dirty="0" smtClean="0">
                <a:cs typeface="Times New Roman" pitchFamily="18" charset="0"/>
              </a:rPr>
              <a:t> (C&lt;A+B) </a:t>
            </a:r>
          </a:p>
          <a:p>
            <a:r>
              <a:rPr lang="pt-BR" sz="2400" dirty="0" smtClean="0">
                <a:cs typeface="Times New Roman" pitchFamily="18" charset="0"/>
              </a:rPr>
              <a:t>Equilátero: (A=B) </a:t>
            </a:r>
            <a:r>
              <a:rPr lang="pt-BR" sz="2400" b="1" dirty="0" smtClean="0">
                <a:cs typeface="Times New Roman" pitchFamily="18" charset="0"/>
              </a:rPr>
              <a:t>e</a:t>
            </a:r>
            <a:r>
              <a:rPr lang="pt-BR" sz="2400" dirty="0" smtClean="0">
                <a:cs typeface="Times New Roman" pitchFamily="18" charset="0"/>
              </a:rPr>
              <a:t> (B=C) </a:t>
            </a:r>
          </a:p>
          <a:p>
            <a:r>
              <a:rPr lang="pt-BR" sz="2400" dirty="0" smtClean="0">
                <a:cs typeface="Times New Roman" pitchFamily="18" charset="0"/>
              </a:rPr>
              <a:t>Isósceles: (A=B) </a:t>
            </a:r>
            <a:r>
              <a:rPr lang="pt-BR" sz="2400" b="1" dirty="0" smtClean="0">
                <a:cs typeface="Times New Roman" pitchFamily="18" charset="0"/>
              </a:rPr>
              <a:t>ou</a:t>
            </a:r>
            <a:r>
              <a:rPr lang="pt-BR" sz="2400" dirty="0" smtClean="0">
                <a:cs typeface="Times New Roman" pitchFamily="18" charset="0"/>
              </a:rPr>
              <a:t> (B=C) </a:t>
            </a:r>
            <a:r>
              <a:rPr lang="pt-BR" sz="2400" b="1" dirty="0" smtClean="0">
                <a:cs typeface="Times New Roman" pitchFamily="18" charset="0"/>
              </a:rPr>
              <a:t>ou</a:t>
            </a:r>
            <a:r>
              <a:rPr lang="pt-BR" sz="2400" dirty="0" smtClean="0">
                <a:cs typeface="Times New Roman" pitchFamily="18" charset="0"/>
              </a:rPr>
              <a:t> (A=C) </a:t>
            </a:r>
          </a:p>
          <a:p>
            <a:r>
              <a:rPr lang="pt-BR" sz="2400" dirty="0" smtClean="0">
                <a:cs typeface="Times New Roman" pitchFamily="18" charset="0"/>
              </a:rPr>
              <a:t>Escaleno: (A&lt;&gt;B) </a:t>
            </a:r>
            <a:r>
              <a:rPr lang="pt-BR" sz="2400" b="1" dirty="0" smtClean="0">
                <a:cs typeface="Times New Roman" pitchFamily="18" charset="0"/>
              </a:rPr>
              <a:t>e</a:t>
            </a:r>
            <a:r>
              <a:rPr lang="pt-BR" sz="2400" dirty="0" smtClean="0">
                <a:cs typeface="Times New Roman" pitchFamily="18" charset="0"/>
              </a:rPr>
              <a:t> (B&lt;&gt;C) </a:t>
            </a:r>
            <a:r>
              <a:rPr lang="pt-BR" sz="2400" b="1" dirty="0" smtClean="0">
                <a:cs typeface="Times New Roman" pitchFamily="18" charset="0"/>
              </a:rPr>
              <a:t>e</a:t>
            </a:r>
            <a:r>
              <a:rPr lang="pt-BR" sz="2400" dirty="0" smtClean="0">
                <a:cs typeface="Times New Roman" pitchFamily="18" charset="0"/>
              </a:rPr>
              <a:t> (A&lt;&gt;C) </a:t>
            </a:r>
          </a:p>
        </p:txBody>
      </p:sp>
      <p:graphicFrame>
        <p:nvGraphicFramePr>
          <p:cNvPr id="90185" name="Group 73"/>
          <p:cNvGraphicFramePr>
            <a:graphicFrameLocks noGrp="1"/>
          </p:cNvGraphicFramePr>
          <p:nvPr/>
        </p:nvGraphicFramePr>
        <p:xfrm>
          <a:off x="76200" y="1371600"/>
          <a:ext cx="8921750" cy="2092694"/>
        </p:xfrm>
        <a:graphic>
          <a:graphicData uri="http://schemas.openxmlformats.org/drawingml/2006/table">
            <a:tbl>
              <a:tblPr/>
              <a:tblGrid>
                <a:gridCol w="1665288"/>
                <a:gridCol w="1792287"/>
                <a:gridCol w="1722438"/>
                <a:gridCol w="1666875"/>
                <a:gridCol w="2074862"/>
              </a:tblGrid>
              <a:tr h="507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É triângulo?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É equilátero?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É isósceles?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É escaleno?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Ações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96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“Equilátero”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96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“Isósceles”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96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“Escaleno”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96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“Não é triângulo”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65100"/>
            <a:ext cx="7772400" cy="9144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 Heterogênea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228600" y="1447800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A, B, C;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// tamanho dos lados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(A, B, C);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(A&lt;B+C) </a:t>
            </a:r>
            <a:r>
              <a:rPr lang="pt-BR" sz="1800" b="1">
                <a:latin typeface="Arial" charset="0"/>
                <a:cs typeface="Times New Roman" pitchFamily="18" charset="0"/>
              </a:rPr>
              <a:t>e</a:t>
            </a:r>
            <a:r>
              <a:rPr lang="pt-BR" sz="1800">
                <a:latin typeface="Arial" charset="0"/>
                <a:cs typeface="Times New Roman" pitchFamily="18" charset="0"/>
              </a:rPr>
              <a:t> (B&lt;A+C) </a:t>
            </a:r>
            <a:r>
              <a:rPr lang="pt-BR" sz="1800" b="1">
                <a:latin typeface="Arial" charset="0"/>
                <a:cs typeface="Times New Roman" pitchFamily="18" charset="0"/>
              </a:rPr>
              <a:t>e</a:t>
            </a:r>
            <a:r>
              <a:rPr lang="pt-BR" sz="1800">
                <a:latin typeface="Arial" charset="0"/>
                <a:cs typeface="Times New Roman" pitchFamily="18" charset="0"/>
              </a:rPr>
              <a:t> (C&lt;A+B)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se</a:t>
            </a:r>
            <a:r>
              <a:rPr lang="pt-BR" sz="1800">
                <a:latin typeface="Arial" charset="0"/>
                <a:cs typeface="Times New Roman" pitchFamily="18" charset="0"/>
              </a:rPr>
              <a:t> (A=B) </a:t>
            </a:r>
            <a:r>
              <a:rPr lang="pt-BR" sz="1800" b="1">
                <a:latin typeface="Arial" charset="0"/>
                <a:cs typeface="Times New Roman" pitchFamily="18" charset="0"/>
              </a:rPr>
              <a:t>e</a:t>
            </a:r>
            <a:r>
              <a:rPr lang="pt-BR" sz="1800">
                <a:latin typeface="Arial" charset="0"/>
                <a:cs typeface="Times New Roman" pitchFamily="18" charset="0"/>
              </a:rPr>
              <a:t> (B=C)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(“Triangulo Equilátero”);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senão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(A=B) </a:t>
            </a:r>
            <a:r>
              <a:rPr lang="pt-BR" sz="1800" b="1">
                <a:latin typeface="Arial" charset="0"/>
                <a:cs typeface="Times New Roman" pitchFamily="18" charset="0"/>
              </a:rPr>
              <a:t>ou</a:t>
            </a:r>
            <a:r>
              <a:rPr lang="pt-BR" sz="1800">
                <a:latin typeface="Arial" charset="0"/>
                <a:cs typeface="Times New Roman" pitchFamily="18" charset="0"/>
              </a:rPr>
              <a:t> (B=C) </a:t>
            </a:r>
            <a:r>
              <a:rPr lang="pt-BR" sz="1800" b="1">
                <a:latin typeface="Arial" charset="0"/>
                <a:cs typeface="Times New Roman" pitchFamily="18" charset="0"/>
              </a:rPr>
              <a:t>ou</a:t>
            </a:r>
            <a:r>
              <a:rPr lang="pt-BR" sz="1800">
                <a:latin typeface="Arial" charset="0"/>
                <a:cs typeface="Times New Roman" pitchFamily="18" charset="0"/>
              </a:rPr>
              <a:t> (A=C) 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(“Triângulo Isósceles”);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senão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(“Triangulo Escaleno”);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senão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>
                <a:latin typeface="Arial" charset="0"/>
                <a:cs typeface="Times New Roman" pitchFamily="18" charset="0"/>
              </a:rPr>
              <a:t>			escreva</a:t>
            </a:r>
            <a:r>
              <a:rPr lang="pt-BR" sz="1800">
                <a:latin typeface="Arial" charset="0"/>
                <a:cs typeface="Times New Roman" pitchFamily="18" charset="0"/>
              </a:rPr>
              <a:t> </a:t>
            </a:r>
            <a:r>
              <a:rPr lang="pt-BR" sz="180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(“Estes valores não formam um triângulo”);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228600" y="6473825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3.5 – Tipos de Triângulo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28600"/>
            <a:ext cx="7772400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 Homogênea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251520" y="1844824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b="1" dirty="0">
                <a:latin typeface="Arial" charset="0"/>
                <a:cs typeface="Times New Roman" pitchFamily="18" charset="0"/>
              </a:rPr>
              <a:t>se – então – se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&lt;Cond1&gt;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  <a:r>
              <a:rPr lang="pt-BR" sz="2000" dirty="0">
                <a:latin typeface="Arial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&lt;Cond2&gt; 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 dirty="0">
                <a:latin typeface="Arial" charset="0"/>
                <a:cs typeface="Times New Roman" pitchFamily="18" charset="0"/>
              </a:rPr>
              <a:t>			se </a:t>
            </a:r>
            <a:r>
              <a:rPr lang="pt-BR" sz="2000" dirty="0">
                <a:latin typeface="Arial" charset="0"/>
                <a:cs typeface="Times New Roman" pitchFamily="18" charset="0"/>
              </a:rPr>
              <a:t>&lt;Cond3&gt;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 dirty="0">
                <a:latin typeface="Arial" charset="0"/>
                <a:cs typeface="Times New Roman" pitchFamily="18" charset="0"/>
              </a:rPr>
              <a:t>				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&lt;Cond4&gt;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  <a:r>
              <a:rPr lang="pt-BR" sz="2000" dirty="0">
                <a:latin typeface="Arial" charset="0"/>
                <a:cs typeface="Times New Roman" pitchFamily="18" charset="0"/>
              </a:rPr>
              <a:t> W;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 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 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b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É equivalente a: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se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&lt;Cond1&gt;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&lt;Cond2&gt;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&lt;Cond3&gt;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</a:t>
            </a:r>
            <a:r>
              <a:rPr lang="pt-BR" sz="2000" dirty="0">
                <a:latin typeface="Arial" charset="0"/>
                <a:cs typeface="Times New Roman" pitchFamily="18" charset="0"/>
              </a:rPr>
              <a:t> &lt;Cond4&gt; 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então</a:t>
            </a:r>
            <a:r>
              <a:rPr lang="pt-BR" sz="2000" dirty="0">
                <a:latin typeface="Arial" charset="0"/>
                <a:cs typeface="Times New Roman" pitchFamily="18" charset="0"/>
              </a:rPr>
              <a:t> W;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>
                <a:latin typeface="Arial" charset="0"/>
                <a:cs typeface="Times New Roman" pitchFamily="18" charset="0"/>
              </a:rPr>
              <a:t>fimse</a:t>
            </a:r>
            <a:r>
              <a:rPr lang="pt-BR" sz="2000" b="1" dirty="0">
                <a:latin typeface="Arial" charset="0"/>
                <a:cs typeface="Times New Roman" pitchFamily="18" charset="0"/>
              </a:rPr>
              <a:t>;</a:t>
            </a:r>
            <a:endParaRPr lang="pt-BR" sz="2000" dirty="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40001" name="Group 65"/>
          <p:cNvGraphicFramePr>
            <a:graphicFrameLocks noGrp="1"/>
          </p:cNvGraphicFramePr>
          <p:nvPr/>
        </p:nvGraphicFramePr>
        <p:xfrm>
          <a:off x="4267200" y="3140075"/>
          <a:ext cx="4343400" cy="670388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914400"/>
                <a:gridCol w="914400"/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Cond2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Cond3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Cond4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Ação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228600"/>
            <a:ext cx="7772400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Encadeada Homogênea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228600" y="1143000"/>
            <a:ext cx="365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se</a:t>
            </a:r>
            <a:r>
              <a:rPr lang="pt-BR" sz="2000">
                <a:latin typeface="Arial" charset="0"/>
                <a:cs typeface="Times New Roman" pitchFamily="18" charset="0"/>
              </a:rPr>
              <a:t> X=V1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</a:t>
            </a:r>
            <a:r>
              <a:rPr lang="pt-BR" sz="2000">
                <a:latin typeface="Arial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se</a:t>
            </a:r>
            <a:r>
              <a:rPr lang="pt-BR" sz="2000">
                <a:latin typeface="Arial" charset="0"/>
                <a:cs typeface="Times New Roman" pitchFamily="18" charset="0"/>
              </a:rPr>
              <a:t> X=V2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</a:t>
            </a:r>
            <a:r>
              <a:rPr lang="pt-BR" sz="2000">
                <a:latin typeface="Arial" charset="0"/>
                <a:cs typeface="Times New Roman" pitchFamily="18" charset="0"/>
              </a:rPr>
              <a:t>C2;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  <a:endParaRPr lang="pt-BR" sz="20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se </a:t>
            </a:r>
            <a:r>
              <a:rPr lang="pt-BR" sz="2000">
                <a:latin typeface="Arial" charset="0"/>
                <a:cs typeface="Times New Roman" pitchFamily="18" charset="0"/>
              </a:rPr>
              <a:t>X=V3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</a:t>
            </a:r>
            <a:r>
              <a:rPr lang="pt-BR" sz="2000">
                <a:latin typeface="Arial" charset="0"/>
                <a:cs typeface="Times New Roman" pitchFamily="18" charset="0"/>
              </a:rPr>
              <a:t>C3;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fimse;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se</a:t>
            </a:r>
            <a:r>
              <a:rPr lang="pt-BR" sz="2000">
                <a:latin typeface="Arial" charset="0"/>
                <a:cs typeface="Times New Roman" pitchFamily="18" charset="0"/>
              </a:rPr>
              <a:t> X=V4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</a:t>
            </a:r>
            <a:r>
              <a:rPr lang="pt-BR" sz="2000">
                <a:latin typeface="Arial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</p:txBody>
      </p:sp>
      <p:graphicFrame>
        <p:nvGraphicFramePr>
          <p:cNvPr id="41064" name="Group 104"/>
          <p:cNvGraphicFramePr>
            <a:graphicFrameLocks noGrp="1"/>
          </p:cNvGraphicFramePr>
          <p:nvPr/>
        </p:nvGraphicFramePr>
        <p:xfrm>
          <a:off x="228600" y="4876800"/>
          <a:ext cx="34290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Ação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82" name="Rectangle 64"/>
          <p:cNvSpPr>
            <a:spLocks noChangeArrowheads="1"/>
          </p:cNvSpPr>
          <p:nvPr/>
        </p:nvSpPr>
        <p:spPr bwMode="auto">
          <a:xfrm>
            <a:off x="4343400" y="1143000"/>
            <a:ext cx="4724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se</a:t>
            </a:r>
            <a:r>
              <a:rPr lang="pt-BR" sz="2000">
                <a:latin typeface="Arial" charset="0"/>
                <a:cs typeface="Times New Roman" pitchFamily="18" charset="0"/>
              </a:rPr>
              <a:t> X=V1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então</a:t>
            </a:r>
            <a:r>
              <a:rPr lang="pt-BR" sz="2000">
                <a:latin typeface="Arial" charset="0"/>
                <a:cs typeface="Times New Roman" pitchFamily="18" charset="0"/>
              </a:rPr>
              <a:t> C1;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senão se</a:t>
            </a:r>
            <a:r>
              <a:rPr lang="pt-BR" sz="2000">
                <a:latin typeface="Arial" charset="0"/>
                <a:cs typeface="Times New Roman" pitchFamily="18" charset="0"/>
              </a:rPr>
              <a:t> X=V2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 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 </a:t>
            </a:r>
            <a:r>
              <a:rPr lang="pt-BR" sz="2000">
                <a:latin typeface="Arial" charset="0"/>
                <a:cs typeface="Times New Roman" pitchFamily="18" charset="0"/>
              </a:rPr>
              <a:t>C2;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 		  </a:t>
            </a:r>
            <a:r>
              <a:rPr lang="pt-BR" sz="2000" b="1">
                <a:latin typeface="Arial" charset="0"/>
                <a:cs typeface="Times New Roman" pitchFamily="18" charset="0"/>
              </a:rPr>
              <a:t>senão se </a:t>
            </a:r>
            <a:r>
              <a:rPr lang="pt-BR" sz="2000">
                <a:latin typeface="Arial" charset="0"/>
                <a:cs typeface="Times New Roman" pitchFamily="18" charset="0"/>
              </a:rPr>
              <a:t>X=V3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						 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 </a:t>
            </a:r>
            <a:r>
              <a:rPr lang="pt-BR" sz="2000">
                <a:latin typeface="Arial" charset="0"/>
                <a:cs typeface="Times New Roman" pitchFamily="18" charset="0"/>
              </a:rPr>
              <a:t>C3;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						  </a:t>
            </a:r>
            <a:r>
              <a:rPr lang="pt-BR" sz="2000" b="1">
                <a:latin typeface="Arial" charset="0"/>
                <a:cs typeface="Times New Roman" pitchFamily="18" charset="0"/>
              </a:rPr>
              <a:t>senão se</a:t>
            </a:r>
            <a:r>
              <a:rPr lang="pt-BR" sz="2000">
                <a:latin typeface="Arial" charset="0"/>
                <a:cs typeface="Times New Roman" pitchFamily="18" charset="0"/>
              </a:rPr>
              <a:t> X=V4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									         </a:t>
            </a:r>
            <a:r>
              <a:rPr lang="pt-BR" sz="2000" b="1">
                <a:latin typeface="Arial" charset="0"/>
                <a:cs typeface="Times New Roman" pitchFamily="18" charset="0"/>
              </a:rPr>
              <a:t>então</a:t>
            </a:r>
            <a:r>
              <a:rPr lang="pt-BR" sz="2000">
                <a:latin typeface="Arial" charset="0"/>
                <a:cs typeface="Times New Roman" pitchFamily="18" charset="0"/>
              </a:rPr>
              <a:t> C4;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								        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						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		</a:t>
            </a:r>
            <a:r>
              <a:rPr lang="pt-BR" sz="2000" b="1">
                <a:latin typeface="Arial" charset="0"/>
                <a:cs typeface="Times New Roman" pitchFamily="18" charset="0"/>
              </a:rPr>
              <a:t>fimse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  <a:tab pos="2092325" algn="l"/>
                <a:tab pos="2281238" algn="l"/>
                <a:tab pos="2481263" algn="l"/>
                <a:tab pos="2670175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fimse;</a:t>
            </a:r>
            <a:endParaRPr lang="pt-BR" sz="200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41025" name="Group 65"/>
          <p:cNvGraphicFramePr>
            <a:graphicFrameLocks noGrp="1"/>
          </p:cNvGraphicFramePr>
          <p:nvPr/>
        </p:nvGraphicFramePr>
        <p:xfrm>
          <a:off x="4495800" y="4878388"/>
          <a:ext cx="34290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X=V4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Ação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921" name="Text Box 103"/>
          <p:cNvSpPr txBox="1">
            <a:spLocks noChangeArrowheads="1"/>
          </p:cNvSpPr>
          <p:nvPr/>
        </p:nvSpPr>
        <p:spPr bwMode="auto">
          <a:xfrm>
            <a:off x="2971800" y="3048000"/>
            <a:ext cx="2463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latin typeface="Arial" charset="0"/>
              </a:rPr>
              <a:t>se – senão – 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de Múltipla Escolha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Seleções encadeadas homogêneas </a:t>
            </a:r>
            <a:r>
              <a:rPr lang="pt-BR" sz="2400" dirty="0" err="1" smtClean="0"/>
              <a:t>se-senão-se</a:t>
            </a:r>
            <a:r>
              <a:rPr lang="pt-BR" sz="2400" dirty="0" smtClean="0"/>
              <a:t> são bastante frequentes para o tratamento de listas de valor</a:t>
            </a:r>
          </a:p>
          <a:p>
            <a:r>
              <a:rPr lang="pt-BR" sz="2400" dirty="0" smtClean="0"/>
              <a:t>Para simplificar a escrita, pode-se utilizar o comando escolha.</a:t>
            </a:r>
          </a:p>
          <a:p>
            <a:r>
              <a:rPr lang="pt-BR" sz="2400" dirty="0" smtClean="0"/>
              <a:t>Adaptando o algoritmo anterior:</a:t>
            </a: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381000" y="38862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escolha</a:t>
            </a:r>
            <a:r>
              <a:rPr lang="pt-BR" sz="2000">
                <a:latin typeface="Arial" charset="0"/>
                <a:cs typeface="Times New Roman" pitchFamily="18" charset="0"/>
              </a:rPr>
              <a:t> X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caso</a:t>
            </a:r>
            <a:r>
              <a:rPr lang="pt-BR" sz="2000">
                <a:latin typeface="Arial" charset="0"/>
                <a:cs typeface="Times New Roman" pitchFamily="18" charset="0"/>
              </a:rPr>
              <a:t> V1: C1;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caso</a:t>
            </a:r>
            <a:r>
              <a:rPr lang="pt-BR" sz="2000">
                <a:latin typeface="Arial" charset="0"/>
                <a:cs typeface="Times New Roman" pitchFamily="18" charset="0"/>
              </a:rPr>
              <a:t> V2: C2;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caso</a:t>
            </a:r>
            <a:r>
              <a:rPr lang="pt-BR" sz="2000">
                <a:latin typeface="Arial" charset="0"/>
                <a:cs typeface="Times New Roman" pitchFamily="18" charset="0"/>
              </a:rPr>
              <a:t> V3: C3;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caso</a:t>
            </a:r>
            <a:r>
              <a:rPr lang="pt-BR" sz="2000">
                <a:latin typeface="Arial" charset="0"/>
                <a:cs typeface="Times New Roman" pitchFamily="18" charset="0"/>
              </a:rPr>
              <a:t> V4: C4;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fimescolha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de Múltipla Escolha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00113" y="1412875"/>
            <a:ext cx="7772400" cy="4572000"/>
          </a:xfrm>
        </p:spPr>
        <p:txBody>
          <a:bodyPr/>
          <a:lstStyle/>
          <a:p>
            <a:r>
              <a:rPr lang="pt-BR" sz="2000" dirty="0" smtClean="0"/>
              <a:t>Construa um algoritmo que, tendo como dados de entrada o preço de um produto e seu código de origem, mostre o preço junto de sua procedência</a:t>
            </a:r>
          </a:p>
          <a:p>
            <a:r>
              <a:rPr lang="pt-BR" sz="2000" dirty="0" smtClean="0"/>
              <a:t>Caso o código não seja nenhum dos especificados, o produto deve ser encarado como importado</a:t>
            </a:r>
          </a:p>
          <a:p>
            <a:r>
              <a:rPr lang="pt-BR" sz="2000" dirty="0" smtClean="0"/>
              <a:t>Siga a tabela de códigos abaixo</a:t>
            </a:r>
          </a:p>
        </p:txBody>
      </p:sp>
      <p:graphicFrame>
        <p:nvGraphicFramePr>
          <p:cNvPr id="92231" name="Group 71"/>
          <p:cNvGraphicFramePr>
            <a:graphicFrameLocks noGrp="1"/>
          </p:cNvGraphicFramePr>
          <p:nvPr/>
        </p:nvGraphicFramePr>
        <p:xfrm>
          <a:off x="2971800" y="3505200"/>
          <a:ext cx="3348038" cy="3017835"/>
        </p:xfrm>
        <a:graphic>
          <a:graphicData uri="http://schemas.openxmlformats.org/drawingml/2006/table">
            <a:tbl>
              <a:tblPr/>
              <a:tblGrid>
                <a:gridCol w="1911350"/>
                <a:gridCol w="1436688"/>
              </a:tblGrid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Código de origem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Procedência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ou 6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Nordeste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7, 8 ou 9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Sudeste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até 20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Centro-oeste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 até 30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Nordeste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Seleção de Múltipla Escolha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8600" y="1447800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real</a:t>
            </a:r>
            <a:r>
              <a:rPr lang="pt-BR" sz="2000">
                <a:latin typeface="Arial" charset="0"/>
                <a:cs typeface="Times New Roman" pitchFamily="18" charset="0"/>
              </a:rPr>
              <a:t>: Preço;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inteiro</a:t>
            </a:r>
            <a:r>
              <a:rPr lang="pt-BR" sz="2000">
                <a:latin typeface="Arial" charset="0"/>
                <a:cs typeface="Times New Roman" pitchFamily="18" charset="0"/>
              </a:rPr>
              <a:t>: Origem;</a:t>
            </a:r>
            <a:endParaRPr lang="pt-BR" sz="2000" i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leia</a:t>
            </a:r>
            <a:r>
              <a:rPr lang="pt-BR" sz="2000">
                <a:latin typeface="Arial" charset="0"/>
                <a:cs typeface="Times New Roman" pitchFamily="18" charset="0"/>
              </a:rPr>
              <a:t> (Preço, Origem);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escolha</a:t>
            </a:r>
            <a:r>
              <a:rPr lang="pt-BR" sz="2000">
                <a:latin typeface="Arial" charset="0"/>
                <a:cs typeface="Times New Roman" pitchFamily="18" charset="0"/>
              </a:rPr>
              <a:t> Origem</a:t>
            </a:r>
            <a:endParaRPr lang="pt-BR" sz="20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1: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Sul”);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2: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Norte”);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3: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Leste”);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4: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Oeste”);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7, 8, 9: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Sudeste”);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>
                <a:latin typeface="Arial" charset="0"/>
                <a:cs typeface="Times New Roman" pitchFamily="18" charset="0"/>
              </a:rPr>
              <a:t>			caso</a:t>
            </a:r>
            <a:r>
              <a:rPr lang="pt-BR" sz="2000">
                <a:latin typeface="Arial" charset="0"/>
                <a:cs typeface="Times New Roman" pitchFamily="18" charset="0"/>
              </a:rPr>
              <a:t> 10..20: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Centro-Oeste”);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</a:t>
            </a:r>
            <a:r>
              <a:rPr lang="pt-BR" sz="2000" b="1">
                <a:latin typeface="Arial" charset="0"/>
                <a:cs typeface="Times New Roman" pitchFamily="18" charset="0"/>
              </a:rPr>
              <a:t>caso</a:t>
            </a:r>
            <a:r>
              <a:rPr lang="pt-BR" sz="2000">
                <a:latin typeface="Arial" charset="0"/>
                <a:cs typeface="Times New Roman" pitchFamily="18" charset="0"/>
              </a:rPr>
              <a:t> 5, 6, 25..50: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do Nordeste”);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	</a:t>
            </a:r>
            <a:r>
              <a:rPr lang="pt-BR" sz="2000" b="1">
                <a:latin typeface="Arial" charset="0"/>
                <a:cs typeface="Times New Roman" pitchFamily="18" charset="0"/>
              </a:rPr>
              <a:t>caso contrário</a:t>
            </a:r>
            <a:r>
              <a:rPr lang="pt-BR" sz="2000">
                <a:latin typeface="Arial" charset="0"/>
                <a:cs typeface="Times New Roman" pitchFamily="18" charset="0"/>
              </a:rPr>
              <a:t>: </a:t>
            </a:r>
            <a:r>
              <a:rPr lang="pt-BR" sz="2000" b="1">
                <a:latin typeface="Arial" charset="0"/>
                <a:cs typeface="Times New Roman" pitchFamily="18" charset="0"/>
              </a:rPr>
              <a:t>escreva</a:t>
            </a:r>
            <a:r>
              <a:rPr lang="pt-BR" sz="2000">
                <a:latin typeface="Arial" charset="0"/>
                <a:cs typeface="Times New Roman" pitchFamily="18" charset="0"/>
              </a:rPr>
              <a:t> (Preço, “ – produto importado”);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</a:t>
            </a:r>
            <a:r>
              <a:rPr lang="pt-BR" sz="2000" b="1">
                <a:latin typeface="Arial" charset="0"/>
                <a:cs typeface="Times New Roman" pitchFamily="18" charset="0"/>
              </a:rPr>
              <a:t>fimescolha;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</a:t>
            </a:r>
            <a:r>
              <a:rPr lang="pt-BR" sz="20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228600" y="6237312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3.6 – Múltipla Escolha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</TotalTime>
  <Words>1002</Words>
  <Application>Microsoft Office PowerPoint</Application>
  <PresentationFormat>Apresentação na tela (4:3)</PresentationFormat>
  <Paragraphs>427</Paragraphs>
  <Slides>27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Mediano</vt:lpstr>
      <vt:lpstr>Algoritmos – Aula 3</vt:lpstr>
      <vt:lpstr>Expressões Lógicas </vt:lpstr>
      <vt:lpstr>Operadores Relacionais</vt:lpstr>
      <vt:lpstr>Operadores Lógicos</vt:lpstr>
      <vt:lpstr>Comando de Atribuição </vt:lpstr>
      <vt:lpstr>Comandos de Entrada e Saída </vt:lpstr>
      <vt:lpstr>Saída de Dados</vt:lpstr>
      <vt:lpstr>Blocos </vt:lpstr>
      <vt:lpstr>Exemplo de Bloco</vt:lpstr>
      <vt:lpstr>Estrutura Sequencial</vt:lpstr>
      <vt:lpstr>Estrutura sequencial</vt:lpstr>
      <vt:lpstr>Estrutura sequencial</vt:lpstr>
      <vt:lpstr>Estruturas de Seleção</vt:lpstr>
      <vt:lpstr>Seleção Simples</vt:lpstr>
      <vt:lpstr>Seleção Simples</vt:lpstr>
      <vt:lpstr>Seleção Composta</vt:lpstr>
      <vt:lpstr>Seleção Composta</vt:lpstr>
      <vt:lpstr>Seleção Encadeada</vt:lpstr>
      <vt:lpstr>Seleção Encadeada</vt:lpstr>
      <vt:lpstr>Seleção Encadeada</vt:lpstr>
      <vt:lpstr>Seleção Encadeada</vt:lpstr>
      <vt:lpstr>Seleção Encadeada Heterogênea</vt:lpstr>
      <vt:lpstr>Seleção Encadeada Homogênea</vt:lpstr>
      <vt:lpstr>Seleção Encadeada Homogênea</vt:lpstr>
      <vt:lpstr>Seleção de Múltipla Escolha</vt:lpstr>
      <vt:lpstr>Seleção de Múltipla Escolha</vt:lpstr>
      <vt:lpstr>Seleção de Múltipla Escolha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– Aula 3</dc:title>
  <dc:creator>professor</dc:creator>
  <cp:lastModifiedBy>professor</cp:lastModifiedBy>
  <cp:revision>4</cp:revision>
  <dcterms:created xsi:type="dcterms:W3CDTF">2013-08-06T00:52:21Z</dcterms:created>
  <dcterms:modified xsi:type="dcterms:W3CDTF">2014-02-10T20:46:07Z</dcterms:modified>
</cp:coreProperties>
</file>