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6" r:id="rId11"/>
    <p:sldId id="267" r:id="rId12"/>
    <p:sldId id="269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2/23/2021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Analise e desenvolvimento de sistemas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Prof. Norton Glaser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Formado pela UNICAMP </a:t>
            </a:r>
          </a:p>
          <a:p>
            <a:r>
              <a:rPr lang="pt-BR" dirty="0"/>
              <a:t>Professor universitário desde 2005</a:t>
            </a:r>
          </a:p>
          <a:p>
            <a:r>
              <a:rPr lang="pt-BR" dirty="0"/>
              <a:t>Ministro aulas na Fatec Ipiranga e Fatec São Caetano do Sul</a:t>
            </a:r>
          </a:p>
          <a:p>
            <a:pPr lvl="1"/>
            <a:r>
              <a:rPr lang="pt-BR" dirty="0"/>
              <a:t>Algoritmos</a:t>
            </a:r>
          </a:p>
          <a:p>
            <a:pPr lvl="1"/>
            <a:r>
              <a:rPr lang="pt-BR" dirty="0"/>
              <a:t>Programação Web</a:t>
            </a:r>
          </a:p>
          <a:p>
            <a:pPr lvl="1"/>
            <a:r>
              <a:rPr lang="pt-BR" dirty="0"/>
              <a:t>Ferramentas Web</a:t>
            </a:r>
          </a:p>
          <a:p>
            <a:pPr lvl="1"/>
            <a:r>
              <a:rPr lang="pt-BR" dirty="0"/>
              <a:t>Estrutura de Dados	</a:t>
            </a:r>
          </a:p>
          <a:p>
            <a:r>
              <a:rPr lang="pt-BR" dirty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/>
              <a:t>professor.norton.net.br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Material</a:t>
            </a:r>
          </a:p>
          <a:p>
            <a:r>
              <a:rPr lang="pt-BR" dirty="0"/>
              <a:t>Atividades</a:t>
            </a:r>
          </a:p>
          <a:p>
            <a:r>
              <a:rPr lang="pt-BR" dirty="0"/>
              <a:t>Links</a:t>
            </a:r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/>
              <a:t>Duvidas</a:t>
            </a:r>
          </a:p>
          <a:p>
            <a:pPr lvl="1"/>
            <a:r>
              <a:rPr lang="pt-BR" dirty="0"/>
              <a:t>Sugestões</a:t>
            </a:r>
          </a:p>
          <a:p>
            <a:pPr lvl="1"/>
            <a:r>
              <a:rPr lang="pt-BR" dirty="0"/>
              <a:t>Criticas</a:t>
            </a:r>
          </a:p>
          <a:p>
            <a:pPr lvl="1"/>
            <a:r>
              <a:rPr lang="pt-BR" dirty="0"/>
              <a:t>Envio de atividades e trabalhos</a:t>
            </a:r>
          </a:p>
          <a:p>
            <a:pPr lvl="1"/>
            <a:r>
              <a:rPr lang="pt-BR" dirty="0"/>
              <a:t>Aviso prévio de ausência</a:t>
            </a:r>
          </a:p>
          <a:p>
            <a:pPr lvl="1"/>
            <a:r>
              <a:rPr lang="pt-BR" dirty="0"/>
              <a:t>TCC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Contato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Dias na faculdade</a:t>
            </a:r>
          </a:p>
          <a:p>
            <a:pPr lvl="1"/>
            <a:r>
              <a:rPr lang="pt-BR" dirty="0"/>
              <a:t>Segunda das 17:00 as 22:40</a:t>
            </a:r>
          </a:p>
          <a:p>
            <a:pPr lvl="1"/>
            <a:r>
              <a:rPr lang="pt-BR" dirty="0"/>
              <a:t>Terça das 19:00 as 22:40</a:t>
            </a:r>
          </a:p>
          <a:p>
            <a:pPr lvl="1"/>
            <a:r>
              <a:rPr lang="pt-BR" dirty="0"/>
              <a:t>Quinta das 17:00 as 22:40</a:t>
            </a:r>
          </a:p>
          <a:p>
            <a:pPr lvl="1"/>
            <a:r>
              <a:rPr lang="pt-BR" dirty="0"/>
              <a:t>Sábado das 10:00 as 13:30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1 aula – aula teórica</a:t>
            </a:r>
          </a:p>
          <a:p>
            <a:r>
              <a:rPr lang="pt-BR" dirty="0"/>
              <a:t>2 aula – atividade pratica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Atividade pratica (40%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P1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Projeto P1.</a:t>
            </a:r>
          </a:p>
          <a:p>
            <a:r>
              <a:rPr lang="pt-BR" dirty="0"/>
              <a:t>P2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Projeto P2.</a:t>
            </a:r>
          </a:p>
          <a:p>
            <a:r>
              <a:rPr lang="pt-BR" dirty="0"/>
              <a:t>P3</a:t>
            </a:r>
          </a:p>
          <a:p>
            <a:pPr lvl="1"/>
            <a:r>
              <a:rPr lang="pt-BR" dirty="0"/>
              <a:t>100% Prova sem consulta contemplando todo o conteúdo do semestre.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Maximo de 20% de faltas</a:t>
            </a:r>
          </a:p>
          <a:p>
            <a:r>
              <a:rPr lang="pt-BR" dirty="0"/>
              <a:t>80 aulas no semestre, 4 aulas por dia</a:t>
            </a:r>
          </a:p>
          <a:p>
            <a:r>
              <a:rPr lang="pt-BR" dirty="0"/>
              <a:t>20 faltas ou 5 dias no semestre</a:t>
            </a:r>
          </a:p>
          <a:p>
            <a:r>
              <a:rPr lang="pt-BR" dirty="0"/>
              <a:t>Noturno</a:t>
            </a:r>
          </a:p>
          <a:p>
            <a:pPr lvl="1"/>
            <a:r>
              <a:rPr lang="pt-BR" dirty="0"/>
              <a:t>Primeira Chamada as 20:30 </a:t>
            </a:r>
          </a:p>
          <a:p>
            <a:pPr lvl="1"/>
            <a:r>
              <a:rPr lang="pt-BR" dirty="0"/>
              <a:t>Segunda Chamada – Entrega das Atividades</a:t>
            </a:r>
          </a:p>
          <a:p>
            <a:pPr>
              <a:buNone/>
            </a:pPr>
            <a:endParaRPr lang="pt-BR" dirty="0"/>
          </a:p>
          <a:p>
            <a:endParaRPr lang="pt-BR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Faltas serão abonadas caso comunicadas com antecedência, por e-mail com justificativas plausíveis.</a:t>
            </a:r>
          </a:p>
          <a:p>
            <a:pPr lvl="1"/>
            <a:r>
              <a:rPr lang="pt-BR" dirty="0"/>
              <a:t>Questões de Saúde.</a:t>
            </a:r>
          </a:p>
          <a:p>
            <a:pPr lvl="1"/>
            <a:r>
              <a:rPr lang="pt-BR" dirty="0"/>
              <a:t>Problemas eventuais no trabalho.</a:t>
            </a:r>
          </a:p>
          <a:p>
            <a:pPr lvl="1"/>
            <a:r>
              <a:rPr lang="pt-BR" dirty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e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Ementa </a:t>
            </a:r>
          </a:p>
          <a:p>
            <a:pPr lvl="1"/>
            <a:r>
              <a:rPr lang="pt-BR" dirty="0"/>
              <a:t>Acesso a banco de dados através de uma linguagem de programação; Construção de relatórios. Tecnologias de </a:t>
            </a:r>
            <a:r>
              <a:rPr lang="pt-BR" dirty="0" err="1"/>
              <a:t>SGBDs</a:t>
            </a:r>
            <a:r>
              <a:rPr lang="pt-BR" dirty="0"/>
              <a:t> emergentes de mercado.</a:t>
            </a:r>
          </a:p>
          <a:p>
            <a:r>
              <a:rPr lang="pt-BR" dirty="0"/>
              <a:t>Objetivo </a:t>
            </a:r>
          </a:p>
          <a:p>
            <a:pPr lvl="1"/>
            <a:r>
              <a:rPr lang="pt-BR" dirty="0"/>
              <a:t>Ao final desta disciplina o aluno será capaz de: implementar soluções computacionais que façam acesso ao Banco de Dados através de uma linguagem de programação e conhecer tecnologias emergentes.</a:t>
            </a:r>
          </a:p>
        </p:txBody>
      </p:sp>
    </p:spTree>
    <p:extLst>
      <p:ext uri="{BB962C8B-B14F-4D97-AF65-F5344CB8AC3E}">
        <p14:creationId xmlns:p14="http://schemas.microsoft.com/office/powerpoint/2010/main" val="301879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 fontScale="47500" lnSpcReduction="20000"/>
          </a:bodyPr>
          <a:lstStyle/>
          <a:p>
            <a:r>
              <a:rPr lang="pt-BR" dirty="0"/>
              <a:t>Apresentação da disciplina; Revisão Projeto BD -&gt; revisão Modelagem Conceitual : Construção de Diagrama</a:t>
            </a:r>
          </a:p>
          <a:p>
            <a:r>
              <a:rPr lang="en-US" dirty="0" err="1"/>
              <a:t>Entidade-Relacionamento</a:t>
            </a:r>
            <a:r>
              <a:rPr lang="pt-BR" dirty="0"/>
              <a:t> </a:t>
            </a:r>
          </a:p>
          <a:p>
            <a:r>
              <a:rPr lang="pt-BR" dirty="0"/>
              <a:t>Revisão Modelo Entidade-Relacionamento e Modelo Relacional -&gt; Modelagem e implementação de um novo Banco de</a:t>
            </a:r>
          </a:p>
          <a:p>
            <a:r>
              <a:rPr lang="pt-BR" dirty="0"/>
              <a:t>dados</a:t>
            </a:r>
          </a:p>
          <a:p>
            <a:r>
              <a:rPr lang="pt-BR" dirty="0"/>
              <a:t>5 Modelagem Física - Implementação SQL DDL -&gt; Criação do BD Controle de Venda de Produtos Esportivos completo em</a:t>
            </a:r>
          </a:p>
          <a:p>
            <a:r>
              <a:rPr lang="pt-BR" dirty="0"/>
              <a:t>SGBD Oracle – Restrições de Integridade + População dos dados</a:t>
            </a:r>
          </a:p>
          <a:p>
            <a:r>
              <a:rPr lang="pt-BR" dirty="0"/>
              <a:t>6 Consultas SQL DML - Funções </a:t>
            </a:r>
            <a:r>
              <a:rPr lang="pt-BR" dirty="0" err="1"/>
              <a:t>Caracter</a:t>
            </a:r>
            <a:r>
              <a:rPr lang="pt-BR" dirty="0"/>
              <a:t>, data, conversão de tipos -&gt; Consultas com funções de caractere, conversão</a:t>
            </a:r>
          </a:p>
          <a:p>
            <a:r>
              <a:rPr lang="pt-BR" dirty="0"/>
              <a:t>de tipos, datas, junções</a:t>
            </a:r>
          </a:p>
          <a:p>
            <a:r>
              <a:rPr lang="pt-BR" dirty="0"/>
              <a:t>7 Consultas SQL DML - Junção -&gt; Consultas SQL DML : </a:t>
            </a:r>
            <a:r>
              <a:rPr lang="pt-BR" dirty="0" err="1"/>
              <a:t>Select</a:t>
            </a:r>
            <a:r>
              <a:rPr lang="pt-BR" dirty="0"/>
              <a:t> com </a:t>
            </a:r>
            <a:r>
              <a:rPr lang="pt-BR" dirty="0" err="1"/>
              <a:t>inner</a:t>
            </a:r>
            <a:r>
              <a:rPr lang="pt-BR" dirty="0"/>
              <a:t> </a:t>
            </a:r>
            <a:r>
              <a:rPr lang="pt-BR" dirty="0" err="1"/>
              <a:t>join</a:t>
            </a:r>
            <a:r>
              <a:rPr lang="pt-BR" dirty="0"/>
              <a:t>, alias</a:t>
            </a:r>
          </a:p>
          <a:p>
            <a:r>
              <a:rPr lang="pt-BR" dirty="0"/>
              <a:t>8 Consultas SQL DML - Funções de Agregação -&gt; </a:t>
            </a:r>
            <a:r>
              <a:rPr lang="pt-BR" dirty="0" err="1"/>
              <a:t>Selects</a:t>
            </a:r>
            <a:r>
              <a:rPr lang="pt-BR" dirty="0"/>
              <a:t> com Funções de Agregação, Group </a:t>
            </a:r>
            <a:r>
              <a:rPr lang="pt-BR" dirty="0" err="1"/>
              <a:t>By</a:t>
            </a:r>
            <a:r>
              <a:rPr lang="pt-BR" dirty="0"/>
              <a:t>, cláusula </a:t>
            </a:r>
            <a:r>
              <a:rPr lang="pt-BR" dirty="0" err="1"/>
              <a:t>Having</a:t>
            </a:r>
            <a:endParaRPr lang="pt-BR" dirty="0"/>
          </a:p>
          <a:p>
            <a:r>
              <a:rPr lang="pt-BR" dirty="0"/>
              <a:t>9 Consultas Avançadas SQL - Junção Externa e Consultas aninhadas -&gt; Consultas Avançadas SQL DML : </a:t>
            </a:r>
            <a:r>
              <a:rPr lang="pt-BR" dirty="0" err="1"/>
              <a:t>Select</a:t>
            </a:r>
            <a:r>
              <a:rPr lang="pt-BR" dirty="0"/>
              <a:t> com </a:t>
            </a:r>
            <a:r>
              <a:rPr lang="pt-BR" dirty="0" err="1"/>
              <a:t>group</a:t>
            </a:r>
            <a:endParaRPr lang="pt-BR" dirty="0"/>
          </a:p>
          <a:p>
            <a:r>
              <a:rPr lang="pt-BR" dirty="0" err="1"/>
              <a:t>by</a:t>
            </a:r>
            <a:r>
              <a:rPr lang="pt-BR" dirty="0"/>
              <a:t>, </a:t>
            </a:r>
            <a:r>
              <a:rPr lang="pt-BR" dirty="0" err="1"/>
              <a:t>having</a:t>
            </a:r>
            <a:r>
              <a:rPr lang="pt-BR" dirty="0"/>
              <a:t>, </a:t>
            </a:r>
            <a:r>
              <a:rPr lang="pt-BR" dirty="0" err="1"/>
              <a:t>outer</a:t>
            </a:r>
            <a:r>
              <a:rPr lang="pt-BR" dirty="0"/>
              <a:t> </a:t>
            </a:r>
            <a:r>
              <a:rPr lang="pt-BR" dirty="0" err="1"/>
              <a:t>join</a:t>
            </a:r>
            <a:r>
              <a:rPr lang="pt-BR" dirty="0"/>
              <a:t>, </a:t>
            </a:r>
            <a:r>
              <a:rPr lang="pt-BR" dirty="0" err="1"/>
              <a:t>subqueries</a:t>
            </a:r>
            <a:endParaRPr lang="pt-BR" dirty="0"/>
          </a:p>
          <a:p>
            <a:r>
              <a:rPr lang="pt-BR" dirty="0"/>
              <a:t>10 Primeira Avaliação de Aprendizagem - P1 -&gt; Avaliação P1</a:t>
            </a:r>
          </a:p>
        </p:txBody>
      </p:sp>
    </p:spTree>
    <p:extLst>
      <p:ext uri="{BB962C8B-B14F-4D97-AF65-F5344CB8AC3E}">
        <p14:creationId xmlns:p14="http://schemas.microsoft.com/office/powerpoint/2010/main" val="3865830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EDF9-64DF-4084-BD8A-47AD3370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Plano de Ensino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5C5C6-77AF-41F4-B289-E232D35C21D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11 Introdução Banco de Dados Objeto-Relacional -&gt; BDOR Estruturas</a:t>
            </a:r>
          </a:p>
          <a:p>
            <a:r>
              <a:rPr lang="pt-BR" dirty="0"/>
              <a:t>12 Banco de Dados Objeto-Relacional - Consultas e manipulação -&gt; Banco de Dados Objeto-Relacional - Consultas e</a:t>
            </a:r>
          </a:p>
          <a:p>
            <a:r>
              <a:rPr lang="pt-BR" dirty="0"/>
              <a:t>manipulação</a:t>
            </a:r>
          </a:p>
          <a:p>
            <a:r>
              <a:rPr lang="pt-BR" dirty="0"/>
              <a:t>13 Banco de dados NO-SQL - Estrutura -&gt; Banco de dados NO-SQL - Estrutura</a:t>
            </a:r>
          </a:p>
          <a:p>
            <a:r>
              <a:rPr lang="pt-BR" dirty="0"/>
              <a:t>14 Banco de Dados NO-SQL - Manipulação dos dados -&gt; Banco de Dados NO-SQL - Manipulação dos dados</a:t>
            </a:r>
          </a:p>
          <a:p>
            <a:r>
              <a:rPr lang="pt-BR" dirty="0"/>
              <a:t>15 Banco de dados NO-SQL - Consultas -&gt; Banco de dados NO-SQL - Consultas</a:t>
            </a:r>
          </a:p>
          <a:p>
            <a:r>
              <a:rPr lang="pt-BR" dirty="0"/>
              <a:t>16 Exercício-Projeto BD NO-SQL -&gt; Exercício-Projeto BD NO-SQL</a:t>
            </a:r>
          </a:p>
          <a:p>
            <a:r>
              <a:rPr lang="pt-BR" dirty="0"/>
              <a:t>17 Exercício Projeto NO-SQL -&gt; Exercício Projeto NO-SQL</a:t>
            </a:r>
          </a:p>
          <a:p>
            <a:r>
              <a:rPr lang="pt-BR" dirty="0"/>
              <a:t>18 Segunda Avaliação de Aprendizagem - P2 -&gt; Avaliação P2</a:t>
            </a:r>
          </a:p>
          <a:p>
            <a:r>
              <a:rPr lang="pt-BR" dirty="0"/>
              <a:t>19 Recuperação de Aprendizagem -&gt; Recuperação de Aprendizagem</a:t>
            </a:r>
          </a:p>
          <a:p>
            <a:r>
              <a:rPr lang="pt-BR" dirty="0"/>
              <a:t>20 Avaliação recuperação de Aprendizagem- P3 -&gt; Avaliação P3</a:t>
            </a:r>
          </a:p>
          <a:p>
            <a:r>
              <a:rPr lang="pt-BR" dirty="0"/>
              <a:t>21 Fechamento de Médias -&gt; Fechamento de Médias</a:t>
            </a:r>
          </a:p>
          <a:p>
            <a:r>
              <a:rPr lang="pt-BR" dirty="0"/>
              <a:t>22 Fechamento de Frequência -&gt; Fechamento de Frequência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6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Bibliografia Básica </a:t>
            </a:r>
          </a:p>
          <a:p>
            <a:pPr lvl="1"/>
            <a:r>
              <a:rPr lang="pt-BR" dirty="0"/>
              <a:t>LEITE, M. Acessando Banco de Dados. </a:t>
            </a:r>
            <a:r>
              <a:rPr lang="pt-BR" dirty="0" err="1"/>
              <a:t>Brasport</a:t>
            </a:r>
            <a:r>
              <a:rPr lang="pt-BR" dirty="0"/>
              <a:t>, 2007.</a:t>
            </a:r>
          </a:p>
          <a:p>
            <a:pPr lvl="1"/>
            <a:r>
              <a:rPr lang="pt-BR" dirty="0"/>
              <a:t>MECENAS, I J. Java 6 - Fundamentos, Swing, </a:t>
            </a:r>
            <a:r>
              <a:rPr lang="pt-BR" dirty="0" err="1"/>
              <a:t>Bluej</a:t>
            </a:r>
            <a:r>
              <a:rPr lang="pt-BR" dirty="0"/>
              <a:t> e JDBC. Alta Books, 2008.</a:t>
            </a:r>
          </a:p>
          <a:p>
            <a:pPr lvl="1"/>
            <a:r>
              <a:rPr lang="pt-BR" dirty="0"/>
              <a:t>OTEY, M., OTEY, D. Microsoft SQL Server 2005: Guia do Desenvolvedor. Ciência Moderna, 2007.</a:t>
            </a:r>
          </a:p>
          <a:p>
            <a:r>
              <a:rPr lang="pt-BR" dirty="0"/>
              <a:t>Bibliografia Complementar </a:t>
            </a:r>
          </a:p>
          <a:p>
            <a:pPr lvl="1"/>
            <a:r>
              <a:rPr lang="pt-BR" dirty="0"/>
              <a:t>HUDDLESTON, J. Iniciando em Banco de Dados com VB 2005. </a:t>
            </a:r>
            <a:r>
              <a:rPr lang="pt-BR" dirty="0" err="1"/>
              <a:t>Ciencia</a:t>
            </a:r>
            <a:r>
              <a:rPr lang="pt-BR" dirty="0"/>
              <a:t> Moderna, 2008.</a:t>
            </a:r>
          </a:p>
          <a:p>
            <a:pPr lvl="1"/>
            <a:r>
              <a:rPr lang="pt-BR" dirty="0"/>
              <a:t>SILVA, R. S., Oracle </a:t>
            </a:r>
            <a:r>
              <a:rPr lang="pt-BR" dirty="0" err="1"/>
              <a:t>Database</a:t>
            </a:r>
            <a:r>
              <a:rPr lang="pt-BR" dirty="0"/>
              <a:t> 10g Express </a:t>
            </a:r>
            <a:r>
              <a:rPr lang="pt-BR" dirty="0" err="1"/>
              <a:t>Edition</a:t>
            </a:r>
            <a:r>
              <a:rPr lang="pt-BR" dirty="0"/>
              <a:t> - Guia de Instalação, Configuração e Administração com Implementação</a:t>
            </a:r>
          </a:p>
          <a:p>
            <a:pPr lvl="1"/>
            <a:r>
              <a:rPr lang="pt-BR" dirty="0"/>
              <a:t>PL/SQL Relacional e Objeto-Relacional. Érica, 2007.</a:t>
            </a:r>
          </a:p>
          <a:p>
            <a:pPr lvl="1"/>
            <a:r>
              <a:rPr lang="pt-BR" dirty="0"/>
              <a:t>TEOREY, T; LIGHTSTONE, S; NADEAU, T. PROJETO E MODELAGEM DE BANCOS DE DADOS. CAMPUS, 2006.</a:t>
            </a:r>
          </a:p>
        </p:txBody>
      </p:sp>
    </p:spTree>
    <p:extLst>
      <p:ext uri="{BB962C8B-B14F-4D97-AF65-F5344CB8AC3E}">
        <p14:creationId xmlns:p14="http://schemas.microsoft.com/office/powerpoint/2010/main" val="1594451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81</TotalTime>
  <Words>744</Words>
  <Application>Microsoft Office PowerPoint</Application>
  <PresentationFormat>On-screen Show (4:3)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Ementa e Objetivos</vt:lpstr>
      <vt:lpstr>Plano de Ensino</vt:lpstr>
      <vt:lpstr>Plano de Ensino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Glaser</cp:lastModifiedBy>
  <cp:revision>17</cp:revision>
  <dcterms:created xsi:type="dcterms:W3CDTF">2014-01-27T15:41:35Z</dcterms:created>
  <dcterms:modified xsi:type="dcterms:W3CDTF">2021-02-23T13:37:53Z</dcterms:modified>
</cp:coreProperties>
</file>