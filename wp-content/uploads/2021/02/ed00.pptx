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6" r:id="rId11"/>
    <p:sldId id="267" r:id="rId12"/>
    <p:sldId id="269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2/11/2021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Analise e desenvolvimento de sistemas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Prof. Norton Glaser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Formado pela UNICAMP </a:t>
            </a:r>
          </a:p>
          <a:p>
            <a:r>
              <a:rPr lang="pt-BR" dirty="0"/>
              <a:t>Professor universitário desde 2005</a:t>
            </a:r>
          </a:p>
          <a:p>
            <a:r>
              <a:rPr lang="pt-BR" dirty="0"/>
              <a:t>Ministro aulas na Fatec Ipiranga e Fatec São Caetano do Sul</a:t>
            </a:r>
          </a:p>
          <a:p>
            <a:pPr lvl="1"/>
            <a:r>
              <a:rPr lang="pt-BR" dirty="0"/>
              <a:t>Algoritmos</a:t>
            </a:r>
          </a:p>
          <a:p>
            <a:pPr lvl="1"/>
            <a:r>
              <a:rPr lang="pt-BR" dirty="0"/>
              <a:t>Programação Web</a:t>
            </a:r>
          </a:p>
          <a:p>
            <a:pPr lvl="1"/>
            <a:r>
              <a:rPr lang="pt-BR" dirty="0"/>
              <a:t>Ferramentas Web</a:t>
            </a:r>
          </a:p>
          <a:p>
            <a:pPr lvl="1"/>
            <a:r>
              <a:rPr lang="pt-BR" dirty="0"/>
              <a:t>Estrutura de Dados	</a:t>
            </a:r>
          </a:p>
          <a:p>
            <a:r>
              <a:rPr lang="pt-BR" dirty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Material</a:t>
            </a:r>
          </a:p>
          <a:p>
            <a:r>
              <a:rPr lang="pt-BR" dirty="0"/>
              <a:t>Atividades</a:t>
            </a:r>
          </a:p>
          <a:p>
            <a:r>
              <a:rPr lang="pt-BR" dirty="0"/>
              <a:t>Links</a:t>
            </a:r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/>
              <a:t>Duvidas</a:t>
            </a:r>
          </a:p>
          <a:p>
            <a:pPr lvl="1"/>
            <a:r>
              <a:rPr lang="pt-BR" dirty="0"/>
              <a:t>Sugestões</a:t>
            </a:r>
          </a:p>
          <a:p>
            <a:pPr lvl="1"/>
            <a:r>
              <a:rPr lang="pt-BR" dirty="0"/>
              <a:t>Criticas</a:t>
            </a:r>
          </a:p>
          <a:p>
            <a:pPr lvl="1"/>
            <a:r>
              <a:rPr lang="pt-BR" dirty="0"/>
              <a:t>Envio de atividades e trabalhos</a:t>
            </a:r>
          </a:p>
          <a:p>
            <a:pPr lvl="1"/>
            <a:r>
              <a:rPr lang="pt-BR" dirty="0"/>
              <a:t>Aviso prévio de ausência</a:t>
            </a:r>
          </a:p>
          <a:p>
            <a:pPr lvl="1"/>
            <a:r>
              <a:rPr lang="pt-BR" dirty="0"/>
              <a:t>TCC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Contato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Dias na faculdade</a:t>
            </a:r>
          </a:p>
          <a:p>
            <a:pPr lvl="1"/>
            <a:r>
              <a:rPr lang="pt-BR" dirty="0"/>
              <a:t>Segunda das 17:00 as 22:40</a:t>
            </a:r>
          </a:p>
          <a:p>
            <a:pPr lvl="1"/>
            <a:r>
              <a:rPr lang="pt-BR" dirty="0"/>
              <a:t>Quinta das 17:00 as 22:40</a:t>
            </a:r>
          </a:p>
          <a:p>
            <a:pPr lvl="1"/>
            <a:r>
              <a:rPr lang="pt-BR" dirty="0"/>
              <a:t>Sábado das 10:00 as 13:30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1 aula – aula teórica</a:t>
            </a:r>
          </a:p>
          <a:p>
            <a:r>
              <a:rPr lang="pt-BR" dirty="0"/>
              <a:t>2 aula – atividade pratica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Atividade pratica (40%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P1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Prova bimestral com consulta ao próprio material.</a:t>
            </a:r>
          </a:p>
          <a:p>
            <a:r>
              <a:rPr lang="pt-BR" dirty="0"/>
              <a:t>P2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Prova bimestral com consulta ao próprio material.</a:t>
            </a:r>
          </a:p>
          <a:p>
            <a:r>
              <a:rPr lang="pt-BR" dirty="0"/>
              <a:t>P3</a:t>
            </a:r>
          </a:p>
          <a:p>
            <a:pPr lvl="1"/>
            <a:r>
              <a:rPr lang="pt-BR" dirty="0"/>
              <a:t>100% Prova sem consulta contemplando todo o conteúdo do semestre.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Maximo de 20% de faltas</a:t>
            </a:r>
          </a:p>
          <a:p>
            <a:r>
              <a:rPr lang="pt-BR" dirty="0"/>
              <a:t>80 aulas no semestre, 4 aulas por dia</a:t>
            </a:r>
          </a:p>
          <a:p>
            <a:r>
              <a:rPr lang="pt-BR" dirty="0"/>
              <a:t>20 faltas ou 5 dias no semestre</a:t>
            </a:r>
          </a:p>
          <a:p>
            <a:r>
              <a:rPr lang="pt-BR" dirty="0"/>
              <a:t>Noturno</a:t>
            </a:r>
          </a:p>
          <a:p>
            <a:pPr lvl="1"/>
            <a:r>
              <a:rPr lang="pt-BR" dirty="0"/>
              <a:t>Primeira Chamada as 20:30 </a:t>
            </a:r>
          </a:p>
          <a:p>
            <a:pPr lvl="1"/>
            <a:r>
              <a:rPr lang="pt-BR" dirty="0"/>
              <a:t>Segunda Chamada – Entrega das Atividades</a:t>
            </a:r>
          </a:p>
          <a:p>
            <a:pPr>
              <a:buNone/>
            </a:pPr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Faltas serão abonadas caso comunicadas com antecedência, por e-mail com justificativas plausíveis.</a:t>
            </a:r>
          </a:p>
          <a:p>
            <a:pPr lvl="1"/>
            <a:r>
              <a:rPr lang="pt-BR" dirty="0"/>
              <a:t>Questões de Saúde.</a:t>
            </a:r>
          </a:p>
          <a:p>
            <a:pPr lvl="1"/>
            <a:r>
              <a:rPr lang="pt-BR" dirty="0"/>
              <a:t>Problemas eventuais no trabalho.</a:t>
            </a:r>
          </a:p>
          <a:p>
            <a:pPr lvl="1"/>
            <a:r>
              <a:rPr lang="pt-BR" dirty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e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Ementa </a:t>
            </a:r>
          </a:p>
          <a:p>
            <a:pPr lvl="1"/>
            <a:r>
              <a:rPr lang="pt-BR" dirty="0"/>
              <a:t>Estrutura de dados homogêneos e heterogêneos. Uso de memória. Pilha. Fila. Recursividade. Lista. Pesquisa </a:t>
            </a:r>
            <a:r>
              <a:rPr lang="pt-BR" dirty="0" err="1"/>
              <a:t>seqüencial</a:t>
            </a:r>
            <a:r>
              <a:rPr lang="pt-BR" dirty="0"/>
              <a:t> e binária. Ordenação. Árvores binárias. Grafos.</a:t>
            </a:r>
          </a:p>
          <a:p>
            <a:r>
              <a:rPr lang="pt-BR" dirty="0"/>
              <a:t>Objetivo </a:t>
            </a:r>
          </a:p>
          <a:p>
            <a:pPr lvl="1"/>
            <a:r>
              <a:rPr lang="pt-BR" dirty="0"/>
              <a:t>Programar utilizando uma linguagem estruturada, criar e manipular tipos abstratos de dados: listas, pilhas, filas e árvores, conhecer e implementar sub-rotinas relativas aos principais métodos de classificação interna e externa de dados, conhecer e implementar sub-rotinas relativas aos principais métodos de pesquisa de dados e entender várias aplicações importantes de estruturas de dados.</a:t>
            </a:r>
          </a:p>
        </p:txBody>
      </p:sp>
    </p:spTree>
    <p:extLst>
      <p:ext uri="{BB962C8B-B14F-4D97-AF65-F5344CB8AC3E}">
        <p14:creationId xmlns:p14="http://schemas.microsoft.com/office/powerpoint/2010/main" val="301879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/>
              <a:t>Apresentação da disciplina e revisão diagnóstica -&gt; Apresentação do plano de ensino: conteúdo,</a:t>
            </a:r>
          </a:p>
          <a:p>
            <a:r>
              <a:rPr lang="pt-BR" dirty="0" err="1"/>
              <a:t>metodologia,critérios</a:t>
            </a:r>
            <a:r>
              <a:rPr lang="pt-BR" dirty="0"/>
              <a:t> de avaliação e </a:t>
            </a:r>
            <a:r>
              <a:rPr lang="pt-BR" dirty="0" err="1"/>
              <a:t>bibliografia.Revisão</a:t>
            </a:r>
            <a:r>
              <a:rPr lang="pt-BR" dirty="0"/>
              <a:t> sobre vetores e funções e passagem de parâmetros</a:t>
            </a:r>
          </a:p>
          <a:p>
            <a:r>
              <a:rPr lang="pt-BR" dirty="0"/>
              <a:t>3 Ponteiros -&gt; Passagem de parâmetros por valor e por referência</a:t>
            </a:r>
          </a:p>
          <a:p>
            <a:r>
              <a:rPr lang="pt-BR" dirty="0"/>
              <a:t>4 Alocação Dinâmica de Memória -&gt; Alocação dinâmica de memória; </a:t>
            </a:r>
            <a:r>
              <a:rPr lang="pt-BR" dirty="0" err="1"/>
              <a:t>stack</a:t>
            </a:r>
            <a:r>
              <a:rPr lang="pt-BR" dirty="0"/>
              <a:t> </a:t>
            </a:r>
            <a:r>
              <a:rPr lang="pt-BR" dirty="0" err="1"/>
              <a:t>heap</a:t>
            </a:r>
            <a:r>
              <a:rPr lang="pt-BR" dirty="0"/>
              <a:t>.</a:t>
            </a:r>
          </a:p>
          <a:p>
            <a:r>
              <a:rPr lang="pt-BR" dirty="0"/>
              <a:t>5 Estruturas de Dados Compostas Heterogêneas e Alocação Dinâmica de Memória -&gt; Estruturas. Alocação Dinâmica de</a:t>
            </a:r>
          </a:p>
          <a:p>
            <a:r>
              <a:rPr lang="pt-BR" dirty="0"/>
              <a:t>Memória. Estruturas contendo ponteiros para estruturas.</a:t>
            </a:r>
          </a:p>
          <a:p>
            <a:r>
              <a:rPr lang="pt-BR" dirty="0"/>
              <a:t>6 Ordenação e Busca -&gt; Algoritmos de Ordenação:-</a:t>
            </a:r>
            <a:r>
              <a:rPr lang="pt-BR" dirty="0" err="1"/>
              <a:t>Bubble</a:t>
            </a:r>
            <a:r>
              <a:rPr lang="pt-BR" dirty="0"/>
              <a:t>, </a:t>
            </a:r>
            <a:r>
              <a:rPr lang="pt-BR" dirty="0" err="1"/>
              <a:t>Insertion</a:t>
            </a:r>
            <a:r>
              <a:rPr lang="pt-BR" dirty="0"/>
              <a:t>, </a:t>
            </a:r>
            <a:r>
              <a:rPr lang="pt-BR" dirty="0" err="1"/>
              <a:t>Selection.Algoritmos</a:t>
            </a:r>
            <a:r>
              <a:rPr lang="pt-BR" dirty="0"/>
              <a:t> de busca simples </a:t>
            </a:r>
            <a:r>
              <a:rPr lang="pt-BR" dirty="0" err="1"/>
              <a:t>ebinária</a:t>
            </a:r>
            <a:r>
              <a:rPr lang="pt-BR" dirty="0"/>
              <a:t>-</a:t>
            </a:r>
          </a:p>
          <a:p>
            <a:r>
              <a:rPr lang="pt-BR" dirty="0"/>
              <a:t>Implementação e análise de buscas sobre vetores.</a:t>
            </a:r>
          </a:p>
          <a:p>
            <a:r>
              <a:rPr lang="pt-BR" dirty="0"/>
              <a:t>7 Ordenação e Busca - Continuação -&gt; Algoritmos de Ordenação:-</a:t>
            </a:r>
            <a:r>
              <a:rPr lang="pt-BR" dirty="0" err="1"/>
              <a:t>Bubble</a:t>
            </a:r>
            <a:r>
              <a:rPr lang="pt-BR" dirty="0"/>
              <a:t>, </a:t>
            </a:r>
            <a:r>
              <a:rPr lang="pt-BR" dirty="0" err="1"/>
              <a:t>Insertion</a:t>
            </a:r>
            <a:r>
              <a:rPr lang="pt-BR" dirty="0"/>
              <a:t>, </a:t>
            </a:r>
            <a:r>
              <a:rPr lang="pt-BR" dirty="0" err="1"/>
              <a:t>Selection.Algoritmos</a:t>
            </a:r>
            <a:r>
              <a:rPr lang="pt-BR" dirty="0"/>
              <a:t> de busca</a:t>
            </a:r>
          </a:p>
          <a:p>
            <a:r>
              <a:rPr lang="pt-BR" dirty="0"/>
              <a:t>simples </a:t>
            </a:r>
            <a:r>
              <a:rPr lang="pt-BR" dirty="0" err="1"/>
              <a:t>ebinária</a:t>
            </a:r>
            <a:r>
              <a:rPr lang="pt-BR" dirty="0"/>
              <a:t>- Implementação e análise de buscas sobre vetores.</a:t>
            </a:r>
          </a:p>
          <a:p>
            <a:r>
              <a:rPr lang="pt-BR" dirty="0"/>
              <a:t>8 </a:t>
            </a:r>
            <a:r>
              <a:rPr lang="pt-BR" dirty="0" err="1"/>
              <a:t>TADs</a:t>
            </a:r>
            <a:r>
              <a:rPr lang="pt-BR" dirty="0"/>
              <a:t> - Pilhas -&gt; Tipos abstratos de dados: conceitos, utilização, </a:t>
            </a:r>
            <a:r>
              <a:rPr lang="pt-BR" dirty="0" err="1"/>
              <a:t>aplicaçõesPilhas</a:t>
            </a:r>
            <a:r>
              <a:rPr lang="pt-BR" dirty="0"/>
              <a:t> - Implementação de pilhas</a:t>
            </a:r>
          </a:p>
          <a:p>
            <a:r>
              <a:rPr lang="pt-BR" dirty="0"/>
              <a:t>9 Avaliação -&gt; Projeto Pilhas  08/10/20</a:t>
            </a:r>
          </a:p>
          <a:p>
            <a:r>
              <a:rPr lang="pt-BR" dirty="0"/>
              <a:t>10 Correção de Projeto -&gt; Correção de Projeto p1 e atividade de recuperação</a:t>
            </a:r>
          </a:p>
        </p:txBody>
      </p:sp>
    </p:spTree>
    <p:extLst>
      <p:ext uri="{BB962C8B-B14F-4D97-AF65-F5344CB8AC3E}">
        <p14:creationId xmlns:p14="http://schemas.microsoft.com/office/powerpoint/2010/main" val="3865830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11 Filas -&gt; definição, operações, aplicação e implementação sobre vetores</a:t>
            </a:r>
          </a:p>
          <a:p>
            <a:r>
              <a:rPr lang="pt-BR" dirty="0"/>
              <a:t>12 Listas simplesmente ligadas -&gt; </a:t>
            </a:r>
            <a:r>
              <a:rPr lang="pt-BR" dirty="0" err="1"/>
              <a:t>structs</a:t>
            </a:r>
            <a:r>
              <a:rPr lang="pt-BR" dirty="0"/>
              <a:t> com alocação dinâmica, definição de listas, operações e aplicações.</a:t>
            </a:r>
          </a:p>
          <a:p>
            <a:r>
              <a:rPr lang="pt-BR" dirty="0"/>
              <a:t>13 Pilhas e filas sobre listas ligadas -&gt; implementação e estudo sobre vantagens e desvantagens.</a:t>
            </a:r>
          </a:p>
          <a:p>
            <a:r>
              <a:rPr lang="pt-BR" dirty="0"/>
              <a:t>14 Atividades de Reforço -&gt; Lista de Atividades de Reforço</a:t>
            </a:r>
          </a:p>
          <a:p>
            <a:r>
              <a:rPr lang="pt-BR" dirty="0"/>
              <a:t>15 Árvores Binárias -&gt; definições, operações e aplicações.</a:t>
            </a:r>
          </a:p>
          <a:p>
            <a:r>
              <a:rPr lang="pt-BR" dirty="0"/>
              <a:t>16 Avaliação -&gt; projeto pilhas e filas 19/11/20</a:t>
            </a:r>
          </a:p>
          <a:p>
            <a:r>
              <a:rPr lang="pt-BR" dirty="0"/>
              <a:t>17 Correção de Projeto -&gt; Correção de Projeto p2 e atividade de recuperação</a:t>
            </a:r>
          </a:p>
          <a:p>
            <a:r>
              <a:rPr lang="pt-BR" dirty="0"/>
              <a:t>18 Avaliação de Recuperação -&gt; Avaliação de Recuperação 03/12/20</a:t>
            </a:r>
          </a:p>
          <a:p>
            <a:r>
              <a:rPr lang="pt-BR" dirty="0"/>
              <a:t>19 Plantão de Dúvidas -&gt; plantão de dúvidas</a:t>
            </a:r>
          </a:p>
          <a:p>
            <a:r>
              <a:rPr lang="pt-BR" dirty="0"/>
              <a:t>20 PLANEJAMENTO -&gt; fechamento de semestre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522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Bibliografia Básica </a:t>
            </a:r>
          </a:p>
          <a:p>
            <a:pPr lvl="1"/>
            <a:r>
              <a:rPr lang="pt-BR" dirty="0"/>
              <a:t>EDELWEISS, N; GALANTE, R. Estruturas de Dados. Livros Didáticos UFRGS, V.18. Bookman. 2009.</a:t>
            </a:r>
          </a:p>
          <a:p>
            <a:pPr lvl="1"/>
            <a:r>
              <a:rPr lang="pt-BR" dirty="0"/>
              <a:t>ZIVIANI, N. Projeto de Algoritmos com Implementações em Java e C++. Ed. </a:t>
            </a:r>
            <a:r>
              <a:rPr lang="pt-BR" dirty="0" err="1"/>
              <a:t>Cengage</a:t>
            </a:r>
            <a:r>
              <a:rPr lang="pt-BR" dirty="0"/>
              <a:t> Learning. 2006.</a:t>
            </a:r>
          </a:p>
          <a:p>
            <a:pPr lvl="1"/>
            <a:r>
              <a:rPr lang="pt-BR" dirty="0"/>
              <a:t>CELES, W.; CERQUEIRA, R.; RANGEL, J. L. Introdução a estruturas de dados: com técnicas de programação em C. Rio</a:t>
            </a:r>
          </a:p>
          <a:p>
            <a:r>
              <a:rPr lang="pt-BR" dirty="0"/>
              <a:t>Bibliografia Complementar </a:t>
            </a:r>
          </a:p>
          <a:p>
            <a:pPr lvl="1"/>
            <a:r>
              <a:rPr lang="pt-BR" dirty="0"/>
              <a:t>GOODRICH, M. T.; TAMASSIA, R. Estruturas de dados e Algoritmos em Java. Porto Alegre: Bookman Editora. 2007. 584p.</a:t>
            </a:r>
          </a:p>
          <a:p>
            <a:pPr lvl="1"/>
            <a:r>
              <a:rPr lang="pt-BR" dirty="0"/>
              <a:t>LAFORE, R. Estruturas de dados e algoritmos em Java. Rio de Janeiro: Ciência Moderna. 2005.</a:t>
            </a:r>
          </a:p>
          <a:p>
            <a:pPr lvl="1"/>
            <a:r>
              <a:rPr lang="pt-BR" dirty="0"/>
              <a:t>LAUREANO, M. Estruturas de dados com algoritmos e C. Rio de Janeiro: </a:t>
            </a:r>
            <a:r>
              <a:rPr lang="pt-BR" dirty="0" err="1"/>
              <a:t>Brasport</a:t>
            </a:r>
            <a:r>
              <a:rPr lang="pt-BR" dirty="0"/>
              <a:t>. 2008.PEREIRA,</a:t>
            </a:r>
          </a:p>
        </p:txBody>
      </p:sp>
    </p:spTree>
    <p:extLst>
      <p:ext uri="{BB962C8B-B14F-4D97-AF65-F5344CB8AC3E}">
        <p14:creationId xmlns:p14="http://schemas.microsoft.com/office/powerpoint/2010/main" val="159445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75</TotalTime>
  <Words>794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16</cp:revision>
  <dcterms:created xsi:type="dcterms:W3CDTF">2014-01-27T15:41:35Z</dcterms:created>
  <dcterms:modified xsi:type="dcterms:W3CDTF">2021-02-11T18:16:18Z</dcterms:modified>
</cp:coreProperties>
</file>