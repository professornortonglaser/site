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1" d="100"/>
          <a:sy n="101" d="100"/>
        </p:scale>
        <p:origin x="294"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Ref idx="1001">
        <a:schemeClr val="bg2"/>
      </p:bgRef>
    </p:bg>
    <p:spTree>
      <p:nvGrpSpPr>
        <p:cNvPr id="1" name=""/>
        <p:cNvGrpSpPr/>
        <p:nvPr/>
      </p:nvGrpSpPr>
      <p:grpSpPr>
        <a:xfrm>
          <a:off x="0" y="0"/>
          <a:ext cx="0" cy="0"/>
          <a:chOff x="0" y="0"/>
          <a:chExt cx="0" cy="0"/>
        </a:xfrm>
      </p:grpSpPr>
      <p:sp>
        <p:nvSpPr>
          <p:cNvPr id="7" name="Retângulo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tângulo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tângulo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ítulo 7"/>
          <p:cNvSpPr>
            <a:spLocks noGrp="1"/>
          </p:cNvSpPr>
          <p:nvPr>
            <p:ph type="ctrTitle"/>
          </p:nvPr>
        </p:nvSpPr>
        <p:spPr>
          <a:xfrm>
            <a:off x="2362200" y="4038600"/>
            <a:ext cx="6477000" cy="1828800"/>
          </a:xfrm>
        </p:spPr>
        <p:txBody>
          <a:bodyPr anchor="b"/>
          <a:lstStyle>
            <a:lvl1pPr>
              <a:defRPr cap="all" baseline="0"/>
            </a:lvl1pPr>
          </a:lstStyle>
          <a:p>
            <a:r>
              <a:rPr kumimoji="0" lang="pt-BR"/>
              <a:t>Clique para editar o estilo do título mestre</a:t>
            </a:r>
            <a:endParaRPr kumimoji="0" lang="en-US"/>
          </a:p>
        </p:txBody>
      </p:sp>
      <p:sp>
        <p:nvSpPr>
          <p:cNvPr id="9" name="Subtítulo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pt-BR"/>
              <a:t>Clique para editar o estilo do subtítulo mestre</a:t>
            </a:r>
            <a:endParaRPr kumimoji="0" lang="en-US"/>
          </a:p>
        </p:txBody>
      </p:sp>
      <p:sp>
        <p:nvSpPr>
          <p:cNvPr id="28" name="Espaço Reservado para Data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9A32A74D-5257-4133-97A4-C8ABEBB13DFA}" type="datetimeFigureOut">
              <a:rPr lang="en-US" smtClean="0"/>
              <a:pPr/>
              <a:t>2/23/2021</a:t>
            </a:fld>
            <a:endParaRPr lang="en-US"/>
          </a:p>
        </p:txBody>
      </p:sp>
      <p:sp>
        <p:nvSpPr>
          <p:cNvPr id="17" name="Espaço Reservado para Rodapé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Espaço Reservado para Número de Slide 28"/>
          <p:cNvSpPr>
            <a:spLocks noGrp="1"/>
          </p:cNvSpPr>
          <p:nvPr>
            <p:ph type="sldNum" sz="quarter" idx="12"/>
          </p:nvPr>
        </p:nvSpPr>
        <p:spPr>
          <a:xfrm>
            <a:off x="8001000" y="228600"/>
            <a:ext cx="838200" cy="381000"/>
          </a:xfrm>
        </p:spPr>
        <p:txBody>
          <a:bodyPr/>
          <a:lstStyle>
            <a:lvl1pPr>
              <a:defRPr>
                <a:solidFill>
                  <a:schemeClr val="tx2"/>
                </a:solidFill>
              </a:defRPr>
            </a:lvl1pPr>
          </a:lstStyle>
          <a:p>
            <a:fld id="{E8AD3D5B-3BEA-41CD-831A-FB9C5D34440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612648" y="228600"/>
            <a:ext cx="8153400" cy="990600"/>
          </a:xfrm>
        </p:spPr>
        <p:txBody>
          <a:bodyPr/>
          <a:lstStyle/>
          <a:p>
            <a:r>
              <a:rPr kumimoji="0" lang="pt-BR"/>
              <a:t>Clique para editar o estilo do título mestre</a:t>
            </a:r>
            <a:endParaRPr kumimoji="0" lang="en-US"/>
          </a:p>
        </p:txBody>
      </p:sp>
      <p:sp>
        <p:nvSpPr>
          <p:cNvPr id="4" name="Espaço Reservado para Data 3"/>
          <p:cNvSpPr>
            <a:spLocks noGrp="1"/>
          </p:cNvSpPr>
          <p:nvPr>
            <p:ph type="dt" sz="half" idx="10"/>
          </p:nvPr>
        </p:nvSpPr>
        <p:spPr/>
        <p:txBody>
          <a:bodyPr/>
          <a:lstStyle/>
          <a:p>
            <a:fld id="{9A32A74D-5257-4133-97A4-C8ABEBB13DFA}" type="datetimeFigureOut">
              <a:rPr lang="en-US" smtClean="0"/>
              <a:pPr/>
              <a:t>2/23/2021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lvl1pPr>
              <a:defRPr>
                <a:solidFill>
                  <a:srgbClr val="FFFFFF"/>
                </a:solidFill>
              </a:defRPr>
            </a:lvl1pPr>
          </a:lstStyle>
          <a:p>
            <a:fld id="{E8AD3D5B-3BEA-41CD-831A-FB9C5D344405}" type="slidenum">
              <a:rPr lang="en-US" smtClean="0"/>
              <a:pPr/>
              <a:t>‹#›</a:t>
            </a:fld>
            <a:endParaRPr lang="en-US"/>
          </a:p>
        </p:txBody>
      </p:sp>
      <p:sp>
        <p:nvSpPr>
          <p:cNvPr id="8" name="Espaço Reservado para Conteúdo 7"/>
          <p:cNvSpPr>
            <a:spLocks noGrp="1"/>
          </p:cNvSpPr>
          <p:nvPr>
            <p:ph sz="quarter" idx="1"/>
          </p:nvPr>
        </p:nvSpPr>
        <p:spPr>
          <a:xfrm>
            <a:off x="612648" y="1600200"/>
            <a:ext cx="8153400" cy="4495800"/>
          </a:xfrm>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Ref idx="1003">
        <a:schemeClr val="bg1"/>
      </p:bgRef>
    </p:bg>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pt-BR"/>
              <a:t>Clique para editar os estilos do texto mestre</a:t>
            </a:r>
          </a:p>
        </p:txBody>
      </p:sp>
      <p:sp>
        <p:nvSpPr>
          <p:cNvPr id="7" name="Retângulo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tângulo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tângulo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ítulo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pt-BR"/>
              <a:t>Clique para editar o estilo do título mestre</a:t>
            </a:r>
            <a:endParaRPr kumimoji="0" lang="en-US"/>
          </a:p>
        </p:txBody>
      </p:sp>
      <p:sp>
        <p:nvSpPr>
          <p:cNvPr id="12" name="Espaço Reservado para Data 11"/>
          <p:cNvSpPr>
            <a:spLocks noGrp="1"/>
          </p:cNvSpPr>
          <p:nvPr>
            <p:ph type="dt" sz="half" idx="10"/>
          </p:nvPr>
        </p:nvSpPr>
        <p:spPr/>
        <p:txBody>
          <a:bodyPr/>
          <a:lstStyle/>
          <a:p>
            <a:fld id="{9A32A74D-5257-4133-97A4-C8ABEBB13DFA}" type="datetimeFigureOut">
              <a:rPr lang="en-US" smtClean="0"/>
              <a:pPr/>
              <a:t>2/23/2021</a:t>
            </a:fld>
            <a:endParaRPr lang="en-US"/>
          </a:p>
        </p:txBody>
      </p:sp>
      <p:sp>
        <p:nvSpPr>
          <p:cNvPr id="13" name="Espaço Reservado para Número de Slide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8AD3D5B-3BEA-41CD-831A-FB9C5D344405}" type="slidenum">
              <a:rPr lang="en-US" smtClean="0"/>
              <a:pPr/>
              <a:t>‹#›</a:t>
            </a:fld>
            <a:endParaRPr lang="en-US"/>
          </a:p>
        </p:txBody>
      </p:sp>
      <p:sp>
        <p:nvSpPr>
          <p:cNvPr id="14" name="Espaço Reservado para Rodapé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BR"/>
              <a:t>Clique para editar o estilo do título mestre</a:t>
            </a:r>
            <a:endParaRPr kumimoji="0" lang="en-US"/>
          </a:p>
        </p:txBody>
      </p:sp>
      <p:sp>
        <p:nvSpPr>
          <p:cNvPr id="9" name="Espaço Reservado para Conteúdo 8"/>
          <p:cNvSpPr>
            <a:spLocks noGrp="1"/>
          </p:cNvSpPr>
          <p:nvPr>
            <p:ph sz="quarter" idx="1"/>
          </p:nvPr>
        </p:nvSpPr>
        <p:spPr>
          <a:xfrm>
            <a:off x="609600" y="1589567"/>
            <a:ext cx="3886200" cy="4572000"/>
          </a:xfrm>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11" name="Espaço Reservado para Conteúdo 10"/>
          <p:cNvSpPr>
            <a:spLocks noGrp="1"/>
          </p:cNvSpPr>
          <p:nvPr>
            <p:ph sz="quarter" idx="2"/>
          </p:nvPr>
        </p:nvSpPr>
        <p:spPr>
          <a:xfrm>
            <a:off x="4844901" y="1589567"/>
            <a:ext cx="3886200" cy="4572000"/>
          </a:xfrm>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8" name="Espaço Reservado para Data 7"/>
          <p:cNvSpPr>
            <a:spLocks noGrp="1"/>
          </p:cNvSpPr>
          <p:nvPr>
            <p:ph type="dt" sz="half" idx="15"/>
          </p:nvPr>
        </p:nvSpPr>
        <p:spPr/>
        <p:txBody>
          <a:bodyPr rtlCol="0"/>
          <a:lstStyle/>
          <a:p>
            <a:fld id="{9A32A74D-5257-4133-97A4-C8ABEBB13DFA}" type="datetimeFigureOut">
              <a:rPr lang="en-US" smtClean="0"/>
              <a:pPr/>
              <a:t>2/23/2021</a:t>
            </a:fld>
            <a:endParaRPr lang="en-US"/>
          </a:p>
        </p:txBody>
      </p:sp>
      <p:sp>
        <p:nvSpPr>
          <p:cNvPr id="10" name="Espaço Reservado para Número de Slide 9"/>
          <p:cNvSpPr>
            <a:spLocks noGrp="1"/>
          </p:cNvSpPr>
          <p:nvPr>
            <p:ph type="sldNum" sz="quarter" idx="16"/>
          </p:nvPr>
        </p:nvSpPr>
        <p:spPr/>
        <p:txBody>
          <a:bodyPr rtlCol="0"/>
          <a:lstStyle/>
          <a:p>
            <a:fld id="{E8AD3D5B-3BEA-41CD-831A-FB9C5D344405}" type="slidenum">
              <a:rPr lang="en-US" smtClean="0"/>
              <a:pPr/>
              <a:t>‹#›</a:t>
            </a:fld>
            <a:endParaRPr lang="en-US"/>
          </a:p>
        </p:txBody>
      </p:sp>
      <p:sp>
        <p:nvSpPr>
          <p:cNvPr id="12" name="Espaço Reservado para Rodapé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533400" y="273050"/>
            <a:ext cx="8153400" cy="869950"/>
          </a:xfrm>
        </p:spPr>
        <p:txBody>
          <a:bodyPr anchor="ctr"/>
          <a:lstStyle>
            <a:lvl1pPr>
              <a:defRPr/>
            </a:lvl1pPr>
          </a:lstStyle>
          <a:p>
            <a:r>
              <a:rPr kumimoji="0" lang="pt-BR"/>
              <a:t>Clique para editar o estilo do título mestre</a:t>
            </a:r>
            <a:endParaRPr kumimoji="0" lang="en-US"/>
          </a:p>
        </p:txBody>
      </p:sp>
      <p:sp>
        <p:nvSpPr>
          <p:cNvPr id="11" name="Espaço Reservado para Conteúdo 10"/>
          <p:cNvSpPr>
            <a:spLocks noGrp="1"/>
          </p:cNvSpPr>
          <p:nvPr>
            <p:ph sz="quarter" idx="2"/>
          </p:nvPr>
        </p:nvSpPr>
        <p:spPr>
          <a:xfrm>
            <a:off x="609600" y="2438400"/>
            <a:ext cx="3886200" cy="3581400"/>
          </a:xfrm>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13" name="Espaço Reservado para Conteúdo 12"/>
          <p:cNvSpPr>
            <a:spLocks noGrp="1"/>
          </p:cNvSpPr>
          <p:nvPr>
            <p:ph sz="quarter" idx="4"/>
          </p:nvPr>
        </p:nvSpPr>
        <p:spPr>
          <a:xfrm>
            <a:off x="4800600" y="2438400"/>
            <a:ext cx="3886200" cy="3581400"/>
          </a:xfrm>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10" name="Espaço Reservado para Data 9"/>
          <p:cNvSpPr>
            <a:spLocks noGrp="1"/>
          </p:cNvSpPr>
          <p:nvPr>
            <p:ph type="dt" sz="half" idx="15"/>
          </p:nvPr>
        </p:nvSpPr>
        <p:spPr/>
        <p:txBody>
          <a:bodyPr rtlCol="0"/>
          <a:lstStyle/>
          <a:p>
            <a:fld id="{9A32A74D-5257-4133-97A4-C8ABEBB13DFA}" type="datetimeFigureOut">
              <a:rPr lang="en-US" smtClean="0"/>
              <a:pPr/>
              <a:t>2/23/2021</a:t>
            </a:fld>
            <a:endParaRPr lang="en-US"/>
          </a:p>
        </p:txBody>
      </p:sp>
      <p:sp>
        <p:nvSpPr>
          <p:cNvPr id="12" name="Espaço Reservado para Número de Slide 11"/>
          <p:cNvSpPr>
            <a:spLocks noGrp="1"/>
          </p:cNvSpPr>
          <p:nvPr>
            <p:ph type="sldNum" sz="quarter" idx="16"/>
          </p:nvPr>
        </p:nvSpPr>
        <p:spPr/>
        <p:txBody>
          <a:bodyPr rtlCol="0"/>
          <a:lstStyle/>
          <a:p>
            <a:fld id="{E8AD3D5B-3BEA-41CD-831A-FB9C5D344405}" type="slidenum">
              <a:rPr lang="en-US" smtClean="0"/>
              <a:pPr/>
              <a:t>‹#›</a:t>
            </a:fld>
            <a:endParaRPr lang="en-US"/>
          </a:p>
        </p:txBody>
      </p:sp>
      <p:sp>
        <p:nvSpPr>
          <p:cNvPr id="14" name="Espaço Reservado para Rodapé 13"/>
          <p:cNvSpPr>
            <a:spLocks noGrp="1"/>
          </p:cNvSpPr>
          <p:nvPr>
            <p:ph type="ftr" sz="quarter" idx="17"/>
          </p:nvPr>
        </p:nvSpPr>
        <p:spPr/>
        <p:txBody>
          <a:bodyPr rtlCol="0"/>
          <a:lstStyle/>
          <a:p>
            <a:endParaRPr lang="en-US"/>
          </a:p>
        </p:txBody>
      </p:sp>
      <p:sp>
        <p:nvSpPr>
          <p:cNvPr id="16" name="Espaço Reservado para Texto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pt-BR"/>
              <a:t>Clique para editar os estilos do texto mestre</a:t>
            </a:r>
          </a:p>
        </p:txBody>
      </p:sp>
      <p:sp>
        <p:nvSpPr>
          <p:cNvPr id="15" name="Espaço Reservado para Texto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pt-BR"/>
              <a:t>Clique para editar os estilos do texto mestre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BR"/>
              <a:t>Clique para editar o estilo do título mestre</a:t>
            </a:r>
            <a:endParaRPr kumimoji="0" lang="en-US"/>
          </a:p>
        </p:txBody>
      </p:sp>
      <p:sp>
        <p:nvSpPr>
          <p:cNvPr id="3" name="Espaço Reservado para Data 2"/>
          <p:cNvSpPr>
            <a:spLocks noGrp="1"/>
          </p:cNvSpPr>
          <p:nvPr>
            <p:ph type="dt" sz="half" idx="10"/>
          </p:nvPr>
        </p:nvSpPr>
        <p:spPr/>
        <p:txBody>
          <a:bodyPr/>
          <a:lstStyle/>
          <a:p>
            <a:fld id="{9A32A74D-5257-4133-97A4-C8ABEBB13DFA}" type="datetimeFigureOut">
              <a:rPr lang="en-US" smtClean="0"/>
              <a:pPr/>
              <a:t>2/23/2021</a:t>
            </a:fld>
            <a:endParaRPr lang="en-US"/>
          </a:p>
        </p:txBody>
      </p:sp>
      <p:sp>
        <p:nvSpPr>
          <p:cNvPr id="4" name="Espaço Reservado para Rodapé 3"/>
          <p:cNvSpPr>
            <a:spLocks noGrp="1"/>
          </p:cNvSpPr>
          <p:nvPr>
            <p:ph type="ftr" sz="quarter" idx="11"/>
          </p:nvPr>
        </p:nvSpPr>
        <p:spPr/>
        <p:txBody>
          <a:bodyPr/>
          <a:lstStyle/>
          <a:p>
            <a:endParaRPr lang="en-US"/>
          </a:p>
        </p:txBody>
      </p:sp>
      <p:sp>
        <p:nvSpPr>
          <p:cNvPr id="5" name="Espaço Reservado para Número de Slide 4"/>
          <p:cNvSpPr>
            <a:spLocks noGrp="1"/>
          </p:cNvSpPr>
          <p:nvPr>
            <p:ph type="sldNum" sz="quarter" idx="12"/>
          </p:nvPr>
        </p:nvSpPr>
        <p:spPr/>
        <p:txBody>
          <a:bodyPr/>
          <a:lstStyle>
            <a:lvl1pPr>
              <a:defRPr>
                <a:solidFill>
                  <a:srgbClr val="FFFFFF"/>
                </a:solidFill>
              </a:defRPr>
            </a:lvl1pPr>
          </a:lstStyle>
          <a:p>
            <a:fld id="{E8AD3D5B-3BEA-41CD-831A-FB9C5D34440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9A32A74D-5257-4133-97A4-C8ABEBB13DFA}" type="datetimeFigureOut">
              <a:rPr lang="en-US" smtClean="0"/>
              <a:pPr/>
              <a:t>2/23/2021</a:t>
            </a:fld>
            <a:endParaRPr lang="en-US"/>
          </a:p>
        </p:txBody>
      </p:sp>
      <p:sp>
        <p:nvSpPr>
          <p:cNvPr id="3" name="Espaço Reservado para Rodapé 2"/>
          <p:cNvSpPr>
            <a:spLocks noGrp="1"/>
          </p:cNvSpPr>
          <p:nvPr>
            <p:ph type="ftr" sz="quarter" idx="11"/>
          </p:nvPr>
        </p:nvSpPr>
        <p:spPr/>
        <p:txBody>
          <a:bodyPr/>
          <a:lstStyle/>
          <a:p>
            <a:endParaRPr lang="en-US"/>
          </a:p>
        </p:txBody>
      </p:sp>
      <p:sp>
        <p:nvSpPr>
          <p:cNvPr id="4" name="Espaço Reservado para Número de Slide 3"/>
          <p:cNvSpPr>
            <a:spLocks noGrp="1"/>
          </p:cNvSpPr>
          <p:nvPr>
            <p:ph type="sldNum" sz="quarter" idx="12"/>
          </p:nvPr>
        </p:nvSpPr>
        <p:spPr>
          <a:xfrm>
            <a:off x="0" y="6248400"/>
            <a:ext cx="533400" cy="381000"/>
          </a:xfrm>
        </p:spPr>
        <p:txBody>
          <a:bodyPr/>
          <a:lstStyle>
            <a:lvl1pPr>
              <a:defRPr>
                <a:solidFill>
                  <a:schemeClr val="tx2"/>
                </a:solidFill>
              </a:defRPr>
            </a:lvl1pPr>
          </a:lstStyle>
          <a:p>
            <a:fld id="{E8AD3D5B-3BEA-41CD-831A-FB9C5D34440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09600" y="273050"/>
            <a:ext cx="8077200" cy="869950"/>
          </a:xfrm>
        </p:spPr>
        <p:txBody>
          <a:bodyPr anchor="ctr"/>
          <a:lstStyle>
            <a:lvl1pPr algn="l">
              <a:buNone/>
              <a:defRPr sz="4400" b="0"/>
            </a:lvl1pPr>
          </a:lstStyle>
          <a:p>
            <a:r>
              <a:rPr kumimoji="0" lang="pt-BR"/>
              <a:t>Clique para editar o estilo do título mestre</a:t>
            </a:r>
            <a:endParaRPr kumimoji="0" lang="en-US"/>
          </a:p>
        </p:txBody>
      </p:sp>
      <p:sp>
        <p:nvSpPr>
          <p:cNvPr id="5" name="Espaço Reservado para Data 4"/>
          <p:cNvSpPr>
            <a:spLocks noGrp="1"/>
          </p:cNvSpPr>
          <p:nvPr>
            <p:ph type="dt" sz="half" idx="10"/>
          </p:nvPr>
        </p:nvSpPr>
        <p:spPr/>
        <p:txBody>
          <a:bodyPr/>
          <a:lstStyle/>
          <a:p>
            <a:fld id="{9A32A74D-5257-4133-97A4-C8ABEBB13DFA}" type="datetimeFigureOut">
              <a:rPr lang="en-US" smtClean="0"/>
              <a:pPr/>
              <a:t>2/23/2021</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lvl1pPr>
              <a:defRPr>
                <a:solidFill>
                  <a:srgbClr val="FFFFFF"/>
                </a:solidFill>
              </a:defRPr>
            </a:lvl1pPr>
          </a:lstStyle>
          <a:p>
            <a:fld id="{E8AD3D5B-3BEA-41CD-831A-FB9C5D344405}" type="slidenum">
              <a:rPr lang="en-US" smtClean="0"/>
              <a:pPr/>
              <a:t>‹#›</a:t>
            </a:fld>
            <a:endParaRPr lang="en-US"/>
          </a:p>
        </p:txBody>
      </p:sp>
      <p:sp>
        <p:nvSpPr>
          <p:cNvPr id="3" name="Espaço Reservado para Texto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pt-BR"/>
              <a:t>Clique para editar os estilos do texto mestre</a:t>
            </a:r>
          </a:p>
        </p:txBody>
      </p:sp>
      <p:sp>
        <p:nvSpPr>
          <p:cNvPr id="9" name="Espaço Reservado para Conteúdo 8"/>
          <p:cNvSpPr>
            <a:spLocks noGrp="1"/>
          </p:cNvSpPr>
          <p:nvPr>
            <p:ph sz="quarter" idx="1"/>
          </p:nvPr>
        </p:nvSpPr>
        <p:spPr>
          <a:xfrm>
            <a:off x="2362200" y="1752600"/>
            <a:ext cx="6400800" cy="4419600"/>
          </a:xfrm>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bg>
      <p:bgRef idx="1003">
        <a:schemeClr val="bg2"/>
      </p:bgRef>
    </p:bg>
    <p:spTree>
      <p:nvGrpSpPr>
        <p:cNvPr id="1" name=""/>
        <p:cNvGrpSpPr/>
        <p:nvPr/>
      </p:nvGrpSpPr>
      <p:grpSpPr>
        <a:xfrm>
          <a:off x="0" y="0"/>
          <a:ext cx="0" cy="0"/>
          <a:chOff x="0" y="0"/>
          <a:chExt cx="0" cy="0"/>
        </a:xfrm>
      </p:grpSpPr>
      <p:sp>
        <p:nvSpPr>
          <p:cNvPr id="4" name="Espaço Reservado para Texto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pt-BR"/>
              <a:t>Clique para editar os estilos do texto mestre</a:t>
            </a:r>
          </a:p>
        </p:txBody>
      </p:sp>
      <p:sp>
        <p:nvSpPr>
          <p:cNvPr id="8" name="Retângulo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tângulo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tângulo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ítulo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pt-BR"/>
              <a:t>Clique para editar o estilo do título mestre</a:t>
            </a:r>
            <a:endParaRPr kumimoji="0" lang="en-US"/>
          </a:p>
        </p:txBody>
      </p:sp>
      <p:sp>
        <p:nvSpPr>
          <p:cNvPr id="11" name="Retângulo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Espaço Reservado para Data 11"/>
          <p:cNvSpPr>
            <a:spLocks noGrp="1"/>
          </p:cNvSpPr>
          <p:nvPr>
            <p:ph type="dt" sz="half" idx="10"/>
          </p:nvPr>
        </p:nvSpPr>
        <p:spPr>
          <a:xfrm>
            <a:off x="6248400" y="6248400"/>
            <a:ext cx="2667000" cy="365125"/>
          </a:xfrm>
        </p:spPr>
        <p:txBody>
          <a:bodyPr rtlCol="0"/>
          <a:lstStyle/>
          <a:p>
            <a:fld id="{9A32A74D-5257-4133-97A4-C8ABEBB13DFA}" type="datetimeFigureOut">
              <a:rPr lang="en-US" smtClean="0"/>
              <a:pPr/>
              <a:t>2/23/2021</a:t>
            </a:fld>
            <a:endParaRPr lang="en-US"/>
          </a:p>
        </p:txBody>
      </p:sp>
      <p:sp>
        <p:nvSpPr>
          <p:cNvPr id="13" name="Espaço Reservado para Número de Slide 12"/>
          <p:cNvSpPr>
            <a:spLocks noGrp="1"/>
          </p:cNvSpPr>
          <p:nvPr>
            <p:ph type="sldNum" sz="quarter" idx="11"/>
          </p:nvPr>
        </p:nvSpPr>
        <p:spPr>
          <a:xfrm>
            <a:off x="0" y="4667249"/>
            <a:ext cx="1447800" cy="663578"/>
          </a:xfrm>
        </p:spPr>
        <p:txBody>
          <a:bodyPr rtlCol="0"/>
          <a:lstStyle>
            <a:lvl1pPr>
              <a:defRPr sz="2800"/>
            </a:lvl1pPr>
          </a:lstStyle>
          <a:p>
            <a:fld id="{E8AD3D5B-3BEA-41CD-831A-FB9C5D344405}" type="slidenum">
              <a:rPr lang="en-US" smtClean="0"/>
              <a:pPr/>
              <a:t>‹#›</a:t>
            </a:fld>
            <a:endParaRPr lang="en-US"/>
          </a:p>
        </p:txBody>
      </p:sp>
      <p:sp>
        <p:nvSpPr>
          <p:cNvPr id="14" name="Espaço Reservado para Rodapé 13"/>
          <p:cNvSpPr>
            <a:spLocks noGrp="1"/>
          </p:cNvSpPr>
          <p:nvPr>
            <p:ph type="ftr" sz="quarter" idx="12"/>
          </p:nvPr>
        </p:nvSpPr>
        <p:spPr>
          <a:xfrm>
            <a:off x="1600200" y="6248206"/>
            <a:ext cx="4572000" cy="365125"/>
          </a:xfrm>
        </p:spPr>
        <p:txBody>
          <a:bodyPr rtlCol="0"/>
          <a:lstStyle/>
          <a:p>
            <a:endParaRPr lang="en-US"/>
          </a:p>
        </p:txBody>
      </p:sp>
      <p:sp>
        <p:nvSpPr>
          <p:cNvPr id="3" name="Espaço Reservado para Imagem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pt-BR"/>
              <a:t>Clique no ícone para adicionar uma imagem</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BR"/>
              <a:t>Clique para editar o estilo do título mestre</a:t>
            </a:r>
            <a:endParaRPr kumimoji="0" lang="en-US"/>
          </a:p>
        </p:txBody>
      </p:sp>
      <p:sp>
        <p:nvSpPr>
          <p:cNvPr id="3" name="Espaço Reservado para Texto Vertical 2"/>
          <p:cNvSpPr>
            <a:spLocks noGrp="1"/>
          </p:cNvSpPr>
          <p:nvPr>
            <p:ph type="body" orient="vert" idx="1"/>
          </p:nvPr>
        </p:nvSpPr>
        <p:spPr/>
        <p:txBody>
          <a:bodyPr vert="eaVert"/>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4" name="Espaço Reservado para Data 3"/>
          <p:cNvSpPr>
            <a:spLocks noGrp="1"/>
          </p:cNvSpPr>
          <p:nvPr>
            <p:ph type="dt" sz="half" idx="10"/>
          </p:nvPr>
        </p:nvSpPr>
        <p:spPr/>
        <p:txBody>
          <a:bodyPr/>
          <a:lstStyle/>
          <a:p>
            <a:fld id="{9A32A74D-5257-4133-97A4-C8ABEBB13DFA}" type="datetimeFigureOut">
              <a:rPr lang="en-US" smtClean="0"/>
              <a:pPr/>
              <a:t>2/23/2021</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E8AD3D5B-3BEA-41CD-831A-FB9C5D34440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e texto verticais">
    <p:bg>
      <p:bgRef idx="1001">
        <a:schemeClr val="bg1"/>
      </p:bgRef>
    </p:bg>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53200" y="609600"/>
            <a:ext cx="2057400" cy="5516563"/>
          </a:xfrm>
        </p:spPr>
        <p:txBody>
          <a:bodyPr vert="eaVert"/>
          <a:lstStyle/>
          <a:p>
            <a:r>
              <a:rPr kumimoji="0" lang="pt-BR"/>
              <a:t>Clique para editar o estilo do título mestre</a:t>
            </a:r>
            <a:endParaRPr kumimoji="0" lang="en-US"/>
          </a:p>
        </p:txBody>
      </p:sp>
      <p:sp>
        <p:nvSpPr>
          <p:cNvPr id="3" name="Espaço Reservado para Texto Vertical 2"/>
          <p:cNvSpPr>
            <a:spLocks noGrp="1"/>
          </p:cNvSpPr>
          <p:nvPr>
            <p:ph type="body" orient="vert" idx="1"/>
          </p:nvPr>
        </p:nvSpPr>
        <p:spPr>
          <a:xfrm>
            <a:off x="457200" y="609600"/>
            <a:ext cx="5562600" cy="5516564"/>
          </a:xfrm>
        </p:spPr>
        <p:txBody>
          <a:bodyPr vert="eaVert"/>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4" name="Espaço Reservado para Data 3"/>
          <p:cNvSpPr>
            <a:spLocks noGrp="1"/>
          </p:cNvSpPr>
          <p:nvPr>
            <p:ph type="dt" sz="half" idx="10"/>
          </p:nvPr>
        </p:nvSpPr>
        <p:spPr>
          <a:xfrm>
            <a:off x="6553200" y="6248402"/>
            <a:ext cx="2209800" cy="365125"/>
          </a:xfrm>
        </p:spPr>
        <p:txBody>
          <a:bodyPr/>
          <a:lstStyle/>
          <a:p>
            <a:fld id="{9A32A74D-5257-4133-97A4-C8ABEBB13DFA}" type="datetimeFigureOut">
              <a:rPr lang="en-US" smtClean="0"/>
              <a:pPr/>
              <a:t>2/23/2021</a:t>
            </a:fld>
            <a:endParaRPr lang="en-US"/>
          </a:p>
        </p:txBody>
      </p:sp>
      <p:sp>
        <p:nvSpPr>
          <p:cNvPr id="5" name="Espaço Reservado para Rodapé 4"/>
          <p:cNvSpPr>
            <a:spLocks noGrp="1"/>
          </p:cNvSpPr>
          <p:nvPr>
            <p:ph type="ftr" sz="quarter" idx="11"/>
          </p:nvPr>
        </p:nvSpPr>
        <p:spPr>
          <a:xfrm>
            <a:off x="457201" y="6248207"/>
            <a:ext cx="5573483" cy="365125"/>
          </a:xfrm>
        </p:spPr>
        <p:txBody>
          <a:bodyPr/>
          <a:lstStyle/>
          <a:p>
            <a:endParaRPr lang="en-US"/>
          </a:p>
        </p:txBody>
      </p:sp>
      <p:sp>
        <p:nvSpPr>
          <p:cNvPr id="7" name="Retângulo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tângulo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tângulo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Espaço Reservado para Número de Slide 5"/>
          <p:cNvSpPr>
            <a:spLocks noGrp="1"/>
          </p:cNvSpPr>
          <p:nvPr>
            <p:ph type="sldNum" sz="quarter" idx="12"/>
          </p:nvPr>
        </p:nvSpPr>
        <p:spPr>
          <a:xfrm rot="5400000">
            <a:off x="5989638" y="144462"/>
            <a:ext cx="533400" cy="244476"/>
          </a:xfrm>
        </p:spPr>
        <p:txBody>
          <a:bodyPr/>
          <a:lstStyle/>
          <a:p>
            <a:fld id="{E8AD3D5B-3BEA-41CD-831A-FB9C5D34440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Espaço Reservado para Título 21"/>
          <p:cNvSpPr>
            <a:spLocks noGrp="1"/>
          </p:cNvSpPr>
          <p:nvPr>
            <p:ph type="title"/>
          </p:nvPr>
        </p:nvSpPr>
        <p:spPr>
          <a:xfrm>
            <a:off x="609600" y="228600"/>
            <a:ext cx="8153400" cy="990600"/>
          </a:xfrm>
          <a:prstGeom prst="rect">
            <a:avLst/>
          </a:prstGeom>
        </p:spPr>
        <p:txBody>
          <a:bodyPr vert="horz" anchor="ctr">
            <a:normAutofit/>
          </a:bodyPr>
          <a:lstStyle/>
          <a:p>
            <a:r>
              <a:rPr kumimoji="0" lang="pt-BR"/>
              <a:t>Clique para editar o estilo do título mestre</a:t>
            </a:r>
            <a:endParaRPr kumimoji="0" lang="en-US"/>
          </a:p>
        </p:txBody>
      </p:sp>
      <p:sp>
        <p:nvSpPr>
          <p:cNvPr id="13" name="Espaço Reservado para Texto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pt-BR"/>
              <a:t>Clique para editar os estilos do texto mestre</a:t>
            </a:r>
          </a:p>
          <a:p>
            <a:pPr lvl="1" eaLnBrk="1" latinLnBrk="0" hangingPunct="1"/>
            <a:r>
              <a:rPr kumimoji="0" lang="pt-BR"/>
              <a:t>Segundo nível</a:t>
            </a:r>
          </a:p>
          <a:p>
            <a:pPr lvl="2" eaLnBrk="1" latinLnBrk="0" hangingPunct="1"/>
            <a:r>
              <a:rPr kumimoji="0" lang="pt-BR"/>
              <a:t>Terceiro nível</a:t>
            </a:r>
          </a:p>
          <a:p>
            <a:pPr lvl="3" eaLnBrk="1" latinLnBrk="0" hangingPunct="1"/>
            <a:r>
              <a:rPr kumimoji="0" lang="pt-BR"/>
              <a:t>Quarto nível</a:t>
            </a:r>
          </a:p>
          <a:p>
            <a:pPr lvl="4" eaLnBrk="1" latinLnBrk="0" hangingPunct="1"/>
            <a:r>
              <a:rPr kumimoji="0" lang="pt-BR"/>
              <a:t>Quinto nível</a:t>
            </a:r>
            <a:endParaRPr kumimoji="0" lang="en-US"/>
          </a:p>
        </p:txBody>
      </p:sp>
      <p:sp>
        <p:nvSpPr>
          <p:cNvPr id="14" name="Espaço Reservado para Data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9A32A74D-5257-4133-97A4-C8ABEBB13DFA}" type="datetimeFigureOut">
              <a:rPr lang="en-US" smtClean="0"/>
              <a:pPr/>
              <a:t>2/23/2021</a:t>
            </a:fld>
            <a:endParaRPr lang="en-US"/>
          </a:p>
        </p:txBody>
      </p:sp>
      <p:sp>
        <p:nvSpPr>
          <p:cNvPr id="3" name="Espaço Reservado para Rodapé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tângulo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tângulo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tângulo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ço Reservado para Número de Slide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8AD3D5B-3BEA-41CD-831A-FB9C5D34440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a:t>Fatec</a:t>
            </a:r>
            <a:endParaRPr lang="en-US" dirty="0"/>
          </a:p>
        </p:txBody>
      </p:sp>
      <p:sp>
        <p:nvSpPr>
          <p:cNvPr id="3" name="Subtítulo 2"/>
          <p:cNvSpPr>
            <a:spLocks noGrp="1"/>
          </p:cNvSpPr>
          <p:nvPr>
            <p:ph type="subTitle" idx="1"/>
          </p:nvPr>
        </p:nvSpPr>
        <p:spPr/>
        <p:txBody>
          <a:bodyPr/>
          <a:lstStyle/>
          <a:p>
            <a:r>
              <a:rPr lang="pt-BR" dirty="0"/>
              <a:t>Introdução e conceitos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Engenharia da Informação</a:t>
            </a:r>
          </a:p>
        </p:txBody>
      </p:sp>
      <p:sp>
        <p:nvSpPr>
          <p:cNvPr id="3" name="Espaço Reservado para Conteúdo 2"/>
          <p:cNvSpPr>
            <a:spLocks noGrp="1"/>
          </p:cNvSpPr>
          <p:nvPr>
            <p:ph sz="quarter" idx="1"/>
          </p:nvPr>
        </p:nvSpPr>
        <p:spPr/>
        <p:txBody>
          <a:bodyPr>
            <a:normAutofit fontScale="92500" lnSpcReduction="20000"/>
          </a:bodyPr>
          <a:lstStyle/>
          <a:p>
            <a:r>
              <a:rPr lang="pt-BR" dirty="0"/>
              <a:t>Dados - O armazenamento de dados data do inicio dos tempos quando antigas civilizações criavam esculpiam na pedra símbolos que representavam futuramente uma historias, um calendários e etc. A necessidade de armazenar um conhecimento em forma de símbolos para ser utilizado por outros indivíduos compõem de certa forma a principal ferramenta do conhecimento humano. Podemos definir dados como </a:t>
            </a:r>
            <a:r>
              <a:rPr lang="pt-BR" dirty="0" err="1"/>
              <a:t>seqüência</a:t>
            </a:r>
            <a:r>
              <a:rPr lang="pt-BR" dirty="0"/>
              <a:t> de símbolos quantificados ou quantificáveis Originados de alguma entidade ou evento. Que serão utilizados futuramente na composição de uma informação.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Dados</a:t>
            </a:r>
          </a:p>
        </p:txBody>
      </p:sp>
      <p:sp>
        <p:nvSpPr>
          <p:cNvPr id="3" name="Espaço Reservado para Conteúdo 2"/>
          <p:cNvSpPr>
            <a:spLocks noGrp="1"/>
          </p:cNvSpPr>
          <p:nvPr>
            <p:ph sz="quarter" idx="1"/>
          </p:nvPr>
        </p:nvSpPr>
        <p:spPr/>
        <p:txBody>
          <a:bodyPr>
            <a:normAutofit fontScale="92500" lnSpcReduction="10000"/>
          </a:bodyPr>
          <a:lstStyle/>
          <a:p>
            <a:r>
              <a:rPr lang="pt-BR" dirty="0"/>
              <a:t>O armazenamento de dados data do inicio dos tempos quando antigas civilizações criavam esculpiam na pedra símbolos que representavam futuramente uma historias, um calendários e etc. A necessidade de armazenar um conhecimento em forma de símbolos para ser utilizado por outros indivíduos compõem de certa forma a principal ferramenta do conhecimento humano. Podemos definir dados como </a:t>
            </a:r>
            <a:r>
              <a:rPr lang="pt-BR" dirty="0" err="1"/>
              <a:t>seqüência</a:t>
            </a:r>
            <a:r>
              <a:rPr lang="pt-BR" dirty="0"/>
              <a:t> de símbolos quantificados ou quantificáveis Originados de alguma entidade ou evento. Que serão utilizados futuramente na composição de uma informação.</a:t>
            </a:r>
          </a:p>
        </p:txBody>
      </p:sp>
    </p:spTree>
    <p:extLst>
      <p:ext uri="{BB962C8B-B14F-4D97-AF65-F5344CB8AC3E}">
        <p14:creationId xmlns:p14="http://schemas.microsoft.com/office/powerpoint/2010/main" val="2101303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Dados</a:t>
            </a:r>
          </a:p>
        </p:txBody>
      </p:sp>
      <p:sp>
        <p:nvSpPr>
          <p:cNvPr id="3" name="Espaço Reservado para Conteúdo 2"/>
          <p:cNvSpPr>
            <a:spLocks noGrp="1"/>
          </p:cNvSpPr>
          <p:nvPr>
            <p:ph sz="quarter" idx="1"/>
          </p:nvPr>
        </p:nvSpPr>
        <p:spPr/>
        <p:txBody>
          <a:bodyPr>
            <a:normAutofit fontScale="92500" lnSpcReduction="20000"/>
          </a:bodyPr>
          <a:lstStyle/>
          <a:p>
            <a:r>
              <a:rPr lang="pt-BR" dirty="0"/>
              <a:t>Exemplo: Uma palavra e composta por uma sequência de símbolos(Letras) que por sua vez compõem um texto que fornece alguma informação. Por exemplo, um documento de identificação pode conter vários dados de uma pessoa como nome, sexo, data de nascimento Outros exemplos de dados são a temperatura de uma cidade, ou a área de um território.</a:t>
            </a:r>
          </a:p>
          <a:p>
            <a:r>
              <a:rPr lang="pt-BR" dirty="0"/>
              <a:t>Ainda que estes pareçam, por vezes, isolados, podem sempre englobar-se em conjuntos (as temperaturas das cidades de uma província ou país, ou as áreas de um conjunto de territórios) ou séries (as temperaturas de uma cidade ao longo do tempo).</a:t>
            </a:r>
          </a:p>
        </p:txBody>
      </p:sp>
    </p:spTree>
    <p:extLst>
      <p:ext uri="{BB962C8B-B14F-4D97-AF65-F5344CB8AC3E}">
        <p14:creationId xmlns:p14="http://schemas.microsoft.com/office/powerpoint/2010/main" val="1724862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F7B79-3A87-4AF4-BFCD-097796E45F54}"/>
              </a:ext>
            </a:extLst>
          </p:cNvPr>
          <p:cNvSpPr>
            <a:spLocks noGrp="1"/>
          </p:cNvSpPr>
          <p:nvPr>
            <p:ph type="title"/>
          </p:nvPr>
        </p:nvSpPr>
        <p:spPr/>
        <p:txBody>
          <a:bodyPr/>
          <a:lstStyle/>
          <a:p>
            <a:r>
              <a:rPr lang="en-US" dirty="0" err="1"/>
              <a:t>Informação</a:t>
            </a:r>
            <a:endParaRPr lang="en-US" dirty="0"/>
          </a:p>
        </p:txBody>
      </p:sp>
      <p:sp>
        <p:nvSpPr>
          <p:cNvPr id="3" name="Content Placeholder 2">
            <a:extLst>
              <a:ext uri="{FF2B5EF4-FFF2-40B4-BE49-F238E27FC236}">
                <a16:creationId xmlns:a16="http://schemas.microsoft.com/office/drawing/2014/main" id="{C142403C-C653-4ACB-BA17-CADC31F51EBD}"/>
              </a:ext>
            </a:extLst>
          </p:cNvPr>
          <p:cNvSpPr>
            <a:spLocks noGrp="1"/>
          </p:cNvSpPr>
          <p:nvPr>
            <p:ph sz="quarter" idx="1"/>
          </p:nvPr>
        </p:nvSpPr>
        <p:spPr/>
        <p:txBody>
          <a:bodyPr>
            <a:normAutofit fontScale="92500" lnSpcReduction="10000"/>
          </a:bodyPr>
          <a:lstStyle/>
          <a:p>
            <a:r>
              <a:rPr lang="pt-BR" dirty="0"/>
              <a:t>A informação por sua vez e uma abstração dos  dados e suas </a:t>
            </a:r>
            <a:r>
              <a:rPr lang="pt-BR" dirty="0" err="1"/>
              <a:t>co-relação</a:t>
            </a:r>
            <a:r>
              <a:rPr lang="pt-BR" dirty="0"/>
              <a:t> com o objetivo de resolver uma determinada questão.</a:t>
            </a:r>
          </a:p>
          <a:p>
            <a:r>
              <a:rPr lang="pt-BR" dirty="0"/>
              <a:t>Para cada questão uma abstração diferente deve ser formulada com base nos dados resultado em informações diferentes.</a:t>
            </a:r>
          </a:p>
          <a:p>
            <a:r>
              <a:rPr lang="pt-BR" dirty="0"/>
              <a:t>Exemplo:</a:t>
            </a:r>
          </a:p>
          <a:p>
            <a:pPr lvl="1"/>
            <a:r>
              <a:rPr lang="pt-BR" dirty="0"/>
              <a:t>Em um texto uma palavra isolada traz somente a informação do significado da palavra. Dentro de um contexto relacionando-se com as outras palavras a informação resultante e totalmente diferente.</a:t>
            </a:r>
            <a:endParaRPr lang="en-US" dirty="0"/>
          </a:p>
        </p:txBody>
      </p:sp>
    </p:spTree>
    <p:extLst>
      <p:ext uri="{BB962C8B-B14F-4D97-AF65-F5344CB8AC3E}">
        <p14:creationId xmlns:p14="http://schemas.microsoft.com/office/powerpoint/2010/main" val="3328810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EBA54-59A7-43EC-99E7-93D3D2574316}"/>
              </a:ext>
            </a:extLst>
          </p:cNvPr>
          <p:cNvSpPr>
            <a:spLocks noGrp="1"/>
          </p:cNvSpPr>
          <p:nvPr>
            <p:ph type="title"/>
          </p:nvPr>
        </p:nvSpPr>
        <p:spPr/>
        <p:txBody>
          <a:bodyPr/>
          <a:lstStyle/>
          <a:p>
            <a:r>
              <a:rPr lang="en-US" dirty="0" err="1"/>
              <a:t>Armazenamento</a:t>
            </a:r>
            <a:r>
              <a:rPr lang="en-US" dirty="0"/>
              <a:t> de Dados</a:t>
            </a:r>
          </a:p>
        </p:txBody>
      </p:sp>
      <p:sp>
        <p:nvSpPr>
          <p:cNvPr id="3" name="Content Placeholder 2">
            <a:extLst>
              <a:ext uri="{FF2B5EF4-FFF2-40B4-BE49-F238E27FC236}">
                <a16:creationId xmlns:a16="http://schemas.microsoft.com/office/drawing/2014/main" id="{04FFA73F-85D2-4C87-8834-F22E7449B745}"/>
              </a:ext>
            </a:extLst>
          </p:cNvPr>
          <p:cNvSpPr>
            <a:spLocks noGrp="1"/>
          </p:cNvSpPr>
          <p:nvPr>
            <p:ph sz="quarter" idx="1"/>
          </p:nvPr>
        </p:nvSpPr>
        <p:spPr/>
        <p:txBody>
          <a:bodyPr>
            <a:normAutofit lnSpcReduction="10000"/>
          </a:bodyPr>
          <a:lstStyle/>
          <a:p>
            <a:r>
              <a:rPr lang="pt-BR" dirty="0"/>
              <a:t>O termo banco de dados foi criado inicialmente pela comunidade de tecnologia, para indicar coleções organizadas de dados armazenados em Sistemas computacionais, porém hoje e utilizado para indicar bases de dados que utilizam um software de SGBD (Sistema de gerenciamento de banco de dados).</a:t>
            </a:r>
          </a:p>
          <a:p>
            <a:r>
              <a:rPr lang="pt-BR" dirty="0"/>
              <a:t>O termo base de dados e utilizado quando se mencionam outros tipos de bancos de dados (planilhas, arquivos textos).</a:t>
            </a:r>
            <a:endParaRPr lang="en-US" dirty="0"/>
          </a:p>
        </p:txBody>
      </p:sp>
    </p:spTree>
    <p:extLst>
      <p:ext uri="{BB962C8B-B14F-4D97-AF65-F5344CB8AC3E}">
        <p14:creationId xmlns:p14="http://schemas.microsoft.com/office/powerpoint/2010/main" val="3858204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4F78B-CD17-4A8A-9718-EE430F8A5022}"/>
              </a:ext>
            </a:extLst>
          </p:cNvPr>
          <p:cNvSpPr>
            <a:spLocks noGrp="1"/>
          </p:cNvSpPr>
          <p:nvPr>
            <p:ph type="title"/>
          </p:nvPr>
        </p:nvSpPr>
        <p:spPr/>
        <p:txBody>
          <a:bodyPr/>
          <a:lstStyle/>
          <a:p>
            <a:r>
              <a:rPr lang="en-US" dirty="0" err="1"/>
              <a:t>Armazenamento</a:t>
            </a:r>
            <a:r>
              <a:rPr lang="en-US" dirty="0"/>
              <a:t> de Dados</a:t>
            </a:r>
          </a:p>
        </p:txBody>
      </p:sp>
      <p:sp>
        <p:nvSpPr>
          <p:cNvPr id="3" name="Content Placeholder 2">
            <a:extLst>
              <a:ext uri="{FF2B5EF4-FFF2-40B4-BE49-F238E27FC236}">
                <a16:creationId xmlns:a16="http://schemas.microsoft.com/office/drawing/2014/main" id="{FEC0F34E-021C-4FBD-AD00-DD993F36D209}"/>
              </a:ext>
            </a:extLst>
          </p:cNvPr>
          <p:cNvSpPr>
            <a:spLocks noGrp="1"/>
          </p:cNvSpPr>
          <p:nvPr>
            <p:ph sz="quarter" idx="1"/>
          </p:nvPr>
        </p:nvSpPr>
        <p:spPr/>
        <p:txBody>
          <a:bodyPr/>
          <a:lstStyle/>
          <a:p>
            <a:r>
              <a:rPr lang="pt-BR" dirty="0"/>
              <a:t>Aceitando uma abordagem mais técnica, um banco de dados é uma coleção de registros salvos em um computador em um modo sistemático, de forma que um programa de computador possa consultá-lo para gerar informações.</a:t>
            </a:r>
            <a:endParaRPr lang="en-US" dirty="0"/>
          </a:p>
        </p:txBody>
      </p:sp>
    </p:spTree>
    <p:extLst>
      <p:ext uri="{BB962C8B-B14F-4D97-AF65-F5344CB8AC3E}">
        <p14:creationId xmlns:p14="http://schemas.microsoft.com/office/powerpoint/2010/main" val="937494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7DB1C-D2B1-4A82-8443-E07FDA048F52}"/>
              </a:ext>
            </a:extLst>
          </p:cNvPr>
          <p:cNvSpPr>
            <a:spLocks noGrp="1"/>
          </p:cNvSpPr>
          <p:nvPr>
            <p:ph type="title"/>
          </p:nvPr>
        </p:nvSpPr>
        <p:spPr/>
        <p:txBody>
          <a:bodyPr/>
          <a:lstStyle/>
          <a:p>
            <a:r>
              <a:rPr lang="en-US" dirty="0" err="1"/>
              <a:t>Armazenamento</a:t>
            </a:r>
            <a:r>
              <a:rPr lang="en-US" dirty="0"/>
              <a:t> de Dados</a:t>
            </a:r>
          </a:p>
        </p:txBody>
      </p:sp>
      <p:sp>
        <p:nvSpPr>
          <p:cNvPr id="3" name="Content Placeholder 2">
            <a:extLst>
              <a:ext uri="{FF2B5EF4-FFF2-40B4-BE49-F238E27FC236}">
                <a16:creationId xmlns:a16="http://schemas.microsoft.com/office/drawing/2014/main" id="{BC55D52C-B456-41B0-A579-4C3A11A5BBC5}"/>
              </a:ext>
            </a:extLst>
          </p:cNvPr>
          <p:cNvSpPr>
            <a:spLocks noGrp="1"/>
          </p:cNvSpPr>
          <p:nvPr>
            <p:ph sz="quarter" idx="1"/>
          </p:nvPr>
        </p:nvSpPr>
        <p:spPr/>
        <p:txBody>
          <a:bodyPr/>
          <a:lstStyle/>
          <a:p>
            <a:r>
              <a:rPr lang="pt-BR" dirty="0"/>
              <a:t>Normalmente um registro está associado a um conceito completo e é dividido em campos, ou atributos, que dão valores a propriedades desses conceitos.</a:t>
            </a:r>
          </a:p>
          <a:p>
            <a:r>
              <a:rPr lang="pt-BR" dirty="0"/>
              <a:t>Possivelmente alguns registros podem apontar diretamente ou referenciar indiretamente outros registros, o que faz parte da caracterização do modelo adotado pelo banco de dados.</a:t>
            </a:r>
          </a:p>
          <a:p>
            <a:endParaRPr lang="en-US" dirty="0"/>
          </a:p>
        </p:txBody>
      </p:sp>
    </p:spTree>
    <p:extLst>
      <p:ext uri="{BB962C8B-B14F-4D97-AF65-F5344CB8AC3E}">
        <p14:creationId xmlns:p14="http://schemas.microsoft.com/office/powerpoint/2010/main" val="1471982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7C0A5-6C54-47D6-9D25-BFE8A9AE67A4}"/>
              </a:ext>
            </a:extLst>
          </p:cNvPr>
          <p:cNvSpPr>
            <a:spLocks noGrp="1"/>
          </p:cNvSpPr>
          <p:nvPr>
            <p:ph type="title"/>
          </p:nvPr>
        </p:nvSpPr>
        <p:spPr/>
        <p:txBody>
          <a:bodyPr/>
          <a:lstStyle/>
          <a:p>
            <a:r>
              <a:rPr lang="en-US" dirty="0" err="1"/>
              <a:t>Armazenamento</a:t>
            </a:r>
            <a:r>
              <a:rPr lang="en-US" dirty="0"/>
              <a:t> de Dados</a:t>
            </a:r>
          </a:p>
        </p:txBody>
      </p:sp>
      <p:sp>
        <p:nvSpPr>
          <p:cNvPr id="3" name="Content Placeholder 2">
            <a:extLst>
              <a:ext uri="{FF2B5EF4-FFF2-40B4-BE49-F238E27FC236}">
                <a16:creationId xmlns:a16="http://schemas.microsoft.com/office/drawing/2014/main" id="{7609428C-121A-4598-B655-525038600634}"/>
              </a:ext>
            </a:extLst>
          </p:cNvPr>
          <p:cNvSpPr>
            <a:spLocks noGrp="1"/>
          </p:cNvSpPr>
          <p:nvPr>
            <p:ph sz="quarter" idx="1"/>
          </p:nvPr>
        </p:nvSpPr>
        <p:spPr/>
        <p:txBody>
          <a:bodyPr>
            <a:normAutofit lnSpcReduction="10000"/>
          </a:bodyPr>
          <a:lstStyle/>
          <a:p>
            <a:r>
              <a:rPr lang="pt-BR" dirty="0"/>
              <a:t>A descrição de quais são os tipos de registros existentes em um banco de dados e ainda quais são os campos de cada registro é conhecida como esquema do banco de dados.</a:t>
            </a:r>
          </a:p>
          <a:p>
            <a:r>
              <a:rPr lang="pt-BR" dirty="0"/>
              <a:t>Estritamente falado, o termo banco de dados deve ser aplicado apenas aos dados, enquanto o termo sistema gerenciador de bancos de dados deve ser aplicado ao software com a capacidade de manipular bancos de dados de forma geral. Porém, é comum misturar os dois conceitos.</a:t>
            </a:r>
          </a:p>
          <a:p>
            <a:endParaRPr lang="en-US" dirty="0"/>
          </a:p>
        </p:txBody>
      </p:sp>
    </p:spTree>
    <p:extLst>
      <p:ext uri="{BB962C8B-B14F-4D97-AF65-F5344CB8AC3E}">
        <p14:creationId xmlns:p14="http://schemas.microsoft.com/office/powerpoint/2010/main" val="4112789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39372-9ADA-49B8-BE4D-B25E69452DC0}"/>
              </a:ext>
            </a:extLst>
          </p:cNvPr>
          <p:cNvSpPr>
            <a:spLocks noGrp="1"/>
          </p:cNvSpPr>
          <p:nvPr>
            <p:ph type="title"/>
          </p:nvPr>
        </p:nvSpPr>
        <p:spPr/>
        <p:txBody>
          <a:bodyPr/>
          <a:lstStyle/>
          <a:p>
            <a:r>
              <a:rPr lang="en-US" dirty="0"/>
              <a:t>SGBD</a:t>
            </a:r>
          </a:p>
        </p:txBody>
      </p:sp>
      <p:sp>
        <p:nvSpPr>
          <p:cNvPr id="3" name="Content Placeholder 2">
            <a:extLst>
              <a:ext uri="{FF2B5EF4-FFF2-40B4-BE49-F238E27FC236}">
                <a16:creationId xmlns:a16="http://schemas.microsoft.com/office/drawing/2014/main" id="{87110308-C223-4486-9801-597F8B7C1201}"/>
              </a:ext>
            </a:extLst>
          </p:cNvPr>
          <p:cNvSpPr>
            <a:spLocks noGrp="1"/>
          </p:cNvSpPr>
          <p:nvPr>
            <p:ph sz="quarter" idx="1"/>
          </p:nvPr>
        </p:nvSpPr>
        <p:spPr/>
        <p:txBody>
          <a:bodyPr>
            <a:normAutofit fontScale="92500" lnSpcReduction="20000"/>
          </a:bodyPr>
          <a:lstStyle/>
          <a:p>
            <a:r>
              <a:rPr lang="pt-BR" dirty="0"/>
              <a:t>Um Sistema Gerenciador de Banco de Dados ou Sistema Gestor de Base de Dados (SGBD) é o conjunto de programas de computador (softwares) responsáveis pelo gerenciamento de uma base de dados. </a:t>
            </a:r>
          </a:p>
          <a:p>
            <a:r>
              <a:rPr lang="pt-BR" dirty="0"/>
              <a:t>O principal objetivo é retirar da aplicação cliente a responsabilidade de gerenciar o acesso, manipulação e organização dos dados. </a:t>
            </a:r>
          </a:p>
          <a:p>
            <a:r>
              <a:rPr lang="pt-BR" dirty="0"/>
              <a:t>O SGBD disponibiliza uma interface para que os seus clientes possam incluir, alterar ou consultar dados. Em bancos de dados relacionais a interface é constituída pelas APIs ou drivers do SGBD, que executam comandos na linguagem SQL.</a:t>
            </a:r>
            <a:endParaRPr lang="en-US" dirty="0"/>
          </a:p>
        </p:txBody>
      </p:sp>
    </p:spTree>
    <p:extLst>
      <p:ext uri="{BB962C8B-B14F-4D97-AF65-F5344CB8AC3E}">
        <p14:creationId xmlns:p14="http://schemas.microsoft.com/office/powerpoint/2010/main" val="1025431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7C491-9991-4C43-94BE-635746277C08}"/>
              </a:ext>
            </a:extLst>
          </p:cNvPr>
          <p:cNvSpPr>
            <a:spLocks noGrp="1"/>
          </p:cNvSpPr>
          <p:nvPr>
            <p:ph type="title"/>
          </p:nvPr>
        </p:nvSpPr>
        <p:spPr/>
        <p:txBody>
          <a:bodyPr/>
          <a:lstStyle/>
          <a:p>
            <a:r>
              <a:rPr lang="en-US" dirty="0"/>
              <a:t>SGBD</a:t>
            </a:r>
          </a:p>
        </p:txBody>
      </p:sp>
      <p:sp>
        <p:nvSpPr>
          <p:cNvPr id="3" name="Content Placeholder 2">
            <a:extLst>
              <a:ext uri="{FF2B5EF4-FFF2-40B4-BE49-F238E27FC236}">
                <a16:creationId xmlns:a16="http://schemas.microsoft.com/office/drawing/2014/main" id="{88FE7699-9CAE-44A5-85FC-9B9AE84C7530}"/>
              </a:ext>
            </a:extLst>
          </p:cNvPr>
          <p:cNvSpPr>
            <a:spLocks noGrp="1"/>
          </p:cNvSpPr>
          <p:nvPr>
            <p:ph sz="quarter" idx="1"/>
          </p:nvPr>
        </p:nvSpPr>
        <p:spPr/>
        <p:txBody>
          <a:bodyPr>
            <a:normAutofit/>
          </a:bodyPr>
          <a:lstStyle/>
          <a:p>
            <a:r>
              <a:rPr lang="pt-BR" dirty="0"/>
              <a:t>Um sistema gerenciador de banco de dados é um sistema extremamente complexo,  responsável pela persistência, organização e recuperação dos dados.</a:t>
            </a:r>
          </a:p>
          <a:p>
            <a:r>
              <a:rPr lang="pt-BR" dirty="0"/>
              <a:t>Exemplos de SGBD:</a:t>
            </a:r>
          </a:p>
          <a:p>
            <a:pPr lvl="1"/>
            <a:r>
              <a:rPr lang="pt-BR" dirty="0"/>
              <a:t>Microsoft SQL Server</a:t>
            </a:r>
          </a:p>
          <a:p>
            <a:pPr lvl="1"/>
            <a:r>
              <a:rPr lang="pt-BR" dirty="0"/>
              <a:t>Oracle</a:t>
            </a:r>
          </a:p>
          <a:p>
            <a:pPr lvl="1"/>
            <a:r>
              <a:rPr lang="pt-BR" dirty="0" err="1"/>
              <a:t>MySql</a:t>
            </a:r>
            <a:endParaRPr lang="pt-BR" dirty="0"/>
          </a:p>
          <a:p>
            <a:pPr lvl="1"/>
            <a:r>
              <a:rPr lang="pt-BR" dirty="0" err="1"/>
              <a:t>Ibm</a:t>
            </a:r>
            <a:r>
              <a:rPr lang="pt-BR" dirty="0"/>
              <a:t> DB2</a:t>
            </a:r>
            <a:endParaRPr lang="en-US" dirty="0"/>
          </a:p>
        </p:txBody>
      </p:sp>
    </p:spTree>
    <p:extLst>
      <p:ext uri="{BB962C8B-B14F-4D97-AF65-F5344CB8AC3E}">
        <p14:creationId xmlns:p14="http://schemas.microsoft.com/office/powerpoint/2010/main" val="877215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0EAAF-5F48-47EC-9C66-153824786281}"/>
              </a:ext>
            </a:extLst>
          </p:cNvPr>
          <p:cNvSpPr>
            <a:spLocks noGrp="1"/>
          </p:cNvSpPr>
          <p:nvPr>
            <p:ph type="title"/>
          </p:nvPr>
        </p:nvSpPr>
        <p:spPr/>
        <p:txBody>
          <a:bodyPr/>
          <a:lstStyle/>
          <a:p>
            <a:r>
              <a:rPr lang="en-US" dirty="0"/>
              <a:t>SGBD</a:t>
            </a:r>
          </a:p>
        </p:txBody>
      </p:sp>
      <p:pic>
        <p:nvPicPr>
          <p:cNvPr id="4" name="Content Placeholder 3">
            <a:extLst>
              <a:ext uri="{FF2B5EF4-FFF2-40B4-BE49-F238E27FC236}">
                <a16:creationId xmlns:a16="http://schemas.microsoft.com/office/drawing/2014/main" id="{CCE23450-14FA-4CB3-B4CB-31C8FABCC2D9}"/>
              </a:ext>
            </a:extLst>
          </p:cNvPr>
          <p:cNvPicPr>
            <a:picLocks noGrp="1" noChangeAspect="1"/>
          </p:cNvPicPr>
          <p:nvPr>
            <p:ph sz="quarter" idx="1"/>
          </p:nvPr>
        </p:nvPicPr>
        <p:blipFill>
          <a:blip r:embed="rId2"/>
          <a:stretch>
            <a:fillRect/>
          </a:stretch>
        </p:blipFill>
        <p:spPr>
          <a:xfrm>
            <a:off x="1774060" y="1772816"/>
            <a:ext cx="5595880" cy="3545904"/>
          </a:xfrm>
          <a:prstGeom prst="rect">
            <a:avLst/>
          </a:prstGeom>
        </p:spPr>
      </p:pic>
    </p:spTree>
    <p:extLst>
      <p:ext uri="{BB962C8B-B14F-4D97-AF65-F5344CB8AC3E}">
        <p14:creationId xmlns:p14="http://schemas.microsoft.com/office/powerpoint/2010/main" val="517354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36AE0-1A3A-496C-BDAF-4329C6FCD79D}"/>
              </a:ext>
            </a:extLst>
          </p:cNvPr>
          <p:cNvSpPr>
            <a:spLocks noGrp="1"/>
          </p:cNvSpPr>
          <p:nvPr>
            <p:ph type="title"/>
          </p:nvPr>
        </p:nvSpPr>
        <p:spPr/>
        <p:txBody>
          <a:bodyPr/>
          <a:lstStyle/>
          <a:p>
            <a:r>
              <a:rPr lang="en-US" dirty="0"/>
              <a:t>Banco de dados </a:t>
            </a:r>
            <a:r>
              <a:rPr lang="en-US" dirty="0" err="1"/>
              <a:t>Relacional</a:t>
            </a:r>
            <a:endParaRPr lang="en-US" dirty="0"/>
          </a:p>
        </p:txBody>
      </p:sp>
      <p:sp>
        <p:nvSpPr>
          <p:cNvPr id="3" name="Content Placeholder 2">
            <a:extLst>
              <a:ext uri="{FF2B5EF4-FFF2-40B4-BE49-F238E27FC236}">
                <a16:creationId xmlns:a16="http://schemas.microsoft.com/office/drawing/2014/main" id="{17333165-F41E-4C92-A057-31DE90A82F9B}"/>
              </a:ext>
            </a:extLst>
          </p:cNvPr>
          <p:cNvSpPr>
            <a:spLocks noGrp="1"/>
          </p:cNvSpPr>
          <p:nvPr>
            <p:ph sz="quarter" idx="1"/>
          </p:nvPr>
        </p:nvSpPr>
        <p:spPr/>
        <p:txBody>
          <a:bodyPr/>
          <a:lstStyle/>
          <a:p>
            <a:r>
              <a:rPr lang="pt-BR" dirty="0"/>
              <a:t>Um Banco de Dados Relacional é um banco de dados que segue o Modelo Relacional.</a:t>
            </a:r>
          </a:p>
          <a:p>
            <a:r>
              <a:rPr lang="pt-BR" dirty="0"/>
              <a:t>De forma mais detalhada, um Banco de Dados Relacional é um conceito abstrato que define maneiras de armazenar, manipular e recuperar dados estruturados unicamente na forma de tabelas, construindo um banco de dados.</a:t>
            </a:r>
          </a:p>
          <a:p>
            <a:endParaRPr lang="en-US" dirty="0"/>
          </a:p>
        </p:txBody>
      </p:sp>
    </p:spTree>
    <p:extLst>
      <p:ext uri="{BB962C8B-B14F-4D97-AF65-F5344CB8AC3E}">
        <p14:creationId xmlns:p14="http://schemas.microsoft.com/office/powerpoint/2010/main" val="2980274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98384-8D55-4DBB-B7AC-4CCB2C0A3FE4}"/>
              </a:ext>
            </a:extLst>
          </p:cNvPr>
          <p:cNvSpPr>
            <a:spLocks noGrp="1"/>
          </p:cNvSpPr>
          <p:nvPr>
            <p:ph type="title"/>
          </p:nvPr>
        </p:nvSpPr>
        <p:spPr/>
        <p:txBody>
          <a:bodyPr/>
          <a:lstStyle/>
          <a:p>
            <a:r>
              <a:rPr lang="en-US" dirty="0"/>
              <a:t>Banco de dados </a:t>
            </a:r>
            <a:r>
              <a:rPr lang="en-US" dirty="0" err="1"/>
              <a:t>Relacional</a:t>
            </a:r>
            <a:endParaRPr lang="en-US" dirty="0"/>
          </a:p>
        </p:txBody>
      </p:sp>
      <p:sp>
        <p:nvSpPr>
          <p:cNvPr id="3" name="Content Placeholder 2">
            <a:extLst>
              <a:ext uri="{FF2B5EF4-FFF2-40B4-BE49-F238E27FC236}">
                <a16:creationId xmlns:a16="http://schemas.microsoft.com/office/drawing/2014/main" id="{8338663C-C91D-4948-AA42-FD59B65CE184}"/>
              </a:ext>
            </a:extLst>
          </p:cNvPr>
          <p:cNvSpPr>
            <a:spLocks noGrp="1"/>
          </p:cNvSpPr>
          <p:nvPr>
            <p:ph sz="quarter" idx="1"/>
          </p:nvPr>
        </p:nvSpPr>
        <p:spPr/>
        <p:txBody>
          <a:bodyPr>
            <a:normAutofit lnSpcReduction="10000"/>
          </a:bodyPr>
          <a:lstStyle/>
          <a:p>
            <a:r>
              <a:rPr lang="pt-BR" dirty="0"/>
              <a:t>Os Bancos de Dados Relacionais foram desenvolvidos para prover acesso facilitado aos dados, possibilitando que os usuários utilizassem uma grande variedade de abordagens no tratamento das informações. Pois, enquanto em um banco de dados hierárquico os usuários precisam definir as questões de negócios de maneira específica, iniciando pela raiz do mesmo, nos Bancos de Dados Relacionais os usuários podem fazer perguntas relacionadas aos negócios através de vários pontos.</a:t>
            </a:r>
          </a:p>
          <a:p>
            <a:endParaRPr lang="en-US" dirty="0"/>
          </a:p>
        </p:txBody>
      </p:sp>
    </p:spTree>
    <p:extLst>
      <p:ext uri="{BB962C8B-B14F-4D97-AF65-F5344CB8AC3E}">
        <p14:creationId xmlns:p14="http://schemas.microsoft.com/office/powerpoint/2010/main" val="549542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25ABA-0108-42AB-9756-307968C8B521}"/>
              </a:ext>
            </a:extLst>
          </p:cNvPr>
          <p:cNvSpPr>
            <a:spLocks noGrp="1"/>
          </p:cNvSpPr>
          <p:nvPr>
            <p:ph type="title"/>
          </p:nvPr>
        </p:nvSpPr>
        <p:spPr/>
        <p:txBody>
          <a:bodyPr/>
          <a:lstStyle/>
          <a:p>
            <a:r>
              <a:rPr lang="en-US" dirty="0"/>
              <a:t>Banco de dados </a:t>
            </a:r>
            <a:r>
              <a:rPr lang="en-US" dirty="0" err="1"/>
              <a:t>Relacional</a:t>
            </a:r>
            <a:endParaRPr lang="en-US" dirty="0"/>
          </a:p>
        </p:txBody>
      </p:sp>
      <p:sp>
        <p:nvSpPr>
          <p:cNvPr id="3" name="Content Placeholder 2">
            <a:extLst>
              <a:ext uri="{FF2B5EF4-FFF2-40B4-BE49-F238E27FC236}">
                <a16:creationId xmlns:a16="http://schemas.microsoft.com/office/drawing/2014/main" id="{ACE8A5D5-F842-4F18-876C-1E659A75485A}"/>
              </a:ext>
            </a:extLst>
          </p:cNvPr>
          <p:cNvSpPr>
            <a:spLocks noGrp="1"/>
          </p:cNvSpPr>
          <p:nvPr>
            <p:ph sz="quarter" idx="1"/>
          </p:nvPr>
        </p:nvSpPr>
        <p:spPr/>
        <p:txBody>
          <a:bodyPr>
            <a:normAutofit fontScale="85000" lnSpcReduction="20000"/>
          </a:bodyPr>
          <a:lstStyle/>
          <a:p>
            <a:r>
              <a:rPr lang="pt-BR" dirty="0"/>
              <a:t>A linguagem padrão dos Bancos de Dados Relacionais é a </a:t>
            </a:r>
            <a:r>
              <a:rPr lang="pt-BR" dirty="0" err="1"/>
              <a:t>Structured</a:t>
            </a:r>
            <a:r>
              <a:rPr lang="pt-BR" dirty="0"/>
              <a:t> Query </a:t>
            </a:r>
            <a:r>
              <a:rPr lang="pt-BR" dirty="0" err="1"/>
              <a:t>Language</a:t>
            </a:r>
            <a:r>
              <a:rPr lang="pt-BR" dirty="0"/>
              <a:t>, ou simplesmente SQL, como é mais conhecida.</a:t>
            </a:r>
          </a:p>
          <a:p>
            <a:r>
              <a:rPr lang="pt-BR" dirty="0"/>
              <a:t>Um Banco de Dados Relacional segue o Modelo Relacional.</a:t>
            </a:r>
          </a:p>
          <a:p>
            <a:r>
              <a:rPr lang="pt-BR" dirty="0"/>
              <a:t>A arquitetura de um banco de dados relacional pode ser descrita de maneira informal ou formal. </a:t>
            </a:r>
          </a:p>
          <a:p>
            <a:r>
              <a:rPr lang="pt-BR" dirty="0"/>
              <a:t>Na descrição informal estamos preocupados com aspectos práticos da utilização e usamos os termos tabela, linha e coluna. </a:t>
            </a:r>
          </a:p>
          <a:p>
            <a:r>
              <a:rPr lang="pt-BR" dirty="0"/>
              <a:t>Na descrição formal estamos preocupados com a semântica formal do modelo e usamos termos como relação(tabela), </a:t>
            </a:r>
            <a:r>
              <a:rPr lang="pt-BR" dirty="0" err="1"/>
              <a:t>tupla</a:t>
            </a:r>
            <a:r>
              <a:rPr lang="pt-BR" dirty="0"/>
              <a:t>(linha) e atributo(coluna).</a:t>
            </a:r>
          </a:p>
          <a:p>
            <a:endParaRPr lang="en-US" dirty="0"/>
          </a:p>
        </p:txBody>
      </p:sp>
    </p:spTree>
    <p:extLst>
      <p:ext uri="{BB962C8B-B14F-4D97-AF65-F5344CB8AC3E}">
        <p14:creationId xmlns:p14="http://schemas.microsoft.com/office/powerpoint/2010/main" val="701809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CF5F1-298E-4E4C-A5B6-80C21BFFBF73}"/>
              </a:ext>
            </a:extLst>
          </p:cNvPr>
          <p:cNvSpPr>
            <a:spLocks noGrp="1"/>
          </p:cNvSpPr>
          <p:nvPr>
            <p:ph type="title"/>
          </p:nvPr>
        </p:nvSpPr>
        <p:spPr/>
        <p:txBody>
          <a:bodyPr/>
          <a:lstStyle/>
          <a:p>
            <a:r>
              <a:rPr lang="en-US" dirty="0"/>
              <a:t>Banco de dados </a:t>
            </a:r>
            <a:r>
              <a:rPr lang="en-US" dirty="0" err="1"/>
              <a:t>Relacional</a:t>
            </a:r>
            <a:endParaRPr lang="en-US" dirty="0"/>
          </a:p>
        </p:txBody>
      </p:sp>
      <p:pic>
        <p:nvPicPr>
          <p:cNvPr id="4" name="Content Placeholder 3">
            <a:extLst>
              <a:ext uri="{FF2B5EF4-FFF2-40B4-BE49-F238E27FC236}">
                <a16:creationId xmlns:a16="http://schemas.microsoft.com/office/drawing/2014/main" id="{5C0C1F34-D8C2-47BD-8AB3-7E168E4B3406}"/>
              </a:ext>
            </a:extLst>
          </p:cNvPr>
          <p:cNvPicPr>
            <a:picLocks noGrp="1" noChangeAspect="1"/>
          </p:cNvPicPr>
          <p:nvPr>
            <p:ph sz="quarter" idx="1"/>
          </p:nvPr>
        </p:nvPicPr>
        <p:blipFill>
          <a:blip r:embed="rId2"/>
          <a:stretch>
            <a:fillRect/>
          </a:stretch>
        </p:blipFill>
        <p:spPr>
          <a:xfrm>
            <a:off x="1187624" y="1700808"/>
            <a:ext cx="6417918" cy="3578475"/>
          </a:xfrm>
          <a:prstGeom prst="rect">
            <a:avLst/>
          </a:prstGeom>
        </p:spPr>
      </p:pic>
    </p:spTree>
    <p:extLst>
      <p:ext uri="{BB962C8B-B14F-4D97-AF65-F5344CB8AC3E}">
        <p14:creationId xmlns:p14="http://schemas.microsoft.com/office/powerpoint/2010/main" val="714852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16863-8614-4694-8D5E-932C3E58B411}"/>
              </a:ext>
            </a:extLst>
          </p:cNvPr>
          <p:cNvSpPr>
            <a:spLocks noGrp="1"/>
          </p:cNvSpPr>
          <p:nvPr>
            <p:ph type="title"/>
          </p:nvPr>
        </p:nvSpPr>
        <p:spPr/>
        <p:txBody>
          <a:bodyPr/>
          <a:lstStyle/>
          <a:p>
            <a:r>
              <a:rPr lang="en-US" dirty="0" err="1"/>
              <a:t>Tabelas</a:t>
            </a:r>
            <a:endParaRPr lang="en-US" dirty="0"/>
          </a:p>
        </p:txBody>
      </p:sp>
      <p:sp>
        <p:nvSpPr>
          <p:cNvPr id="3" name="Content Placeholder 2">
            <a:extLst>
              <a:ext uri="{FF2B5EF4-FFF2-40B4-BE49-F238E27FC236}">
                <a16:creationId xmlns:a16="http://schemas.microsoft.com/office/drawing/2014/main" id="{32839E15-0DA4-4EBE-BD07-CD5C19D231BB}"/>
              </a:ext>
            </a:extLst>
          </p:cNvPr>
          <p:cNvSpPr>
            <a:spLocks noGrp="1"/>
          </p:cNvSpPr>
          <p:nvPr>
            <p:ph sz="quarter" idx="1"/>
          </p:nvPr>
        </p:nvSpPr>
        <p:spPr/>
        <p:txBody>
          <a:bodyPr>
            <a:normAutofit fontScale="92500"/>
          </a:bodyPr>
          <a:lstStyle/>
          <a:p>
            <a:r>
              <a:rPr lang="pt-BR" dirty="0"/>
              <a:t>Todos os dados de um banco de dados relacional (BDR) são armazenados em tabelas.</a:t>
            </a:r>
          </a:p>
          <a:p>
            <a:r>
              <a:rPr lang="pt-BR" dirty="0"/>
              <a:t>Uma tabela é uma simples estrutura de linhas e colunas. Em uma tabela, cada linha contém um mesmo conjunto de colunas, e estas linhas devem seguir a ordem que foi especificada pelo projetista do BDR. </a:t>
            </a:r>
          </a:p>
          <a:p>
            <a:r>
              <a:rPr lang="pt-BR" dirty="0"/>
              <a:t>Em um banco de dados podem existir uma ou centenas de tabelas, sendo que o limite pode ser imposto tanto pela ferramenta de software utilizada, quanto pelos recursos de hardware disponíveis no equipamento.</a:t>
            </a:r>
          </a:p>
          <a:p>
            <a:endParaRPr lang="en-US" dirty="0"/>
          </a:p>
        </p:txBody>
      </p:sp>
    </p:spTree>
    <p:extLst>
      <p:ext uri="{BB962C8B-B14F-4D97-AF65-F5344CB8AC3E}">
        <p14:creationId xmlns:p14="http://schemas.microsoft.com/office/powerpoint/2010/main" val="3370149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64B6C-54CC-4230-982B-74506A17FE0A}"/>
              </a:ext>
            </a:extLst>
          </p:cNvPr>
          <p:cNvSpPr>
            <a:spLocks noGrp="1"/>
          </p:cNvSpPr>
          <p:nvPr>
            <p:ph type="title"/>
          </p:nvPr>
        </p:nvSpPr>
        <p:spPr/>
        <p:txBody>
          <a:bodyPr/>
          <a:lstStyle/>
          <a:p>
            <a:r>
              <a:rPr lang="en-US" dirty="0" err="1"/>
              <a:t>Tabelas</a:t>
            </a:r>
            <a:endParaRPr lang="en-US" dirty="0"/>
          </a:p>
        </p:txBody>
      </p:sp>
      <p:sp>
        <p:nvSpPr>
          <p:cNvPr id="3" name="Content Placeholder 2">
            <a:extLst>
              <a:ext uri="{FF2B5EF4-FFF2-40B4-BE49-F238E27FC236}">
                <a16:creationId xmlns:a16="http://schemas.microsoft.com/office/drawing/2014/main" id="{D7EEAA5C-A66E-4291-BD86-F0F497D2B770}"/>
              </a:ext>
            </a:extLst>
          </p:cNvPr>
          <p:cNvSpPr>
            <a:spLocks noGrp="1"/>
          </p:cNvSpPr>
          <p:nvPr>
            <p:ph sz="quarter" idx="1"/>
          </p:nvPr>
        </p:nvSpPr>
        <p:spPr/>
        <p:txBody>
          <a:bodyPr>
            <a:normAutofit/>
          </a:bodyPr>
          <a:lstStyle/>
          <a:p>
            <a:r>
              <a:rPr lang="pt-BR" dirty="0"/>
              <a:t>As tabelas associam-se entre si através de regras de relacionamentos, estas regras consistem em associar um atributo de uma tabela com um conjunto de registros de outra tabela.</a:t>
            </a:r>
          </a:p>
          <a:p>
            <a:r>
              <a:rPr lang="pt-BR" dirty="0"/>
              <a:t>Exemplo:</a:t>
            </a:r>
          </a:p>
          <a:p>
            <a:pPr lvl="1"/>
            <a:r>
              <a:rPr lang="pt-BR" dirty="0"/>
              <a:t>A tabela funcionário relaciona-se com a tabela cargo. Através deste relacionamento esta última tabela fornece a lista de cargos para a tabela funcionário.</a:t>
            </a:r>
            <a:endParaRPr lang="en-US" dirty="0"/>
          </a:p>
        </p:txBody>
      </p:sp>
    </p:spTree>
    <p:extLst>
      <p:ext uri="{BB962C8B-B14F-4D97-AF65-F5344CB8AC3E}">
        <p14:creationId xmlns:p14="http://schemas.microsoft.com/office/powerpoint/2010/main" val="3319655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7DDF2-1716-4A52-892A-1F521A057F89}"/>
              </a:ext>
            </a:extLst>
          </p:cNvPr>
          <p:cNvSpPr>
            <a:spLocks noGrp="1"/>
          </p:cNvSpPr>
          <p:nvPr>
            <p:ph type="title"/>
          </p:nvPr>
        </p:nvSpPr>
        <p:spPr/>
        <p:txBody>
          <a:bodyPr/>
          <a:lstStyle/>
          <a:p>
            <a:r>
              <a:rPr lang="en-US" dirty="0" err="1"/>
              <a:t>Tabelas</a:t>
            </a:r>
            <a:endParaRPr lang="en-US" dirty="0"/>
          </a:p>
        </p:txBody>
      </p:sp>
      <p:pic>
        <p:nvPicPr>
          <p:cNvPr id="4" name="Content Placeholder 3">
            <a:extLst>
              <a:ext uri="{FF2B5EF4-FFF2-40B4-BE49-F238E27FC236}">
                <a16:creationId xmlns:a16="http://schemas.microsoft.com/office/drawing/2014/main" id="{BCFD7D8B-08A0-4153-9A2E-043CED0C833D}"/>
              </a:ext>
            </a:extLst>
          </p:cNvPr>
          <p:cNvPicPr>
            <a:picLocks noGrp="1" noChangeAspect="1"/>
          </p:cNvPicPr>
          <p:nvPr>
            <p:ph sz="quarter" idx="1"/>
          </p:nvPr>
        </p:nvPicPr>
        <p:blipFill>
          <a:blip r:embed="rId2"/>
          <a:stretch>
            <a:fillRect/>
          </a:stretch>
        </p:blipFill>
        <p:spPr>
          <a:xfrm>
            <a:off x="1907704" y="1700808"/>
            <a:ext cx="5112568" cy="3603008"/>
          </a:xfrm>
          <a:prstGeom prst="rect">
            <a:avLst/>
          </a:prstGeom>
        </p:spPr>
      </p:pic>
    </p:spTree>
    <p:extLst>
      <p:ext uri="{BB962C8B-B14F-4D97-AF65-F5344CB8AC3E}">
        <p14:creationId xmlns:p14="http://schemas.microsoft.com/office/powerpoint/2010/main" val="2304757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AD2C6-FA8E-444C-B4C6-4E627F61F204}"/>
              </a:ext>
            </a:extLst>
          </p:cNvPr>
          <p:cNvSpPr>
            <a:spLocks noGrp="1"/>
          </p:cNvSpPr>
          <p:nvPr>
            <p:ph type="title"/>
          </p:nvPr>
        </p:nvSpPr>
        <p:spPr/>
        <p:txBody>
          <a:bodyPr/>
          <a:lstStyle/>
          <a:p>
            <a:r>
              <a:rPr lang="en-US" dirty="0" err="1"/>
              <a:t>Registros</a:t>
            </a:r>
            <a:r>
              <a:rPr lang="en-US" dirty="0"/>
              <a:t> (</a:t>
            </a:r>
            <a:r>
              <a:rPr lang="en-US" dirty="0" err="1"/>
              <a:t>ou</a:t>
            </a:r>
            <a:r>
              <a:rPr lang="en-US" dirty="0"/>
              <a:t> </a:t>
            </a:r>
            <a:r>
              <a:rPr lang="en-US" dirty="0" err="1"/>
              <a:t>tuplas</a:t>
            </a:r>
            <a:r>
              <a:rPr lang="en-US" dirty="0"/>
              <a:t>)</a:t>
            </a:r>
          </a:p>
        </p:txBody>
      </p:sp>
      <p:sp>
        <p:nvSpPr>
          <p:cNvPr id="3" name="Content Placeholder 2">
            <a:extLst>
              <a:ext uri="{FF2B5EF4-FFF2-40B4-BE49-F238E27FC236}">
                <a16:creationId xmlns:a16="http://schemas.microsoft.com/office/drawing/2014/main" id="{94B1D4AB-4652-4C10-8B47-97D667291DE8}"/>
              </a:ext>
            </a:extLst>
          </p:cNvPr>
          <p:cNvSpPr>
            <a:spLocks noGrp="1"/>
          </p:cNvSpPr>
          <p:nvPr>
            <p:ph sz="quarter" idx="1"/>
          </p:nvPr>
        </p:nvSpPr>
        <p:spPr/>
        <p:txBody>
          <a:bodyPr/>
          <a:lstStyle/>
          <a:p>
            <a:r>
              <a:rPr lang="pt-BR" dirty="0"/>
              <a:t>Cada linha formada por uma lista ordenada de colunas representa um registro, ou </a:t>
            </a:r>
            <a:r>
              <a:rPr lang="pt-BR" dirty="0" err="1"/>
              <a:t>tupla</a:t>
            </a:r>
            <a:r>
              <a:rPr lang="pt-BR" dirty="0"/>
              <a:t>. </a:t>
            </a:r>
          </a:p>
          <a:p>
            <a:r>
              <a:rPr lang="pt-BR" dirty="0"/>
              <a:t>Os registros não precisam conter informações em todas as colunas, podendo assumir valores nulos quando assim se fizer necessário.</a:t>
            </a:r>
          </a:p>
          <a:p>
            <a:r>
              <a:rPr lang="pt-BR" dirty="0"/>
              <a:t>Resumidamente, um registro é uma instância de uma tabela, ou entidade.</a:t>
            </a:r>
            <a:endParaRPr lang="en-US" dirty="0"/>
          </a:p>
        </p:txBody>
      </p:sp>
    </p:spTree>
    <p:extLst>
      <p:ext uri="{BB962C8B-B14F-4D97-AF65-F5344CB8AC3E}">
        <p14:creationId xmlns:p14="http://schemas.microsoft.com/office/powerpoint/2010/main" val="2610216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D80B-8DE1-4B09-89F3-8CCE4DC8B644}"/>
              </a:ext>
            </a:extLst>
          </p:cNvPr>
          <p:cNvSpPr>
            <a:spLocks noGrp="1"/>
          </p:cNvSpPr>
          <p:nvPr>
            <p:ph type="title"/>
          </p:nvPr>
        </p:nvSpPr>
        <p:spPr/>
        <p:txBody>
          <a:bodyPr/>
          <a:lstStyle/>
          <a:p>
            <a:r>
              <a:rPr lang="en-US" dirty="0" err="1"/>
              <a:t>Registros</a:t>
            </a:r>
            <a:r>
              <a:rPr lang="en-US" dirty="0"/>
              <a:t> (</a:t>
            </a:r>
            <a:r>
              <a:rPr lang="en-US" dirty="0" err="1"/>
              <a:t>ou</a:t>
            </a:r>
            <a:r>
              <a:rPr lang="en-US" dirty="0"/>
              <a:t> </a:t>
            </a:r>
            <a:r>
              <a:rPr lang="en-US" dirty="0" err="1"/>
              <a:t>tuplas</a:t>
            </a:r>
            <a:r>
              <a:rPr lang="en-US" dirty="0"/>
              <a:t>)</a:t>
            </a:r>
          </a:p>
        </p:txBody>
      </p:sp>
      <p:sp>
        <p:nvSpPr>
          <p:cNvPr id="3" name="Content Placeholder 2">
            <a:extLst>
              <a:ext uri="{FF2B5EF4-FFF2-40B4-BE49-F238E27FC236}">
                <a16:creationId xmlns:a16="http://schemas.microsoft.com/office/drawing/2014/main" id="{11A99DEE-1FD1-400F-9D77-C9F8B21D18FE}"/>
              </a:ext>
            </a:extLst>
          </p:cNvPr>
          <p:cNvSpPr>
            <a:spLocks noGrp="1"/>
          </p:cNvSpPr>
          <p:nvPr>
            <p:ph sz="quarter" idx="1"/>
          </p:nvPr>
        </p:nvSpPr>
        <p:spPr/>
        <p:txBody>
          <a:bodyPr>
            <a:normAutofit/>
          </a:bodyPr>
          <a:lstStyle/>
          <a:p>
            <a:r>
              <a:rPr lang="pt-BR" dirty="0"/>
              <a:t>Exemplo:</a:t>
            </a:r>
          </a:p>
          <a:p>
            <a:pPr lvl="1"/>
            <a:r>
              <a:rPr lang="pt-BR" dirty="0"/>
              <a:t>O empregado Pedro é uma instância (registro) da tabela funcionário, e a função Analista Comercial é a instância (registro) da tabela cargo. Uma associação entre estas duas tabelas criaria a seguinte instância de relacionamento: Pedro é Analista Comercial, onde o verbo é representa uma ligação entre os registros distintos.</a:t>
            </a:r>
          </a:p>
          <a:p>
            <a:endParaRPr lang="en-US" dirty="0"/>
          </a:p>
        </p:txBody>
      </p:sp>
    </p:spTree>
    <p:extLst>
      <p:ext uri="{BB962C8B-B14F-4D97-AF65-F5344CB8AC3E}">
        <p14:creationId xmlns:p14="http://schemas.microsoft.com/office/powerpoint/2010/main" val="2514537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3DA3-DE24-40D0-82D0-E0D241C3ED55}"/>
              </a:ext>
            </a:extLst>
          </p:cNvPr>
          <p:cNvSpPr>
            <a:spLocks noGrp="1"/>
          </p:cNvSpPr>
          <p:nvPr>
            <p:ph type="title"/>
          </p:nvPr>
        </p:nvSpPr>
        <p:spPr/>
        <p:txBody>
          <a:bodyPr/>
          <a:lstStyle/>
          <a:p>
            <a:r>
              <a:rPr lang="en-US" dirty="0" err="1"/>
              <a:t>Colunas</a:t>
            </a:r>
            <a:r>
              <a:rPr lang="en-US" dirty="0"/>
              <a:t> (</a:t>
            </a:r>
            <a:r>
              <a:rPr lang="en-US" dirty="0" err="1"/>
              <a:t>ou</a:t>
            </a:r>
            <a:r>
              <a:rPr lang="en-US" dirty="0"/>
              <a:t> </a:t>
            </a:r>
            <a:r>
              <a:rPr lang="en-US" dirty="0" err="1"/>
              <a:t>atributos</a:t>
            </a:r>
            <a:r>
              <a:rPr lang="en-US" dirty="0"/>
              <a:t>)</a:t>
            </a:r>
          </a:p>
        </p:txBody>
      </p:sp>
      <p:sp>
        <p:nvSpPr>
          <p:cNvPr id="3" name="Content Placeholder 2">
            <a:extLst>
              <a:ext uri="{FF2B5EF4-FFF2-40B4-BE49-F238E27FC236}">
                <a16:creationId xmlns:a16="http://schemas.microsoft.com/office/drawing/2014/main" id="{7ADD7718-0B1F-450B-A376-9F89D83BA3CC}"/>
              </a:ext>
            </a:extLst>
          </p:cNvPr>
          <p:cNvSpPr>
            <a:spLocks noGrp="1"/>
          </p:cNvSpPr>
          <p:nvPr>
            <p:ph sz="quarter" idx="1"/>
          </p:nvPr>
        </p:nvSpPr>
        <p:spPr/>
        <p:txBody>
          <a:bodyPr>
            <a:normAutofit/>
          </a:bodyPr>
          <a:lstStyle/>
          <a:p>
            <a:r>
              <a:rPr lang="pt-BR" dirty="0"/>
              <a:t>As colunas de uma tabela são também chamadas de Atributos. </a:t>
            </a:r>
          </a:p>
          <a:p>
            <a:r>
              <a:rPr lang="pt-BR" dirty="0"/>
              <a:t>Ao conjunto de valores que um atributo pode assumir chamamos de domínio, por exemplo: em um campo do tipo numérico, serão somente armazenados números.</a:t>
            </a:r>
          </a:p>
          <a:p>
            <a:r>
              <a:rPr lang="pt-BR" dirty="0"/>
              <a:t>O conceito mais similar a domínio é o de Tipo Abstrato de Dados em linguagens de programação.</a:t>
            </a:r>
          </a:p>
          <a:p>
            <a:endParaRPr lang="en-US" dirty="0"/>
          </a:p>
        </p:txBody>
      </p:sp>
    </p:spTree>
    <p:extLst>
      <p:ext uri="{BB962C8B-B14F-4D97-AF65-F5344CB8AC3E}">
        <p14:creationId xmlns:p14="http://schemas.microsoft.com/office/powerpoint/2010/main" val="516787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1979-490E-439F-B96D-35611A6E71E3}"/>
              </a:ext>
            </a:extLst>
          </p:cNvPr>
          <p:cNvSpPr>
            <a:spLocks noGrp="1"/>
          </p:cNvSpPr>
          <p:nvPr>
            <p:ph type="title"/>
          </p:nvPr>
        </p:nvSpPr>
        <p:spPr/>
        <p:txBody>
          <a:bodyPr/>
          <a:lstStyle/>
          <a:p>
            <a:r>
              <a:rPr lang="en-US" dirty="0" err="1"/>
              <a:t>Chave</a:t>
            </a:r>
            <a:endParaRPr lang="en-US" dirty="0"/>
          </a:p>
        </p:txBody>
      </p:sp>
      <p:sp>
        <p:nvSpPr>
          <p:cNvPr id="3" name="Content Placeholder 2">
            <a:extLst>
              <a:ext uri="{FF2B5EF4-FFF2-40B4-BE49-F238E27FC236}">
                <a16:creationId xmlns:a16="http://schemas.microsoft.com/office/drawing/2014/main" id="{E6919DE5-4D69-4670-9C6D-27CC32504E39}"/>
              </a:ext>
            </a:extLst>
          </p:cNvPr>
          <p:cNvSpPr>
            <a:spLocks noGrp="1"/>
          </p:cNvSpPr>
          <p:nvPr>
            <p:ph sz="quarter" idx="1"/>
          </p:nvPr>
        </p:nvSpPr>
        <p:spPr/>
        <p:txBody>
          <a:bodyPr>
            <a:normAutofit fontScale="92500" lnSpcReduction="20000"/>
          </a:bodyPr>
          <a:lstStyle/>
          <a:p>
            <a:r>
              <a:rPr lang="pt-BR" dirty="0"/>
              <a:t>As tabelas relacionam-se umas as outras através de chaves. Uma chave é um conjunto de um ou mais atributos que determinam a unicidade de cada registro.</a:t>
            </a:r>
          </a:p>
          <a:p>
            <a:r>
              <a:rPr lang="pt-BR" dirty="0"/>
              <a:t>Por exemplo, se um banco de dados tem como chaves Código do Produto e ID Sistema, sempre que acontecer uma inserção de dados o sistema de gerenciamento de banco de dados irá fazer uma consulta para identificar se o registro já não se encontraria gravado na tabela. Neste caso, um novo registro não será criado, resultando esta operação apenas </a:t>
            </a:r>
            <a:r>
              <a:rPr lang="pt-BR" dirty="0" err="1"/>
              <a:t>daalteração</a:t>
            </a:r>
            <a:r>
              <a:rPr lang="pt-BR" dirty="0"/>
              <a:t> do registro existente.</a:t>
            </a:r>
          </a:p>
          <a:p>
            <a:endParaRPr lang="en-US" dirty="0"/>
          </a:p>
        </p:txBody>
      </p:sp>
    </p:spTree>
    <p:extLst>
      <p:ext uri="{BB962C8B-B14F-4D97-AF65-F5344CB8AC3E}">
        <p14:creationId xmlns:p14="http://schemas.microsoft.com/office/powerpoint/2010/main" val="799448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9E820-90FA-4D3E-AFE9-0090B3B12D45}"/>
              </a:ext>
            </a:extLst>
          </p:cNvPr>
          <p:cNvSpPr>
            <a:spLocks noGrp="1"/>
          </p:cNvSpPr>
          <p:nvPr>
            <p:ph type="title"/>
          </p:nvPr>
        </p:nvSpPr>
        <p:spPr/>
        <p:txBody>
          <a:bodyPr/>
          <a:lstStyle/>
          <a:p>
            <a:r>
              <a:rPr lang="en-US" dirty="0" err="1"/>
              <a:t>Chave</a:t>
            </a:r>
            <a:endParaRPr lang="en-US" dirty="0"/>
          </a:p>
        </p:txBody>
      </p:sp>
      <p:sp>
        <p:nvSpPr>
          <p:cNvPr id="3" name="Content Placeholder 2">
            <a:extLst>
              <a:ext uri="{FF2B5EF4-FFF2-40B4-BE49-F238E27FC236}">
                <a16:creationId xmlns:a16="http://schemas.microsoft.com/office/drawing/2014/main" id="{F1619E52-0B64-4277-AB32-31C8145B4447}"/>
              </a:ext>
            </a:extLst>
          </p:cNvPr>
          <p:cNvSpPr>
            <a:spLocks noGrp="1"/>
          </p:cNvSpPr>
          <p:nvPr>
            <p:ph sz="quarter" idx="1"/>
          </p:nvPr>
        </p:nvSpPr>
        <p:spPr/>
        <p:txBody>
          <a:bodyPr>
            <a:normAutofit fontScale="92500"/>
          </a:bodyPr>
          <a:lstStyle/>
          <a:p>
            <a:r>
              <a:rPr lang="pt-BR" dirty="0"/>
              <a:t>A unicidade dos registros, determinada por sua chave, também é fundamental para a criação dos índices.</a:t>
            </a:r>
          </a:p>
          <a:p>
            <a:r>
              <a:rPr lang="pt-BR" dirty="0"/>
              <a:t>Temos dois tipos de chaves:</a:t>
            </a:r>
          </a:p>
          <a:p>
            <a:pPr lvl="1"/>
            <a:r>
              <a:rPr lang="pt-BR" dirty="0"/>
              <a:t>Chave primária: (PK - </a:t>
            </a:r>
            <a:r>
              <a:rPr lang="pt-BR" dirty="0" err="1"/>
              <a:t>Primary</a:t>
            </a:r>
            <a:r>
              <a:rPr lang="pt-BR" dirty="0"/>
              <a:t> Key) é a chave que identifica cada registro dando-lhe unicidade. A chave primária nunca se repetirá.</a:t>
            </a:r>
          </a:p>
          <a:p>
            <a:pPr lvl="1"/>
            <a:r>
              <a:rPr lang="pt-BR" dirty="0"/>
              <a:t>Chave Estrangeira: (FK - </a:t>
            </a:r>
            <a:r>
              <a:rPr lang="pt-BR" dirty="0" err="1"/>
              <a:t>Foreign</a:t>
            </a:r>
            <a:r>
              <a:rPr lang="pt-BR" dirty="0"/>
              <a:t> Key) é a chave formada através de um relacionamento com a chave primária de outra tabela. Define um relacionamento entre as tabelas e pode ocorrer repetidas vezes. Caso a chave primária seja composta na origem, a chave estrangeira também o será.</a:t>
            </a:r>
            <a:endParaRPr lang="en-US" dirty="0"/>
          </a:p>
        </p:txBody>
      </p:sp>
    </p:spTree>
    <p:extLst>
      <p:ext uri="{BB962C8B-B14F-4D97-AF65-F5344CB8AC3E}">
        <p14:creationId xmlns:p14="http://schemas.microsoft.com/office/powerpoint/2010/main" val="2757770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3B67F-C49F-453D-B7FE-0FC1BA942923}"/>
              </a:ext>
            </a:extLst>
          </p:cNvPr>
          <p:cNvSpPr>
            <a:spLocks noGrp="1"/>
          </p:cNvSpPr>
          <p:nvPr>
            <p:ph type="title"/>
          </p:nvPr>
        </p:nvSpPr>
        <p:spPr/>
        <p:txBody>
          <a:bodyPr/>
          <a:lstStyle/>
          <a:p>
            <a:r>
              <a:rPr lang="en-US" dirty="0" err="1"/>
              <a:t>Chave</a:t>
            </a:r>
            <a:endParaRPr lang="en-US" dirty="0"/>
          </a:p>
        </p:txBody>
      </p:sp>
      <p:pic>
        <p:nvPicPr>
          <p:cNvPr id="4" name="Content Placeholder 3">
            <a:extLst>
              <a:ext uri="{FF2B5EF4-FFF2-40B4-BE49-F238E27FC236}">
                <a16:creationId xmlns:a16="http://schemas.microsoft.com/office/drawing/2014/main" id="{6035BB9F-879D-4C84-B4B3-F7633C63BF4F}"/>
              </a:ext>
            </a:extLst>
          </p:cNvPr>
          <p:cNvPicPr>
            <a:picLocks noGrp="1" noChangeAspect="1"/>
          </p:cNvPicPr>
          <p:nvPr>
            <p:ph sz="quarter" idx="1"/>
          </p:nvPr>
        </p:nvPicPr>
        <p:blipFill>
          <a:blip r:embed="rId2"/>
          <a:stretch>
            <a:fillRect/>
          </a:stretch>
        </p:blipFill>
        <p:spPr>
          <a:xfrm>
            <a:off x="593969" y="2060848"/>
            <a:ext cx="6920009" cy="3384376"/>
          </a:xfrm>
          <a:prstGeom prst="rect">
            <a:avLst/>
          </a:prstGeom>
        </p:spPr>
      </p:pic>
    </p:spTree>
    <p:extLst>
      <p:ext uri="{BB962C8B-B14F-4D97-AF65-F5344CB8AC3E}">
        <p14:creationId xmlns:p14="http://schemas.microsoft.com/office/powerpoint/2010/main" val="125806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4F1E-CB72-4F45-AE23-E24FC1AFADF9}"/>
              </a:ext>
            </a:extLst>
          </p:cNvPr>
          <p:cNvSpPr>
            <a:spLocks noGrp="1"/>
          </p:cNvSpPr>
          <p:nvPr>
            <p:ph type="title"/>
          </p:nvPr>
        </p:nvSpPr>
        <p:spPr/>
        <p:txBody>
          <a:bodyPr/>
          <a:lstStyle/>
          <a:p>
            <a:r>
              <a:rPr lang="en-US" dirty="0"/>
              <a:t>SQL</a:t>
            </a:r>
          </a:p>
        </p:txBody>
      </p:sp>
      <p:sp>
        <p:nvSpPr>
          <p:cNvPr id="3" name="Content Placeholder 2">
            <a:extLst>
              <a:ext uri="{FF2B5EF4-FFF2-40B4-BE49-F238E27FC236}">
                <a16:creationId xmlns:a16="http://schemas.microsoft.com/office/drawing/2014/main" id="{B964DE54-97D6-4CAA-9A6F-05B955CF1DF8}"/>
              </a:ext>
            </a:extLst>
          </p:cNvPr>
          <p:cNvSpPr>
            <a:spLocks noGrp="1"/>
          </p:cNvSpPr>
          <p:nvPr>
            <p:ph sz="quarter" idx="1"/>
          </p:nvPr>
        </p:nvSpPr>
        <p:spPr/>
        <p:txBody>
          <a:bodyPr>
            <a:normAutofit/>
          </a:bodyPr>
          <a:lstStyle/>
          <a:p>
            <a:r>
              <a:rPr lang="pt-BR" dirty="0" err="1"/>
              <a:t>Structured</a:t>
            </a:r>
            <a:r>
              <a:rPr lang="pt-BR" dirty="0"/>
              <a:t> Query </a:t>
            </a:r>
            <a:r>
              <a:rPr lang="pt-BR" dirty="0" err="1"/>
              <a:t>Language</a:t>
            </a:r>
            <a:r>
              <a:rPr lang="pt-BR" dirty="0"/>
              <a:t>, ou Linguagem de Consulta Estruturada ou SQL, é uma linguagem de pesquisa declarativa para banco de dados relacional (bases de dados relacionais). </a:t>
            </a:r>
          </a:p>
          <a:p>
            <a:r>
              <a:rPr lang="pt-BR"/>
              <a:t>Muitas </a:t>
            </a:r>
            <a:r>
              <a:rPr lang="pt-BR" dirty="0"/>
              <a:t>das características originais do SQL foram inspiradas na álgebra relacional.</a:t>
            </a:r>
          </a:p>
          <a:p>
            <a:r>
              <a:rPr lang="pt-BR" dirty="0"/>
              <a:t>Embora o SQL tenha sido originalmente criado pela IBM, ele foi padronizando pela American </a:t>
            </a:r>
            <a:r>
              <a:rPr lang="pt-BR" dirty="0" err="1"/>
              <a:t>National</a:t>
            </a:r>
            <a:r>
              <a:rPr lang="pt-BR" dirty="0"/>
              <a:t> Standards </a:t>
            </a:r>
            <a:r>
              <a:rPr lang="pt-BR" dirty="0" err="1"/>
              <a:t>Institute</a:t>
            </a:r>
            <a:r>
              <a:rPr lang="pt-BR" dirty="0"/>
              <a:t> (ANSI) e ISO em 1992.</a:t>
            </a:r>
            <a:endParaRPr lang="en-US" dirty="0"/>
          </a:p>
        </p:txBody>
      </p:sp>
    </p:spTree>
    <p:extLst>
      <p:ext uri="{BB962C8B-B14F-4D97-AF65-F5344CB8AC3E}">
        <p14:creationId xmlns:p14="http://schemas.microsoft.com/office/powerpoint/2010/main" val="417463286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o">
  <a:themeElements>
    <a:clrScheme name="Mediano">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o">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o">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149</TotalTime>
  <Words>1600</Words>
  <Application>Microsoft Office PowerPoint</Application>
  <PresentationFormat>On-screen Show (4:3)</PresentationFormat>
  <Paragraphs>82</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Tw Cen MT</vt:lpstr>
      <vt:lpstr>Wingdings</vt:lpstr>
      <vt:lpstr>Wingdings 2</vt:lpstr>
      <vt:lpstr>Mediano</vt:lpstr>
      <vt:lpstr>Fatec</vt:lpstr>
      <vt:lpstr>Engenharia da Informação</vt:lpstr>
      <vt:lpstr>Dados</vt:lpstr>
      <vt:lpstr>Dados</vt:lpstr>
      <vt:lpstr>Informação</vt:lpstr>
      <vt:lpstr>Armazenamento de Dados</vt:lpstr>
      <vt:lpstr>Armazenamento de Dados</vt:lpstr>
      <vt:lpstr>Armazenamento de Dados</vt:lpstr>
      <vt:lpstr>Armazenamento de Dados</vt:lpstr>
      <vt:lpstr>SGBD</vt:lpstr>
      <vt:lpstr>SGBD</vt:lpstr>
      <vt:lpstr>SGBD</vt:lpstr>
      <vt:lpstr>Banco de dados Relacional</vt:lpstr>
      <vt:lpstr>Banco de dados Relacional</vt:lpstr>
      <vt:lpstr>Banco de dados Relacional</vt:lpstr>
      <vt:lpstr>Banco de dados Relacional</vt:lpstr>
      <vt:lpstr>Tabelas</vt:lpstr>
      <vt:lpstr>Tabelas</vt:lpstr>
      <vt:lpstr>Tabelas</vt:lpstr>
      <vt:lpstr>Registros (ou tuplas)</vt:lpstr>
      <vt:lpstr>Registros (ou tuplas)</vt:lpstr>
      <vt:lpstr>Colunas (ou atributos)</vt:lpstr>
      <vt:lpstr>Chave</vt:lpstr>
      <vt:lpstr>Chave</vt:lpstr>
      <vt:lpstr>Chave</vt:lpstr>
      <vt:lpstr>SQL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Fatec</dc:title>
  <dc:creator>Norton Barros Glaser</dc:creator>
  <cp:lastModifiedBy>Norton Glaser</cp:lastModifiedBy>
  <cp:revision>31</cp:revision>
  <dcterms:created xsi:type="dcterms:W3CDTF">2014-01-27T15:41:35Z</dcterms:created>
  <dcterms:modified xsi:type="dcterms:W3CDTF">2021-02-23T14:46:19Z</dcterms:modified>
</cp:coreProperties>
</file>