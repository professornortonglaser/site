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6" r:id="rId3"/>
    <p:sldId id="267" r:id="rId4"/>
    <p:sldId id="286" r:id="rId5"/>
    <p:sldId id="268" r:id="rId6"/>
    <p:sldId id="269" r:id="rId7"/>
    <p:sldId id="270" r:id="rId8"/>
    <p:sldId id="287" r:id="rId9"/>
    <p:sldId id="271" r:id="rId10"/>
    <p:sldId id="288" r:id="rId11"/>
    <p:sldId id="289" r:id="rId12"/>
    <p:sldId id="290" r:id="rId13"/>
    <p:sldId id="291" r:id="rId14"/>
    <p:sldId id="292" r:id="rId15"/>
    <p:sldId id="293" r:id="rId16"/>
    <p:sldId id="294" r:id="rId17"/>
    <p:sldId id="295" r:id="rId18"/>
    <p:sldId id="296" r:id="rId19"/>
    <p:sldId id="29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1" d="100"/>
          <a:sy n="101" d="100"/>
        </p:scale>
        <p:origin x="294"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Ref idx="1001">
        <a:schemeClr val="bg2"/>
      </p:bgRef>
    </p:bg>
    <p:spTree>
      <p:nvGrpSpPr>
        <p:cNvPr id="1" name=""/>
        <p:cNvGrpSpPr/>
        <p:nvPr/>
      </p:nvGrpSpPr>
      <p:grpSpPr>
        <a:xfrm>
          <a:off x="0" y="0"/>
          <a:ext cx="0" cy="0"/>
          <a:chOff x="0" y="0"/>
          <a:chExt cx="0" cy="0"/>
        </a:xfrm>
      </p:grpSpPr>
      <p:sp>
        <p:nvSpPr>
          <p:cNvPr id="7" name="Retângulo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tângulo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tângulo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ítulo 7"/>
          <p:cNvSpPr>
            <a:spLocks noGrp="1"/>
          </p:cNvSpPr>
          <p:nvPr>
            <p:ph type="ctrTitle"/>
          </p:nvPr>
        </p:nvSpPr>
        <p:spPr>
          <a:xfrm>
            <a:off x="2362200" y="4038600"/>
            <a:ext cx="6477000" cy="1828800"/>
          </a:xfrm>
        </p:spPr>
        <p:txBody>
          <a:bodyPr anchor="b"/>
          <a:lstStyle>
            <a:lvl1pPr>
              <a:defRPr cap="all" baseline="0"/>
            </a:lvl1pPr>
          </a:lstStyle>
          <a:p>
            <a:r>
              <a:rPr kumimoji="0" lang="pt-BR"/>
              <a:t>Clique para editar o estilo do título mestre</a:t>
            </a:r>
            <a:endParaRPr kumimoji="0" lang="en-US"/>
          </a:p>
        </p:txBody>
      </p:sp>
      <p:sp>
        <p:nvSpPr>
          <p:cNvPr id="9" name="Subtítulo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pt-BR"/>
              <a:t>Clique para editar o estilo do subtítulo mestre</a:t>
            </a:r>
            <a:endParaRPr kumimoji="0" lang="en-US"/>
          </a:p>
        </p:txBody>
      </p:sp>
      <p:sp>
        <p:nvSpPr>
          <p:cNvPr id="28" name="Espaço Reservado para Data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9A32A74D-5257-4133-97A4-C8ABEBB13DFA}" type="datetimeFigureOut">
              <a:rPr lang="en-US" smtClean="0"/>
              <a:pPr/>
              <a:t>3/23/2021</a:t>
            </a:fld>
            <a:endParaRPr lang="en-US"/>
          </a:p>
        </p:txBody>
      </p:sp>
      <p:sp>
        <p:nvSpPr>
          <p:cNvPr id="17" name="Espaço Reservado para Rodapé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Espaço Reservado para Número de Slide 28"/>
          <p:cNvSpPr>
            <a:spLocks noGrp="1"/>
          </p:cNvSpPr>
          <p:nvPr>
            <p:ph type="sldNum" sz="quarter" idx="12"/>
          </p:nvPr>
        </p:nvSpPr>
        <p:spPr>
          <a:xfrm>
            <a:off x="8001000" y="228600"/>
            <a:ext cx="838200" cy="381000"/>
          </a:xfrm>
        </p:spPr>
        <p:txBody>
          <a:bodyPr/>
          <a:lstStyle>
            <a:lvl1pPr>
              <a:defRPr>
                <a:solidFill>
                  <a:schemeClr val="tx2"/>
                </a:solidFill>
              </a:defRPr>
            </a:lvl1pPr>
          </a:lstStyle>
          <a:p>
            <a:fld id="{E8AD3D5B-3BEA-41CD-831A-FB9C5D34440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612648" y="228600"/>
            <a:ext cx="8153400" cy="990600"/>
          </a:xfrm>
        </p:spPr>
        <p:txBody>
          <a:bodyPr/>
          <a:lstStyle/>
          <a:p>
            <a:r>
              <a:rPr kumimoji="0" lang="pt-BR"/>
              <a:t>Clique para editar o estilo do título mestre</a:t>
            </a:r>
            <a:endParaRPr kumimoji="0" lang="en-US"/>
          </a:p>
        </p:txBody>
      </p:sp>
      <p:sp>
        <p:nvSpPr>
          <p:cNvPr id="4" name="Espaço Reservado para Data 3"/>
          <p:cNvSpPr>
            <a:spLocks noGrp="1"/>
          </p:cNvSpPr>
          <p:nvPr>
            <p:ph type="dt" sz="half" idx="10"/>
          </p:nvPr>
        </p:nvSpPr>
        <p:spPr/>
        <p:txBody>
          <a:bodyPr/>
          <a:lstStyle/>
          <a:p>
            <a:fld id="{9A32A74D-5257-4133-97A4-C8ABEBB13DFA}" type="datetimeFigureOut">
              <a:rPr lang="en-US" smtClean="0"/>
              <a:pPr/>
              <a:t>3/23/2021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lvl1pPr>
              <a:defRPr>
                <a:solidFill>
                  <a:srgbClr val="FFFFFF"/>
                </a:solidFill>
              </a:defRPr>
            </a:lvl1pPr>
          </a:lstStyle>
          <a:p>
            <a:fld id="{E8AD3D5B-3BEA-41CD-831A-FB9C5D344405}" type="slidenum">
              <a:rPr lang="en-US" smtClean="0"/>
              <a:pPr/>
              <a:t>‹#›</a:t>
            </a:fld>
            <a:endParaRPr lang="en-US"/>
          </a:p>
        </p:txBody>
      </p:sp>
      <p:sp>
        <p:nvSpPr>
          <p:cNvPr id="8" name="Espaço Reservado para Conteúdo 7"/>
          <p:cNvSpPr>
            <a:spLocks noGrp="1"/>
          </p:cNvSpPr>
          <p:nvPr>
            <p:ph sz="quarter" idx="1"/>
          </p:nvPr>
        </p:nvSpPr>
        <p:spPr>
          <a:xfrm>
            <a:off x="612648" y="1600200"/>
            <a:ext cx="8153400" cy="44958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Ref idx="1003">
        <a:schemeClr val="bg1"/>
      </p:bgRef>
    </p:bg>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pt-BR"/>
              <a:t>Clique para editar os estilos do texto mestre</a:t>
            </a:r>
          </a:p>
        </p:txBody>
      </p:sp>
      <p:sp>
        <p:nvSpPr>
          <p:cNvPr id="7" name="Retângulo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tângulo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tângulo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ítulo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pt-BR"/>
              <a:t>Clique para editar o estilo do título mestre</a:t>
            </a:r>
            <a:endParaRPr kumimoji="0" lang="en-US"/>
          </a:p>
        </p:txBody>
      </p:sp>
      <p:sp>
        <p:nvSpPr>
          <p:cNvPr id="12" name="Espaço Reservado para Data 11"/>
          <p:cNvSpPr>
            <a:spLocks noGrp="1"/>
          </p:cNvSpPr>
          <p:nvPr>
            <p:ph type="dt" sz="half" idx="10"/>
          </p:nvPr>
        </p:nvSpPr>
        <p:spPr/>
        <p:txBody>
          <a:bodyPr/>
          <a:lstStyle/>
          <a:p>
            <a:fld id="{9A32A74D-5257-4133-97A4-C8ABEBB13DFA}" type="datetimeFigureOut">
              <a:rPr lang="en-US" smtClean="0"/>
              <a:pPr/>
              <a:t>3/23/2021</a:t>
            </a:fld>
            <a:endParaRPr lang="en-US"/>
          </a:p>
        </p:txBody>
      </p:sp>
      <p:sp>
        <p:nvSpPr>
          <p:cNvPr id="13" name="Espaço Reservado para Número de Slide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8AD3D5B-3BEA-41CD-831A-FB9C5D344405}" type="slidenum">
              <a:rPr lang="en-US" smtClean="0"/>
              <a:pPr/>
              <a:t>‹#›</a:t>
            </a:fld>
            <a:endParaRPr lang="en-US"/>
          </a:p>
        </p:txBody>
      </p:sp>
      <p:sp>
        <p:nvSpPr>
          <p:cNvPr id="14" name="Espaço Reservado para Rodapé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BR"/>
              <a:t>Clique para editar o estilo do título mestre</a:t>
            </a:r>
            <a:endParaRPr kumimoji="0" lang="en-US"/>
          </a:p>
        </p:txBody>
      </p:sp>
      <p:sp>
        <p:nvSpPr>
          <p:cNvPr id="9" name="Espaço Reservado para Conteúdo 8"/>
          <p:cNvSpPr>
            <a:spLocks noGrp="1"/>
          </p:cNvSpPr>
          <p:nvPr>
            <p:ph sz="quarter" idx="1"/>
          </p:nvPr>
        </p:nvSpPr>
        <p:spPr>
          <a:xfrm>
            <a:off x="609600" y="1589567"/>
            <a:ext cx="3886200" cy="45720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11" name="Espaço Reservado para Conteúdo 10"/>
          <p:cNvSpPr>
            <a:spLocks noGrp="1"/>
          </p:cNvSpPr>
          <p:nvPr>
            <p:ph sz="quarter" idx="2"/>
          </p:nvPr>
        </p:nvSpPr>
        <p:spPr>
          <a:xfrm>
            <a:off x="4844901" y="1589567"/>
            <a:ext cx="3886200" cy="45720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8" name="Espaço Reservado para Data 7"/>
          <p:cNvSpPr>
            <a:spLocks noGrp="1"/>
          </p:cNvSpPr>
          <p:nvPr>
            <p:ph type="dt" sz="half" idx="15"/>
          </p:nvPr>
        </p:nvSpPr>
        <p:spPr/>
        <p:txBody>
          <a:bodyPr rtlCol="0"/>
          <a:lstStyle/>
          <a:p>
            <a:fld id="{9A32A74D-5257-4133-97A4-C8ABEBB13DFA}" type="datetimeFigureOut">
              <a:rPr lang="en-US" smtClean="0"/>
              <a:pPr/>
              <a:t>3/23/2021</a:t>
            </a:fld>
            <a:endParaRPr lang="en-US"/>
          </a:p>
        </p:txBody>
      </p:sp>
      <p:sp>
        <p:nvSpPr>
          <p:cNvPr id="10" name="Espaço Reservado para Número de Slide 9"/>
          <p:cNvSpPr>
            <a:spLocks noGrp="1"/>
          </p:cNvSpPr>
          <p:nvPr>
            <p:ph type="sldNum" sz="quarter" idx="16"/>
          </p:nvPr>
        </p:nvSpPr>
        <p:spPr/>
        <p:txBody>
          <a:bodyPr rtlCol="0"/>
          <a:lstStyle/>
          <a:p>
            <a:fld id="{E8AD3D5B-3BEA-41CD-831A-FB9C5D344405}" type="slidenum">
              <a:rPr lang="en-US" smtClean="0"/>
              <a:pPr/>
              <a:t>‹#›</a:t>
            </a:fld>
            <a:endParaRPr lang="en-US"/>
          </a:p>
        </p:txBody>
      </p:sp>
      <p:sp>
        <p:nvSpPr>
          <p:cNvPr id="12" name="Espaço Reservado para Rodapé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533400" y="273050"/>
            <a:ext cx="8153400" cy="869950"/>
          </a:xfrm>
        </p:spPr>
        <p:txBody>
          <a:bodyPr anchor="ctr"/>
          <a:lstStyle>
            <a:lvl1pPr>
              <a:defRPr/>
            </a:lvl1pPr>
          </a:lstStyle>
          <a:p>
            <a:r>
              <a:rPr kumimoji="0" lang="pt-BR"/>
              <a:t>Clique para editar o estilo do título mestre</a:t>
            </a:r>
            <a:endParaRPr kumimoji="0" lang="en-US"/>
          </a:p>
        </p:txBody>
      </p:sp>
      <p:sp>
        <p:nvSpPr>
          <p:cNvPr id="11" name="Espaço Reservado para Conteúdo 10"/>
          <p:cNvSpPr>
            <a:spLocks noGrp="1"/>
          </p:cNvSpPr>
          <p:nvPr>
            <p:ph sz="quarter" idx="2"/>
          </p:nvPr>
        </p:nvSpPr>
        <p:spPr>
          <a:xfrm>
            <a:off x="609600" y="2438400"/>
            <a:ext cx="3886200" cy="35814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13" name="Espaço Reservado para Conteúdo 12"/>
          <p:cNvSpPr>
            <a:spLocks noGrp="1"/>
          </p:cNvSpPr>
          <p:nvPr>
            <p:ph sz="quarter" idx="4"/>
          </p:nvPr>
        </p:nvSpPr>
        <p:spPr>
          <a:xfrm>
            <a:off x="4800600" y="2438400"/>
            <a:ext cx="3886200" cy="35814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10" name="Espaço Reservado para Data 9"/>
          <p:cNvSpPr>
            <a:spLocks noGrp="1"/>
          </p:cNvSpPr>
          <p:nvPr>
            <p:ph type="dt" sz="half" idx="15"/>
          </p:nvPr>
        </p:nvSpPr>
        <p:spPr/>
        <p:txBody>
          <a:bodyPr rtlCol="0"/>
          <a:lstStyle/>
          <a:p>
            <a:fld id="{9A32A74D-5257-4133-97A4-C8ABEBB13DFA}" type="datetimeFigureOut">
              <a:rPr lang="en-US" smtClean="0"/>
              <a:pPr/>
              <a:t>3/23/2021</a:t>
            </a:fld>
            <a:endParaRPr lang="en-US"/>
          </a:p>
        </p:txBody>
      </p:sp>
      <p:sp>
        <p:nvSpPr>
          <p:cNvPr id="12" name="Espaço Reservado para Número de Slide 11"/>
          <p:cNvSpPr>
            <a:spLocks noGrp="1"/>
          </p:cNvSpPr>
          <p:nvPr>
            <p:ph type="sldNum" sz="quarter" idx="16"/>
          </p:nvPr>
        </p:nvSpPr>
        <p:spPr/>
        <p:txBody>
          <a:bodyPr rtlCol="0"/>
          <a:lstStyle/>
          <a:p>
            <a:fld id="{E8AD3D5B-3BEA-41CD-831A-FB9C5D344405}" type="slidenum">
              <a:rPr lang="en-US" smtClean="0"/>
              <a:pPr/>
              <a:t>‹#›</a:t>
            </a:fld>
            <a:endParaRPr lang="en-US"/>
          </a:p>
        </p:txBody>
      </p:sp>
      <p:sp>
        <p:nvSpPr>
          <p:cNvPr id="14" name="Espaço Reservado para Rodapé 13"/>
          <p:cNvSpPr>
            <a:spLocks noGrp="1"/>
          </p:cNvSpPr>
          <p:nvPr>
            <p:ph type="ftr" sz="quarter" idx="17"/>
          </p:nvPr>
        </p:nvSpPr>
        <p:spPr/>
        <p:txBody>
          <a:bodyPr rtlCol="0"/>
          <a:lstStyle/>
          <a:p>
            <a:endParaRPr lang="en-US"/>
          </a:p>
        </p:txBody>
      </p:sp>
      <p:sp>
        <p:nvSpPr>
          <p:cNvPr id="16" name="Espaço Reservado para Texto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pt-BR"/>
              <a:t>Clique para editar os estilos do texto mestre</a:t>
            </a:r>
          </a:p>
        </p:txBody>
      </p:sp>
      <p:sp>
        <p:nvSpPr>
          <p:cNvPr id="15" name="Espaço Reservado para Texto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pt-BR"/>
              <a:t>Clique para editar os estilos do texto mestre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BR"/>
              <a:t>Clique para editar o estilo do título mestre</a:t>
            </a:r>
            <a:endParaRPr kumimoji="0" lang="en-US"/>
          </a:p>
        </p:txBody>
      </p:sp>
      <p:sp>
        <p:nvSpPr>
          <p:cNvPr id="3" name="Espaço Reservado para Data 2"/>
          <p:cNvSpPr>
            <a:spLocks noGrp="1"/>
          </p:cNvSpPr>
          <p:nvPr>
            <p:ph type="dt" sz="half" idx="10"/>
          </p:nvPr>
        </p:nvSpPr>
        <p:spPr/>
        <p:txBody>
          <a:bodyPr/>
          <a:lstStyle/>
          <a:p>
            <a:fld id="{9A32A74D-5257-4133-97A4-C8ABEBB13DFA}" type="datetimeFigureOut">
              <a:rPr lang="en-US" smtClean="0"/>
              <a:pPr/>
              <a:t>3/23/2021</a:t>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lvl1pPr>
              <a:defRPr>
                <a:solidFill>
                  <a:srgbClr val="FFFFFF"/>
                </a:solidFill>
              </a:defRPr>
            </a:lvl1pPr>
          </a:lstStyle>
          <a:p>
            <a:fld id="{E8AD3D5B-3BEA-41CD-831A-FB9C5D34440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9A32A74D-5257-4133-97A4-C8ABEBB13DFA}" type="datetimeFigureOut">
              <a:rPr lang="en-US" smtClean="0"/>
              <a:pPr/>
              <a:t>3/23/2021</a:t>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a:xfrm>
            <a:off x="0" y="6248400"/>
            <a:ext cx="533400" cy="381000"/>
          </a:xfrm>
        </p:spPr>
        <p:txBody>
          <a:bodyPr/>
          <a:lstStyle>
            <a:lvl1pPr>
              <a:defRPr>
                <a:solidFill>
                  <a:schemeClr val="tx2"/>
                </a:solidFill>
              </a:defRPr>
            </a:lvl1pPr>
          </a:lstStyle>
          <a:p>
            <a:fld id="{E8AD3D5B-3BEA-41CD-831A-FB9C5D34440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3050"/>
            <a:ext cx="8077200" cy="869950"/>
          </a:xfrm>
        </p:spPr>
        <p:txBody>
          <a:bodyPr anchor="ctr"/>
          <a:lstStyle>
            <a:lvl1pPr algn="l">
              <a:buNone/>
              <a:defRPr sz="4400" b="0"/>
            </a:lvl1pPr>
          </a:lstStyle>
          <a:p>
            <a:r>
              <a:rPr kumimoji="0" lang="pt-BR"/>
              <a:t>Clique para editar o estilo do título mestre</a:t>
            </a:r>
            <a:endParaRPr kumimoji="0" lang="en-US"/>
          </a:p>
        </p:txBody>
      </p:sp>
      <p:sp>
        <p:nvSpPr>
          <p:cNvPr id="5" name="Espaço Reservado para Data 4"/>
          <p:cNvSpPr>
            <a:spLocks noGrp="1"/>
          </p:cNvSpPr>
          <p:nvPr>
            <p:ph type="dt" sz="half" idx="10"/>
          </p:nvPr>
        </p:nvSpPr>
        <p:spPr/>
        <p:txBody>
          <a:bodyPr/>
          <a:lstStyle/>
          <a:p>
            <a:fld id="{9A32A74D-5257-4133-97A4-C8ABEBB13DFA}" type="datetimeFigureOut">
              <a:rPr lang="en-US" smtClean="0"/>
              <a:pPr/>
              <a:t>3/23/2021</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lvl1pPr>
              <a:defRPr>
                <a:solidFill>
                  <a:srgbClr val="FFFFFF"/>
                </a:solidFill>
              </a:defRPr>
            </a:lvl1pPr>
          </a:lstStyle>
          <a:p>
            <a:fld id="{E8AD3D5B-3BEA-41CD-831A-FB9C5D344405}" type="slidenum">
              <a:rPr lang="en-US" smtClean="0"/>
              <a:pPr/>
              <a:t>‹#›</a:t>
            </a:fld>
            <a:endParaRPr lang="en-US"/>
          </a:p>
        </p:txBody>
      </p:sp>
      <p:sp>
        <p:nvSpPr>
          <p:cNvPr id="3" name="Espaço Reservado para Texto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pt-BR"/>
              <a:t>Clique para editar os estilos do texto mestre</a:t>
            </a:r>
          </a:p>
        </p:txBody>
      </p:sp>
      <p:sp>
        <p:nvSpPr>
          <p:cNvPr id="9" name="Espaço Reservado para Conteúdo 8"/>
          <p:cNvSpPr>
            <a:spLocks noGrp="1"/>
          </p:cNvSpPr>
          <p:nvPr>
            <p:ph sz="quarter" idx="1"/>
          </p:nvPr>
        </p:nvSpPr>
        <p:spPr>
          <a:xfrm>
            <a:off x="2362200" y="1752600"/>
            <a:ext cx="6400800" cy="44196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bg>
      <p:bgRef idx="1003">
        <a:schemeClr val="bg2"/>
      </p:bgRef>
    </p:bg>
    <p:spTree>
      <p:nvGrpSpPr>
        <p:cNvPr id="1" name=""/>
        <p:cNvGrpSpPr/>
        <p:nvPr/>
      </p:nvGrpSpPr>
      <p:grpSpPr>
        <a:xfrm>
          <a:off x="0" y="0"/>
          <a:ext cx="0" cy="0"/>
          <a:chOff x="0" y="0"/>
          <a:chExt cx="0" cy="0"/>
        </a:xfrm>
      </p:grpSpPr>
      <p:sp>
        <p:nvSpPr>
          <p:cNvPr id="4" name="Espaço Reservado para Texto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pt-BR"/>
              <a:t>Clique para editar os estilos do texto mestre</a:t>
            </a:r>
          </a:p>
        </p:txBody>
      </p:sp>
      <p:sp>
        <p:nvSpPr>
          <p:cNvPr id="8" name="Retângulo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tângulo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tângulo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ítulo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pt-BR"/>
              <a:t>Clique para editar o estilo do título mestre</a:t>
            </a:r>
            <a:endParaRPr kumimoji="0" lang="en-US"/>
          </a:p>
        </p:txBody>
      </p:sp>
      <p:sp>
        <p:nvSpPr>
          <p:cNvPr id="11" name="Retângulo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Espaço Reservado para Data 11"/>
          <p:cNvSpPr>
            <a:spLocks noGrp="1"/>
          </p:cNvSpPr>
          <p:nvPr>
            <p:ph type="dt" sz="half" idx="10"/>
          </p:nvPr>
        </p:nvSpPr>
        <p:spPr>
          <a:xfrm>
            <a:off x="6248400" y="6248400"/>
            <a:ext cx="2667000" cy="365125"/>
          </a:xfrm>
        </p:spPr>
        <p:txBody>
          <a:bodyPr rtlCol="0"/>
          <a:lstStyle/>
          <a:p>
            <a:fld id="{9A32A74D-5257-4133-97A4-C8ABEBB13DFA}" type="datetimeFigureOut">
              <a:rPr lang="en-US" smtClean="0"/>
              <a:pPr/>
              <a:t>3/23/2021</a:t>
            </a:fld>
            <a:endParaRPr lang="en-US"/>
          </a:p>
        </p:txBody>
      </p:sp>
      <p:sp>
        <p:nvSpPr>
          <p:cNvPr id="13" name="Espaço Reservado para Número de Slide 12"/>
          <p:cNvSpPr>
            <a:spLocks noGrp="1"/>
          </p:cNvSpPr>
          <p:nvPr>
            <p:ph type="sldNum" sz="quarter" idx="11"/>
          </p:nvPr>
        </p:nvSpPr>
        <p:spPr>
          <a:xfrm>
            <a:off x="0" y="4667249"/>
            <a:ext cx="1447800" cy="663578"/>
          </a:xfrm>
        </p:spPr>
        <p:txBody>
          <a:bodyPr rtlCol="0"/>
          <a:lstStyle>
            <a:lvl1pPr>
              <a:defRPr sz="2800"/>
            </a:lvl1pPr>
          </a:lstStyle>
          <a:p>
            <a:fld id="{E8AD3D5B-3BEA-41CD-831A-FB9C5D344405}" type="slidenum">
              <a:rPr lang="en-US" smtClean="0"/>
              <a:pPr/>
              <a:t>‹#›</a:t>
            </a:fld>
            <a:endParaRPr lang="en-US"/>
          </a:p>
        </p:txBody>
      </p:sp>
      <p:sp>
        <p:nvSpPr>
          <p:cNvPr id="14" name="Espaço Reservado para Rodapé 13"/>
          <p:cNvSpPr>
            <a:spLocks noGrp="1"/>
          </p:cNvSpPr>
          <p:nvPr>
            <p:ph type="ftr" sz="quarter" idx="12"/>
          </p:nvPr>
        </p:nvSpPr>
        <p:spPr>
          <a:xfrm>
            <a:off x="1600200" y="6248206"/>
            <a:ext cx="4572000" cy="365125"/>
          </a:xfrm>
        </p:spPr>
        <p:txBody>
          <a:bodyPr rtlCol="0"/>
          <a:lstStyle/>
          <a:p>
            <a:endParaRPr lang="en-US"/>
          </a:p>
        </p:txBody>
      </p:sp>
      <p:sp>
        <p:nvSpPr>
          <p:cNvPr id="3" name="Espaço Reservado para Imagem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pt-BR"/>
              <a:t>Clique no ícone para adicionar uma imagem</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BR"/>
              <a:t>Clique para editar o estilo do título mestre</a:t>
            </a:r>
            <a:endParaRPr kumimoji="0" lang="en-US"/>
          </a:p>
        </p:txBody>
      </p:sp>
      <p:sp>
        <p:nvSpPr>
          <p:cNvPr id="3" name="Espaço Reservado para Texto Vertical 2"/>
          <p:cNvSpPr>
            <a:spLocks noGrp="1"/>
          </p:cNvSpPr>
          <p:nvPr>
            <p:ph type="body" orient="vert" idx="1"/>
          </p:nvPr>
        </p:nvSpPr>
        <p:spPr/>
        <p:txBody>
          <a:bodyPr vert="eaVert"/>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4" name="Espaço Reservado para Data 3"/>
          <p:cNvSpPr>
            <a:spLocks noGrp="1"/>
          </p:cNvSpPr>
          <p:nvPr>
            <p:ph type="dt" sz="half" idx="10"/>
          </p:nvPr>
        </p:nvSpPr>
        <p:spPr/>
        <p:txBody>
          <a:bodyPr/>
          <a:lstStyle/>
          <a:p>
            <a:fld id="{9A32A74D-5257-4133-97A4-C8ABEBB13DFA}" type="datetimeFigureOut">
              <a:rPr lang="en-US" smtClean="0"/>
              <a:pPr/>
              <a:t>3/23/2021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8AD3D5B-3BEA-41CD-831A-FB9C5D34440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e texto verticais">
    <p:bg>
      <p:bgRef idx="1001">
        <a:schemeClr val="bg1"/>
      </p:bgRef>
    </p:bg>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53200" y="609600"/>
            <a:ext cx="2057400" cy="5516563"/>
          </a:xfrm>
        </p:spPr>
        <p:txBody>
          <a:bodyPr vert="eaVert"/>
          <a:lstStyle/>
          <a:p>
            <a:r>
              <a:rPr kumimoji="0" lang="pt-BR"/>
              <a:t>Clique para editar o estilo do título mestre</a:t>
            </a:r>
            <a:endParaRPr kumimoji="0" lang="en-US"/>
          </a:p>
        </p:txBody>
      </p:sp>
      <p:sp>
        <p:nvSpPr>
          <p:cNvPr id="3" name="Espaço Reservado para Texto Vertical 2"/>
          <p:cNvSpPr>
            <a:spLocks noGrp="1"/>
          </p:cNvSpPr>
          <p:nvPr>
            <p:ph type="body" orient="vert" idx="1"/>
          </p:nvPr>
        </p:nvSpPr>
        <p:spPr>
          <a:xfrm>
            <a:off x="457200" y="609600"/>
            <a:ext cx="5562600" cy="5516564"/>
          </a:xfrm>
        </p:spPr>
        <p:txBody>
          <a:bodyPr vert="eaVert"/>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4" name="Espaço Reservado para Data 3"/>
          <p:cNvSpPr>
            <a:spLocks noGrp="1"/>
          </p:cNvSpPr>
          <p:nvPr>
            <p:ph type="dt" sz="half" idx="10"/>
          </p:nvPr>
        </p:nvSpPr>
        <p:spPr>
          <a:xfrm>
            <a:off x="6553200" y="6248402"/>
            <a:ext cx="2209800" cy="365125"/>
          </a:xfrm>
        </p:spPr>
        <p:txBody>
          <a:bodyPr/>
          <a:lstStyle/>
          <a:p>
            <a:fld id="{9A32A74D-5257-4133-97A4-C8ABEBB13DFA}" type="datetimeFigureOut">
              <a:rPr lang="en-US" smtClean="0"/>
              <a:pPr/>
              <a:t>3/23/2021</a:t>
            </a:fld>
            <a:endParaRPr lang="en-US"/>
          </a:p>
        </p:txBody>
      </p:sp>
      <p:sp>
        <p:nvSpPr>
          <p:cNvPr id="5" name="Espaço Reservado para Rodapé 4"/>
          <p:cNvSpPr>
            <a:spLocks noGrp="1"/>
          </p:cNvSpPr>
          <p:nvPr>
            <p:ph type="ftr" sz="quarter" idx="11"/>
          </p:nvPr>
        </p:nvSpPr>
        <p:spPr>
          <a:xfrm>
            <a:off x="457201" y="6248207"/>
            <a:ext cx="5573483" cy="365125"/>
          </a:xfrm>
        </p:spPr>
        <p:txBody>
          <a:bodyPr/>
          <a:lstStyle/>
          <a:p>
            <a:endParaRPr lang="en-US"/>
          </a:p>
        </p:txBody>
      </p:sp>
      <p:sp>
        <p:nvSpPr>
          <p:cNvPr id="7" name="Retângulo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tângulo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tângulo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Espaço Reservado para Número de Slide 5"/>
          <p:cNvSpPr>
            <a:spLocks noGrp="1"/>
          </p:cNvSpPr>
          <p:nvPr>
            <p:ph type="sldNum" sz="quarter" idx="12"/>
          </p:nvPr>
        </p:nvSpPr>
        <p:spPr>
          <a:xfrm rot="5400000">
            <a:off x="5989638" y="144462"/>
            <a:ext cx="533400" cy="244476"/>
          </a:xfrm>
        </p:spPr>
        <p:txBody>
          <a:bodyPr/>
          <a:lstStyle/>
          <a:p>
            <a:fld id="{E8AD3D5B-3BEA-41CD-831A-FB9C5D34440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Espaço Reservado para Título 21"/>
          <p:cNvSpPr>
            <a:spLocks noGrp="1"/>
          </p:cNvSpPr>
          <p:nvPr>
            <p:ph type="title"/>
          </p:nvPr>
        </p:nvSpPr>
        <p:spPr>
          <a:xfrm>
            <a:off x="609600" y="228600"/>
            <a:ext cx="8153400" cy="990600"/>
          </a:xfrm>
          <a:prstGeom prst="rect">
            <a:avLst/>
          </a:prstGeom>
        </p:spPr>
        <p:txBody>
          <a:bodyPr vert="horz" anchor="ctr">
            <a:normAutofit/>
          </a:bodyPr>
          <a:lstStyle/>
          <a:p>
            <a:r>
              <a:rPr kumimoji="0" lang="pt-BR"/>
              <a:t>Clique para editar o estilo do título mestre</a:t>
            </a:r>
            <a:endParaRPr kumimoji="0" lang="en-US"/>
          </a:p>
        </p:txBody>
      </p:sp>
      <p:sp>
        <p:nvSpPr>
          <p:cNvPr id="13" name="Espaço Reservado para Texto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pt-BR"/>
              <a:t>Clique para editar os estilos do texto mestre</a:t>
            </a:r>
          </a:p>
          <a:p>
            <a:pPr lvl="1" eaLnBrk="1" latinLnBrk="0" hangingPunct="1"/>
            <a:r>
              <a:rPr kumimoji="0" lang="pt-BR"/>
              <a:t>Segundo nível</a:t>
            </a:r>
          </a:p>
          <a:p>
            <a:pPr lvl="2" eaLnBrk="1" latinLnBrk="0" hangingPunct="1"/>
            <a:r>
              <a:rPr kumimoji="0" lang="pt-BR"/>
              <a:t>Terceiro nível</a:t>
            </a:r>
          </a:p>
          <a:p>
            <a:pPr lvl="3" eaLnBrk="1" latinLnBrk="0" hangingPunct="1"/>
            <a:r>
              <a:rPr kumimoji="0" lang="pt-BR"/>
              <a:t>Quarto nível</a:t>
            </a:r>
          </a:p>
          <a:p>
            <a:pPr lvl="4" eaLnBrk="1" latinLnBrk="0" hangingPunct="1"/>
            <a:r>
              <a:rPr kumimoji="0" lang="pt-BR"/>
              <a:t>Quinto nível</a:t>
            </a:r>
            <a:endParaRPr kumimoji="0" lang="en-US"/>
          </a:p>
        </p:txBody>
      </p:sp>
      <p:sp>
        <p:nvSpPr>
          <p:cNvPr id="14" name="Espaço Reservado para Data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9A32A74D-5257-4133-97A4-C8ABEBB13DFA}" type="datetimeFigureOut">
              <a:rPr lang="en-US" smtClean="0"/>
              <a:pPr/>
              <a:t>3/23/2021</a:t>
            </a:fld>
            <a:endParaRPr lang="en-US"/>
          </a:p>
        </p:txBody>
      </p:sp>
      <p:sp>
        <p:nvSpPr>
          <p:cNvPr id="3" name="Espaço Reservado para Rodapé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tângulo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tângulo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tângulo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ço Reservado para Número de Slide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8AD3D5B-3BEA-41CD-831A-FB9C5D34440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xml"/><Relationship Id="rId5" Type="http://schemas.openxmlformats.org/officeDocument/2006/relationships/image" Target="../media/image7.gif"/><Relationship Id="rId4" Type="http://schemas.openxmlformats.org/officeDocument/2006/relationships/image" Target="../media/image6.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a:t>Fatec</a:t>
            </a:r>
            <a:endParaRPr lang="en-US" dirty="0"/>
          </a:p>
        </p:txBody>
      </p:sp>
      <p:sp>
        <p:nvSpPr>
          <p:cNvPr id="3" name="Subtítulo 2"/>
          <p:cNvSpPr>
            <a:spLocks noGrp="1"/>
          </p:cNvSpPr>
          <p:nvPr>
            <p:ph type="subTitle" idx="1"/>
          </p:nvPr>
        </p:nvSpPr>
        <p:spPr/>
        <p:txBody>
          <a:bodyPr/>
          <a:lstStyle/>
          <a:p>
            <a:r>
              <a:rPr lang="pt-BR" dirty="0"/>
              <a:t>SQL – DQL </a:t>
            </a:r>
            <a:r>
              <a:rPr lang="pt-BR" dirty="0" err="1"/>
              <a:t>Join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Tipos de Comandos</a:t>
            </a:r>
          </a:p>
        </p:txBody>
      </p:sp>
      <p:pic>
        <p:nvPicPr>
          <p:cNvPr id="1026" name="Picture 2" descr="Subdivisões da linguagem SQL">
            <a:extLst>
              <a:ext uri="{FF2B5EF4-FFF2-40B4-BE49-F238E27FC236}">
                <a16:creationId xmlns:a16="http://schemas.microsoft.com/office/drawing/2014/main" id="{BACB5773-A84C-40DC-93A7-5E2DCCBFE31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438627" y="1600200"/>
            <a:ext cx="6501695"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4862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E37D8-0918-4E66-9E91-C796E5AD71A1}"/>
              </a:ext>
            </a:extLst>
          </p:cNvPr>
          <p:cNvSpPr>
            <a:spLocks noGrp="1"/>
          </p:cNvSpPr>
          <p:nvPr>
            <p:ph type="title"/>
          </p:nvPr>
        </p:nvSpPr>
        <p:spPr/>
        <p:txBody>
          <a:bodyPr>
            <a:noAutofit/>
          </a:bodyPr>
          <a:lstStyle/>
          <a:p>
            <a:r>
              <a:rPr lang="it-IT" sz="3200" dirty="0"/>
              <a:t>SQL DQL - </a:t>
            </a:r>
            <a:r>
              <a:rPr lang="pt-BR" sz="3200" dirty="0" err="1"/>
              <a:t>Join</a:t>
            </a:r>
            <a:endParaRPr lang="en-US" sz="3200" dirty="0"/>
          </a:p>
        </p:txBody>
      </p:sp>
      <p:sp>
        <p:nvSpPr>
          <p:cNvPr id="3" name="Content Placeholder 2">
            <a:extLst>
              <a:ext uri="{FF2B5EF4-FFF2-40B4-BE49-F238E27FC236}">
                <a16:creationId xmlns:a16="http://schemas.microsoft.com/office/drawing/2014/main" id="{C603E57F-7E0F-4159-9306-891E6F82267F}"/>
              </a:ext>
            </a:extLst>
          </p:cNvPr>
          <p:cNvSpPr>
            <a:spLocks noGrp="1"/>
          </p:cNvSpPr>
          <p:nvPr>
            <p:ph sz="quarter" idx="1"/>
          </p:nvPr>
        </p:nvSpPr>
        <p:spPr/>
        <p:txBody>
          <a:bodyPr>
            <a:normAutofit lnSpcReduction="10000"/>
          </a:bodyPr>
          <a:lstStyle/>
          <a:p>
            <a:r>
              <a:rPr lang="pt-BR" dirty="0"/>
              <a:t>Associações de tabelas podem ser utilizadas para diversas finalidades, como converter em informação os dados encontrados em duas ou mais tabelas.</a:t>
            </a:r>
          </a:p>
          <a:p>
            <a:r>
              <a:rPr lang="pt-BR" dirty="0"/>
              <a:t>Esse tipo de operação pode ser feito por meio das cláusulas WHERE e JOIN. </a:t>
            </a:r>
          </a:p>
          <a:p>
            <a:r>
              <a:rPr lang="pt-BR" dirty="0"/>
              <a:t>Além disso, as tabelas podem ser combinadas por meio de uma condição ou um grupo de condições de junção. Por exemplo, podemos usar as chaves estrangeiras como condição para relacionar as tabelas.</a:t>
            </a:r>
          </a:p>
        </p:txBody>
      </p:sp>
    </p:spTree>
    <p:extLst>
      <p:ext uri="{BB962C8B-B14F-4D97-AF65-F5344CB8AC3E}">
        <p14:creationId xmlns:p14="http://schemas.microsoft.com/office/powerpoint/2010/main" val="1534438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D04B0-AE37-4774-94F9-2D734C189CC0}"/>
              </a:ext>
            </a:extLst>
          </p:cNvPr>
          <p:cNvSpPr>
            <a:spLocks noGrp="1"/>
          </p:cNvSpPr>
          <p:nvPr>
            <p:ph type="title"/>
          </p:nvPr>
        </p:nvSpPr>
        <p:spPr/>
        <p:txBody>
          <a:bodyPr/>
          <a:lstStyle/>
          <a:p>
            <a:r>
              <a:rPr lang="it-IT" dirty="0"/>
              <a:t>SQL DQL - </a:t>
            </a:r>
            <a:r>
              <a:rPr lang="pt-BR" dirty="0" err="1"/>
              <a:t>Join</a:t>
            </a:r>
            <a:endParaRPr lang="en-US" dirty="0"/>
          </a:p>
        </p:txBody>
      </p:sp>
      <p:pic>
        <p:nvPicPr>
          <p:cNvPr id="1026" name="Picture 2" descr="SQL LEFT JOIN">
            <a:extLst>
              <a:ext uri="{FF2B5EF4-FFF2-40B4-BE49-F238E27FC236}">
                <a16:creationId xmlns:a16="http://schemas.microsoft.com/office/drawing/2014/main" id="{3DEB5212-D26F-4C15-B95B-5167E21C31DB}"/>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736848" y="1916832"/>
            <a:ext cx="1905000" cy="1381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QL INNER JOIN">
            <a:extLst>
              <a:ext uri="{FF2B5EF4-FFF2-40B4-BE49-F238E27FC236}">
                <a16:creationId xmlns:a16="http://schemas.microsoft.com/office/drawing/2014/main" id="{FEF7676B-B77A-4801-8E73-667F09324E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916832"/>
            <a:ext cx="1905000" cy="1381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QL RIGHT JOIN">
            <a:extLst>
              <a:ext uri="{FF2B5EF4-FFF2-40B4-BE49-F238E27FC236}">
                <a16:creationId xmlns:a16="http://schemas.microsoft.com/office/drawing/2014/main" id="{7B543B67-EB88-42A4-A17A-DFB9DFF050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2268" y="1844824"/>
            <a:ext cx="1905000" cy="13811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QL FULL OUTER JOIN">
            <a:extLst>
              <a:ext uri="{FF2B5EF4-FFF2-40B4-BE49-F238E27FC236}">
                <a16:creationId xmlns:a16="http://schemas.microsoft.com/office/drawing/2014/main" id="{9A8E461F-32A6-4CA2-82AB-EC93126AD3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6848" y="4077072"/>
            <a:ext cx="1905000" cy="138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9620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4020D-A900-460A-8C5D-5105B5015F3F}"/>
              </a:ext>
            </a:extLst>
          </p:cNvPr>
          <p:cNvSpPr>
            <a:spLocks noGrp="1"/>
          </p:cNvSpPr>
          <p:nvPr>
            <p:ph type="title"/>
          </p:nvPr>
        </p:nvSpPr>
        <p:spPr/>
        <p:txBody>
          <a:bodyPr/>
          <a:lstStyle/>
          <a:p>
            <a:r>
              <a:rPr lang="it-IT" dirty="0"/>
              <a:t>SQL DQL - </a:t>
            </a:r>
            <a:r>
              <a:rPr lang="pt-BR" dirty="0" err="1"/>
              <a:t>Join</a:t>
            </a:r>
            <a:endParaRPr lang="en-US" dirty="0"/>
          </a:p>
        </p:txBody>
      </p:sp>
      <p:sp>
        <p:nvSpPr>
          <p:cNvPr id="3" name="Content Placeholder 2">
            <a:extLst>
              <a:ext uri="{FF2B5EF4-FFF2-40B4-BE49-F238E27FC236}">
                <a16:creationId xmlns:a16="http://schemas.microsoft.com/office/drawing/2014/main" id="{5D51269B-F2F8-496C-A239-5F98B4F040F8}"/>
              </a:ext>
            </a:extLst>
          </p:cNvPr>
          <p:cNvSpPr>
            <a:spLocks noGrp="1"/>
          </p:cNvSpPr>
          <p:nvPr>
            <p:ph sz="quarter" idx="1"/>
          </p:nvPr>
        </p:nvSpPr>
        <p:spPr/>
        <p:txBody>
          <a:bodyPr>
            <a:normAutofit lnSpcReduction="10000"/>
          </a:bodyPr>
          <a:lstStyle/>
          <a:p>
            <a:r>
              <a:rPr lang="pt-BR" dirty="0"/>
              <a:t>A cláusula JOIN permite que os dados de várias tabelas sejam combinados com base na relação existente entre elas. Por meio dessa cláusula, os dados de uma tabela são usados para selecionar os dados pertencentes à outra tabela.</a:t>
            </a:r>
          </a:p>
          <a:p>
            <a:endParaRPr lang="pt-BR" dirty="0"/>
          </a:p>
          <a:p>
            <a:r>
              <a:rPr lang="pt-BR" dirty="0"/>
              <a:t>Com a cláusula JOIN, podemos especificar quais colunas das tabelas serão associadas. Para isso, será preciso definir uma chave estrangeira de uma tabela e a chave relacionada em outra tabela.</a:t>
            </a:r>
            <a:endParaRPr lang="pt-B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4485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4020D-A900-460A-8C5D-5105B5015F3F}"/>
              </a:ext>
            </a:extLst>
          </p:cNvPr>
          <p:cNvSpPr>
            <a:spLocks noGrp="1"/>
          </p:cNvSpPr>
          <p:nvPr>
            <p:ph type="title"/>
          </p:nvPr>
        </p:nvSpPr>
        <p:spPr/>
        <p:txBody>
          <a:bodyPr/>
          <a:lstStyle/>
          <a:p>
            <a:r>
              <a:rPr lang="it-IT" dirty="0"/>
              <a:t>SQL DQL –</a:t>
            </a:r>
            <a:r>
              <a:rPr lang="pt-BR" dirty="0" err="1"/>
              <a:t>Join</a:t>
            </a:r>
            <a:endParaRPr lang="en-US" dirty="0"/>
          </a:p>
        </p:txBody>
      </p:sp>
      <p:sp>
        <p:nvSpPr>
          <p:cNvPr id="3" name="Content Placeholder 2">
            <a:extLst>
              <a:ext uri="{FF2B5EF4-FFF2-40B4-BE49-F238E27FC236}">
                <a16:creationId xmlns:a16="http://schemas.microsoft.com/office/drawing/2014/main" id="{5D51269B-F2F8-496C-A239-5F98B4F040F8}"/>
              </a:ext>
            </a:extLst>
          </p:cNvPr>
          <p:cNvSpPr>
            <a:spLocks noGrp="1"/>
          </p:cNvSpPr>
          <p:nvPr>
            <p:ph sz="quarter" idx="1"/>
          </p:nvPr>
        </p:nvSpPr>
        <p:spPr/>
        <p:txBody>
          <a:bodyPr>
            <a:normAutofit fontScale="92500" lnSpcReduction="20000"/>
          </a:bodyPr>
          <a:lstStyle/>
          <a:p>
            <a:r>
              <a:rPr lang="pt-BR" dirty="0"/>
              <a:t>Os valores pertencentes às colunas das tabelas associadas podem ser comparados entre si por meio de um operador lógico definido pela cláusula JOIN e usada pelo operador ON, como o sinal de igual (=).</a:t>
            </a:r>
          </a:p>
          <a:p>
            <a:endParaRPr lang="pt-BR" dirty="0"/>
          </a:p>
          <a:p>
            <a:r>
              <a:rPr lang="pt-BR" dirty="0"/>
              <a:t>Veja o exemplo simplificado de uma sintaxe de cláusula de associação:</a:t>
            </a:r>
          </a:p>
          <a:p>
            <a:endParaRPr lang="pt-BR" dirty="0"/>
          </a:p>
          <a:p>
            <a:r>
              <a:rPr lang="pt-BR" dirty="0"/>
              <a:t>FROM </a:t>
            </a:r>
            <a:r>
              <a:rPr lang="pt-BR" dirty="0" err="1">
                <a:highlight>
                  <a:srgbClr val="FFFF00"/>
                </a:highlight>
              </a:rPr>
              <a:t>nome_da_primeira_tabela</a:t>
            </a:r>
            <a:r>
              <a:rPr lang="pt-BR" dirty="0">
                <a:highlight>
                  <a:srgbClr val="FFFF00"/>
                </a:highlight>
              </a:rPr>
              <a:t> </a:t>
            </a:r>
            <a:r>
              <a:rPr lang="pt-BR" dirty="0" err="1">
                <a:highlight>
                  <a:srgbClr val="00FF00"/>
                </a:highlight>
              </a:rPr>
              <a:t>tipo_de_associação</a:t>
            </a:r>
            <a:r>
              <a:rPr lang="pt-BR" dirty="0">
                <a:highlight>
                  <a:srgbClr val="00FF00"/>
                </a:highlight>
              </a:rPr>
              <a:t> </a:t>
            </a:r>
            <a:r>
              <a:rPr lang="pt-BR" dirty="0" err="1">
                <a:highlight>
                  <a:srgbClr val="FFFF00"/>
                </a:highlight>
              </a:rPr>
              <a:t>nome_da_segunda_tabela</a:t>
            </a:r>
            <a:r>
              <a:rPr lang="pt-BR" dirty="0">
                <a:highlight>
                  <a:srgbClr val="FFFF00"/>
                </a:highlight>
              </a:rPr>
              <a:t> </a:t>
            </a:r>
            <a:r>
              <a:rPr lang="pt-BR" dirty="0"/>
              <a:t>[ON (</a:t>
            </a:r>
            <a:r>
              <a:rPr lang="pt-BR" dirty="0" err="1">
                <a:highlight>
                  <a:srgbClr val="00FFFF"/>
                </a:highlight>
              </a:rPr>
              <a:t>condição_de_associação</a:t>
            </a:r>
            <a:r>
              <a:rPr lang="pt-BR" dirty="0"/>
              <a:t>) ]</a:t>
            </a:r>
          </a:p>
        </p:txBody>
      </p:sp>
    </p:spTree>
    <p:extLst>
      <p:ext uri="{BB962C8B-B14F-4D97-AF65-F5344CB8AC3E}">
        <p14:creationId xmlns:p14="http://schemas.microsoft.com/office/powerpoint/2010/main" val="133656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4020D-A900-460A-8C5D-5105B5015F3F}"/>
              </a:ext>
            </a:extLst>
          </p:cNvPr>
          <p:cNvSpPr>
            <a:spLocks noGrp="1"/>
          </p:cNvSpPr>
          <p:nvPr>
            <p:ph type="title"/>
          </p:nvPr>
        </p:nvSpPr>
        <p:spPr/>
        <p:txBody>
          <a:bodyPr/>
          <a:lstStyle/>
          <a:p>
            <a:r>
              <a:rPr lang="it-IT" dirty="0"/>
              <a:t>SQL DQL - </a:t>
            </a:r>
            <a:r>
              <a:rPr lang="pt-BR" dirty="0" err="1"/>
              <a:t>Join</a:t>
            </a:r>
            <a:endParaRPr lang="en-US" dirty="0"/>
          </a:p>
        </p:txBody>
      </p:sp>
      <p:sp>
        <p:nvSpPr>
          <p:cNvPr id="3" name="Content Placeholder 2">
            <a:extLst>
              <a:ext uri="{FF2B5EF4-FFF2-40B4-BE49-F238E27FC236}">
                <a16:creationId xmlns:a16="http://schemas.microsoft.com/office/drawing/2014/main" id="{5D51269B-F2F8-496C-A239-5F98B4F040F8}"/>
              </a:ext>
            </a:extLst>
          </p:cNvPr>
          <p:cNvSpPr>
            <a:spLocks noGrp="1"/>
          </p:cNvSpPr>
          <p:nvPr>
            <p:ph sz="quarter" idx="1"/>
          </p:nvPr>
        </p:nvSpPr>
        <p:spPr/>
        <p:txBody>
          <a:bodyPr>
            <a:normAutofit/>
          </a:bodyPr>
          <a:lstStyle/>
          <a:p>
            <a:r>
              <a:rPr lang="pt-BR" dirty="0"/>
              <a:t>Onde:</a:t>
            </a:r>
          </a:p>
          <a:p>
            <a:pPr lvl="1"/>
            <a:r>
              <a:rPr lang="pt-BR" b="1" dirty="0" err="1"/>
              <a:t>tipo_de_associação</a:t>
            </a:r>
            <a:r>
              <a:rPr lang="pt-BR" b="1" dirty="0"/>
              <a:t>:</a:t>
            </a:r>
            <a:r>
              <a:rPr lang="pt-BR" dirty="0"/>
              <a:t> Permite identificar uma das seguintes associações: </a:t>
            </a:r>
            <a:r>
              <a:rPr lang="pt-BR" dirty="0" err="1"/>
              <a:t>outer</a:t>
            </a:r>
            <a:r>
              <a:rPr lang="pt-BR" dirty="0"/>
              <a:t> </a:t>
            </a:r>
            <a:r>
              <a:rPr lang="pt-BR" dirty="0" err="1"/>
              <a:t>join</a:t>
            </a:r>
            <a:r>
              <a:rPr lang="pt-BR" dirty="0"/>
              <a:t>, </a:t>
            </a:r>
            <a:r>
              <a:rPr lang="pt-BR" dirty="0" err="1"/>
              <a:t>inner</a:t>
            </a:r>
            <a:r>
              <a:rPr lang="pt-BR" dirty="0"/>
              <a:t> </a:t>
            </a:r>
            <a:r>
              <a:rPr lang="pt-BR" dirty="0" err="1"/>
              <a:t>join</a:t>
            </a:r>
            <a:r>
              <a:rPr lang="pt-BR" dirty="0"/>
              <a:t> e </a:t>
            </a:r>
            <a:r>
              <a:rPr lang="pt-BR" dirty="0" err="1"/>
              <a:t>cross</a:t>
            </a:r>
            <a:r>
              <a:rPr lang="pt-BR" dirty="0"/>
              <a:t> </a:t>
            </a:r>
            <a:r>
              <a:rPr lang="pt-BR" dirty="0" err="1"/>
              <a:t>join</a:t>
            </a:r>
            <a:r>
              <a:rPr lang="pt-BR" dirty="0"/>
              <a:t> (que serão descritas em detalhes mais adiante);</a:t>
            </a:r>
          </a:p>
          <a:p>
            <a:pPr lvl="1"/>
            <a:r>
              <a:rPr lang="pt-BR" b="1" dirty="0" err="1"/>
              <a:t>condição_de_associação</a:t>
            </a:r>
            <a:r>
              <a:rPr lang="pt-BR" b="1" dirty="0"/>
              <a:t>:</a:t>
            </a:r>
            <a:r>
              <a:rPr lang="pt-BR" dirty="0"/>
              <a:t> Define um critério para avaliar duas linhas de dados que já estão associadas.</a:t>
            </a:r>
          </a:p>
          <a:p>
            <a:pPr lvl="1"/>
            <a:r>
              <a:rPr lang="pt-BR" dirty="0"/>
              <a:t>A forma mais indicada para a </a:t>
            </a:r>
            <a:r>
              <a:rPr lang="pt-BR" b="1" dirty="0"/>
              <a:t>especificação de associações é a cláusula FROM</a:t>
            </a:r>
            <a:r>
              <a:rPr lang="pt-BR" dirty="0"/>
              <a:t>, que permite que as condições JOIN sejam identificadas em relação às condições de busca referenciadas na cláusula WHERE.</a:t>
            </a:r>
          </a:p>
        </p:txBody>
      </p:sp>
    </p:spTree>
    <p:extLst>
      <p:ext uri="{BB962C8B-B14F-4D97-AF65-F5344CB8AC3E}">
        <p14:creationId xmlns:p14="http://schemas.microsoft.com/office/powerpoint/2010/main" val="3295761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882F4-C1D3-4040-9288-B86061538C2C}"/>
              </a:ext>
            </a:extLst>
          </p:cNvPr>
          <p:cNvSpPr>
            <a:spLocks noGrp="1"/>
          </p:cNvSpPr>
          <p:nvPr>
            <p:ph type="title"/>
          </p:nvPr>
        </p:nvSpPr>
        <p:spPr/>
        <p:txBody>
          <a:bodyPr/>
          <a:lstStyle/>
          <a:p>
            <a:r>
              <a:rPr lang="it-IT" dirty="0"/>
              <a:t>SQL DQL – Inner </a:t>
            </a:r>
            <a:r>
              <a:rPr lang="pt-BR" dirty="0" err="1"/>
              <a:t>Join</a:t>
            </a:r>
            <a:endParaRPr lang="en-US" dirty="0"/>
          </a:p>
        </p:txBody>
      </p:sp>
      <p:sp>
        <p:nvSpPr>
          <p:cNvPr id="3" name="Content Placeholder 2">
            <a:extLst>
              <a:ext uri="{FF2B5EF4-FFF2-40B4-BE49-F238E27FC236}">
                <a16:creationId xmlns:a16="http://schemas.microsoft.com/office/drawing/2014/main" id="{39BA1CE5-FBF4-4019-B1F0-8A5CD31B46BD}"/>
              </a:ext>
            </a:extLst>
          </p:cNvPr>
          <p:cNvSpPr>
            <a:spLocks noGrp="1"/>
          </p:cNvSpPr>
          <p:nvPr>
            <p:ph sz="quarter" idx="1"/>
          </p:nvPr>
        </p:nvSpPr>
        <p:spPr/>
        <p:txBody>
          <a:bodyPr/>
          <a:lstStyle/>
          <a:p>
            <a:r>
              <a:rPr lang="pt-BR" dirty="0"/>
              <a:t>A cláusula INNER JOIN permite usar um operador de comparação para comparar os valores de colunas provenientes de tabelas associadas. </a:t>
            </a:r>
          </a:p>
          <a:p>
            <a:r>
              <a:rPr lang="pt-BR" dirty="0"/>
              <a:t>Por meio desta cláusula, os registros de duas tabelas são usados para que sejam gerados os dados relacionados de ambas. </a:t>
            </a:r>
          </a:p>
          <a:p>
            <a:r>
              <a:rPr lang="pt-BR" dirty="0"/>
              <a:t>Usamos as cláusulas WHERE e FROM para especificar esse tipo de associação.</a:t>
            </a:r>
            <a:endParaRPr lang="en-US" dirty="0"/>
          </a:p>
        </p:txBody>
      </p:sp>
      <p:pic>
        <p:nvPicPr>
          <p:cNvPr id="4098" name="Picture 2" descr="SQL INNER JOIN">
            <a:extLst>
              <a:ext uri="{FF2B5EF4-FFF2-40B4-BE49-F238E27FC236}">
                <a16:creationId xmlns:a16="http://schemas.microsoft.com/office/drawing/2014/main" id="{E4215060-F0C3-49F5-8BA1-210CFD1749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240" y="5095875"/>
            <a:ext cx="1905000" cy="138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029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4020D-A900-460A-8C5D-5105B5015F3F}"/>
              </a:ext>
            </a:extLst>
          </p:cNvPr>
          <p:cNvSpPr>
            <a:spLocks noGrp="1"/>
          </p:cNvSpPr>
          <p:nvPr>
            <p:ph type="title"/>
          </p:nvPr>
        </p:nvSpPr>
        <p:spPr/>
        <p:txBody>
          <a:bodyPr/>
          <a:lstStyle/>
          <a:p>
            <a:r>
              <a:rPr lang="it-IT" dirty="0"/>
              <a:t>SQL DQL – Inner </a:t>
            </a:r>
            <a:r>
              <a:rPr lang="pt-BR" dirty="0" err="1"/>
              <a:t>Join</a:t>
            </a:r>
            <a:endParaRPr lang="en-US" dirty="0"/>
          </a:p>
        </p:txBody>
      </p:sp>
      <p:sp>
        <p:nvSpPr>
          <p:cNvPr id="3" name="Content Placeholder 2">
            <a:extLst>
              <a:ext uri="{FF2B5EF4-FFF2-40B4-BE49-F238E27FC236}">
                <a16:creationId xmlns:a16="http://schemas.microsoft.com/office/drawing/2014/main" id="{5D51269B-F2F8-496C-A239-5F98B4F040F8}"/>
              </a:ext>
            </a:extLst>
          </p:cNvPr>
          <p:cNvSpPr>
            <a:spLocks noGrp="1"/>
          </p:cNvSpPr>
          <p:nvPr>
            <p:ph sz="quarter" idx="1"/>
          </p:nvPr>
        </p:nvSpPr>
        <p:spPr/>
        <p:txBody>
          <a:bodyPr>
            <a:normAutofit/>
          </a:bodyPr>
          <a:lstStyle/>
          <a:p>
            <a:pPr lvl="1"/>
            <a:r>
              <a:rPr lang="pt-BR" sz="2900" dirty="0"/>
              <a:t>SELECT * FROM </a:t>
            </a:r>
            <a:r>
              <a:rPr lang="pt-BR" sz="2900" dirty="0">
                <a:highlight>
                  <a:srgbClr val="00FFFF"/>
                </a:highlight>
              </a:rPr>
              <a:t>CLIENTES</a:t>
            </a:r>
            <a:r>
              <a:rPr lang="pt-BR" sz="2900" dirty="0"/>
              <a:t> AS C </a:t>
            </a:r>
            <a:r>
              <a:rPr lang="pt-BR" sz="2900" dirty="0">
                <a:highlight>
                  <a:srgbClr val="FFFF00"/>
                </a:highlight>
              </a:rPr>
              <a:t>JOIN</a:t>
            </a:r>
            <a:r>
              <a:rPr lang="pt-BR" sz="2900" dirty="0"/>
              <a:t> </a:t>
            </a:r>
            <a:r>
              <a:rPr lang="pt-BR" sz="2900" dirty="0">
                <a:highlight>
                  <a:srgbClr val="FF00FF"/>
                </a:highlight>
              </a:rPr>
              <a:t>PEDIDOS</a:t>
            </a:r>
            <a:r>
              <a:rPr lang="pt-BR" sz="2900" dirty="0"/>
              <a:t> AS P </a:t>
            </a:r>
            <a:r>
              <a:rPr lang="pt-BR" sz="2900" dirty="0">
                <a:highlight>
                  <a:srgbClr val="00FF00"/>
                </a:highlight>
              </a:rPr>
              <a:t>ON</a:t>
            </a:r>
            <a:r>
              <a:rPr lang="pt-BR" sz="2900" dirty="0"/>
              <a:t> C.IDCLIENTE = P.IDCLIENTE</a:t>
            </a:r>
          </a:p>
          <a:p>
            <a:r>
              <a:rPr lang="pt-BR" sz="3200" dirty="0"/>
              <a:t>Podemos criar esta ligação utilizando a clausula </a:t>
            </a:r>
            <a:r>
              <a:rPr lang="pt-BR" sz="3200" dirty="0" err="1"/>
              <a:t>where</a:t>
            </a:r>
            <a:r>
              <a:rPr lang="pt-BR" sz="3200" dirty="0"/>
              <a:t>:</a:t>
            </a:r>
          </a:p>
          <a:p>
            <a:pPr lvl="1"/>
            <a:r>
              <a:rPr lang="pt-BR" sz="2900" dirty="0"/>
              <a:t>SELECT CLIENTES.IDCLIENTE, CLIENTES.NOME, PEDIDOS.DESCRICAO, PEDIDOS.VALOR FROM </a:t>
            </a:r>
            <a:r>
              <a:rPr lang="pt-BR" sz="2900" dirty="0">
                <a:highlight>
                  <a:srgbClr val="00FFFF"/>
                </a:highlight>
              </a:rPr>
              <a:t>CLIENTES</a:t>
            </a:r>
            <a:r>
              <a:rPr lang="pt-BR" sz="2900" dirty="0"/>
              <a:t>, </a:t>
            </a:r>
            <a:r>
              <a:rPr lang="pt-BR" sz="2900" dirty="0">
                <a:highlight>
                  <a:srgbClr val="FF00FF"/>
                </a:highlight>
              </a:rPr>
              <a:t>PEDIDOS </a:t>
            </a:r>
            <a:r>
              <a:rPr lang="pt-BR" sz="2900" dirty="0"/>
              <a:t>WHERE </a:t>
            </a:r>
            <a:r>
              <a:rPr lang="pt-BR" sz="2900" dirty="0">
                <a:highlight>
                  <a:srgbClr val="00FFFF"/>
                </a:highlight>
              </a:rPr>
              <a:t>CLIENTES.IDCLIENTE </a:t>
            </a:r>
            <a:r>
              <a:rPr lang="pt-BR" sz="2900" dirty="0"/>
              <a:t>= </a:t>
            </a:r>
            <a:r>
              <a:rPr lang="pt-BR" sz="2900" dirty="0">
                <a:highlight>
                  <a:srgbClr val="FF00FF"/>
                </a:highlight>
              </a:rPr>
              <a:t>PEDIDOS.IDCLIENTE</a:t>
            </a:r>
            <a:r>
              <a:rPr lang="pt-BR" sz="2900" dirty="0"/>
              <a:t> AND PEDIDOS.VALOR &gt; 50.00</a:t>
            </a:r>
          </a:p>
        </p:txBody>
      </p:sp>
    </p:spTree>
    <p:extLst>
      <p:ext uri="{BB962C8B-B14F-4D97-AF65-F5344CB8AC3E}">
        <p14:creationId xmlns:p14="http://schemas.microsoft.com/office/powerpoint/2010/main" val="2736091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AC75B-45DE-4DE8-9EF1-8DF0E6E25351}"/>
              </a:ext>
            </a:extLst>
          </p:cNvPr>
          <p:cNvSpPr>
            <a:spLocks noGrp="1"/>
          </p:cNvSpPr>
          <p:nvPr>
            <p:ph type="title"/>
          </p:nvPr>
        </p:nvSpPr>
        <p:spPr/>
        <p:txBody>
          <a:bodyPr/>
          <a:lstStyle/>
          <a:p>
            <a:r>
              <a:rPr lang="it-IT" dirty="0"/>
              <a:t>SQL DQL – Inner </a:t>
            </a:r>
            <a:r>
              <a:rPr lang="pt-BR" dirty="0" err="1"/>
              <a:t>Join</a:t>
            </a:r>
            <a:endParaRPr lang="en-US" dirty="0"/>
          </a:p>
        </p:txBody>
      </p:sp>
      <p:pic>
        <p:nvPicPr>
          <p:cNvPr id="3074" name="Picture 2" descr="INNER JOIN, LEFT JOIN e RIGHT JOIN no SQL Server">
            <a:extLst>
              <a:ext uri="{FF2B5EF4-FFF2-40B4-BE49-F238E27FC236}">
                <a16:creationId xmlns:a16="http://schemas.microsoft.com/office/drawing/2014/main" id="{8EDED231-5DED-4814-956E-D35F20942D95}"/>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411760" y="1772816"/>
            <a:ext cx="3733800" cy="23241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E4EA401-E8D1-4476-8718-6088D2034961}"/>
              </a:ext>
            </a:extLst>
          </p:cNvPr>
          <p:cNvSpPr/>
          <p:nvPr/>
        </p:nvSpPr>
        <p:spPr>
          <a:xfrm>
            <a:off x="540096" y="5338858"/>
            <a:ext cx="8063808" cy="1200329"/>
          </a:xfrm>
          <a:prstGeom prst="rect">
            <a:avLst/>
          </a:prstGeom>
        </p:spPr>
        <p:txBody>
          <a:bodyPr wrap="square">
            <a:spAutoFit/>
          </a:bodyPr>
          <a:lstStyle/>
          <a:p>
            <a:r>
              <a:rPr lang="pt-BR" dirty="0"/>
              <a:t>SELECT C.NOMECARGO [CARGO], F.NOMEFUNCIONARIO AS [FUNCIONÁRIO], F.SALARIOFUNCIONARIO AS [SALÁRIO]</a:t>
            </a:r>
          </a:p>
          <a:p>
            <a:r>
              <a:rPr lang="pt-BR" dirty="0"/>
              <a:t>FROM </a:t>
            </a:r>
            <a:r>
              <a:rPr lang="pt-BR" dirty="0">
                <a:highlight>
                  <a:srgbClr val="00FFFF"/>
                </a:highlight>
              </a:rPr>
              <a:t>CARGO</a:t>
            </a:r>
            <a:r>
              <a:rPr lang="pt-BR" dirty="0"/>
              <a:t> AS C</a:t>
            </a:r>
          </a:p>
          <a:p>
            <a:r>
              <a:rPr lang="pt-BR" dirty="0">
                <a:highlight>
                  <a:srgbClr val="FF00FF"/>
                </a:highlight>
              </a:rPr>
              <a:t>INNER JOIN </a:t>
            </a:r>
            <a:r>
              <a:rPr lang="pt-BR" dirty="0"/>
              <a:t>FUNCIONARIO AS F </a:t>
            </a:r>
            <a:r>
              <a:rPr lang="pt-BR" dirty="0">
                <a:highlight>
                  <a:srgbClr val="FFFF00"/>
                </a:highlight>
              </a:rPr>
              <a:t>ON</a:t>
            </a:r>
            <a:r>
              <a:rPr lang="pt-BR" dirty="0"/>
              <a:t> C.IDCARGO = F.IDCARGO</a:t>
            </a:r>
            <a:endParaRPr lang="en-US" dirty="0"/>
          </a:p>
        </p:txBody>
      </p:sp>
      <p:sp>
        <p:nvSpPr>
          <p:cNvPr id="7" name="Rectangle 6">
            <a:extLst>
              <a:ext uri="{FF2B5EF4-FFF2-40B4-BE49-F238E27FC236}">
                <a16:creationId xmlns:a16="http://schemas.microsoft.com/office/drawing/2014/main" id="{2B3DA352-2B87-4792-B725-B8E8AE287088}"/>
              </a:ext>
            </a:extLst>
          </p:cNvPr>
          <p:cNvSpPr/>
          <p:nvPr/>
        </p:nvSpPr>
        <p:spPr>
          <a:xfrm>
            <a:off x="547908" y="4256222"/>
            <a:ext cx="8153400" cy="923330"/>
          </a:xfrm>
          <a:prstGeom prst="rect">
            <a:avLst/>
          </a:prstGeom>
        </p:spPr>
        <p:txBody>
          <a:bodyPr wrap="square">
            <a:spAutoFit/>
          </a:bodyPr>
          <a:lstStyle/>
          <a:p>
            <a:r>
              <a:rPr lang="pt-BR" dirty="0">
                <a:solidFill>
                  <a:srgbClr val="253A44"/>
                </a:solidFill>
                <a:latin typeface="Source Serif Pro"/>
              </a:rPr>
              <a:t>Usamos então a </a:t>
            </a:r>
            <a:r>
              <a:rPr lang="pt-BR" b="1" dirty="0">
                <a:solidFill>
                  <a:srgbClr val="253A44"/>
                </a:solidFill>
                <a:latin typeface="Source Serif Pro"/>
              </a:rPr>
              <a:t>cláusula </a:t>
            </a:r>
            <a:r>
              <a:rPr lang="pt-BR" b="1" dirty="0">
                <a:solidFill>
                  <a:srgbClr val="8795A2"/>
                </a:solidFill>
                <a:latin typeface="Roboto mono"/>
              </a:rPr>
              <a:t>INNER JOIN</a:t>
            </a:r>
            <a:r>
              <a:rPr lang="pt-BR" b="1" dirty="0">
                <a:solidFill>
                  <a:srgbClr val="253A44"/>
                </a:solidFill>
                <a:latin typeface="Source Serif Pro"/>
              </a:rPr>
              <a:t> para obtermos os dados relacionados das duas tabelas</a:t>
            </a:r>
            <a:r>
              <a:rPr lang="pt-BR" dirty="0">
                <a:solidFill>
                  <a:srgbClr val="253A44"/>
                </a:solidFill>
                <a:latin typeface="Source Serif Pro"/>
              </a:rPr>
              <a:t>, para que sejam retornados todos os cargos ocupados pelos funcionários, bem como todos os funcionários que desempenham algum cargo:</a:t>
            </a:r>
            <a:endParaRPr lang="en-US" dirty="0"/>
          </a:p>
        </p:txBody>
      </p:sp>
    </p:spTree>
    <p:extLst>
      <p:ext uri="{BB962C8B-B14F-4D97-AF65-F5344CB8AC3E}">
        <p14:creationId xmlns:p14="http://schemas.microsoft.com/office/powerpoint/2010/main" val="3779252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2F84D-6EC3-49F7-A219-4CF6F963B061}"/>
              </a:ext>
            </a:extLst>
          </p:cNvPr>
          <p:cNvSpPr>
            <a:spLocks noGrp="1"/>
          </p:cNvSpPr>
          <p:nvPr>
            <p:ph type="title"/>
          </p:nvPr>
        </p:nvSpPr>
        <p:spPr/>
        <p:txBody>
          <a:bodyPr/>
          <a:lstStyle/>
          <a:p>
            <a:r>
              <a:rPr lang="it-IT" dirty="0"/>
              <a:t>SQL DQL – LEFT JOIN</a:t>
            </a:r>
            <a:endParaRPr lang="en-US" dirty="0"/>
          </a:p>
        </p:txBody>
      </p:sp>
      <p:sp>
        <p:nvSpPr>
          <p:cNvPr id="3" name="Content Placeholder 2">
            <a:extLst>
              <a:ext uri="{FF2B5EF4-FFF2-40B4-BE49-F238E27FC236}">
                <a16:creationId xmlns:a16="http://schemas.microsoft.com/office/drawing/2014/main" id="{C43E7408-2261-4409-BD7F-688680216BA0}"/>
              </a:ext>
            </a:extLst>
          </p:cNvPr>
          <p:cNvSpPr>
            <a:spLocks noGrp="1"/>
          </p:cNvSpPr>
          <p:nvPr>
            <p:ph sz="quarter" idx="1"/>
          </p:nvPr>
        </p:nvSpPr>
        <p:spPr/>
        <p:txBody>
          <a:bodyPr/>
          <a:lstStyle/>
          <a:p>
            <a:r>
              <a:rPr lang="pt-BR" dirty="0"/>
              <a:t>A cláusula LEFT JOIN ou LEFT OUTER JOIN permite obter não apenas os dados relacionados de duas tabelas, mas também os dados não relacionados encontrados na tabela à esquerda da cláusula JOIN. </a:t>
            </a:r>
          </a:p>
          <a:p>
            <a:r>
              <a:rPr lang="pt-BR" dirty="0"/>
              <a:t>Caso não existam dados relacionados entre as tabelas à esquerda e a direita do JOIN, os valores resultantes de todas as colunas da lista de seleção da tabela à direita serão nulos.</a:t>
            </a:r>
            <a:endParaRPr lang="en-US" dirty="0"/>
          </a:p>
        </p:txBody>
      </p:sp>
      <p:pic>
        <p:nvPicPr>
          <p:cNvPr id="4" name="Picture 2" descr="SQL LEFT JOIN">
            <a:extLst>
              <a:ext uri="{FF2B5EF4-FFF2-40B4-BE49-F238E27FC236}">
                <a16:creationId xmlns:a16="http://schemas.microsoft.com/office/drawing/2014/main" id="{225EB622-48A0-4C81-89D3-AE5B0F53AD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8350" y="5273055"/>
            <a:ext cx="1905000" cy="138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519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AF8F-DAAE-4277-875D-AD0F177C1FF5}"/>
              </a:ext>
            </a:extLst>
          </p:cNvPr>
          <p:cNvSpPr>
            <a:spLocks noGrp="1"/>
          </p:cNvSpPr>
          <p:nvPr>
            <p:ph type="title"/>
          </p:nvPr>
        </p:nvSpPr>
        <p:spPr/>
        <p:txBody>
          <a:bodyPr/>
          <a:lstStyle/>
          <a:p>
            <a:r>
              <a:rPr lang="it-IT" dirty="0"/>
              <a:t>SQL DQL – LEFT JOIN</a:t>
            </a:r>
            <a:endParaRPr lang="en-US" dirty="0"/>
          </a:p>
        </p:txBody>
      </p:sp>
      <p:sp>
        <p:nvSpPr>
          <p:cNvPr id="3" name="Content Placeholder 2">
            <a:extLst>
              <a:ext uri="{FF2B5EF4-FFF2-40B4-BE49-F238E27FC236}">
                <a16:creationId xmlns:a16="http://schemas.microsoft.com/office/drawing/2014/main" id="{CE1F66CD-D2FD-4632-97D6-348B65466CC7}"/>
              </a:ext>
            </a:extLst>
          </p:cNvPr>
          <p:cNvSpPr>
            <a:spLocks noGrp="1"/>
          </p:cNvSpPr>
          <p:nvPr>
            <p:ph sz="quarter" idx="1"/>
          </p:nvPr>
        </p:nvSpPr>
        <p:spPr>
          <a:xfrm>
            <a:off x="612648" y="1600200"/>
            <a:ext cx="8153400" cy="3340968"/>
          </a:xfrm>
        </p:spPr>
        <p:txBody>
          <a:bodyPr/>
          <a:lstStyle/>
          <a:p>
            <a:r>
              <a:rPr lang="pt-BR" dirty="0"/>
              <a:t>Para exemplificar melhor, vejamos os exemplos das tabelas Cargo e Funcionário. </a:t>
            </a:r>
          </a:p>
          <a:p>
            <a:r>
              <a:rPr lang="pt-BR" dirty="0"/>
              <a:t>Como dito anteriormente, o único cargo que não contém funcionário vinculado a ele é o Programador Sr. Para obtermos mesmo assim esse cargo, usamos a cláusula LEFT JOIN à esquerda do sinal de igual (=). </a:t>
            </a:r>
            <a:endParaRPr lang="en-US" dirty="0"/>
          </a:p>
        </p:txBody>
      </p:sp>
    </p:spTree>
    <p:extLst>
      <p:ext uri="{BB962C8B-B14F-4D97-AF65-F5344CB8AC3E}">
        <p14:creationId xmlns:p14="http://schemas.microsoft.com/office/powerpoint/2010/main" val="3075875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CC0FE-55BD-4DA0-8985-BD2BA7E024E0}"/>
              </a:ext>
            </a:extLst>
          </p:cNvPr>
          <p:cNvSpPr>
            <a:spLocks noGrp="1"/>
          </p:cNvSpPr>
          <p:nvPr>
            <p:ph type="title"/>
          </p:nvPr>
        </p:nvSpPr>
        <p:spPr/>
        <p:txBody>
          <a:bodyPr/>
          <a:lstStyle/>
          <a:p>
            <a:r>
              <a:rPr lang="it-IT" dirty="0"/>
              <a:t>SQL DQL – LEFT JOIN</a:t>
            </a:r>
            <a:endParaRPr lang="en-US" dirty="0"/>
          </a:p>
        </p:txBody>
      </p:sp>
      <p:sp>
        <p:nvSpPr>
          <p:cNvPr id="3" name="Content Placeholder 2">
            <a:extLst>
              <a:ext uri="{FF2B5EF4-FFF2-40B4-BE49-F238E27FC236}">
                <a16:creationId xmlns:a16="http://schemas.microsoft.com/office/drawing/2014/main" id="{D4086C56-5C84-46FC-BED8-DE9FD2BE8319}"/>
              </a:ext>
            </a:extLst>
          </p:cNvPr>
          <p:cNvSpPr>
            <a:spLocks noGrp="1"/>
          </p:cNvSpPr>
          <p:nvPr>
            <p:ph sz="quarter" idx="1"/>
          </p:nvPr>
        </p:nvSpPr>
        <p:spPr/>
        <p:txBody>
          <a:bodyPr/>
          <a:lstStyle/>
          <a:p>
            <a:r>
              <a:rPr lang="pt-BR" dirty="0"/>
              <a:t>SELECT C.NOMECARGO as CARGO, F.NOMEFUNCIONARIO AS FUNCIONARIO, F.SALARIOFUNCIONARIO AS SALARIO FROM </a:t>
            </a:r>
            <a:r>
              <a:rPr lang="pt-BR" dirty="0">
                <a:highlight>
                  <a:srgbClr val="FFFF00"/>
                </a:highlight>
              </a:rPr>
              <a:t>CARGO</a:t>
            </a:r>
            <a:r>
              <a:rPr lang="pt-BR" dirty="0"/>
              <a:t> AS C </a:t>
            </a:r>
            <a:r>
              <a:rPr lang="pt-BR" dirty="0">
                <a:highlight>
                  <a:srgbClr val="00FF00"/>
                </a:highlight>
              </a:rPr>
              <a:t>LEFT JOIN </a:t>
            </a:r>
            <a:r>
              <a:rPr lang="pt-BR" dirty="0">
                <a:highlight>
                  <a:srgbClr val="00FFFF"/>
                </a:highlight>
              </a:rPr>
              <a:t>FUNCIONARIO</a:t>
            </a:r>
            <a:r>
              <a:rPr lang="pt-BR" dirty="0"/>
              <a:t> AS F </a:t>
            </a:r>
            <a:r>
              <a:rPr lang="pt-BR" dirty="0">
                <a:highlight>
                  <a:srgbClr val="FF00FF"/>
                </a:highlight>
              </a:rPr>
              <a:t>ON</a:t>
            </a:r>
            <a:r>
              <a:rPr lang="pt-BR" dirty="0"/>
              <a:t> C.IDCARGO = F.IDCARGO</a:t>
            </a:r>
            <a:endParaRPr lang="en-US" dirty="0"/>
          </a:p>
        </p:txBody>
      </p:sp>
      <p:pic>
        <p:nvPicPr>
          <p:cNvPr id="6146" name="Picture 2" descr="INNER JOIN, LEFT JOIN e RIGHT JOIN no SQL Server">
            <a:extLst>
              <a:ext uri="{FF2B5EF4-FFF2-40B4-BE49-F238E27FC236}">
                <a16:creationId xmlns:a16="http://schemas.microsoft.com/office/drawing/2014/main" id="{94D89B71-C122-4260-8416-AC4B00193F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9449" y="4077072"/>
            <a:ext cx="4975033" cy="2399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715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CC0FE-55BD-4DA0-8985-BD2BA7E024E0}"/>
              </a:ext>
            </a:extLst>
          </p:cNvPr>
          <p:cNvSpPr>
            <a:spLocks noGrp="1"/>
          </p:cNvSpPr>
          <p:nvPr>
            <p:ph type="title"/>
          </p:nvPr>
        </p:nvSpPr>
        <p:spPr/>
        <p:txBody>
          <a:bodyPr/>
          <a:lstStyle/>
          <a:p>
            <a:r>
              <a:rPr lang="it-IT" dirty="0"/>
              <a:t>SQL DQL – RIGHT JOIN</a:t>
            </a:r>
            <a:endParaRPr lang="en-US" dirty="0"/>
          </a:p>
        </p:txBody>
      </p:sp>
      <p:sp>
        <p:nvSpPr>
          <p:cNvPr id="3" name="Content Placeholder 2">
            <a:extLst>
              <a:ext uri="{FF2B5EF4-FFF2-40B4-BE49-F238E27FC236}">
                <a16:creationId xmlns:a16="http://schemas.microsoft.com/office/drawing/2014/main" id="{D4086C56-5C84-46FC-BED8-DE9FD2BE8319}"/>
              </a:ext>
            </a:extLst>
          </p:cNvPr>
          <p:cNvSpPr>
            <a:spLocks noGrp="1"/>
          </p:cNvSpPr>
          <p:nvPr>
            <p:ph sz="quarter" idx="1"/>
          </p:nvPr>
        </p:nvSpPr>
        <p:spPr>
          <a:xfrm>
            <a:off x="612648" y="1600200"/>
            <a:ext cx="8153400" cy="3556992"/>
          </a:xfrm>
        </p:spPr>
        <p:txBody>
          <a:bodyPr>
            <a:normAutofit fontScale="77500" lnSpcReduction="20000"/>
          </a:bodyPr>
          <a:lstStyle/>
          <a:p>
            <a:r>
              <a:rPr lang="pt-BR" dirty="0"/>
              <a:t>Ao contrário do LEFT JOIN, a cláusula RIGHT JOIN ou RIGHT OUTER JOIN retorna todos os dados encontrados na tabela à direita de JOIN. Caso não existam dados associados entre as tabelas à esquerda e à direita de JOIN, serão retornados valores nulos.</a:t>
            </a:r>
          </a:p>
          <a:p>
            <a:endParaRPr lang="pt-BR" dirty="0"/>
          </a:p>
          <a:p>
            <a:r>
              <a:rPr lang="pt-BR" dirty="0"/>
              <a:t>Suponhamos que a posição das tabelas usadas nos exemplos anteriores foi trocada. Se mesmo assim desejamos obter o mesmo resultado obtido anteriormente, podemos usar a cláusula RIGHT JOIN, assim iremos conseguir tanto os dados relacionados como os não relacionados disponíveis na tabela à direita da cláusula JOIN.</a:t>
            </a:r>
            <a:endParaRPr lang="en-US" dirty="0"/>
          </a:p>
        </p:txBody>
      </p:sp>
      <p:pic>
        <p:nvPicPr>
          <p:cNvPr id="4" name="Picture 6" descr="SQL RIGHT JOIN">
            <a:extLst>
              <a:ext uri="{FF2B5EF4-FFF2-40B4-BE49-F238E27FC236}">
                <a16:creationId xmlns:a16="http://schemas.microsoft.com/office/drawing/2014/main" id="{1E2168A9-4417-4719-8399-13C2A98A38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1048" y="5271170"/>
            <a:ext cx="1905000" cy="138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646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AA674-3684-40C6-9BCC-0D2ECB739A0F}"/>
              </a:ext>
            </a:extLst>
          </p:cNvPr>
          <p:cNvSpPr>
            <a:spLocks noGrp="1"/>
          </p:cNvSpPr>
          <p:nvPr>
            <p:ph type="title"/>
          </p:nvPr>
        </p:nvSpPr>
        <p:spPr/>
        <p:txBody>
          <a:bodyPr/>
          <a:lstStyle/>
          <a:p>
            <a:r>
              <a:rPr lang="it-IT" dirty="0"/>
              <a:t>SQL DQL – RIGHT JOIN</a:t>
            </a:r>
            <a:endParaRPr lang="en-US" dirty="0"/>
          </a:p>
        </p:txBody>
      </p:sp>
      <p:sp>
        <p:nvSpPr>
          <p:cNvPr id="3" name="Content Placeholder 2">
            <a:extLst>
              <a:ext uri="{FF2B5EF4-FFF2-40B4-BE49-F238E27FC236}">
                <a16:creationId xmlns:a16="http://schemas.microsoft.com/office/drawing/2014/main" id="{752EFAA3-51CB-49A9-9DD7-CC147AE208EE}"/>
              </a:ext>
            </a:extLst>
          </p:cNvPr>
          <p:cNvSpPr>
            <a:spLocks noGrp="1"/>
          </p:cNvSpPr>
          <p:nvPr>
            <p:ph sz="quarter" idx="1"/>
          </p:nvPr>
        </p:nvSpPr>
        <p:spPr/>
        <p:txBody>
          <a:bodyPr/>
          <a:lstStyle/>
          <a:p>
            <a:r>
              <a:rPr lang="pt-BR" dirty="0"/>
              <a:t>SELECT C.NOMECARGO CARGO, F.NOMEFUNCIONARIO AS FUNCIONARIO, F.SALARIOFUNCIONARIO AS SALARIO FROM </a:t>
            </a:r>
            <a:r>
              <a:rPr lang="pt-BR" dirty="0">
                <a:highlight>
                  <a:srgbClr val="FFFF00"/>
                </a:highlight>
              </a:rPr>
              <a:t>FUNCIONARIO</a:t>
            </a:r>
            <a:r>
              <a:rPr lang="pt-BR" dirty="0"/>
              <a:t> AS F </a:t>
            </a:r>
            <a:r>
              <a:rPr lang="pt-BR" dirty="0">
                <a:highlight>
                  <a:srgbClr val="FF00FF"/>
                </a:highlight>
              </a:rPr>
              <a:t>RIGHT JOIN</a:t>
            </a:r>
            <a:r>
              <a:rPr lang="pt-BR" dirty="0"/>
              <a:t> </a:t>
            </a:r>
            <a:r>
              <a:rPr lang="pt-BR" dirty="0">
                <a:highlight>
                  <a:srgbClr val="00FF00"/>
                </a:highlight>
              </a:rPr>
              <a:t>CARGO</a:t>
            </a:r>
            <a:r>
              <a:rPr lang="pt-BR" dirty="0"/>
              <a:t> AS C </a:t>
            </a:r>
            <a:r>
              <a:rPr lang="pt-BR" dirty="0">
                <a:highlight>
                  <a:srgbClr val="00FFFF"/>
                </a:highlight>
              </a:rPr>
              <a:t>ON</a:t>
            </a:r>
            <a:r>
              <a:rPr lang="pt-BR" dirty="0"/>
              <a:t> F.IDCARGO = C.IDCARGO</a:t>
            </a:r>
            <a:endParaRPr lang="en-US" dirty="0"/>
          </a:p>
        </p:txBody>
      </p:sp>
      <p:pic>
        <p:nvPicPr>
          <p:cNvPr id="4" name="Picture 3">
            <a:extLst>
              <a:ext uri="{FF2B5EF4-FFF2-40B4-BE49-F238E27FC236}">
                <a16:creationId xmlns:a16="http://schemas.microsoft.com/office/drawing/2014/main" id="{A83E44A2-C61E-41DB-BAA4-638AC3E4E87D}"/>
              </a:ext>
            </a:extLst>
          </p:cNvPr>
          <p:cNvPicPr>
            <a:picLocks noChangeAspect="1"/>
          </p:cNvPicPr>
          <p:nvPr/>
        </p:nvPicPr>
        <p:blipFill>
          <a:blip r:embed="rId2"/>
          <a:stretch>
            <a:fillRect/>
          </a:stretch>
        </p:blipFill>
        <p:spPr>
          <a:xfrm>
            <a:off x="4689348" y="4293096"/>
            <a:ext cx="3705225" cy="2076450"/>
          </a:xfrm>
          <a:prstGeom prst="rect">
            <a:avLst/>
          </a:prstGeom>
        </p:spPr>
      </p:pic>
    </p:spTree>
    <p:extLst>
      <p:ext uri="{BB962C8B-B14F-4D97-AF65-F5344CB8AC3E}">
        <p14:creationId xmlns:p14="http://schemas.microsoft.com/office/powerpoint/2010/main" val="4215117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CDE5-FE0B-4863-8D07-41559E2AD0AB}"/>
              </a:ext>
            </a:extLst>
          </p:cNvPr>
          <p:cNvSpPr>
            <a:spLocks noGrp="1"/>
          </p:cNvSpPr>
          <p:nvPr>
            <p:ph type="title"/>
          </p:nvPr>
        </p:nvSpPr>
        <p:spPr/>
        <p:txBody>
          <a:bodyPr/>
          <a:lstStyle/>
          <a:p>
            <a:r>
              <a:rPr lang="it-IT" dirty="0"/>
              <a:t>SQL DQL – FULL JOIN</a:t>
            </a:r>
            <a:endParaRPr lang="en-US" dirty="0"/>
          </a:p>
        </p:txBody>
      </p:sp>
      <p:sp>
        <p:nvSpPr>
          <p:cNvPr id="3" name="Content Placeholder 2">
            <a:extLst>
              <a:ext uri="{FF2B5EF4-FFF2-40B4-BE49-F238E27FC236}">
                <a16:creationId xmlns:a16="http://schemas.microsoft.com/office/drawing/2014/main" id="{CF3F15AD-929E-4EF5-BF4B-E0ECE48EC89F}"/>
              </a:ext>
            </a:extLst>
          </p:cNvPr>
          <p:cNvSpPr>
            <a:spLocks noGrp="1"/>
          </p:cNvSpPr>
          <p:nvPr>
            <p:ph sz="quarter" idx="1"/>
          </p:nvPr>
        </p:nvSpPr>
        <p:spPr/>
        <p:txBody>
          <a:bodyPr>
            <a:normAutofit lnSpcReduction="10000"/>
          </a:bodyPr>
          <a:lstStyle/>
          <a:p>
            <a:r>
              <a:rPr lang="pt-BR" dirty="0"/>
              <a:t>Todas as linhas de dados da tabela à esquerda de JOIN e da tabela à direita serão retornadas pela cláusula FULL JOIN ou FULL OUTER JOIN. Caso uma linha de dados não esteja associada a qualquer linha da outra tabela, os valores das colunas a lista de seleção serão nulos. Caso contrário, os valores obtidos serão baseados nas tabelas usadas como referência.</a:t>
            </a:r>
          </a:p>
          <a:p>
            <a:r>
              <a:rPr lang="pt-BR" dirty="0"/>
              <a:t>A cláusula FULL JOIN deve ser usada como no exemplo a seguir:</a:t>
            </a:r>
          </a:p>
          <a:p>
            <a:endParaRPr lang="en-US" dirty="0"/>
          </a:p>
        </p:txBody>
      </p:sp>
      <p:pic>
        <p:nvPicPr>
          <p:cNvPr id="5" name="Picture 8" descr="SQL FULL OUTER JOIN">
            <a:extLst>
              <a:ext uri="{FF2B5EF4-FFF2-40B4-BE49-F238E27FC236}">
                <a16:creationId xmlns:a16="http://schemas.microsoft.com/office/drawing/2014/main" id="{EE4826F8-3668-48C6-BB0C-775D2CBCF1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1048" y="5301208"/>
            <a:ext cx="1905000" cy="138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6841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CDE5-FE0B-4863-8D07-41559E2AD0AB}"/>
              </a:ext>
            </a:extLst>
          </p:cNvPr>
          <p:cNvSpPr>
            <a:spLocks noGrp="1"/>
          </p:cNvSpPr>
          <p:nvPr>
            <p:ph type="title"/>
          </p:nvPr>
        </p:nvSpPr>
        <p:spPr/>
        <p:txBody>
          <a:bodyPr/>
          <a:lstStyle/>
          <a:p>
            <a:r>
              <a:rPr lang="it-IT" dirty="0"/>
              <a:t>SQL DQL – FULL JOIN</a:t>
            </a:r>
            <a:endParaRPr lang="en-US" dirty="0"/>
          </a:p>
        </p:txBody>
      </p:sp>
      <p:sp>
        <p:nvSpPr>
          <p:cNvPr id="3" name="Content Placeholder 2">
            <a:extLst>
              <a:ext uri="{FF2B5EF4-FFF2-40B4-BE49-F238E27FC236}">
                <a16:creationId xmlns:a16="http://schemas.microsoft.com/office/drawing/2014/main" id="{CF3F15AD-929E-4EF5-BF4B-E0ECE48EC89F}"/>
              </a:ext>
            </a:extLst>
          </p:cNvPr>
          <p:cNvSpPr>
            <a:spLocks noGrp="1"/>
          </p:cNvSpPr>
          <p:nvPr>
            <p:ph sz="quarter" idx="1"/>
          </p:nvPr>
        </p:nvSpPr>
        <p:spPr/>
        <p:txBody>
          <a:bodyPr>
            <a:normAutofit/>
          </a:bodyPr>
          <a:lstStyle/>
          <a:p>
            <a:r>
              <a:rPr lang="pt-BR" dirty="0"/>
              <a:t>SELECT C.NOMECARGO CARGO, F.NOMEFUNCIONARIO AS FUNCIONARIO, F.SALARIOFUNCIONARIO AS SALARIO FROM </a:t>
            </a:r>
            <a:r>
              <a:rPr lang="pt-BR" dirty="0">
                <a:highlight>
                  <a:srgbClr val="FFFF00"/>
                </a:highlight>
              </a:rPr>
              <a:t>FUNCIONARIO</a:t>
            </a:r>
            <a:r>
              <a:rPr lang="pt-BR" dirty="0"/>
              <a:t> AS F </a:t>
            </a:r>
            <a:r>
              <a:rPr lang="pt-BR" dirty="0">
                <a:highlight>
                  <a:srgbClr val="00FF00"/>
                </a:highlight>
              </a:rPr>
              <a:t>FULL JOIN </a:t>
            </a:r>
            <a:r>
              <a:rPr lang="pt-BR" dirty="0"/>
              <a:t>CARGO AS C </a:t>
            </a:r>
            <a:r>
              <a:rPr lang="pt-BR" dirty="0">
                <a:highlight>
                  <a:srgbClr val="00FFFF"/>
                </a:highlight>
              </a:rPr>
              <a:t>ON</a:t>
            </a:r>
            <a:r>
              <a:rPr lang="pt-BR" dirty="0"/>
              <a:t> F.IDCARGO = C.IDCARGO</a:t>
            </a:r>
            <a:endParaRPr lang="en-US" dirty="0"/>
          </a:p>
        </p:txBody>
      </p:sp>
      <p:pic>
        <p:nvPicPr>
          <p:cNvPr id="4" name="Picture 3">
            <a:extLst>
              <a:ext uri="{FF2B5EF4-FFF2-40B4-BE49-F238E27FC236}">
                <a16:creationId xmlns:a16="http://schemas.microsoft.com/office/drawing/2014/main" id="{E2D2D166-1FA2-44C6-ADBC-3298E74C5C2F}"/>
              </a:ext>
            </a:extLst>
          </p:cNvPr>
          <p:cNvPicPr>
            <a:picLocks noChangeAspect="1"/>
          </p:cNvPicPr>
          <p:nvPr/>
        </p:nvPicPr>
        <p:blipFill>
          <a:blip r:embed="rId2"/>
          <a:stretch>
            <a:fillRect/>
          </a:stretch>
        </p:blipFill>
        <p:spPr>
          <a:xfrm>
            <a:off x="4283968" y="4220294"/>
            <a:ext cx="4738092" cy="2408312"/>
          </a:xfrm>
          <a:prstGeom prst="rect">
            <a:avLst/>
          </a:prstGeom>
        </p:spPr>
      </p:pic>
    </p:spTree>
    <p:extLst>
      <p:ext uri="{BB962C8B-B14F-4D97-AF65-F5344CB8AC3E}">
        <p14:creationId xmlns:p14="http://schemas.microsoft.com/office/powerpoint/2010/main" val="282062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045D2-04F2-40A1-9323-6660B7650EAF}"/>
              </a:ext>
            </a:extLst>
          </p:cNvPr>
          <p:cNvSpPr>
            <a:spLocks noGrp="1"/>
          </p:cNvSpPr>
          <p:nvPr>
            <p:ph type="title"/>
          </p:nvPr>
        </p:nvSpPr>
        <p:spPr/>
        <p:txBody>
          <a:bodyPr/>
          <a:lstStyle/>
          <a:p>
            <a:r>
              <a:rPr lang="en-US" dirty="0"/>
              <a:t>SQL DQL – CROSS JOIN</a:t>
            </a:r>
          </a:p>
        </p:txBody>
      </p:sp>
      <p:sp>
        <p:nvSpPr>
          <p:cNvPr id="3" name="Content Placeholder 2">
            <a:extLst>
              <a:ext uri="{FF2B5EF4-FFF2-40B4-BE49-F238E27FC236}">
                <a16:creationId xmlns:a16="http://schemas.microsoft.com/office/drawing/2014/main" id="{FF26141F-0A51-4C7A-A1B8-3A681E0C81DF}"/>
              </a:ext>
            </a:extLst>
          </p:cNvPr>
          <p:cNvSpPr>
            <a:spLocks noGrp="1"/>
          </p:cNvSpPr>
          <p:nvPr>
            <p:ph sz="quarter" idx="1"/>
          </p:nvPr>
        </p:nvSpPr>
        <p:spPr/>
        <p:txBody>
          <a:bodyPr>
            <a:normAutofit fontScale="92500" lnSpcReduction="20000"/>
          </a:bodyPr>
          <a:lstStyle/>
          <a:p>
            <a:r>
              <a:rPr lang="pt-BR" dirty="0"/>
              <a:t>Todos os dados da tabela à esquerda de JOIN são cruzados com os dados da tabela à direita de JOIN por meio do CROSS JOIN, também conhecido como produto cartesiano. É possível cruzarmos informações de duas ou mais tabelas.</a:t>
            </a:r>
          </a:p>
          <a:p>
            <a:endParaRPr lang="pt-BR" dirty="0"/>
          </a:p>
          <a:p>
            <a:r>
              <a:rPr lang="pt-BR" dirty="0"/>
              <a:t>Para facilitar a compreensão a respeito desse tipo de associação, vamos usar as tabelas acima como exemplo. Caso a intenção seja exibir os dados de modo que todos os funcionários tenham todos os cargos e vice-versa. Para isso, devemos usar o CROSS JOIN, como no exemplo a seguir:</a:t>
            </a:r>
            <a:endParaRPr lang="en-US" dirty="0"/>
          </a:p>
        </p:txBody>
      </p:sp>
    </p:spTree>
    <p:extLst>
      <p:ext uri="{BB962C8B-B14F-4D97-AF65-F5344CB8AC3E}">
        <p14:creationId xmlns:p14="http://schemas.microsoft.com/office/powerpoint/2010/main" val="1431778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06C4-FA93-4465-90B3-5F1772CA52EA}"/>
              </a:ext>
            </a:extLst>
          </p:cNvPr>
          <p:cNvSpPr>
            <a:spLocks noGrp="1"/>
          </p:cNvSpPr>
          <p:nvPr>
            <p:ph type="title"/>
          </p:nvPr>
        </p:nvSpPr>
        <p:spPr/>
        <p:txBody>
          <a:bodyPr/>
          <a:lstStyle/>
          <a:p>
            <a:r>
              <a:rPr lang="en-US" dirty="0"/>
              <a:t>SQL DQL – CROSS JOIN</a:t>
            </a:r>
          </a:p>
        </p:txBody>
      </p:sp>
      <p:sp>
        <p:nvSpPr>
          <p:cNvPr id="3" name="Content Placeholder 2">
            <a:extLst>
              <a:ext uri="{FF2B5EF4-FFF2-40B4-BE49-F238E27FC236}">
                <a16:creationId xmlns:a16="http://schemas.microsoft.com/office/drawing/2014/main" id="{C4E3DFAE-70CE-4366-86D9-4111850967E6}"/>
              </a:ext>
            </a:extLst>
          </p:cNvPr>
          <p:cNvSpPr>
            <a:spLocks noGrp="1"/>
          </p:cNvSpPr>
          <p:nvPr>
            <p:ph sz="quarter" idx="1"/>
          </p:nvPr>
        </p:nvSpPr>
        <p:spPr/>
        <p:txBody>
          <a:bodyPr/>
          <a:lstStyle/>
          <a:p>
            <a:r>
              <a:rPr lang="pt-BR" dirty="0"/>
              <a:t>SELECT C.NOMECARGO CARGO, F.NOMEFUNCIONARIO AS FUNCIONARIO, F.SALARIOFUNCIONARIO AS SALARIO FROM </a:t>
            </a:r>
            <a:r>
              <a:rPr lang="pt-BR" dirty="0">
                <a:highlight>
                  <a:srgbClr val="00FFFF"/>
                </a:highlight>
              </a:rPr>
              <a:t>CARGO </a:t>
            </a:r>
            <a:r>
              <a:rPr lang="pt-BR" dirty="0"/>
              <a:t>AS C </a:t>
            </a:r>
            <a:r>
              <a:rPr lang="pt-BR" dirty="0">
                <a:highlight>
                  <a:srgbClr val="FFFF00"/>
                </a:highlight>
              </a:rPr>
              <a:t>CROSS JOIN </a:t>
            </a:r>
            <a:r>
              <a:rPr lang="pt-BR" dirty="0">
                <a:highlight>
                  <a:srgbClr val="00FF00"/>
                </a:highlight>
              </a:rPr>
              <a:t>FUNCIONARIO</a:t>
            </a:r>
            <a:r>
              <a:rPr lang="pt-BR" dirty="0"/>
              <a:t> AS F ORDER BY 1</a:t>
            </a:r>
            <a:endParaRPr lang="en-US" dirty="0"/>
          </a:p>
        </p:txBody>
      </p:sp>
      <p:pic>
        <p:nvPicPr>
          <p:cNvPr id="4" name="Picture 3">
            <a:extLst>
              <a:ext uri="{FF2B5EF4-FFF2-40B4-BE49-F238E27FC236}">
                <a16:creationId xmlns:a16="http://schemas.microsoft.com/office/drawing/2014/main" id="{EF671832-5C52-4110-A26A-1B8D0C208B3B}"/>
              </a:ext>
            </a:extLst>
          </p:cNvPr>
          <p:cNvPicPr>
            <a:picLocks noChangeAspect="1"/>
          </p:cNvPicPr>
          <p:nvPr/>
        </p:nvPicPr>
        <p:blipFill>
          <a:blip r:embed="rId2"/>
          <a:stretch>
            <a:fillRect/>
          </a:stretch>
        </p:blipFill>
        <p:spPr>
          <a:xfrm>
            <a:off x="6089526" y="3573016"/>
            <a:ext cx="3028950" cy="4848225"/>
          </a:xfrm>
          <a:prstGeom prst="rect">
            <a:avLst/>
          </a:prstGeom>
        </p:spPr>
      </p:pic>
    </p:spTree>
    <p:extLst>
      <p:ext uri="{BB962C8B-B14F-4D97-AF65-F5344CB8AC3E}">
        <p14:creationId xmlns:p14="http://schemas.microsoft.com/office/powerpoint/2010/main" val="426226291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o">
  <a:themeElements>
    <a:clrScheme name="Mediano">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o">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o">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402</TotalTime>
  <Words>994</Words>
  <Application>Microsoft Office PowerPoint</Application>
  <PresentationFormat>On-screen Show (4:3)</PresentationFormat>
  <Paragraphs>61</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Roboto mono</vt:lpstr>
      <vt:lpstr>Source Serif Pro</vt:lpstr>
      <vt:lpstr>Arial</vt:lpstr>
      <vt:lpstr>Courier New</vt:lpstr>
      <vt:lpstr>Tw Cen MT</vt:lpstr>
      <vt:lpstr>Wingdings</vt:lpstr>
      <vt:lpstr>Wingdings 2</vt:lpstr>
      <vt:lpstr>Mediano</vt:lpstr>
      <vt:lpstr>Fatec</vt:lpstr>
      <vt:lpstr>Tipos de Comandos</vt:lpstr>
      <vt:lpstr>SQL DQL - Join</vt:lpstr>
      <vt:lpstr>SQL DQL - Join</vt:lpstr>
      <vt:lpstr>SQL DQL - Join</vt:lpstr>
      <vt:lpstr>SQL DQL –Join</vt:lpstr>
      <vt:lpstr>SQL DQL - Join</vt:lpstr>
      <vt:lpstr>SQL DQL – Inner Join</vt:lpstr>
      <vt:lpstr>SQL DQL – Inner Join</vt:lpstr>
      <vt:lpstr>SQL DQL – Inner Join</vt:lpstr>
      <vt:lpstr>SQL DQL – LEFT JOIN</vt:lpstr>
      <vt:lpstr>SQL DQL – LEFT JOIN</vt:lpstr>
      <vt:lpstr>SQL DQL – LEFT JOIN</vt:lpstr>
      <vt:lpstr>SQL DQL – RIGHT JOIN</vt:lpstr>
      <vt:lpstr>SQL DQL – RIGHT JOIN</vt:lpstr>
      <vt:lpstr>SQL DQL – FULL JOIN</vt:lpstr>
      <vt:lpstr>SQL DQL – FULL JOIN</vt:lpstr>
      <vt:lpstr>SQL DQL – CROSS JOIN</vt:lpstr>
      <vt:lpstr>SQL DQL – CROSS JOIN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Fatec</dc:title>
  <dc:creator>Norton Barros Glaser</dc:creator>
  <cp:lastModifiedBy>Glaser, Norton Barros</cp:lastModifiedBy>
  <cp:revision>65</cp:revision>
  <dcterms:created xsi:type="dcterms:W3CDTF">2014-01-27T15:41:35Z</dcterms:created>
  <dcterms:modified xsi:type="dcterms:W3CDTF">2021-03-23T19:52:19Z</dcterms:modified>
</cp:coreProperties>
</file>