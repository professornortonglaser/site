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SQL – Comandos DML e DTL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Comandos</a:t>
            </a:r>
          </a:p>
        </p:txBody>
      </p:sp>
      <p:pic>
        <p:nvPicPr>
          <p:cNvPr id="1026" name="Picture 2" descr="Subdivisões da linguagem SQL">
            <a:extLst>
              <a:ext uri="{FF2B5EF4-FFF2-40B4-BE49-F238E27FC236}">
                <a16:creationId xmlns:a16="http://schemas.microsoft.com/office/drawing/2014/main" id="{BACB5773-A84C-40DC-93A7-5E2DCCBFE31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627" y="1600200"/>
            <a:ext cx="6501695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86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37D8-0918-4E66-9E91-C796E5AD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200" dirty="0"/>
              <a:t>SQL DQL - </a:t>
            </a:r>
            <a:r>
              <a:rPr lang="pt-BR" sz="3200" dirty="0"/>
              <a:t>Linguagem de consulta de Dados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3E57F-7E0F-4159-9306-891E6F8226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comando de consulta tem como objetivo minerar os dados com parâmetros objetivando a informação, podemos fazer consultar relacionando tabelas (Intersecção e união)</a:t>
            </a:r>
          </a:p>
        </p:txBody>
      </p:sp>
    </p:spTree>
    <p:extLst>
      <p:ext uri="{BB962C8B-B14F-4D97-AF65-F5344CB8AC3E}">
        <p14:creationId xmlns:p14="http://schemas.microsoft.com/office/powerpoint/2010/main" val="153443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020D-A900-460A-8C5D-5105B501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Comando Select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269B-F2F8-496C-A239-5F98B4F040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comando de consulta e composto da seguinte forma:</a:t>
            </a:r>
          </a:p>
          <a:p>
            <a:r>
              <a:rPr lang="pt-BR" dirty="0"/>
              <a:t>Sintaxe:</a:t>
            </a:r>
          </a:p>
          <a:p>
            <a:pPr lvl="1"/>
            <a:r>
              <a:rPr lang="pt-BR" dirty="0"/>
              <a:t>&lt;SELECT CAMPO1,CAMPO2,...&gt;</a:t>
            </a:r>
          </a:p>
          <a:p>
            <a:pPr lvl="1"/>
            <a:r>
              <a:rPr lang="pt-BR" dirty="0"/>
              <a:t>&lt;FROM TABELA1,TABELA2,...&gt;</a:t>
            </a:r>
          </a:p>
          <a:p>
            <a:pPr lvl="1"/>
            <a:r>
              <a:rPr lang="pt-BR" dirty="0"/>
              <a:t>[WHERE &lt;CONDIÇÕES&gt;]</a:t>
            </a:r>
          </a:p>
          <a:p>
            <a:r>
              <a:rPr lang="pt-BR" dirty="0"/>
              <a:t>Aonde:</a:t>
            </a:r>
          </a:p>
          <a:p>
            <a:pPr lvl="1"/>
            <a:r>
              <a:rPr lang="pt-BR" dirty="0"/>
              <a:t>&lt;SELECT&gt; Lista dos campos a serem listados.</a:t>
            </a:r>
          </a:p>
          <a:p>
            <a:pPr lvl="1"/>
            <a:r>
              <a:rPr lang="pt-BR" dirty="0"/>
              <a:t>&lt;FROM&gt; Lista de tabelas consultadas.</a:t>
            </a:r>
          </a:p>
          <a:p>
            <a:pPr lvl="1"/>
            <a:r>
              <a:rPr lang="pt-BR" dirty="0"/>
              <a:t>[WHERE] Lista de condições da consulta.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85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020D-A900-460A-8C5D-5105B501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Comando Select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269B-F2F8-496C-A239-5F98B4F040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Exemplo:</a:t>
            </a:r>
          </a:p>
          <a:p>
            <a:pPr lvl="1"/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nome,email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cliente </a:t>
            </a:r>
            <a:r>
              <a:rPr lang="pt-BR" dirty="0" err="1"/>
              <a:t>where</a:t>
            </a:r>
            <a:r>
              <a:rPr lang="pt-BR" dirty="0"/>
              <a:t> </a:t>
            </a:r>
            <a:r>
              <a:rPr lang="pt-BR" dirty="0" err="1"/>
              <a:t>codigo</a:t>
            </a:r>
            <a:r>
              <a:rPr lang="pt-BR" dirty="0"/>
              <a:t>=12</a:t>
            </a:r>
          </a:p>
          <a:p>
            <a:endParaRPr lang="pt-BR" dirty="0"/>
          </a:p>
          <a:p>
            <a:pPr lvl="1"/>
            <a:r>
              <a:rPr lang="pt-BR" dirty="0" err="1"/>
              <a:t>Obs</a:t>
            </a:r>
            <a:r>
              <a:rPr lang="pt-BR" dirty="0"/>
              <a:t>: Seleciona os campos(nome e </a:t>
            </a:r>
            <a:r>
              <a:rPr lang="pt-BR" dirty="0" err="1"/>
              <a:t>email</a:t>
            </a:r>
            <a:r>
              <a:rPr lang="pt-BR" dirty="0"/>
              <a:t>), quando o </a:t>
            </a:r>
            <a:r>
              <a:rPr lang="pt-BR" dirty="0" err="1"/>
              <a:t>codigo</a:t>
            </a:r>
            <a:r>
              <a:rPr lang="pt-BR" dirty="0"/>
              <a:t>=12 ou</a:t>
            </a:r>
          </a:p>
          <a:p>
            <a:endParaRPr lang="pt-BR" dirty="0"/>
          </a:p>
          <a:p>
            <a:pPr lvl="1"/>
            <a:r>
              <a:rPr lang="pt-BR" dirty="0" err="1"/>
              <a:t>Select</a:t>
            </a:r>
            <a:r>
              <a:rPr lang="pt-BR" dirty="0"/>
              <a:t> * </a:t>
            </a:r>
            <a:r>
              <a:rPr lang="pt-BR" dirty="0" err="1"/>
              <a:t>from</a:t>
            </a:r>
            <a:r>
              <a:rPr lang="pt-BR" dirty="0"/>
              <a:t> cliente </a:t>
            </a:r>
            <a:r>
              <a:rPr lang="pt-BR" dirty="0" err="1"/>
              <a:t>where</a:t>
            </a:r>
            <a:r>
              <a:rPr lang="pt-BR" dirty="0"/>
              <a:t> </a:t>
            </a:r>
            <a:r>
              <a:rPr lang="pt-BR" dirty="0" err="1"/>
              <a:t>codigo</a:t>
            </a:r>
            <a:r>
              <a:rPr lang="pt-BR" dirty="0"/>
              <a:t>=12</a:t>
            </a:r>
          </a:p>
          <a:p>
            <a:pPr lvl="1"/>
            <a:endParaRPr lang="pt-BR" dirty="0"/>
          </a:p>
          <a:p>
            <a:pPr lvl="1"/>
            <a:r>
              <a:rPr lang="pt-BR" dirty="0" err="1"/>
              <a:t>Obs</a:t>
            </a:r>
            <a:r>
              <a:rPr lang="pt-BR" dirty="0"/>
              <a:t>: (*) Seleciona todos os campos, quando o </a:t>
            </a:r>
            <a:r>
              <a:rPr lang="pt-BR" dirty="0" err="1"/>
              <a:t>codigo</a:t>
            </a:r>
            <a:r>
              <a:rPr lang="pt-BR" dirty="0"/>
              <a:t>=12</a:t>
            </a:r>
          </a:p>
        </p:txBody>
      </p:sp>
    </p:spTree>
    <p:extLst>
      <p:ext uri="{BB962C8B-B14F-4D97-AF65-F5344CB8AC3E}">
        <p14:creationId xmlns:p14="http://schemas.microsoft.com/office/powerpoint/2010/main" val="13365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020D-A900-460A-8C5D-5105B501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Comando Select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269B-F2F8-496C-A239-5F98B4F040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produto.codigo,fornecedor.nome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produto, fornecedor </a:t>
            </a:r>
            <a:r>
              <a:rPr lang="pt-BR" dirty="0" err="1"/>
              <a:t>where</a:t>
            </a:r>
            <a:r>
              <a:rPr lang="pt-BR" dirty="0"/>
              <a:t> </a:t>
            </a:r>
            <a:r>
              <a:rPr lang="pt-BR" dirty="0" err="1"/>
              <a:t>produto.fornecedor</a:t>
            </a:r>
            <a:r>
              <a:rPr lang="pt-BR" dirty="0"/>
              <a:t> = </a:t>
            </a:r>
            <a:r>
              <a:rPr lang="pt-BR" dirty="0" err="1"/>
              <a:t>fornecedor.fornecedor</a:t>
            </a:r>
            <a:endParaRPr lang="pt-BR" dirty="0"/>
          </a:p>
          <a:p>
            <a:endParaRPr lang="pt-BR" dirty="0"/>
          </a:p>
          <a:p>
            <a:pPr lvl="1"/>
            <a:r>
              <a:rPr lang="pt-BR" dirty="0" err="1"/>
              <a:t>Obs</a:t>
            </a:r>
            <a:r>
              <a:rPr lang="pt-BR" dirty="0"/>
              <a:t>: Neste exemplo estamos usando duas tabelas, precisamos identificar a tabela a qual campo pertence (</a:t>
            </a:r>
            <a:r>
              <a:rPr lang="pt-BR" dirty="0" err="1"/>
              <a:t>produto.codigo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9576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4020D-A900-460A-8C5D-5105B501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Alias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269B-F2F8-496C-A239-5F98B4F040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3200" dirty="0"/>
              <a:t>Podemos dar apelidos as tabelas e as colunas para deixar o comando mais simples. </a:t>
            </a:r>
          </a:p>
          <a:p>
            <a:pPr lvl="1"/>
            <a:r>
              <a:rPr lang="en-US" sz="2900" b="1" dirty="0" err="1"/>
              <a:t>Sintaxe</a:t>
            </a:r>
            <a:r>
              <a:rPr lang="en-US" sz="2900" b="1" dirty="0"/>
              <a:t>: </a:t>
            </a:r>
          </a:p>
          <a:p>
            <a:pPr lvl="1"/>
            <a:r>
              <a:rPr lang="en-US" sz="2900" dirty="0"/>
              <a:t>Alias para </a:t>
            </a:r>
            <a:r>
              <a:rPr lang="en-US" sz="2900" dirty="0" err="1"/>
              <a:t>campos</a:t>
            </a:r>
            <a:r>
              <a:rPr lang="en-US" sz="2900" dirty="0"/>
              <a:t> </a:t>
            </a:r>
          </a:p>
          <a:p>
            <a:pPr lvl="2"/>
            <a:r>
              <a:rPr lang="en-US" sz="2600" dirty="0"/>
              <a:t>&lt;Campo&gt;[as &lt;Alias&gt;] </a:t>
            </a:r>
          </a:p>
          <a:p>
            <a:pPr lvl="1"/>
            <a:r>
              <a:rPr lang="en-US" sz="2900" dirty="0" err="1"/>
              <a:t>Aonde</a:t>
            </a:r>
            <a:r>
              <a:rPr lang="en-US" sz="2900" dirty="0"/>
              <a:t>: </a:t>
            </a:r>
          </a:p>
          <a:p>
            <a:pPr lvl="2"/>
            <a:r>
              <a:rPr lang="pt-BR" sz="2600" dirty="0"/>
              <a:t>[as &lt;Alias&gt;] nome do apelido. </a:t>
            </a:r>
          </a:p>
          <a:p>
            <a:pPr lvl="2"/>
            <a:r>
              <a:rPr lang="en-US" sz="2600" dirty="0"/>
              <a:t>e/</a:t>
            </a:r>
            <a:r>
              <a:rPr lang="en-US" sz="2600" dirty="0" err="1"/>
              <a:t>ou</a:t>
            </a:r>
            <a:r>
              <a:rPr lang="en-US" sz="2600" dirty="0"/>
              <a:t> </a:t>
            </a:r>
          </a:p>
          <a:p>
            <a:pPr lvl="1"/>
            <a:r>
              <a:rPr lang="en-US" sz="2900" dirty="0"/>
              <a:t>Alias para </a:t>
            </a:r>
            <a:r>
              <a:rPr lang="en-US" sz="2900" dirty="0" err="1"/>
              <a:t>tabelas</a:t>
            </a:r>
            <a:r>
              <a:rPr lang="en-US" sz="2900" dirty="0"/>
              <a:t> </a:t>
            </a:r>
          </a:p>
          <a:p>
            <a:pPr lvl="2"/>
            <a:r>
              <a:rPr lang="en-US" sz="2600" dirty="0"/>
              <a:t>&lt;</a:t>
            </a:r>
            <a:r>
              <a:rPr lang="en-US" sz="2600" dirty="0" err="1"/>
              <a:t>tabela</a:t>
            </a:r>
            <a:r>
              <a:rPr lang="en-US" sz="2600" dirty="0"/>
              <a:t>&gt;&lt;Alias&gt; </a:t>
            </a:r>
          </a:p>
          <a:p>
            <a:pPr lvl="1"/>
            <a:r>
              <a:rPr lang="en-US" sz="2900" dirty="0" err="1"/>
              <a:t>Aonde</a:t>
            </a:r>
            <a:r>
              <a:rPr lang="en-US" sz="2900" dirty="0"/>
              <a:t>: </a:t>
            </a:r>
          </a:p>
          <a:p>
            <a:pPr lvl="2"/>
            <a:r>
              <a:rPr lang="pt-BR" sz="2600" dirty="0"/>
              <a:t>&lt;Alias&gt; nome do apelido da tabela.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609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40A8-E84F-403F-A076-8C7DA597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Alias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C79DF-BFE4-40FB-A420-D4BBE070923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lvl="1"/>
            <a:r>
              <a:rPr lang="pt-BR" dirty="0" err="1"/>
              <a:t>Select</a:t>
            </a:r>
            <a:r>
              <a:rPr lang="pt-BR" dirty="0"/>
              <a:t> t1.codigo as c1,t2.nome as c2 </a:t>
            </a:r>
            <a:r>
              <a:rPr lang="pt-BR" dirty="0" err="1"/>
              <a:t>from</a:t>
            </a:r>
            <a:r>
              <a:rPr lang="pt-BR" dirty="0"/>
              <a:t> produto t1, fornecedor t2 </a:t>
            </a:r>
            <a:r>
              <a:rPr lang="pt-BR" dirty="0" err="1"/>
              <a:t>where</a:t>
            </a:r>
            <a:r>
              <a:rPr lang="pt-BR" dirty="0"/>
              <a:t> t1.fornecedor = t2.fornecedor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0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E8C0-4E8A-4290-BCB0-FD62EA92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Condição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2E120-5694-40C8-8C1C-558224E3E7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26084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 bloco de condição permite utilizar condições lógicas para fazer o relacionamento entre campos e valores.</a:t>
            </a:r>
          </a:p>
          <a:p>
            <a:r>
              <a:rPr lang="pt-BR" dirty="0"/>
              <a:t>Para realizar estas operações nos utilizamos os operadores lógicos e relacionais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C8000-2922-48C2-88E7-04E9773D74DF}"/>
              </a:ext>
            </a:extLst>
          </p:cNvPr>
          <p:cNvSpPr/>
          <p:nvPr/>
        </p:nvSpPr>
        <p:spPr>
          <a:xfrm>
            <a:off x="2771800" y="3429000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3200" dirty="0">
              <a:latin typeface="Century Gothic" panose="020B0502020202020204" pitchFamily="34" charset="0"/>
            </a:endParaRPr>
          </a:p>
          <a:p>
            <a:r>
              <a:rPr lang="en-US" b="1" dirty="0" err="1">
                <a:latin typeface="Century Gothic" panose="020B0502020202020204" pitchFamily="34" charset="0"/>
              </a:rPr>
              <a:t>Operadores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Lógicos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Operador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Descrição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=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Igualdade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&lt;&gt;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Diferente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&gt;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Maior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&lt;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Menor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&gt;=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Maior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igual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&lt;= 		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Menor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igual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2843527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9531-6315-495B-9593-44EF11CE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Condição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D552A-171B-4B3F-85F6-46DEFB6864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Select * from </a:t>
            </a:r>
            <a:r>
              <a:rPr lang="en-US" dirty="0" err="1"/>
              <a:t>tb_cliente</a:t>
            </a:r>
            <a:r>
              <a:rPr lang="en-US" dirty="0"/>
              <a:t> where </a:t>
            </a:r>
            <a:r>
              <a:rPr lang="en-US" dirty="0" err="1"/>
              <a:t>idade</a:t>
            </a:r>
            <a:r>
              <a:rPr lang="en-US" dirty="0"/>
              <a:t> &gt;= 18</a:t>
            </a:r>
          </a:p>
          <a:p>
            <a:r>
              <a:rPr lang="en-US" dirty="0" err="1"/>
              <a:t>Ou</a:t>
            </a:r>
            <a:endParaRPr lang="en-US" dirty="0"/>
          </a:p>
          <a:p>
            <a:pPr lvl="1"/>
            <a:r>
              <a:rPr lang="en-US" dirty="0"/>
              <a:t>Select * from </a:t>
            </a:r>
            <a:r>
              <a:rPr lang="en-US" dirty="0" err="1"/>
              <a:t>tb_cliente</a:t>
            </a:r>
            <a:r>
              <a:rPr lang="en-US" dirty="0"/>
              <a:t> where </a:t>
            </a:r>
            <a:r>
              <a:rPr lang="en-US" dirty="0" err="1"/>
              <a:t>codigo</a:t>
            </a:r>
            <a:r>
              <a:rPr lang="en-US" dirty="0"/>
              <a:t>=123</a:t>
            </a:r>
          </a:p>
        </p:txBody>
      </p:sp>
    </p:spTree>
    <p:extLst>
      <p:ext uri="{BB962C8B-B14F-4D97-AF65-F5344CB8AC3E}">
        <p14:creationId xmlns:p14="http://schemas.microsoft.com/office/powerpoint/2010/main" val="3454401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A0126-330A-45FB-9F36-B408A15A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Condição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2FA3B-9E4C-4361-BCC1-33E12561BF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116832"/>
          </a:xfrm>
        </p:spPr>
        <p:txBody>
          <a:bodyPr/>
          <a:lstStyle/>
          <a:p>
            <a:r>
              <a:rPr lang="en-US" b="1" dirty="0" err="1"/>
              <a:t>Operadores</a:t>
            </a:r>
            <a:r>
              <a:rPr lang="en-US" b="1" dirty="0"/>
              <a:t> </a:t>
            </a:r>
            <a:r>
              <a:rPr lang="en-US" b="1" dirty="0" err="1"/>
              <a:t>Relacionais</a:t>
            </a:r>
            <a:r>
              <a:rPr lang="en-US" b="1" dirty="0"/>
              <a:t> </a:t>
            </a:r>
            <a:endParaRPr lang="en-US" dirty="0"/>
          </a:p>
          <a:p>
            <a:pPr lvl="1"/>
            <a:r>
              <a:rPr lang="pt-BR" dirty="0"/>
              <a:t>Quando tivermos mais de uma condição lógica em um comando SQL, precisaremos utilizar os operadores relacionais para compor a expressão: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603E3-0747-4E69-86A5-8DC448FFE54D}"/>
              </a:ext>
            </a:extLst>
          </p:cNvPr>
          <p:cNvSpPr/>
          <p:nvPr/>
        </p:nvSpPr>
        <p:spPr>
          <a:xfrm>
            <a:off x="1210086" y="3933056"/>
            <a:ext cx="67238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Operador	Descrição</a:t>
            </a:r>
          </a:p>
          <a:p>
            <a:r>
              <a:rPr lang="pt-BR" dirty="0"/>
              <a:t>AND		E – Quando as duas condições forem verdadeiras</a:t>
            </a:r>
          </a:p>
          <a:p>
            <a:r>
              <a:rPr lang="pt-BR" dirty="0"/>
              <a:t>OR		OU – Quando uma das condições for verdadeira</a:t>
            </a:r>
          </a:p>
          <a:p>
            <a:r>
              <a:rPr lang="pt-BR" dirty="0"/>
              <a:t>NOT		Não – Inverte uma condição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204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Condição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Exemplo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Select * from </a:t>
            </a:r>
            <a:r>
              <a:rPr lang="en-US" dirty="0" err="1"/>
              <a:t>tb_cliente</a:t>
            </a:r>
            <a:r>
              <a:rPr lang="en-US" dirty="0"/>
              <a:t> where </a:t>
            </a:r>
            <a:r>
              <a:rPr lang="en-US" dirty="0" err="1"/>
              <a:t>idade</a:t>
            </a:r>
            <a:r>
              <a:rPr lang="en-US" dirty="0"/>
              <a:t> &gt;= 18 and </a:t>
            </a:r>
            <a:r>
              <a:rPr lang="en-US" dirty="0" err="1"/>
              <a:t>cidade</a:t>
            </a:r>
            <a:r>
              <a:rPr lang="en-US" dirty="0"/>
              <a:t>=’</a:t>
            </a:r>
            <a:r>
              <a:rPr lang="en-US" dirty="0" err="1"/>
              <a:t>cotia</a:t>
            </a:r>
            <a:r>
              <a:rPr lang="en-US" dirty="0"/>
              <a:t>’</a:t>
            </a:r>
          </a:p>
          <a:p>
            <a:r>
              <a:rPr lang="en-US" dirty="0" err="1"/>
              <a:t>Ou</a:t>
            </a:r>
            <a:endParaRPr lang="en-US" dirty="0"/>
          </a:p>
          <a:p>
            <a:pPr lvl="1"/>
            <a:r>
              <a:rPr lang="en-US" dirty="0"/>
              <a:t>Select * from </a:t>
            </a:r>
            <a:r>
              <a:rPr lang="en-US" dirty="0" err="1"/>
              <a:t>tb_cliente</a:t>
            </a:r>
            <a:r>
              <a:rPr lang="en-US" dirty="0"/>
              <a:t> where </a:t>
            </a:r>
            <a:r>
              <a:rPr lang="en-US" dirty="0" err="1"/>
              <a:t>codigo</a:t>
            </a:r>
            <a:r>
              <a:rPr lang="en-US" dirty="0"/>
              <a:t>=123 or </a:t>
            </a:r>
            <a:r>
              <a:rPr lang="en-US" dirty="0" err="1"/>
              <a:t>Codigo</a:t>
            </a:r>
            <a:r>
              <a:rPr lang="en-US" dirty="0"/>
              <a:t>=567</a:t>
            </a:r>
          </a:p>
          <a:p>
            <a:r>
              <a:rPr lang="en-US" dirty="0" err="1"/>
              <a:t>Ou</a:t>
            </a:r>
            <a:endParaRPr lang="en-US" dirty="0"/>
          </a:p>
          <a:p>
            <a:pPr lvl="1"/>
            <a:r>
              <a:rPr lang="en-US" dirty="0"/>
              <a:t>Select * from </a:t>
            </a:r>
            <a:r>
              <a:rPr lang="en-US" dirty="0" err="1"/>
              <a:t>tb_cliente</a:t>
            </a:r>
            <a:r>
              <a:rPr lang="en-US" dirty="0"/>
              <a:t> where not </a:t>
            </a:r>
            <a:r>
              <a:rPr lang="en-US" dirty="0" err="1"/>
              <a:t>codigo</a:t>
            </a:r>
            <a:r>
              <a:rPr lang="en-US" dirty="0"/>
              <a:t>=123</a:t>
            </a:r>
          </a:p>
        </p:txBody>
      </p:sp>
    </p:spTree>
    <p:extLst>
      <p:ext uri="{BB962C8B-B14F-4D97-AF65-F5344CB8AC3E}">
        <p14:creationId xmlns:p14="http://schemas.microsoft.com/office/powerpoint/2010/main" val="797320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Ordenação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Para ordenar o resultado de uma consulta utilizamos a clausula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: </a:t>
            </a:r>
          </a:p>
          <a:p>
            <a:endParaRPr lang="pt-BR" dirty="0"/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&lt;SELECT CAMPO1,CAMPO2,...&gt; </a:t>
            </a:r>
          </a:p>
          <a:p>
            <a:pPr lvl="1"/>
            <a:r>
              <a:rPr lang="en-US" dirty="0"/>
              <a:t>&lt;FROM TABELA1,TABELA2,...&gt; </a:t>
            </a:r>
          </a:p>
          <a:p>
            <a:pPr lvl="1"/>
            <a:r>
              <a:rPr lang="en-US" dirty="0"/>
              <a:t>[ORDER BY &lt;CAMPO,...&gt;[DESC]] </a:t>
            </a:r>
          </a:p>
          <a:p>
            <a:r>
              <a:rPr lang="en-US" dirty="0" err="1"/>
              <a:t>Aonde</a:t>
            </a:r>
            <a:r>
              <a:rPr lang="en-US" dirty="0"/>
              <a:t>: </a:t>
            </a:r>
          </a:p>
          <a:p>
            <a:pPr lvl="1"/>
            <a:r>
              <a:rPr lang="pt-BR" dirty="0"/>
              <a:t>&lt;CAMPO,...&gt; Lista dos campos que ordenaram a consulta. </a:t>
            </a:r>
          </a:p>
          <a:p>
            <a:pPr lvl="1"/>
            <a:r>
              <a:rPr lang="pt-BR" dirty="0"/>
              <a:t>[DESC] Por padrão a ordenação e crescente, mas com o parâmetro DESC a ordenação ficara decrescente.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591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SQL DQL - Ordenação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nome,email</a:t>
            </a:r>
            <a:r>
              <a:rPr lang="en-US" dirty="0"/>
              <a:t> from </a:t>
            </a:r>
            <a:r>
              <a:rPr lang="en-US" dirty="0" err="1"/>
              <a:t>cliente</a:t>
            </a:r>
            <a:r>
              <a:rPr lang="en-US" dirty="0"/>
              <a:t> where </a:t>
            </a:r>
            <a:r>
              <a:rPr lang="en-US" dirty="0" err="1"/>
              <a:t>idade</a:t>
            </a:r>
            <a:r>
              <a:rPr lang="en-US" dirty="0"/>
              <a:t>&gt;=18 order by name </a:t>
            </a:r>
          </a:p>
          <a:p>
            <a:r>
              <a:rPr lang="en-US" b="1" dirty="0" err="1"/>
              <a:t>ou</a:t>
            </a:r>
            <a:r>
              <a:rPr lang="en-US" b="1" dirty="0"/>
              <a:t>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nome,email</a:t>
            </a:r>
            <a:r>
              <a:rPr lang="en-US" dirty="0"/>
              <a:t> from </a:t>
            </a:r>
            <a:r>
              <a:rPr lang="en-US" dirty="0" err="1"/>
              <a:t>cliente</a:t>
            </a:r>
            <a:r>
              <a:rPr lang="en-US" dirty="0"/>
              <a:t> where </a:t>
            </a:r>
            <a:r>
              <a:rPr lang="en-US" dirty="0" err="1"/>
              <a:t>idade</a:t>
            </a:r>
            <a:r>
              <a:rPr lang="en-US" dirty="0"/>
              <a:t>&gt;=18 order by </a:t>
            </a:r>
            <a:r>
              <a:rPr lang="en-US" dirty="0" err="1"/>
              <a:t>idade</a:t>
            </a:r>
            <a:r>
              <a:rPr lang="en-US" dirty="0"/>
              <a:t> desc </a:t>
            </a:r>
          </a:p>
        </p:txBody>
      </p:sp>
    </p:spTree>
    <p:extLst>
      <p:ext uri="{BB962C8B-B14F-4D97-AF65-F5344CB8AC3E}">
        <p14:creationId xmlns:p14="http://schemas.microsoft.com/office/powerpoint/2010/main" val="939872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600" dirty="0"/>
              <a:t>SQL DQL - Agrupamento e sumarizações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Por muitas vezes em uma consulta a informação requisitada e a composição e a sumarização de registros. Através do agrupamento podemos obter totais, medias, menores valores e maiores valores de um conjunto de dados.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26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600" dirty="0"/>
              <a:t>SQL DQL - Agrupamento e sumarizações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/>
              <a:t>Agrupando</a:t>
            </a:r>
            <a:r>
              <a:rPr lang="en-US" b="1" dirty="0"/>
              <a:t> dados </a:t>
            </a:r>
            <a:endParaRPr lang="en-US" dirty="0"/>
          </a:p>
          <a:p>
            <a:pPr lvl="1"/>
            <a:r>
              <a:rPr lang="pt-BR" dirty="0"/>
              <a:t>Para agrupar dados utilizamos o comando </a:t>
            </a:r>
            <a:r>
              <a:rPr lang="pt-BR" b="1" dirty="0"/>
              <a:t>GROUP BY </a:t>
            </a:r>
            <a:r>
              <a:rPr lang="pt-BR" dirty="0"/>
              <a:t>este comando agrupo um conjunto de dados com uma determinada característica. </a:t>
            </a:r>
          </a:p>
          <a:p>
            <a:r>
              <a:rPr lang="en-US" sz="3200" b="1" dirty="0" err="1"/>
              <a:t>Sintaxe</a:t>
            </a:r>
            <a:r>
              <a:rPr lang="en-US" sz="3200" b="1" dirty="0"/>
              <a:t>: </a:t>
            </a:r>
            <a:endParaRPr lang="en-US" sz="3200" dirty="0"/>
          </a:p>
          <a:p>
            <a:pPr lvl="1"/>
            <a:r>
              <a:rPr lang="en-US" sz="2900" dirty="0"/>
              <a:t>&lt;GROUP BY&gt;&lt;TABELA&gt;[WHERE &lt;CONDICAO&gt;] </a:t>
            </a:r>
          </a:p>
          <a:p>
            <a:r>
              <a:rPr lang="en-US" sz="3200" b="1" dirty="0" err="1"/>
              <a:t>Exemplo</a:t>
            </a:r>
            <a:r>
              <a:rPr lang="en-US" sz="3200" b="1" dirty="0"/>
              <a:t>: </a:t>
            </a:r>
            <a:endParaRPr lang="en-US" sz="3200" dirty="0"/>
          </a:p>
          <a:p>
            <a:pPr lvl="1"/>
            <a:r>
              <a:rPr lang="en-US" sz="2900" dirty="0"/>
              <a:t>Select </a:t>
            </a:r>
            <a:r>
              <a:rPr lang="en-US" sz="2900" dirty="0" err="1"/>
              <a:t>filial,count</a:t>
            </a:r>
            <a:r>
              <a:rPr lang="en-US" sz="2900" dirty="0"/>
              <a:t>(</a:t>
            </a:r>
            <a:r>
              <a:rPr lang="en-US" sz="2900" dirty="0" err="1"/>
              <a:t>codigo</a:t>
            </a:r>
            <a:r>
              <a:rPr lang="en-US" sz="2900" dirty="0"/>
              <a:t>) from </a:t>
            </a:r>
            <a:r>
              <a:rPr lang="en-US" sz="2900" dirty="0" err="1"/>
              <a:t>pedido</a:t>
            </a:r>
            <a:r>
              <a:rPr lang="en-US" sz="2900" dirty="0"/>
              <a:t> </a:t>
            </a:r>
            <a:r>
              <a:rPr lang="en-US" sz="3200" dirty="0"/>
              <a:t>Group by filial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39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BB24-9E82-4C5F-982C-F30285A04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600" dirty="0"/>
              <a:t>SQL DQL - Comandos de sumarização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A6F7-A01B-41B5-B102-824B08F53F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Count </a:t>
            </a:r>
            <a:endParaRPr lang="en-US" dirty="0"/>
          </a:p>
          <a:p>
            <a:pPr lvl="1"/>
            <a:r>
              <a:rPr lang="pt-BR" dirty="0"/>
              <a:t>O comando </a:t>
            </a:r>
            <a:r>
              <a:rPr lang="pt-BR" dirty="0" err="1"/>
              <a:t>count</a:t>
            </a:r>
            <a:r>
              <a:rPr lang="pt-BR" dirty="0"/>
              <a:t> conta a ocorrência de um campos dentro de um agrupamento. </a:t>
            </a:r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COUNT(&lt;CAMPO&gt;) </a:t>
            </a:r>
          </a:p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filial,count</a:t>
            </a:r>
            <a:r>
              <a:rPr lang="en-US" dirty="0"/>
              <a:t>(</a:t>
            </a:r>
            <a:r>
              <a:rPr lang="en-US" dirty="0" err="1"/>
              <a:t>codigo</a:t>
            </a:r>
            <a:r>
              <a:rPr lang="en-US" dirty="0"/>
              <a:t>) from </a:t>
            </a:r>
            <a:r>
              <a:rPr lang="en-US" dirty="0" err="1"/>
              <a:t>pedido</a:t>
            </a:r>
            <a:r>
              <a:rPr lang="en-US" dirty="0"/>
              <a:t> Group by </a:t>
            </a:r>
            <a:r>
              <a:rPr lang="en-US" dirty="0" err="1"/>
              <a:t>vendedor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388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C728-E178-4E29-9CEE-7C39915A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SQL DQL - Comandos de sumarização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5EFB-49F2-4841-A64D-776C32EB0B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Sum </a:t>
            </a:r>
            <a:endParaRPr lang="en-US" dirty="0"/>
          </a:p>
          <a:p>
            <a:pPr lvl="1"/>
            <a:r>
              <a:rPr lang="pt-BR" dirty="0"/>
              <a:t>O comando SUM soma todas as ocorrências de um campos dentro de um agrupamento. </a:t>
            </a:r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SUM(&lt;CAMPO&gt;) </a:t>
            </a:r>
          </a:p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filial,SUM</a:t>
            </a:r>
            <a:r>
              <a:rPr lang="en-US" dirty="0"/>
              <a:t>(VALOR) from </a:t>
            </a:r>
            <a:r>
              <a:rPr lang="en-US" dirty="0" err="1"/>
              <a:t>pedido</a:t>
            </a:r>
            <a:r>
              <a:rPr lang="en-US" dirty="0"/>
              <a:t> Group by filial </a:t>
            </a:r>
          </a:p>
        </p:txBody>
      </p:sp>
    </p:spTree>
    <p:extLst>
      <p:ext uri="{BB962C8B-B14F-4D97-AF65-F5344CB8AC3E}">
        <p14:creationId xmlns:p14="http://schemas.microsoft.com/office/powerpoint/2010/main" val="1318308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C728-E178-4E29-9CEE-7C39915A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SQL DQL - Comandos de sumarização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5EFB-49F2-4841-A64D-776C32EB0B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Max </a:t>
            </a:r>
            <a:endParaRPr lang="en-US" dirty="0"/>
          </a:p>
          <a:p>
            <a:pPr lvl="1"/>
            <a:r>
              <a:rPr lang="pt-BR" dirty="0"/>
              <a:t>O comando MAX traz a maior ocorrência de um valor de campo dentro de um agrupamento. </a:t>
            </a:r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MAX(&lt;CAMPO&gt;) </a:t>
            </a:r>
          </a:p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filial,MAX</a:t>
            </a:r>
            <a:r>
              <a:rPr lang="en-US" dirty="0"/>
              <a:t>(VALOR) from </a:t>
            </a:r>
            <a:r>
              <a:rPr lang="en-US" dirty="0" err="1"/>
              <a:t>pedido</a:t>
            </a:r>
            <a:r>
              <a:rPr lang="en-US" dirty="0"/>
              <a:t> Group by filial </a:t>
            </a:r>
          </a:p>
        </p:txBody>
      </p:sp>
    </p:spTree>
    <p:extLst>
      <p:ext uri="{BB962C8B-B14F-4D97-AF65-F5344CB8AC3E}">
        <p14:creationId xmlns:p14="http://schemas.microsoft.com/office/powerpoint/2010/main" val="3621976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C728-E178-4E29-9CEE-7C39915A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SQL DQL - Comandos de sumarização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5EFB-49F2-4841-A64D-776C32EB0B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Min </a:t>
            </a:r>
            <a:endParaRPr lang="en-US" dirty="0"/>
          </a:p>
          <a:p>
            <a:pPr lvl="1"/>
            <a:r>
              <a:rPr lang="pt-BR" dirty="0"/>
              <a:t>O comando MIN traz a menor ocorrência de um valor de campo dentro de um agrupamento. </a:t>
            </a:r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MIN(&lt;CAMPO&gt;) </a:t>
            </a:r>
          </a:p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filial,MIN</a:t>
            </a:r>
            <a:r>
              <a:rPr lang="en-US" dirty="0"/>
              <a:t>(VALOR) from </a:t>
            </a:r>
            <a:r>
              <a:rPr lang="en-US" dirty="0" err="1"/>
              <a:t>pedido</a:t>
            </a:r>
            <a:r>
              <a:rPr lang="en-US" dirty="0"/>
              <a:t> Group by filial </a:t>
            </a:r>
          </a:p>
        </p:txBody>
      </p:sp>
    </p:spTree>
    <p:extLst>
      <p:ext uri="{BB962C8B-B14F-4D97-AF65-F5344CB8AC3E}">
        <p14:creationId xmlns:p14="http://schemas.microsoft.com/office/powerpoint/2010/main" val="320374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C728-E178-4E29-9CEE-7C39915A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SQL DQL - Comandos de sumarização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5EFB-49F2-4841-A64D-776C32EB0B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Average </a:t>
            </a:r>
            <a:endParaRPr lang="en-US" dirty="0"/>
          </a:p>
          <a:p>
            <a:pPr lvl="1"/>
            <a:r>
              <a:rPr lang="pt-BR" dirty="0"/>
              <a:t>O comando AVERAGE realiza a media de um valor de campo dentro de um agrupamento. </a:t>
            </a:r>
          </a:p>
          <a:p>
            <a:r>
              <a:rPr lang="en-US" b="1" dirty="0" err="1"/>
              <a:t>Sintaxe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MAX(&lt;CAMPO&gt;) </a:t>
            </a:r>
          </a:p>
          <a:p>
            <a:r>
              <a:rPr lang="en-US" b="1" dirty="0" err="1"/>
              <a:t>Exemplo</a:t>
            </a:r>
            <a:r>
              <a:rPr lang="en-US" b="1" dirty="0"/>
              <a:t>: </a:t>
            </a:r>
            <a:endParaRPr lang="en-US" dirty="0"/>
          </a:p>
          <a:p>
            <a:pPr lvl="1"/>
            <a:r>
              <a:rPr lang="en-US" dirty="0"/>
              <a:t>Select filial, AVERAGEMAXSUM(VALOR) from </a:t>
            </a:r>
            <a:r>
              <a:rPr lang="en-US" dirty="0" err="1"/>
              <a:t>pedido</a:t>
            </a:r>
            <a:r>
              <a:rPr lang="en-US"/>
              <a:t> Group </a:t>
            </a:r>
            <a:r>
              <a:rPr lang="en-US" dirty="0"/>
              <a:t>by filial </a:t>
            </a:r>
          </a:p>
        </p:txBody>
      </p:sp>
    </p:spTree>
    <p:extLst>
      <p:ext uri="{BB962C8B-B14F-4D97-AF65-F5344CB8AC3E}">
        <p14:creationId xmlns:p14="http://schemas.microsoft.com/office/powerpoint/2010/main" val="2503750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354</TotalTime>
  <Words>861</Words>
  <Application>Microsoft Office PowerPoint</Application>
  <PresentationFormat>On-screen Show (4:3)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Century Gothic</vt:lpstr>
      <vt:lpstr>Courier New</vt:lpstr>
      <vt:lpstr>Tw Cen MT</vt:lpstr>
      <vt:lpstr>Wingdings</vt:lpstr>
      <vt:lpstr>Wingdings 2</vt:lpstr>
      <vt:lpstr>Mediano</vt:lpstr>
      <vt:lpstr>Fatec</vt:lpstr>
      <vt:lpstr>Tipos de Comandos</vt:lpstr>
      <vt:lpstr>SQL DQL - Linguagem de consulta de Dados</vt:lpstr>
      <vt:lpstr>SQL DQL - Comando Select</vt:lpstr>
      <vt:lpstr>SQL DQL - Comando Select</vt:lpstr>
      <vt:lpstr>SQL DQL - Comando Select</vt:lpstr>
      <vt:lpstr>SQL DQL - Alias</vt:lpstr>
      <vt:lpstr>SQL DQL - Alias</vt:lpstr>
      <vt:lpstr>SQL DQL - Condição</vt:lpstr>
      <vt:lpstr>SQL DQL - Condição</vt:lpstr>
      <vt:lpstr>SQL DQL - Condição</vt:lpstr>
      <vt:lpstr>SQL DQL - Condição</vt:lpstr>
      <vt:lpstr>SQL DQL - Ordenação</vt:lpstr>
      <vt:lpstr>SQL DQL - Ordenação</vt:lpstr>
      <vt:lpstr>SQL DQL - Agrupamento e sumarizações</vt:lpstr>
      <vt:lpstr>SQL DQL - Agrupamento e sumarizações</vt:lpstr>
      <vt:lpstr>SQL DQL - Comandos de sumarização</vt:lpstr>
      <vt:lpstr>SQL DQL - Comandos de sumarização</vt:lpstr>
      <vt:lpstr>SQL DQL - Comandos de sumarização</vt:lpstr>
      <vt:lpstr>SQL DQL - Comandos de sumarização</vt:lpstr>
      <vt:lpstr>SQL DQL - Comandos de sumarização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Glaser, Norton Barros</cp:lastModifiedBy>
  <cp:revision>54</cp:revision>
  <dcterms:created xsi:type="dcterms:W3CDTF">2014-01-27T15:41:35Z</dcterms:created>
  <dcterms:modified xsi:type="dcterms:W3CDTF">2021-03-16T11:28:24Z</dcterms:modified>
</cp:coreProperties>
</file>