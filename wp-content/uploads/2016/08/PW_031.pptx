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3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3" r:id="rId3"/>
    <p:sldId id="257" r:id="rId4"/>
    <p:sldId id="258" r:id="rId5"/>
    <p:sldId id="260" r:id="rId6"/>
    <p:sldId id="262" r:id="rId7"/>
    <p:sldId id="261" r:id="rId8"/>
    <p:sldId id="265" r:id="rId9"/>
    <p:sldId id="259" r:id="rId10"/>
    <p:sldId id="270" r:id="rId11"/>
    <p:sldId id="264" r:id="rId12"/>
    <p:sldId id="266" r:id="rId13"/>
    <p:sldId id="267" r:id="rId14"/>
    <p:sldId id="271" r:id="rId15"/>
    <p:sldId id="268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183" autoAdjust="0"/>
    <p:restoredTop sz="94660"/>
  </p:normalViewPr>
  <p:slideViewPr>
    <p:cSldViewPr>
      <p:cViewPr varScale="1">
        <p:scale>
          <a:sx n="68" d="100"/>
          <a:sy n="68" d="100"/>
        </p:scale>
        <p:origin x="-52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ângulo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tângulo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ítulo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2362200" y="6050037"/>
            <a:ext cx="6705600" cy="685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600">
                <a:solidFill>
                  <a:srgbClr val="FFFFFF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pt-BR" smtClean="0"/>
              <a:t>Clique para editar o estilo do subtítulo mestre</a:t>
            </a:r>
            <a:endParaRPr kumimoji="0" lang="en-US"/>
          </a:p>
        </p:txBody>
      </p:sp>
      <p:sp>
        <p:nvSpPr>
          <p:cNvPr id="28" name="Espaço Reservado para Data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17" name="Espaço Reservado para Rodapé 16"/>
          <p:cNvSpPr>
            <a:spLocks noGrp="1"/>
          </p:cNvSpPr>
          <p:nvPr>
            <p:ph type="ftr" sz="quarter" idx="11"/>
          </p:nvPr>
        </p:nvSpPr>
        <p:spPr>
          <a:xfrm>
            <a:off x="2085393" y="236538"/>
            <a:ext cx="58674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29" name="Espaço Reservado para Número de Slide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12648" y="228600"/>
            <a:ext cx="8153400" cy="990600"/>
          </a:xfrm>
        </p:spPr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8" name="Espaço Reservado para Conteúdo 7"/>
          <p:cNvSpPr>
            <a:spLocks noGrp="1"/>
          </p:cNvSpPr>
          <p:nvPr>
            <p:ph sz="quarter" idx="1"/>
          </p:nvPr>
        </p:nvSpPr>
        <p:spPr>
          <a:xfrm>
            <a:off x="612648" y="1600200"/>
            <a:ext cx="8153400" cy="44958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Cabeçalho da Seção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371600" y="2743200"/>
            <a:ext cx="7123113" cy="1673225"/>
          </a:xfrm>
        </p:spPr>
        <p:txBody>
          <a:bodyPr anchor="t"/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7" name="Retângulo 6"/>
          <p:cNvSpPr/>
          <p:nvPr/>
        </p:nvSpPr>
        <p:spPr bwMode="white">
          <a:xfrm>
            <a:off x="0" y="1524000"/>
            <a:ext cx="9144000" cy="114300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600200"/>
            <a:ext cx="1295400" cy="990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1371600" y="1600200"/>
            <a:ext cx="7772400" cy="990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71600" y="1600200"/>
            <a:ext cx="7620000" cy="990600"/>
          </a:xfrm>
        </p:spPr>
        <p:txBody>
          <a:bodyPr/>
          <a:lstStyle>
            <a:lvl1pPr algn="l">
              <a:buNone/>
              <a:defRPr sz="4400" b="0" cap="none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1752600"/>
            <a:ext cx="1295400" cy="701676"/>
          </a:xfrm>
        </p:spPr>
        <p:txBody>
          <a:bodyPr>
            <a:noAutofit/>
          </a:bodyPr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8" name="Espaço Reservado para Data 7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10" name="Espaço Reservado para Número de Slide 9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2" name="Espaço Reservado para Rodapé 11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533400" y="273050"/>
            <a:ext cx="8153400" cy="86995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Espaço Reservado para Conteúdo 10"/>
          <p:cNvSpPr>
            <a:spLocks noGrp="1"/>
          </p:cNvSpPr>
          <p:nvPr>
            <p:ph sz="quarter" idx="2"/>
          </p:nvPr>
        </p:nvSpPr>
        <p:spPr>
          <a:xfrm>
            <a:off x="609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3" name="Espaço Reservado para Conteúdo 12"/>
          <p:cNvSpPr>
            <a:spLocks noGrp="1"/>
          </p:cNvSpPr>
          <p:nvPr>
            <p:ph sz="quarter" idx="4"/>
          </p:nvPr>
        </p:nvSpPr>
        <p:spPr>
          <a:xfrm>
            <a:off x="4800600" y="2438400"/>
            <a:ext cx="3886200" cy="35814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10" name="Espaço Reservado para Data 9"/>
          <p:cNvSpPr>
            <a:spLocks noGrp="1"/>
          </p:cNvSpPr>
          <p:nvPr>
            <p:ph type="dt" sz="half" idx="15"/>
          </p:nvPr>
        </p:nvSpPr>
        <p:spPr/>
        <p:txBody>
          <a:bodyPr rtlCol="0"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12" name="Espaço Reservado para Número de Slide 11"/>
          <p:cNvSpPr>
            <a:spLocks noGrp="1"/>
          </p:cNvSpPr>
          <p:nvPr>
            <p:ph type="sldNum" sz="quarter" idx="16"/>
          </p:nvPr>
        </p:nvSpPr>
        <p:spPr/>
        <p:txBody>
          <a:bodyPr rtlCol="0"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7"/>
          </p:nvPr>
        </p:nvSpPr>
        <p:spPr/>
        <p:txBody>
          <a:bodyPr rtlCol="0"/>
          <a:lstStyle/>
          <a:p>
            <a:endParaRPr lang="pt-BR"/>
          </a:p>
        </p:txBody>
      </p:sp>
      <p:sp>
        <p:nvSpPr>
          <p:cNvPr id="16" name="Espaço Reservado para Texto 15"/>
          <p:cNvSpPr>
            <a:spLocks noGrp="1"/>
          </p:cNvSpPr>
          <p:nvPr>
            <p:ph type="body" sz="quarter" idx="1"/>
          </p:nvPr>
        </p:nvSpPr>
        <p:spPr>
          <a:xfrm>
            <a:off x="609600" y="1752600"/>
            <a:ext cx="3886200" cy="640080"/>
          </a:xfrm>
          <a:solidFill>
            <a:schemeClr val="accent2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15" name="Espaço Reservado para Texto 14"/>
          <p:cNvSpPr>
            <a:spLocks noGrp="1"/>
          </p:cNvSpPr>
          <p:nvPr>
            <p:ph type="body" sz="quarter" idx="3"/>
          </p:nvPr>
        </p:nvSpPr>
        <p:spPr>
          <a:xfrm>
            <a:off x="4800600" y="1752600"/>
            <a:ext cx="3886200" cy="640080"/>
          </a:xfrm>
          <a:solidFill>
            <a:schemeClr val="accent4"/>
          </a:solidFill>
        </p:spPr>
        <p:txBody>
          <a:bodyPr rtlCol="0" anchor="ctr"/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0" y="6248400"/>
            <a:ext cx="5334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8077200" cy="869950"/>
          </a:xfrm>
        </p:spPr>
        <p:txBody>
          <a:bodyPr anchor="ctr"/>
          <a:lstStyle>
            <a:lvl1pPr algn="l">
              <a:buNone/>
              <a:defRPr sz="4400" b="0"/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2"/>
          </p:nvPr>
        </p:nvSpPr>
        <p:spPr>
          <a:xfrm>
            <a:off x="609600" y="1752600"/>
            <a:ext cx="1600200" cy="4343400"/>
          </a:xfrm>
          <a:ln w="50800" cap="sq" cmpd="dbl" algn="ctr">
            <a:solidFill>
              <a:schemeClr val="accent2"/>
            </a:solidFill>
            <a:prstDash val="solid"/>
            <a:miter lim="800000"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lIns="137160" tIns="182880" rIns="137160" bIns="91440"/>
          <a:lstStyle>
            <a:lvl1pPr marL="0" indent="0">
              <a:spcAft>
                <a:spcPts val="1000"/>
              </a:spcAft>
              <a:buNone/>
              <a:defRPr sz="18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9" name="Espaço Reservado para Conteúdo 8"/>
          <p:cNvSpPr>
            <a:spLocks noGrp="1"/>
          </p:cNvSpPr>
          <p:nvPr>
            <p:ph sz="quarter" idx="1"/>
          </p:nvPr>
        </p:nvSpPr>
        <p:spPr>
          <a:xfrm>
            <a:off x="2362200" y="1752600"/>
            <a:ext cx="6400800" cy="4419600"/>
          </a:xfrm>
        </p:spPr>
        <p:txBody>
          <a:bodyPr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m com Legenda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600200" y="5486400"/>
            <a:ext cx="7315200" cy="685800"/>
          </a:xfrm>
        </p:spPr>
        <p:txBody>
          <a:bodyPr/>
          <a:lstStyle>
            <a:lvl1pPr marL="0" indent="0">
              <a:buFontTx/>
              <a:buNone/>
              <a:defRPr sz="1700"/>
            </a:lvl1pPr>
            <a:lvl2pPr>
              <a:buFontTx/>
              <a:buNone/>
              <a:defRPr sz="1200"/>
            </a:lvl2pPr>
            <a:lvl3pPr>
              <a:buFontTx/>
              <a:buNone/>
              <a:defRPr sz="1000"/>
            </a:lvl3pPr>
            <a:lvl4pPr>
              <a:buFontTx/>
              <a:buNone/>
              <a:defRPr sz="900"/>
            </a:lvl4pPr>
            <a:lvl5pPr>
              <a:buFontTx/>
              <a:buNone/>
              <a:defRPr sz="900"/>
            </a:lvl5pPr>
          </a:lstStyle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</p:txBody>
      </p:sp>
      <p:sp>
        <p:nvSpPr>
          <p:cNvPr id="8" name="Retângulo 7"/>
          <p:cNvSpPr/>
          <p:nvPr/>
        </p:nvSpPr>
        <p:spPr bwMode="white">
          <a:xfrm>
            <a:off x="-9144" y="4572000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-9144" y="4663440"/>
            <a:ext cx="1463040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tângulo 9"/>
          <p:cNvSpPr/>
          <p:nvPr/>
        </p:nvSpPr>
        <p:spPr>
          <a:xfrm>
            <a:off x="1545336" y="4654296"/>
            <a:ext cx="7598664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600200" y="4648200"/>
            <a:ext cx="7315200" cy="685800"/>
          </a:xfrm>
        </p:spPr>
        <p:txBody>
          <a:bodyPr anchor="ctr"/>
          <a:lstStyle>
            <a:lvl1pPr algn="l">
              <a:buNone/>
              <a:defRPr sz="2800" b="0">
                <a:solidFill>
                  <a:srgbClr val="FFFFFF"/>
                </a:solidFill>
              </a:defRPr>
            </a:lvl1pPr>
          </a:lstStyle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1" name="Retângulo 10"/>
          <p:cNvSpPr/>
          <p:nvPr/>
        </p:nvSpPr>
        <p:spPr bwMode="white">
          <a:xfrm>
            <a:off x="1447800" y="0"/>
            <a:ext cx="100584" cy="6867144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Espaço Reservado para Data 11"/>
          <p:cNvSpPr>
            <a:spLocks noGrp="1"/>
          </p:cNvSpPr>
          <p:nvPr>
            <p:ph type="dt" sz="half" idx="10"/>
          </p:nvPr>
        </p:nvSpPr>
        <p:spPr>
          <a:xfrm>
            <a:off x="6248400" y="6248400"/>
            <a:ext cx="2667000" cy="365125"/>
          </a:xfrm>
        </p:spPr>
        <p:txBody>
          <a:bodyPr rtlCol="0"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13" name="Espaço Reservado para Número de Slide 12"/>
          <p:cNvSpPr>
            <a:spLocks noGrp="1"/>
          </p:cNvSpPr>
          <p:nvPr>
            <p:ph type="sldNum" sz="quarter" idx="11"/>
          </p:nvPr>
        </p:nvSpPr>
        <p:spPr>
          <a:xfrm>
            <a:off x="0" y="4667249"/>
            <a:ext cx="1447800" cy="663578"/>
          </a:xfrm>
        </p:spPr>
        <p:txBody>
          <a:bodyPr rtlCol="0"/>
          <a:lstStyle>
            <a:lvl1pPr>
              <a:defRPr sz="2800"/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  <p:sp>
        <p:nvSpPr>
          <p:cNvPr id="14" name="Espaço Reservado para Rodapé 13"/>
          <p:cNvSpPr>
            <a:spLocks noGrp="1"/>
          </p:cNvSpPr>
          <p:nvPr>
            <p:ph type="ftr" sz="quarter" idx="12"/>
          </p:nvPr>
        </p:nvSpPr>
        <p:spPr>
          <a:xfrm>
            <a:off x="1600200" y="6248206"/>
            <a:ext cx="4572000" cy="365125"/>
          </a:xfrm>
        </p:spPr>
        <p:txBody>
          <a:bodyPr rtlCol="0"/>
          <a:lstStyle/>
          <a:p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560576" y="0"/>
            <a:ext cx="7583424" cy="4568952"/>
          </a:xfrm>
          <a:solidFill>
            <a:schemeClr val="accent1">
              <a:tint val="40000"/>
            </a:schemeClr>
          </a:solidFill>
          <a:ln>
            <a:noFill/>
          </a:ln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pt-BR" smtClean="0"/>
              <a:t>Clique no ícone para adicionar uma imagem</a:t>
            </a:r>
            <a:endParaRPr kumimoji="0" 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Título e texto verticais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553200" y="609600"/>
            <a:ext cx="2057400" cy="5516563"/>
          </a:xfrm>
        </p:spPr>
        <p:txBody>
          <a:bodyPr vert="eaVert"/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5562600" cy="5516564"/>
          </a:xfrm>
        </p:spPr>
        <p:txBody>
          <a:bodyPr vert="eaVert"/>
          <a:lstStyle/>
          <a:p>
            <a:pPr lvl="0" eaLnBrk="1" latinLnBrk="0" hangingPunct="1"/>
            <a:r>
              <a:rPr lang="pt-BR" smtClean="0"/>
              <a:t>Clique para editar os estilos do texto mestre</a:t>
            </a:r>
          </a:p>
          <a:p>
            <a:pPr lvl="1" eaLnBrk="1" latinLnBrk="0" hangingPunct="1"/>
            <a:r>
              <a:rPr lang="pt-BR" smtClean="0"/>
              <a:t>Segundo nível</a:t>
            </a:r>
          </a:p>
          <a:p>
            <a:pPr lvl="2" eaLnBrk="1" latinLnBrk="0" hangingPunct="1"/>
            <a:r>
              <a:rPr lang="pt-BR" smtClean="0"/>
              <a:t>Terceiro nível</a:t>
            </a:r>
          </a:p>
          <a:p>
            <a:pPr lvl="3" eaLnBrk="1" latinLnBrk="0" hangingPunct="1"/>
            <a:r>
              <a:rPr lang="pt-BR" smtClean="0"/>
              <a:t>Quarto nível</a:t>
            </a:r>
          </a:p>
          <a:p>
            <a:pPr lvl="4" eaLnBrk="1" latinLnBrk="0" hangingPunct="1"/>
            <a:r>
              <a:rPr lang="pt-BR" smtClean="0"/>
              <a:t>Quinto nível</a:t>
            </a:r>
            <a:endParaRPr kumimoji="0" lang="en-US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6553200" y="6248402"/>
            <a:ext cx="2209800" cy="365125"/>
          </a:xfrm>
        </p:spPr>
        <p:txBody>
          <a:bodyPr/>
          <a:lstStyle/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57201" y="6248207"/>
            <a:ext cx="5573483" cy="365125"/>
          </a:xfrm>
        </p:spPr>
        <p:txBody>
          <a:bodyPr/>
          <a:lstStyle/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6096318" y="0"/>
            <a:ext cx="320040" cy="6858000"/>
          </a:xfrm>
          <a:prstGeom prst="rect">
            <a:avLst/>
          </a:prstGeom>
          <a:solidFill>
            <a:srgbClr val="FFFFFF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6142038" y="609600"/>
            <a:ext cx="228600" cy="6248400"/>
          </a:xfrm>
          <a:prstGeom prst="rect">
            <a:avLst/>
          </a:prstGeom>
          <a:solidFill>
            <a:schemeClr val="accent1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6142038" y="0"/>
            <a:ext cx="228600" cy="533400"/>
          </a:xfrm>
          <a:prstGeom prst="rect">
            <a:avLst/>
          </a:prstGeom>
          <a:solidFill>
            <a:schemeClr val="accent2"/>
          </a:solidFill>
          <a:ln w="19050" cap="flat" cmpd="sng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 rot="5400000">
            <a:off x="5989638" y="144462"/>
            <a:ext cx="533400" cy="244476"/>
          </a:xfrm>
        </p:spPr>
        <p:txBody>
          <a:bodyPr/>
          <a:lstStyle/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pt-BR" smtClean="0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612648" y="1600200"/>
            <a:ext cx="8153400" cy="452628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 smtClean="0"/>
              <a:t>Clique para editar os estilos do texto mestre</a:t>
            </a:r>
          </a:p>
          <a:p>
            <a:pPr lvl="1" eaLnBrk="1" latinLnBrk="0" hangingPunct="1"/>
            <a:r>
              <a:rPr kumimoji="0" lang="pt-BR" smtClean="0"/>
              <a:t>Segundo nível</a:t>
            </a:r>
          </a:p>
          <a:p>
            <a:pPr lvl="2" eaLnBrk="1" latinLnBrk="0" hangingPunct="1"/>
            <a:r>
              <a:rPr kumimoji="0" lang="pt-BR" smtClean="0"/>
              <a:t>Terceiro nível</a:t>
            </a:r>
          </a:p>
          <a:p>
            <a:pPr lvl="3" eaLnBrk="1" latinLnBrk="0" hangingPunct="1"/>
            <a:r>
              <a:rPr kumimoji="0" lang="pt-BR" smtClean="0"/>
              <a:t>Quarto nível</a:t>
            </a:r>
          </a:p>
          <a:p>
            <a:pPr lvl="4" eaLnBrk="1" latinLnBrk="0" hangingPunct="1"/>
            <a:r>
              <a:rPr kumimoji="0" lang="pt-BR" smtClean="0"/>
              <a:t>Quinto nível</a:t>
            </a:r>
            <a:endParaRPr kumimoji="0" lang="en-US"/>
          </a:p>
        </p:txBody>
      </p:sp>
      <p:sp>
        <p:nvSpPr>
          <p:cNvPr id="14" name="Espaço Reservado para Data 13"/>
          <p:cNvSpPr>
            <a:spLocks noGrp="1"/>
          </p:cNvSpPr>
          <p:nvPr>
            <p:ph type="dt" sz="half" idx="2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1CF7A0D-7FF4-4F46-B081-A32AF4B8B65C}" type="datetimeFigureOut">
              <a:rPr lang="pt-BR" smtClean="0"/>
              <a:pPr/>
              <a:t>08/02/2014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3"/>
          </p:nvPr>
        </p:nvSpPr>
        <p:spPr>
          <a:xfrm>
            <a:off x="609600" y="6248206"/>
            <a:ext cx="5421083" cy="365125"/>
          </a:xfrm>
          <a:prstGeom prst="rect">
            <a:avLst/>
          </a:prstGeom>
        </p:spPr>
        <p:txBody>
          <a:bodyPr vert="horz" anchor="ctr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Retângulo 6"/>
          <p:cNvSpPr/>
          <p:nvPr/>
        </p:nvSpPr>
        <p:spPr bwMode="white">
          <a:xfrm>
            <a:off x="0" y="1234440"/>
            <a:ext cx="9144000" cy="320040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tângulo 7"/>
          <p:cNvSpPr/>
          <p:nvPr/>
        </p:nvSpPr>
        <p:spPr>
          <a:xfrm>
            <a:off x="0" y="1280160"/>
            <a:ext cx="533400" cy="228600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tângulo 8"/>
          <p:cNvSpPr/>
          <p:nvPr/>
        </p:nvSpPr>
        <p:spPr>
          <a:xfrm>
            <a:off x="590550" y="1280160"/>
            <a:ext cx="8553450" cy="228600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ço Reservado para Número de Slide 22"/>
          <p:cNvSpPr>
            <a:spLocks noGrp="1"/>
          </p:cNvSpPr>
          <p:nvPr>
            <p:ph type="sldNum" sz="quarter" idx="4"/>
          </p:nvPr>
        </p:nvSpPr>
        <p:spPr>
          <a:xfrm>
            <a:off x="0" y="1272222"/>
            <a:ext cx="533400" cy="244476"/>
          </a:xfrm>
          <a:prstGeom prst="rect">
            <a:avLst/>
          </a:prstGeom>
        </p:spPr>
        <p:txBody>
          <a:bodyPr vert="horz" anchor="ctr" anchorCtr="0">
            <a:normAutofit/>
          </a:bodyPr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D7A175FC-F445-433F-8D34-1D9310156DA2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44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20040" indent="-320040" algn="l" rtl="0" eaLnBrk="1" latinLnBrk="0" hangingPunct="1">
        <a:spcBef>
          <a:spcPts val="700"/>
        </a:spcBef>
        <a:buClr>
          <a:schemeClr val="accent2"/>
        </a:buClr>
        <a:buSzPct val="60000"/>
        <a:buFont typeface="Wingdings"/>
        <a:buChar char=""/>
        <a:defRPr kumimoji="0" sz="29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550"/>
        </a:spcBef>
        <a:buClr>
          <a:schemeClr val="accent1"/>
        </a:buClr>
        <a:buSzPct val="70000"/>
        <a:buFont typeface="Wingdings 2"/>
        <a:buChar char="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28600" algn="l" rtl="0" eaLnBrk="1" latinLnBrk="0" hangingPunct="1">
        <a:spcBef>
          <a:spcPts val="500"/>
        </a:spcBef>
        <a:buClr>
          <a:schemeClr val="accent2"/>
        </a:buClr>
        <a:buSzPct val="75000"/>
        <a:buFont typeface="Wingdings"/>
        <a:buChar char="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28600" algn="l" rtl="0" eaLnBrk="1" latinLnBrk="0" hangingPunct="1">
        <a:spcBef>
          <a:spcPts val="400"/>
        </a:spcBef>
        <a:buClr>
          <a:schemeClr val="accent3"/>
        </a:buClr>
        <a:buSzPct val="7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indent="-228600" algn="l" rtl="0" eaLnBrk="1" latinLnBrk="0" hangingPunct="1">
        <a:spcBef>
          <a:spcPts val="400"/>
        </a:spcBef>
        <a:buClr>
          <a:schemeClr val="accent4"/>
        </a:buClr>
        <a:buSzPct val="65000"/>
        <a:buFont typeface="Wingdings"/>
        <a:buChar char="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103120" indent="-228600" algn="l" rtl="0" eaLnBrk="1" latinLnBrk="0" hangingPunct="1">
        <a:spcBef>
          <a:spcPct val="20000"/>
        </a:spcBef>
        <a:buClr>
          <a:schemeClr val="accent1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377440" indent="-228600" algn="l" rtl="0" eaLnBrk="1" latinLnBrk="0" hangingPunct="1">
        <a:spcBef>
          <a:spcPct val="20000"/>
        </a:spcBef>
        <a:buClr>
          <a:schemeClr val="accent2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651760" indent="-228600" algn="l" rtl="0" eaLnBrk="1" latinLnBrk="0" hangingPunct="1">
        <a:spcBef>
          <a:spcPct val="20000"/>
        </a:spcBef>
        <a:buClr>
          <a:schemeClr val="accent3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926080" indent="-228600" algn="l" rtl="0" eaLnBrk="1" latinLnBrk="0" hangingPunct="1">
        <a:spcBef>
          <a:spcPct val="20000"/>
        </a:spcBef>
        <a:buClr>
          <a:schemeClr val="accent4"/>
        </a:buClr>
        <a:buFont typeface="Wingdings"/>
        <a:buChar char="§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Programação WEB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pt-BR" dirty="0" smtClean="0"/>
              <a:t>HTML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O que é 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Hyper</a:t>
            </a:r>
            <a:r>
              <a:rPr lang="pt-BR" dirty="0" smtClean="0"/>
              <a:t> </a:t>
            </a:r>
            <a:r>
              <a:rPr lang="pt-BR" dirty="0" err="1" smtClean="0"/>
              <a:t>Text</a:t>
            </a:r>
            <a:r>
              <a:rPr lang="pt-BR" dirty="0" smtClean="0"/>
              <a:t> Markup </a:t>
            </a:r>
            <a:r>
              <a:rPr lang="pt-BR" dirty="0" err="1" smtClean="0"/>
              <a:t>Language</a:t>
            </a:r>
            <a:r>
              <a:rPr lang="pt-BR" dirty="0" smtClean="0"/>
              <a:t> (Linguagem de formatação de </a:t>
            </a:r>
            <a:r>
              <a:rPr lang="pt-BR" dirty="0" err="1" smtClean="0"/>
              <a:t>Hiper-Texto</a:t>
            </a:r>
            <a:r>
              <a:rPr lang="pt-BR" dirty="0" smtClean="0"/>
              <a:t>)</a:t>
            </a:r>
          </a:p>
          <a:p>
            <a:r>
              <a:rPr lang="pt-BR" dirty="0" smtClean="0"/>
              <a:t>Linguagem de formatação para disseminação de conteúdo.</a:t>
            </a:r>
          </a:p>
          <a:p>
            <a:r>
              <a:rPr lang="pt-BR" dirty="0" smtClean="0"/>
              <a:t>Padrão nos navegadores utiliza o protocolo HTTP  do TCP/IP.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Características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Não e uma linguagem de programação, por este motivo não tem regras de sintaxe.</a:t>
            </a:r>
          </a:p>
          <a:p>
            <a:r>
              <a:rPr lang="pt-BR" dirty="0" smtClean="0"/>
              <a:t>Ela é interpretada pelo navegador em tempo de execução</a:t>
            </a:r>
          </a:p>
          <a:p>
            <a:r>
              <a:rPr lang="pt-BR" dirty="0" smtClean="0"/>
              <a:t>Utiliza a tecnologia CSS para auxiliar a formatação padronizada entre página.</a:t>
            </a:r>
          </a:p>
          <a:p>
            <a:r>
              <a:rPr lang="pt-BR" dirty="0" smtClean="0"/>
              <a:t>Utiliza o </a:t>
            </a:r>
            <a:r>
              <a:rPr lang="pt-BR" dirty="0" err="1" smtClean="0"/>
              <a:t>javascript</a:t>
            </a:r>
            <a:r>
              <a:rPr lang="pt-BR" dirty="0" smtClean="0"/>
              <a:t> para auxiliar na validação de formulários e melhor a navegabilidade.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TAGS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O </a:t>
            </a:r>
            <a:r>
              <a:rPr lang="pt-BR" dirty="0" err="1" smtClean="0"/>
              <a:t>html</a:t>
            </a:r>
            <a:r>
              <a:rPr lang="pt-BR" dirty="0" smtClean="0"/>
              <a:t> é composto por </a:t>
            </a:r>
            <a:r>
              <a:rPr lang="pt-BR" dirty="0" err="1" smtClean="0"/>
              <a:t>tags</a:t>
            </a:r>
            <a:r>
              <a:rPr lang="pt-BR" dirty="0" smtClean="0"/>
              <a:t> (etiquetas) que identificam ao navegador como formatar um determinado conteúdo, podemos dividir em 3 categorias: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Estrutura – São responsáveis por delimitar seções e espaços dentro da página.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formatação – fornecem a formatação direta de cor, fonte e estilo de conteúdo.</a:t>
            </a:r>
          </a:p>
          <a:p>
            <a:pPr lvl="1"/>
            <a:r>
              <a:rPr lang="pt-BR" dirty="0" err="1" smtClean="0"/>
              <a:t>Tags</a:t>
            </a:r>
            <a:r>
              <a:rPr lang="pt-BR" dirty="0" smtClean="0"/>
              <a:t> de Objeto – coletam dados de um formulário, e permitem integração com o </a:t>
            </a:r>
            <a:r>
              <a:rPr lang="pt-BR" dirty="0" err="1" smtClean="0"/>
              <a:t>javascript</a:t>
            </a:r>
            <a:r>
              <a:rPr lang="pt-BR" dirty="0" smtClean="0"/>
              <a:t>.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Estrutura - </a:t>
            </a:r>
            <a:r>
              <a:rPr lang="pt-BR" smtClean="0"/>
              <a:t>html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>
          <a:ln>
            <a:solidFill>
              <a:srgbClr val="FFC000"/>
            </a:solidFill>
          </a:ln>
        </p:spPr>
        <p:txBody>
          <a:bodyPr>
            <a:normAutofit/>
          </a:bodyPr>
          <a:lstStyle/>
          <a:p>
            <a:r>
              <a:rPr lang="pt-BR" dirty="0" smtClean="0"/>
              <a:t>&lt;HTML&gt; &lt;/HTML&gt;</a:t>
            </a:r>
          </a:p>
          <a:p>
            <a:pPr lvl="1"/>
            <a:r>
              <a:rPr lang="pt-BR" dirty="0" smtClean="0"/>
              <a:t>Identificam o inicio e o fim de um página.</a:t>
            </a:r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Estrutura – </a:t>
            </a:r>
            <a:r>
              <a:rPr lang="pt-BR" dirty="0" err="1" smtClean="0"/>
              <a:t>head</a:t>
            </a:r>
            <a:r>
              <a:rPr lang="pt-BR" dirty="0" smtClean="0"/>
              <a:t>, </a:t>
            </a:r>
            <a:r>
              <a:rPr lang="pt-BR" dirty="0" err="1" smtClean="0"/>
              <a:t>title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&lt;HEAD&gt; &lt;/HEAD&gt;</a:t>
            </a:r>
          </a:p>
          <a:p>
            <a:pPr lvl="1"/>
            <a:r>
              <a:rPr lang="pt-BR" dirty="0" smtClean="0"/>
              <a:t>Área para publicação de informações sobre a página que auxiliam a indexação por buscadores.</a:t>
            </a:r>
          </a:p>
          <a:p>
            <a:r>
              <a:rPr lang="pt-BR" dirty="0" smtClean="0"/>
              <a:t>&lt;TITLE&gt;&lt;/TITLE&gt;</a:t>
            </a:r>
          </a:p>
          <a:p>
            <a:pPr lvl="1"/>
            <a:r>
              <a:rPr lang="pt-BR" dirty="0" smtClean="0"/>
              <a:t>Define o titulo da página que aparece no topo dos navegadores.</a:t>
            </a:r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Estrutura - meta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pt-BR" dirty="0" smtClean="0"/>
              <a:t>&lt;META NAME....</a:t>
            </a:r>
          </a:p>
          <a:p>
            <a:pPr lvl="1"/>
            <a:r>
              <a:rPr lang="pt-BR" dirty="0" smtClean="0"/>
              <a:t>publicação de informações sobre a página que auxiliam a indexação por buscadores.</a:t>
            </a:r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&lt;meta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Description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=“pagina sobre”&gt;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&lt;meta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keywords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css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, web”&gt;</a:t>
            </a:r>
          </a:p>
          <a:p>
            <a:pPr lvl="3">
              <a:buNone/>
            </a:pP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&lt;meta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author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content</a:t>
            </a:r>
            <a:r>
              <a:rPr lang="pt-BR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=“Norton”&gt;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b="1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Estrutura - </a:t>
            </a:r>
            <a:r>
              <a:rPr lang="pt-BR" dirty="0" err="1" smtClean="0"/>
              <a:t>body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&lt;BODY&gt;&lt;/BODY&gt;</a:t>
            </a:r>
          </a:p>
          <a:p>
            <a:pPr lvl="1"/>
            <a:r>
              <a:rPr lang="pt-BR" dirty="0" smtClean="0"/>
              <a:t>Define o inicio e fim do corpo de uma página</a:t>
            </a:r>
          </a:p>
          <a:p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4">
              <a:buNone/>
            </a:pP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b="1" dirty="0" err="1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de </a:t>
            </a:r>
            <a:r>
              <a:rPr lang="pt-BR" dirty="0" smtClean="0"/>
              <a:t>Estrutura - p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&lt;P&gt;&lt;/P&gt;</a:t>
            </a:r>
          </a:p>
          <a:p>
            <a:pPr lvl="1"/>
            <a:r>
              <a:rPr lang="pt-BR" dirty="0" smtClean="0"/>
              <a:t>Define um </a:t>
            </a:r>
            <a:r>
              <a:rPr lang="pt-BR" dirty="0" err="1" smtClean="0"/>
              <a:t>paragrafo</a:t>
            </a:r>
            <a:endParaRPr lang="pt-BR" dirty="0" smtClean="0"/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Ola mundo !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body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de </a:t>
            </a:r>
            <a:r>
              <a:rPr lang="pt-BR" dirty="0" smtClean="0"/>
              <a:t>Estrutura - </a:t>
            </a:r>
            <a:r>
              <a:rPr lang="pt-BR" dirty="0" err="1" smtClean="0"/>
              <a:t>br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&lt;</a:t>
            </a:r>
            <a:r>
              <a:rPr lang="pt-BR" dirty="0" err="1" smtClean="0"/>
              <a:t>br</a:t>
            </a:r>
            <a:r>
              <a:rPr lang="pt-BR" dirty="0" smtClean="0"/>
              <a:t>&gt;</a:t>
            </a:r>
          </a:p>
          <a:p>
            <a:pPr lvl="1"/>
            <a:r>
              <a:rPr lang="pt-BR" dirty="0" smtClean="0"/>
              <a:t>Quebra de linha</a:t>
            </a:r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</a:t>
            </a: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Estrutura – h1...h6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pt-BR" dirty="0" smtClean="0"/>
              <a:t>&lt;h1&gt;&lt;/h1&gt;</a:t>
            </a:r>
          </a:p>
          <a:p>
            <a:pPr lvl="1"/>
            <a:r>
              <a:rPr lang="pt-BR" dirty="0" smtClean="0"/>
              <a:t>Definição de títulos</a:t>
            </a:r>
          </a:p>
          <a:p>
            <a:pPr lvl="1"/>
            <a:r>
              <a:rPr lang="pt-BR" dirty="0" smtClean="0"/>
              <a:t>Podem ir de  1 ate </a:t>
            </a:r>
            <a:r>
              <a:rPr lang="pt-BR" dirty="0" smtClean="0"/>
              <a:t>6</a:t>
            </a:r>
            <a:endParaRPr lang="pt-BR" dirty="0" smtClean="0"/>
          </a:p>
          <a:p>
            <a:endParaRPr lang="pt-BR" dirty="0" smtClean="0"/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&lt;h1&gt;Titulo Tipo 1 &lt;/h1&gt;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</a:t>
            </a: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Estrutura -div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&lt;div&gt;&lt;/div&gt;</a:t>
            </a:r>
          </a:p>
          <a:p>
            <a:pPr lvl="1"/>
            <a:r>
              <a:rPr lang="pt-BR" dirty="0" smtClean="0"/>
              <a:t>Definem uma área isolada de formatação na página</a:t>
            </a:r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&lt;DIV&gt; Menu</a:t>
            </a:r>
          </a:p>
          <a:p>
            <a:pPr lvl="2">
              <a:buNone/>
            </a:pPr>
            <a:r>
              <a:rPr lang="pt-BR" sz="2000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&lt;/DIV&gt;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/>
            <a:endParaRPr lang="pt-BR" dirty="0" smtClean="0"/>
          </a:p>
          <a:p>
            <a:endParaRPr lang="pt-BR" dirty="0" smtClean="0"/>
          </a:p>
          <a:p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Estrutura - </a:t>
            </a:r>
            <a:r>
              <a:rPr lang="pt-BR" dirty="0" err="1" smtClean="0"/>
              <a:t>table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</a:t>
            </a:r>
            <a:r>
              <a:rPr lang="pt-BR" dirty="0" err="1" smtClean="0"/>
              <a:t>table</a:t>
            </a:r>
            <a:r>
              <a:rPr lang="pt-BR" dirty="0" smtClean="0"/>
              <a:t>&gt;&lt;/</a:t>
            </a:r>
            <a:r>
              <a:rPr lang="pt-BR" dirty="0" err="1" smtClean="0"/>
              <a:t>table</a:t>
            </a:r>
            <a:r>
              <a:rPr lang="pt-BR" dirty="0" smtClean="0"/>
              <a:t>&gt;</a:t>
            </a:r>
          </a:p>
          <a:p>
            <a:pPr lvl="1"/>
            <a:r>
              <a:rPr lang="pt-BR" dirty="0" err="1" smtClean="0"/>
              <a:t>Tag</a:t>
            </a:r>
            <a:r>
              <a:rPr lang="pt-BR" dirty="0" smtClean="0"/>
              <a:t> para criação de tabelas 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tr</a:t>
            </a:r>
            <a:r>
              <a:rPr lang="pt-BR" dirty="0" smtClean="0"/>
              <a:t>&gt;&lt;/</a:t>
            </a:r>
            <a:r>
              <a:rPr lang="pt-BR" dirty="0" err="1" smtClean="0"/>
              <a:t>tr</a:t>
            </a:r>
            <a:r>
              <a:rPr lang="pt-BR" dirty="0" smtClean="0"/>
              <a:t>&gt;</a:t>
            </a:r>
          </a:p>
          <a:p>
            <a:pPr lvl="1"/>
            <a:r>
              <a:rPr lang="pt-BR" dirty="0" err="1" smtClean="0"/>
              <a:t>Table</a:t>
            </a:r>
            <a:r>
              <a:rPr lang="pt-BR" dirty="0" smtClean="0"/>
              <a:t> </a:t>
            </a:r>
            <a:r>
              <a:rPr lang="pt-BR" dirty="0" err="1" smtClean="0"/>
              <a:t>Row</a:t>
            </a:r>
            <a:r>
              <a:rPr lang="pt-BR" dirty="0" smtClean="0"/>
              <a:t> - Linha de tabla</a:t>
            </a:r>
          </a:p>
          <a:p>
            <a:r>
              <a:rPr lang="pt-BR" dirty="0" smtClean="0"/>
              <a:t>&lt;</a:t>
            </a:r>
            <a:r>
              <a:rPr lang="pt-BR" dirty="0" err="1" smtClean="0"/>
              <a:t>td</a:t>
            </a:r>
            <a:r>
              <a:rPr lang="pt-BR" dirty="0" smtClean="0"/>
              <a:t>&gt;&lt;/</a:t>
            </a:r>
            <a:r>
              <a:rPr lang="pt-BR" dirty="0" err="1" smtClean="0"/>
              <a:t>td</a:t>
            </a:r>
            <a:r>
              <a:rPr lang="pt-BR" dirty="0" smtClean="0"/>
              <a:t>&gt;</a:t>
            </a:r>
          </a:p>
          <a:p>
            <a:pPr lvl="1"/>
            <a:r>
              <a:rPr lang="pt-BR" dirty="0" err="1" smtClean="0"/>
              <a:t>Table</a:t>
            </a:r>
            <a:r>
              <a:rPr lang="pt-BR" dirty="0" smtClean="0"/>
              <a:t> </a:t>
            </a:r>
            <a:r>
              <a:rPr lang="pt-BR" dirty="0" err="1" smtClean="0"/>
              <a:t>Detail</a:t>
            </a:r>
            <a:r>
              <a:rPr lang="pt-BR" dirty="0" smtClean="0"/>
              <a:t> – coluna de tabela</a:t>
            </a:r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de </a:t>
            </a:r>
            <a:r>
              <a:rPr lang="pt-BR" dirty="0" smtClean="0"/>
              <a:t>Estrutura - </a:t>
            </a:r>
            <a:r>
              <a:rPr lang="pt-BR" dirty="0" err="1" smtClean="0"/>
              <a:t>table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table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border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=1&gt;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 Azul 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 Verde 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	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 Amarelo 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tr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		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table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endParaRPr lang="pt-B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Estrutura - </a:t>
            </a:r>
            <a:r>
              <a:rPr lang="pt-BR" dirty="0" err="1" smtClean="0"/>
              <a:t>br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pt-BR" dirty="0" smtClean="0"/>
              <a:t>Comentários</a:t>
            </a:r>
          </a:p>
          <a:p>
            <a:pPr lvl="1"/>
            <a:r>
              <a:rPr lang="pt-BR" dirty="0" smtClean="0"/>
              <a:t>Para colocar um comentário na página que não será exibido pelo navegado</a:t>
            </a:r>
          </a:p>
          <a:p>
            <a:pPr lvl="1"/>
            <a:r>
              <a:rPr lang="pt-BR" dirty="0" smtClean="0"/>
              <a:t>Exemplo: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3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Tiltle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 Minha Primeira Página 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title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head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&lt;!– - Pagina principal - -&gt;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&lt;P&gt;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Ola mundo ! </a:t>
            </a:r>
            <a:r>
              <a:rPr lang="pt-BR" b="1" dirty="0" smtClean="0">
                <a:solidFill>
                  <a:schemeClr val="accent1"/>
                </a:solidFill>
                <a:latin typeface="Courier New" pitchFamily="49" charset="0"/>
                <a:cs typeface="Courier New" pitchFamily="49" charset="0"/>
              </a:rPr>
              <a:t>&lt;BR&gt;</a:t>
            </a:r>
          </a:p>
          <a:p>
            <a:pPr lvl="4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Minha primeira página</a:t>
            </a:r>
          </a:p>
          <a:p>
            <a:pPr lvl="2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&lt;/p&gt;</a:t>
            </a:r>
          </a:p>
          <a:p>
            <a:pPr lvl="1">
              <a:buNone/>
            </a:pP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Courier New" pitchFamily="49" charset="0"/>
                <a:cs typeface="Courier New" pitchFamily="49" charset="0"/>
              </a:rPr>
              <a:t>html</a:t>
            </a:r>
            <a:r>
              <a:rPr lang="pt-BR" sz="2000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/>
            <a:endParaRPr lang="pt-BR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</a:t>
            </a:r>
            <a:r>
              <a:rPr lang="pt-BR" dirty="0" err="1" smtClean="0"/>
              <a:t>tags</a:t>
            </a:r>
            <a:r>
              <a:rPr lang="pt-BR" dirty="0" smtClean="0"/>
              <a:t> que alteram a formatação de um conteúdo estático</a:t>
            </a:r>
          </a:p>
          <a:p>
            <a:r>
              <a:rPr lang="pt-BR" dirty="0" err="1" smtClean="0"/>
              <a:t>Exe</a:t>
            </a:r>
            <a:r>
              <a:rPr lang="pt-BR" dirty="0" smtClean="0"/>
              <a:t>: Cor, </a:t>
            </a:r>
            <a:r>
              <a:rPr lang="pt-BR" dirty="0" err="1" smtClean="0"/>
              <a:t>estitlo</a:t>
            </a:r>
            <a:r>
              <a:rPr lang="pt-BR" dirty="0" smtClean="0"/>
              <a:t> de fonte, cor de letra etc.</a:t>
            </a:r>
            <a:endParaRPr lang="pt-BR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– b, i, u, 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&lt;B&gt; Conteúdo &lt;/B&gt; - Negrito / </a:t>
            </a:r>
            <a:r>
              <a:rPr lang="pt-BR" dirty="0" err="1" smtClean="0"/>
              <a:t>Bold</a:t>
            </a:r>
            <a:endParaRPr lang="pt-BR" dirty="0" smtClean="0"/>
          </a:p>
          <a:p>
            <a:r>
              <a:rPr lang="pt-BR" dirty="0" smtClean="0"/>
              <a:t>&lt;i&gt; Conteúdo &lt;/i&gt; - </a:t>
            </a:r>
            <a:r>
              <a:rPr lang="pt-BR" dirty="0" err="1" smtClean="0"/>
              <a:t>Italico</a:t>
            </a:r>
            <a:r>
              <a:rPr lang="pt-BR" dirty="0" smtClean="0"/>
              <a:t> / </a:t>
            </a:r>
            <a:r>
              <a:rPr lang="pt-BR" dirty="0" err="1" smtClean="0"/>
              <a:t>Italic</a:t>
            </a:r>
            <a:endParaRPr lang="pt-BR" dirty="0" smtClean="0"/>
          </a:p>
          <a:p>
            <a:r>
              <a:rPr lang="pt-BR" dirty="0" smtClean="0"/>
              <a:t>&lt;u&gt;</a:t>
            </a:r>
            <a:r>
              <a:rPr lang="pt-BR" dirty="0" smtClean="0"/>
              <a:t>Conteúdo </a:t>
            </a:r>
            <a:r>
              <a:rPr lang="pt-BR" dirty="0" smtClean="0"/>
              <a:t>&lt;/u&gt; </a:t>
            </a:r>
            <a:r>
              <a:rPr lang="pt-BR" dirty="0" smtClean="0"/>
              <a:t>- </a:t>
            </a:r>
            <a:r>
              <a:rPr lang="pt-BR" dirty="0" smtClean="0"/>
              <a:t>sublinhado / Underline</a:t>
            </a:r>
          </a:p>
          <a:p>
            <a:r>
              <a:rPr lang="pt-BR" dirty="0" smtClean="0"/>
              <a:t>&lt;s&gt;</a:t>
            </a:r>
            <a:r>
              <a:rPr lang="pt-BR" dirty="0" smtClean="0"/>
              <a:t>Conteúdo </a:t>
            </a:r>
            <a:r>
              <a:rPr lang="pt-BR" dirty="0" smtClean="0"/>
              <a:t>&lt;/s&gt; -riscado / </a:t>
            </a:r>
            <a:r>
              <a:rPr lang="pt-BR" dirty="0" err="1" smtClean="0"/>
              <a:t>Strike</a:t>
            </a:r>
            <a:endParaRPr lang="pt-BR" dirty="0" smtClean="0"/>
          </a:p>
          <a:p>
            <a:endParaRPr lang="pt-BR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 - </a:t>
            </a:r>
            <a:r>
              <a:rPr lang="pt-BR" dirty="0" err="1" smtClean="0"/>
              <a:t>font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err="1" smtClean="0"/>
              <a:t>Tag</a:t>
            </a:r>
            <a:r>
              <a:rPr lang="pt-BR" dirty="0" smtClean="0"/>
              <a:t> </a:t>
            </a:r>
            <a:r>
              <a:rPr lang="pt-BR" dirty="0" err="1" smtClean="0"/>
              <a:t>Font</a:t>
            </a:r>
            <a:r>
              <a:rPr lang="pt-BR" dirty="0" smtClean="0"/>
              <a:t> – Altera a formatação de cor, fonte e tamanho de um </a:t>
            </a:r>
            <a:r>
              <a:rPr lang="pt-BR" dirty="0" err="1" smtClean="0"/>
              <a:t>conteudo</a:t>
            </a:r>
            <a:r>
              <a:rPr lang="pt-BR" dirty="0" smtClean="0"/>
              <a:t>.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font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=“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red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” face=“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verdana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”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size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=“14px”&gt;</a:t>
            </a:r>
          </a:p>
          <a:p>
            <a:pPr lvl="1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CONTEUDO</a:t>
            </a:r>
          </a:p>
          <a:p>
            <a:pPr lvl="1"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font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- </a:t>
            </a:r>
            <a:r>
              <a:rPr lang="pt-BR" dirty="0" err="1" smtClean="0"/>
              <a:t>font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Atributos</a:t>
            </a:r>
          </a:p>
          <a:p>
            <a:pPr lvl="1"/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Color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– Nome da cor ou valor em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hexadecimal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Exe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#ff0000</a:t>
            </a:r>
          </a:p>
          <a:p>
            <a:pPr lvl="1"/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Size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– tamanho da fonte, geralmente descrito em pixel: 14px</a:t>
            </a:r>
          </a:p>
          <a:p>
            <a:pPr lvl="1"/>
            <a:r>
              <a:rPr lang="pt-BR" dirty="0" smtClean="0">
                <a:latin typeface="Courier New" pitchFamily="49" charset="0"/>
                <a:cs typeface="Courier New" pitchFamily="49" charset="0"/>
              </a:rPr>
              <a:t>Face – nome da fonte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exe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verdana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 lvl="1">
              <a:buNone/>
            </a:pP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endParaRPr lang="pt-BR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- </a:t>
            </a:r>
            <a:r>
              <a:rPr lang="pt-BR" dirty="0" err="1" smtClean="0"/>
              <a:t>ul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Lista de tópicos</a:t>
            </a:r>
          </a:p>
          <a:p>
            <a:pPr>
              <a:buNone/>
            </a:pPr>
            <a:r>
              <a:rPr lang="it-IT" dirty="0" smtClean="0"/>
              <a:t>		&lt;</a:t>
            </a:r>
            <a:r>
              <a:rPr lang="it-IT" dirty="0" smtClean="0"/>
              <a:t>ul&gt;</a:t>
            </a:r>
          </a:p>
          <a:p>
            <a:pPr>
              <a:buNone/>
            </a:pPr>
            <a:r>
              <a:rPr lang="it-IT" dirty="0" smtClean="0"/>
              <a:t>			&lt;li&gt;azul&lt;/li&gt;</a:t>
            </a:r>
          </a:p>
          <a:p>
            <a:pPr>
              <a:buNone/>
            </a:pPr>
            <a:r>
              <a:rPr lang="it-IT" dirty="0" smtClean="0"/>
              <a:t>			&lt;li&gt;verde&lt;/li&gt;</a:t>
            </a:r>
          </a:p>
          <a:p>
            <a:pPr>
              <a:buNone/>
            </a:pPr>
            <a:r>
              <a:rPr lang="it-IT" dirty="0" smtClean="0"/>
              <a:t>			&lt;li&gt;amarelo&lt;/li&gt;</a:t>
            </a:r>
          </a:p>
          <a:p>
            <a:pPr>
              <a:buNone/>
            </a:pPr>
            <a:r>
              <a:rPr lang="it-IT" dirty="0" smtClean="0"/>
              <a:t>			&lt;li&gt;branco&lt;/li&gt;</a:t>
            </a:r>
          </a:p>
          <a:p>
            <a:pPr>
              <a:buNone/>
            </a:pPr>
            <a:r>
              <a:rPr lang="it-IT" dirty="0" smtClean="0"/>
              <a:t>		&lt;/ul&gt;</a:t>
            </a:r>
          </a:p>
          <a:p>
            <a:pPr>
              <a:buNone/>
            </a:pPr>
            <a:r>
              <a:rPr lang="it-IT" dirty="0" smtClean="0"/>
              <a:t>		</a:t>
            </a:r>
          </a:p>
          <a:p>
            <a:pPr>
              <a:buNone/>
            </a:pPr>
            <a:r>
              <a:rPr lang="it-IT" dirty="0" smtClean="0"/>
              <a:t>		</a:t>
            </a:r>
            <a:endParaRPr lang="pt-BR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- </a:t>
            </a:r>
            <a:r>
              <a:rPr lang="pt-BR" dirty="0" err="1" smtClean="0"/>
              <a:t>ol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Lista ordenada</a:t>
            </a:r>
          </a:p>
          <a:p>
            <a:pPr>
              <a:buNone/>
            </a:pPr>
            <a:r>
              <a:rPr lang="it-IT" dirty="0" smtClean="0"/>
              <a:t>		&lt;</a:t>
            </a:r>
            <a:r>
              <a:rPr lang="it-IT" dirty="0" smtClean="0"/>
              <a:t>ol&gt;</a:t>
            </a:r>
          </a:p>
          <a:p>
            <a:pPr>
              <a:buNone/>
            </a:pPr>
            <a:r>
              <a:rPr lang="it-IT" dirty="0" smtClean="0"/>
              <a:t>			&lt;li&gt;Maça&lt;/li&gt;</a:t>
            </a:r>
          </a:p>
          <a:p>
            <a:pPr>
              <a:buNone/>
            </a:pPr>
            <a:r>
              <a:rPr lang="it-IT" dirty="0" smtClean="0"/>
              <a:t>			&lt;li&gt;Laranja&lt;/li&gt;</a:t>
            </a:r>
          </a:p>
          <a:p>
            <a:pPr>
              <a:buNone/>
            </a:pPr>
            <a:r>
              <a:rPr lang="it-IT" dirty="0" smtClean="0"/>
              <a:t>			&lt;li&gt;Manga&lt;/li&gt;</a:t>
            </a:r>
          </a:p>
          <a:p>
            <a:pPr>
              <a:buNone/>
            </a:pPr>
            <a:r>
              <a:rPr lang="it-IT" dirty="0" smtClean="0"/>
              <a:t>		&lt;/ol&gt;</a:t>
            </a:r>
            <a:endParaRPr lang="pt-BR" dirty="0" smtClean="0"/>
          </a:p>
          <a:p>
            <a:pPr>
              <a:buNone/>
            </a:pPr>
            <a:endParaRPr lang="pt-BR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Formatação - 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Link ou ancora, redireciona a navegação para outra página ou documento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&lt;a 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href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="http://www.norton.net.br"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target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="</a:t>
            </a:r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new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"&gt;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	Link externo&lt;/a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pt-BR" dirty="0" smtClean="0">
                <a:latin typeface="Courier New" pitchFamily="49" charset="0"/>
                <a:cs typeface="Courier New" pitchFamily="49" charset="0"/>
              </a:rPr>
              <a:t>Atributos</a:t>
            </a:r>
          </a:p>
          <a:p>
            <a:pPr lvl="1"/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href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: caminho local ou virtual</a:t>
            </a:r>
          </a:p>
          <a:p>
            <a:pPr lvl="1"/>
            <a:r>
              <a:rPr lang="pt-BR" dirty="0" err="1" smtClean="0">
                <a:latin typeface="Courier New" pitchFamily="49" charset="0"/>
                <a:cs typeface="Courier New" pitchFamily="49" charset="0"/>
              </a:rPr>
              <a:t>Target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 : local de carga do destino do link</a:t>
            </a:r>
            <a:endParaRPr lang="pt-BR" dirty="0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São </a:t>
            </a:r>
            <a:r>
              <a:rPr lang="pt-BR" dirty="0" err="1" smtClean="0"/>
              <a:t>tags</a:t>
            </a:r>
            <a:r>
              <a:rPr lang="pt-BR" dirty="0" smtClean="0"/>
              <a:t> para coletar dados de formulário da navegação do cliente.</a:t>
            </a:r>
          </a:p>
          <a:p>
            <a:r>
              <a:rPr lang="pt-BR" dirty="0" smtClean="0"/>
              <a:t>Geralmente estes dados são enviados para um servidor de aplicação para serem processado.</a:t>
            </a:r>
            <a:endParaRPr lang="pt-BR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Text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Caixa de texto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type="text" 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 id="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nome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size="60"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 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maxlength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="50" 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 value="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Texto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carregado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 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readonly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  <a:endParaRPr lang="pt-BR" sz="24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Objetos - </a:t>
            </a:r>
            <a:r>
              <a:rPr lang="pt-BR" dirty="0" err="1" smtClean="0"/>
              <a:t>Text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pt-BR" dirty="0" smtClean="0"/>
              <a:t>Atributos da caixa de texto</a:t>
            </a: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Id : define o </a:t>
            </a:r>
            <a:r>
              <a:rPr lang="en-US" dirty="0" err="1" smtClean="0">
                <a:latin typeface="+mj-lt"/>
                <a:cs typeface="Courier New" pitchFamily="49" charset="0"/>
              </a:rPr>
              <a:t>nome</a:t>
            </a:r>
            <a:r>
              <a:rPr lang="en-US" dirty="0" smtClean="0">
                <a:latin typeface="+mj-lt"/>
                <a:cs typeface="Courier New" pitchFamily="49" charset="0"/>
              </a:rPr>
              <a:t> do </a:t>
            </a:r>
            <a:r>
              <a:rPr lang="en-US" dirty="0" err="1" smtClean="0">
                <a:latin typeface="+mj-lt"/>
                <a:cs typeface="Courier New" pitchFamily="49" charset="0"/>
              </a:rPr>
              <a:t>objeto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Size : </a:t>
            </a:r>
            <a:r>
              <a:rPr lang="en-US" dirty="0" err="1" smtClean="0">
                <a:latin typeface="+mj-lt"/>
                <a:cs typeface="Courier New" pitchFamily="49" charset="0"/>
              </a:rPr>
              <a:t>tamanho</a:t>
            </a:r>
            <a:r>
              <a:rPr lang="en-US" dirty="0" smtClean="0">
                <a:latin typeface="+mj-lt"/>
                <a:cs typeface="Courier New" pitchFamily="49" charset="0"/>
              </a:rPr>
              <a:t> </a:t>
            </a:r>
            <a:r>
              <a:rPr lang="en-US" dirty="0" err="1" smtClean="0">
                <a:latin typeface="+mj-lt"/>
                <a:cs typeface="Courier New" pitchFamily="49" charset="0"/>
              </a:rPr>
              <a:t>em</a:t>
            </a:r>
            <a:r>
              <a:rPr lang="en-US" dirty="0" smtClean="0">
                <a:latin typeface="+mj-lt"/>
                <a:cs typeface="Courier New" pitchFamily="49" charset="0"/>
              </a:rPr>
              <a:t> </a:t>
            </a:r>
            <a:r>
              <a:rPr lang="en-US" dirty="0" err="1" smtClean="0">
                <a:latin typeface="+mj-lt"/>
                <a:cs typeface="Courier New" pitchFamily="49" charset="0"/>
              </a:rPr>
              <a:t>exibição</a:t>
            </a:r>
            <a:r>
              <a:rPr lang="en-US" dirty="0" smtClean="0">
                <a:latin typeface="+mj-lt"/>
                <a:cs typeface="Courier New" pitchFamily="49" charset="0"/>
              </a:rPr>
              <a:t> e </a:t>
            </a:r>
            <a:r>
              <a:rPr lang="en-US" dirty="0" err="1" smtClean="0">
                <a:latin typeface="+mj-lt"/>
                <a:cs typeface="Courier New" pitchFamily="49" charset="0"/>
              </a:rPr>
              <a:t>colunas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dirty="0" err="1" smtClean="0">
                <a:latin typeface="+mj-lt"/>
                <a:cs typeface="Courier New" pitchFamily="49" charset="0"/>
              </a:rPr>
              <a:t>Maxlength</a:t>
            </a:r>
            <a:r>
              <a:rPr lang="en-US" dirty="0" smtClean="0">
                <a:latin typeface="+mj-lt"/>
                <a:cs typeface="Courier New" pitchFamily="49" charset="0"/>
              </a:rPr>
              <a:t>: </a:t>
            </a:r>
            <a:r>
              <a:rPr lang="en-US" dirty="0" err="1" smtClean="0">
                <a:latin typeface="+mj-lt"/>
                <a:cs typeface="Courier New" pitchFamily="49" charset="0"/>
              </a:rPr>
              <a:t>quantidade</a:t>
            </a:r>
            <a:r>
              <a:rPr lang="en-US" dirty="0" smtClean="0">
                <a:latin typeface="+mj-lt"/>
                <a:cs typeface="Courier New" pitchFamily="49" charset="0"/>
              </a:rPr>
              <a:t> maxima de </a:t>
            </a:r>
            <a:r>
              <a:rPr lang="en-US" dirty="0" err="1" smtClean="0">
                <a:latin typeface="+mj-lt"/>
                <a:cs typeface="Courier New" pitchFamily="49" charset="0"/>
              </a:rPr>
              <a:t>caracteres</a:t>
            </a:r>
            <a:r>
              <a:rPr lang="en-US" dirty="0" smtClean="0">
                <a:latin typeface="+mj-lt"/>
                <a:cs typeface="Courier New" pitchFamily="49" charset="0"/>
              </a:rPr>
              <a:t> </a:t>
            </a:r>
            <a:r>
              <a:rPr lang="en-US" dirty="0" err="1" smtClean="0">
                <a:latin typeface="+mj-lt"/>
                <a:cs typeface="Courier New" pitchFamily="49" charset="0"/>
              </a:rPr>
              <a:t>digitados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dirty="0" smtClean="0">
                <a:latin typeface="+mj-lt"/>
                <a:cs typeface="Courier New" pitchFamily="49" charset="0"/>
              </a:rPr>
              <a:t>Value : valor pre </a:t>
            </a:r>
            <a:r>
              <a:rPr lang="en-US" dirty="0" err="1" smtClean="0">
                <a:latin typeface="+mj-lt"/>
                <a:cs typeface="Courier New" pitchFamily="49" charset="0"/>
              </a:rPr>
              <a:t>definido</a:t>
            </a:r>
            <a:endParaRPr lang="en-US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dirty="0" err="1" smtClean="0">
                <a:latin typeface="+mj-lt"/>
                <a:cs typeface="Courier New" pitchFamily="49" charset="0"/>
              </a:rPr>
              <a:t>Readonly</a:t>
            </a:r>
            <a:r>
              <a:rPr lang="en-US" dirty="0" smtClean="0">
                <a:latin typeface="+mj-lt"/>
                <a:cs typeface="Courier New" pitchFamily="49" charset="0"/>
              </a:rPr>
              <a:t> : </a:t>
            </a:r>
            <a:r>
              <a:rPr lang="en-US" dirty="0" err="1" smtClean="0">
                <a:latin typeface="+mj-lt"/>
                <a:cs typeface="Courier New" pitchFamily="49" charset="0"/>
              </a:rPr>
              <a:t>trava</a:t>
            </a:r>
            <a:r>
              <a:rPr lang="en-US" dirty="0" smtClean="0">
                <a:latin typeface="+mj-lt"/>
                <a:cs typeface="Courier New" pitchFamily="49" charset="0"/>
              </a:rPr>
              <a:t> a </a:t>
            </a:r>
            <a:r>
              <a:rPr lang="en-US" dirty="0" err="1" smtClean="0">
                <a:latin typeface="+mj-lt"/>
                <a:cs typeface="Courier New" pitchFamily="49" charset="0"/>
              </a:rPr>
              <a:t>digitação</a:t>
            </a:r>
            <a:r>
              <a:rPr lang="en-US" dirty="0" smtClean="0">
                <a:latin typeface="+mj-lt"/>
                <a:cs typeface="Courier New" pitchFamily="49" charset="0"/>
              </a:rPr>
              <a:t> de um </a:t>
            </a:r>
            <a:r>
              <a:rPr lang="en-US" dirty="0" err="1" smtClean="0">
                <a:latin typeface="+mj-lt"/>
                <a:cs typeface="Courier New" pitchFamily="49" charset="0"/>
              </a:rPr>
              <a:t>conteudo</a:t>
            </a:r>
            <a:endParaRPr lang="pt-BR" dirty="0">
              <a:latin typeface="+mj-lt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Objetos - Password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Password – permite a digitação de um texto oculto por símbolos.</a:t>
            </a: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&lt;input type="</a:t>
            </a:r>
            <a:r>
              <a:rPr lang="en-US" dirty="0" smtClean="0">
                <a:solidFill>
                  <a:srgbClr val="FF0000"/>
                </a:solidFill>
              </a:rPr>
              <a:t>password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r>
              <a:rPr lang="en-US" dirty="0" smtClean="0">
                <a:solidFill>
                  <a:srgbClr val="FF0000"/>
                </a:solidFill>
              </a:rPr>
              <a:t> id</a:t>
            </a:r>
            <a:r>
              <a:rPr lang="en-US" dirty="0" smtClean="0">
                <a:solidFill>
                  <a:srgbClr val="FF0000"/>
                </a:solidFill>
              </a:rPr>
              <a:t>="</a:t>
            </a:r>
            <a:r>
              <a:rPr lang="en-US" dirty="0" err="1" smtClean="0">
                <a:solidFill>
                  <a:srgbClr val="FF0000"/>
                </a:solidFill>
              </a:rPr>
              <a:t>senha</a:t>
            </a:r>
            <a:r>
              <a:rPr lang="en-US" dirty="0" smtClean="0">
                <a:solidFill>
                  <a:srgbClr val="FF0000"/>
                </a:solidFill>
              </a:rPr>
              <a:t>" size="</a:t>
            </a:r>
            <a:r>
              <a:rPr lang="en-US" dirty="0" smtClean="0">
                <a:solidFill>
                  <a:srgbClr val="FF0000"/>
                </a:solidFill>
              </a:rPr>
              <a:t>10“</a:t>
            </a:r>
            <a:endParaRPr lang="en-US" dirty="0" smtClean="0">
              <a:solidFill>
                <a:srgbClr val="FF0000"/>
              </a:solidFill>
            </a:endParaRPr>
          </a:p>
          <a:p>
            <a:pPr>
              <a:buNone/>
            </a:pPr>
            <a:r>
              <a:rPr lang="en-US" dirty="0" smtClean="0">
                <a:solidFill>
                  <a:srgbClr val="FF0000"/>
                </a:solidFill>
              </a:rPr>
              <a:t>		</a:t>
            </a:r>
            <a:r>
              <a:rPr lang="en-US" dirty="0" err="1" smtClean="0">
                <a:solidFill>
                  <a:srgbClr val="FF0000"/>
                </a:solidFill>
              </a:rPr>
              <a:t>maxlength</a:t>
            </a:r>
            <a:r>
              <a:rPr lang="en-US" dirty="0" smtClean="0">
                <a:solidFill>
                  <a:srgbClr val="FF0000"/>
                </a:solidFill>
              </a:rPr>
              <a:t>=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r>
              <a:rPr lang="en-US" dirty="0" smtClean="0">
                <a:solidFill>
                  <a:srgbClr val="FF0000"/>
                </a:solidFill>
              </a:rPr>
              <a:t>8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r>
              <a:rPr lang="en-US" dirty="0" smtClean="0">
                <a:solidFill>
                  <a:srgbClr val="FF0000"/>
                </a:solidFill>
              </a:rPr>
              <a:t> value="</a:t>
            </a:r>
            <a:r>
              <a:rPr lang="en-US" dirty="0" smtClean="0">
                <a:solidFill>
                  <a:srgbClr val="FF0000"/>
                </a:solidFill>
              </a:rPr>
              <a:t>"</a:t>
            </a:r>
            <a:r>
              <a:rPr lang="en-US" dirty="0" smtClean="0">
                <a:solidFill>
                  <a:srgbClr val="FF0000"/>
                </a:solidFill>
              </a:rPr>
              <a:t> &gt; </a:t>
            </a:r>
            <a:endParaRPr lang="pt-BR" dirty="0" smtClean="0">
              <a:solidFill>
                <a:srgbClr val="FF0000"/>
              </a:solidFill>
            </a:endParaRPr>
          </a:p>
          <a:p>
            <a:r>
              <a:rPr lang="pt-BR" dirty="0" smtClean="0"/>
              <a:t>Atributos</a:t>
            </a:r>
          </a:p>
          <a:p>
            <a:pPr lvl="1"/>
            <a:r>
              <a:rPr lang="pt-BR" dirty="0" smtClean="0"/>
              <a:t>Id : identifica o objeto na página</a:t>
            </a:r>
          </a:p>
          <a:p>
            <a:pPr lvl="1"/>
            <a:r>
              <a:rPr lang="pt-BR" dirty="0" err="1" smtClean="0"/>
              <a:t>Size</a:t>
            </a:r>
            <a:r>
              <a:rPr lang="pt-BR" dirty="0" smtClean="0"/>
              <a:t>: tamanho em colunas da caixa de texto</a:t>
            </a:r>
          </a:p>
          <a:p>
            <a:pPr lvl="1"/>
            <a:r>
              <a:rPr lang="pt-BR" dirty="0" err="1" smtClean="0"/>
              <a:t>Maxlength</a:t>
            </a:r>
            <a:r>
              <a:rPr lang="pt-BR" dirty="0" smtClean="0"/>
              <a:t>: quantidade máxima de caracteres digitados.</a:t>
            </a:r>
          </a:p>
          <a:p>
            <a:pPr lvl="1"/>
            <a:r>
              <a:rPr lang="pt-BR" dirty="0" err="1" smtClean="0"/>
              <a:t>Value</a:t>
            </a:r>
            <a:r>
              <a:rPr lang="pt-BR" dirty="0" smtClean="0"/>
              <a:t>: texto pré informado</a:t>
            </a:r>
            <a:endParaRPr lang="pt-BR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</a:t>
            </a:r>
            <a:r>
              <a:rPr lang="pt-BR" dirty="0" smtClean="0"/>
              <a:t>Objetos - </a:t>
            </a:r>
            <a:r>
              <a:rPr lang="pt-BR" dirty="0" err="1" smtClean="0"/>
              <a:t>Hidden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Utilizada para armazenar dados que não serão exibidos belo cliente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type="hidden" 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id="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escondido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</a:t>
            </a:r>
          </a:p>
          <a:p>
            <a:pPr>
              <a:buNone/>
            </a:pP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value="</a:t>
            </a:r>
            <a:r>
              <a:rPr lang="en-US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teste</a:t>
            </a:r>
            <a:r>
              <a:rPr lang="en-US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"&gt; </a:t>
            </a:r>
            <a:endParaRPr lang="en-US" sz="24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en-US" sz="2800" dirty="0" err="1" smtClean="0">
                <a:latin typeface="+mj-lt"/>
                <a:cs typeface="Courier New" pitchFamily="49" charset="0"/>
              </a:rPr>
              <a:t>Atributos</a:t>
            </a:r>
            <a:endParaRPr lang="en-US" sz="2800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sz="2400" dirty="0" smtClean="0">
                <a:latin typeface="+mj-lt"/>
                <a:cs typeface="Courier New" pitchFamily="49" charset="0"/>
              </a:rPr>
              <a:t>Id  :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identificação</a:t>
            </a:r>
            <a:r>
              <a:rPr lang="en-US" sz="2400" dirty="0" smtClean="0">
                <a:latin typeface="+mj-lt"/>
                <a:cs typeface="Courier New" pitchFamily="49" charset="0"/>
              </a:rPr>
              <a:t> do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objeto</a:t>
            </a:r>
            <a:endParaRPr lang="en-US" sz="2400" dirty="0" smtClean="0">
              <a:latin typeface="+mj-lt"/>
              <a:cs typeface="Courier New" pitchFamily="49" charset="0"/>
            </a:endParaRPr>
          </a:p>
          <a:p>
            <a:pPr lvl="1"/>
            <a:r>
              <a:rPr lang="en-US" sz="2400" dirty="0" smtClean="0">
                <a:latin typeface="+mj-lt"/>
                <a:cs typeface="Courier New" pitchFamily="49" charset="0"/>
              </a:rPr>
              <a:t>Value: dado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associado</a:t>
            </a:r>
            <a:r>
              <a:rPr lang="en-US" sz="2400" dirty="0" smtClean="0">
                <a:latin typeface="+mj-lt"/>
                <a:cs typeface="Courier New" pitchFamily="49" charset="0"/>
              </a:rPr>
              <a:t>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ao</a:t>
            </a:r>
            <a:r>
              <a:rPr lang="en-US" sz="2400" dirty="0" smtClean="0">
                <a:latin typeface="+mj-lt"/>
                <a:cs typeface="Courier New" pitchFamily="49" charset="0"/>
              </a:rPr>
              <a:t> </a:t>
            </a:r>
            <a:r>
              <a:rPr lang="en-US" sz="2400" dirty="0" err="1" smtClean="0">
                <a:latin typeface="+mj-lt"/>
                <a:cs typeface="Courier New" pitchFamily="49" charset="0"/>
              </a:rPr>
              <a:t>objeto</a:t>
            </a:r>
            <a:endParaRPr lang="pt-BR" sz="2400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Checkbox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Utilizado para coletar uma informação afirmativa ou negativa, não permite associação em grupos.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checkbox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id="receber"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checked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r>
              <a:rPr lang="pt-BR" sz="2400" dirty="0" smtClean="0">
                <a:latin typeface="+mj-lt"/>
                <a:cs typeface="Courier New" pitchFamily="49" charset="0"/>
              </a:rPr>
              <a:t>Atributos</a:t>
            </a:r>
          </a:p>
          <a:p>
            <a:pPr lvl="1"/>
            <a:r>
              <a:rPr lang="pt-BR" sz="2100" dirty="0" smtClean="0">
                <a:latin typeface="+mj-lt"/>
                <a:cs typeface="Courier New" pitchFamily="49" charset="0"/>
              </a:rPr>
              <a:t>Id : identifica o objeto na página</a:t>
            </a:r>
          </a:p>
          <a:p>
            <a:pPr lvl="1"/>
            <a:r>
              <a:rPr lang="pt-BR" sz="2100" dirty="0" err="1" smtClean="0">
                <a:latin typeface="+mj-lt"/>
                <a:cs typeface="Courier New" pitchFamily="49" charset="0"/>
              </a:rPr>
              <a:t>Checked</a:t>
            </a:r>
            <a:r>
              <a:rPr lang="pt-BR" sz="2100" dirty="0" smtClean="0">
                <a:latin typeface="+mj-lt"/>
                <a:cs typeface="Courier New" pitchFamily="49" charset="0"/>
              </a:rPr>
              <a:t> : quando informado vem pré selecionado</a:t>
            </a:r>
            <a:endParaRPr lang="pt-BR" sz="2100" dirty="0" smtClean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Radio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Utilizado para coletar uma informação </a:t>
            </a:r>
            <a:r>
              <a:rPr lang="pt-BR" dirty="0" smtClean="0"/>
              <a:t>optativa permitindo a associação </a:t>
            </a:r>
            <a:r>
              <a:rPr lang="pt-BR" dirty="0" smtClean="0"/>
              <a:t>em </a:t>
            </a:r>
            <a:r>
              <a:rPr lang="pt-BR" dirty="0" smtClean="0"/>
              <a:t>grupos de objetos.</a:t>
            </a:r>
            <a:endParaRPr lang="pt-BR" dirty="0" smtClean="0"/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="radio" id="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masculino”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genero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“&gt; M</a:t>
            </a:r>
            <a:endParaRPr lang="pt-BR" sz="24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input 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type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="radio" id="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feminino“</a:t>
            </a:r>
            <a:endParaRPr lang="pt-BR" sz="2400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name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sz="24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genero</a:t>
            </a:r>
            <a:r>
              <a:rPr lang="pt-BR" sz="24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“&gt; F</a:t>
            </a:r>
          </a:p>
          <a:p>
            <a:r>
              <a:rPr lang="pt-BR" sz="2400" dirty="0" smtClean="0">
                <a:latin typeface="+mj-lt"/>
                <a:cs typeface="Courier New" pitchFamily="49" charset="0"/>
              </a:rPr>
              <a:t>Atributos</a:t>
            </a:r>
          </a:p>
          <a:p>
            <a:pPr lvl="1"/>
            <a:r>
              <a:rPr lang="pt-BR" sz="2100" dirty="0" smtClean="0">
                <a:latin typeface="+mj-lt"/>
                <a:cs typeface="Courier New" pitchFamily="49" charset="0"/>
              </a:rPr>
              <a:t>Id: identificação do objeto na página</a:t>
            </a:r>
          </a:p>
          <a:p>
            <a:pPr lvl="1"/>
            <a:r>
              <a:rPr lang="pt-BR" sz="2100" dirty="0" err="1" smtClean="0">
                <a:latin typeface="+mj-lt"/>
                <a:cs typeface="Courier New" pitchFamily="49" charset="0"/>
              </a:rPr>
              <a:t>Name</a:t>
            </a:r>
            <a:r>
              <a:rPr lang="pt-BR" sz="2100" dirty="0" smtClean="0">
                <a:latin typeface="+mj-lt"/>
                <a:cs typeface="Courier New" pitchFamily="49" charset="0"/>
              </a:rPr>
              <a:t>: nome do grupo relacionado, sem este atributo os objetos trabalham  isolados.</a:t>
            </a:r>
          </a:p>
          <a:p>
            <a:pPr lvl="1"/>
            <a:r>
              <a:rPr lang="pt-BR" sz="2100" dirty="0" err="1" smtClean="0">
                <a:cs typeface="Courier New" pitchFamily="49" charset="0"/>
              </a:rPr>
              <a:t>Checked</a:t>
            </a:r>
            <a:r>
              <a:rPr lang="pt-BR" sz="2100" dirty="0" smtClean="0">
                <a:cs typeface="Courier New" pitchFamily="49" charset="0"/>
              </a:rPr>
              <a:t> : quando informado </a:t>
            </a:r>
            <a:r>
              <a:rPr lang="pt-BR" sz="2100" dirty="0" smtClean="0">
                <a:cs typeface="Courier New" pitchFamily="49" charset="0"/>
              </a:rPr>
              <a:t>a opção vem </a:t>
            </a:r>
            <a:r>
              <a:rPr lang="pt-BR" sz="2100" dirty="0" smtClean="0">
                <a:cs typeface="Courier New" pitchFamily="49" charset="0"/>
              </a:rPr>
              <a:t>pré </a:t>
            </a:r>
            <a:r>
              <a:rPr lang="pt-BR" sz="2100" dirty="0" smtClean="0">
                <a:cs typeface="Courier New" pitchFamily="49" charset="0"/>
              </a:rPr>
              <a:t>selecionada</a:t>
            </a:r>
            <a:endParaRPr lang="pt-BR" sz="2100" dirty="0" smtClean="0"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Button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pt-BR" dirty="0" smtClean="0"/>
              <a:t>Cria um botão, onde pode ser associado eventos</a:t>
            </a:r>
          </a:p>
          <a:p>
            <a:pPr>
              <a:buNone/>
            </a:pP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&lt;input type="button" id="btn1"</a:t>
            </a:r>
          </a:p>
          <a:p>
            <a:pPr>
              <a:buNone/>
            </a:pP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value="</a:t>
            </a:r>
            <a:r>
              <a:rPr lang="en-US" sz="2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Enviar</a:t>
            </a: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"&gt;&lt;</a:t>
            </a:r>
            <a:r>
              <a:rPr lang="en-US" sz="2800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br</a:t>
            </a:r>
            <a:r>
              <a:rPr lang="en-US" sz="2800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marL="320040" lvl="1" indent="-320040">
              <a:spcBef>
                <a:spcPts val="700"/>
              </a:spcBef>
              <a:buClr>
                <a:schemeClr val="accent2"/>
              </a:buClr>
              <a:buSzPct val="60000"/>
              <a:buFont typeface="Wingdings"/>
              <a:buChar char=""/>
            </a:pPr>
            <a:r>
              <a:rPr lang="pt-BR" sz="2400" dirty="0" smtClean="0">
                <a:cs typeface="Courier New" pitchFamily="49" charset="0"/>
              </a:rPr>
              <a:t>Atributos</a:t>
            </a:r>
          </a:p>
          <a:p>
            <a:pPr marL="59436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pt-BR" sz="2000" dirty="0" smtClean="0">
                <a:cs typeface="Courier New" pitchFamily="49" charset="0"/>
              </a:rPr>
              <a:t>Id </a:t>
            </a:r>
            <a:r>
              <a:rPr lang="pt-BR" sz="2000" dirty="0" smtClean="0">
                <a:cs typeface="Courier New" pitchFamily="49" charset="0"/>
              </a:rPr>
              <a:t>: identifica o objeto na </a:t>
            </a:r>
            <a:r>
              <a:rPr lang="pt-BR" sz="2000" dirty="0" smtClean="0">
                <a:cs typeface="Courier New" pitchFamily="49" charset="0"/>
              </a:rPr>
              <a:t>página</a:t>
            </a:r>
          </a:p>
          <a:p>
            <a:pPr marL="594360" lvl="2" indent="-320040">
              <a:spcBef>
                <a:spcPts val="700"/>
              </a:spcBef>
              <a:buSzPct val="60000"/>
              <a:buFont typeface="Wingdings"/>
              <a:buChar char=""/>
            </a:pPr>
            <a:r>
              <a:rPr lang="pt-BR" sz="2000" dirty="0" err="1" smtClean="0">
                <a:cs typeface="Courier New" pitchFamily="49" charset="0"/>
              </a:rPr>
              <a:t>Value</a:t>
            </a:r>
            <a:r>
              <a:rPr lang="pt-BR" sz="2000" dirty="0" smtClean="0">
                <a:cs typeface="Courier New" pitchFamily="49" charset="0"/>
              </a:rPr>
              <a:t>: texto exibido na tela</a:t>
            </a:r>
            <a:endParaRPr lang="pt-BR" sz="2000" dirty="0" smtClean="0">
              <a:cs typeface="Courier New" pitchFamily="49" charset="0"/>
            </a:endParaRPr>
          </a:p>
          <a:p>
            <a:endParaRPr lang="en-US" sz="2800" dirty="0" smtClean="0">
              <a:latin typeface="+mj-lt"/>
              <a:cs typeface="Courier New" pitchFamily="49" charset="0"/>
            </a:endParaRPr>
          </a:p>
          <a:p>
            <a:endParaRPr lang="pt-BR" sz="2800" dirty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Textarea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Caixa para textos extensos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textarea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id="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msg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“ 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			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rows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="10"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cols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="50"&gt;</a:t>
            </a:r>
          </a:p>
          <a:p>
            <a:pPr>
              <a:buNone/>
            </a:pPr>
            <a:r>
              <a:rPr lang="pt-BR" dirty="0" smtClean="0">
                <a:latin typeface="Courier New" pitchFamily="49" charset="0"/>
                <a:cs typeface="Courier New" pitchFamily="49" charset="0"/>
              </a:rPr>
              <a:t>	</a:t>
            </a:r>
            <a:r>
              <a:rPr lang="pt-BR" dirty="0" smtClean="0">
                <a:latin typeface="Courier New" pitchFamily="49" charset="0"/>
                <a:cs typeface="Courier New" pitchFamily="49" charset="0"/>
              </a:rPr>
              <a:t>texto pré definido</a:t>
            </a:r>
            <a:endParaRPr lang="pt-BR" dirty="0" smtClean="0">
              <a:latin typeface="Courier New" pitchFamily="49" charset="0"/>
              <a:cs typeface="Courier New" pitchFamily="49" charset="0"/>
            </a:endParaRP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textarea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 </a:t>
            </a:r>
            <a:endParaRPr lang="pt-BR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r>
              <a:rPr lang="pt-BR" dirty="0" smtClean="0">
                <a:latin typeface="+mj-lt"/>
                <a:cs typeface="Courier New" pitchFamily="49" charset="0"/>
              </a:rPr>
              <a:t>Atributos</a:t>
            </a:r>
          </a:p>
          <a:p>
            <a:pPr lvl="1"/>
            <a:r>
              <a:rPr lang="pt-BR" sz="2800" dirty="0" smtClean="0">
                <a:cs typeface="Courier New" pitchFamily="49" charset="0"/>
              </a:rPr>
              <a:t>Id : identifica o objeto na página</a:t>
            </a:r>
          </a:p>
          <a:p>
            <a:pPr lvl="1"/>
            <a:r>
              <a:rPr lang="pt-BR" dirty="0" err="1" smtClean="0">
                <a:latin typeface="+mj-lt"/>
                <a:cs typeface="Courier New" pitchFamily="49" charset="0"/>
              </a:rPr>
              <a:t>Rows</a:t>
            </a:r>
            <a:r>
              <a:rPr lang="pt-BR" dirty="0" smtClean="0">
                <a:latin typeface="+mj-lt"/>
                <a:cs typeface="Courier New" pitchFamily="49" charset="0"/>
              </a:rPr>
              <a:t>: quantidade de linhas a serem exibidas</a:t>
            </a:r>
          </a:p>
          <a:p>
            <a:pPr lvl="1"/>
            <a:r>
              <a:rPr lang="pt-BR" dirty="0" err="1" smtClean="0">
                <a:latin typeface="+mj-lt"/>
                <a:cs typeface="Courier New" pitchFamily="49" charset="0"/>
              </a:rPr>
              <a:t>Cols</a:t>
            </a:r>
            <a:r>
              <a:rPr lang="pt-BR" dirty="0" smtClean="0">
                <a:latin typeface="+mj-lt"/>
                <a:cs typeface="Courier New" pitchFamily="49" charset="0"/>
              </a:rPr>
              <a:t>: quantidade de colunas a serem exibidas</a:t>
            </a:r>
            <a:endParaRPr lang="pt-BR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Select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r>
              <a:rPr lang="pt-BR" dirty="0" smtClean="0"/>
              <a:t>Caixa de seleção composta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id="unidade"&gt;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 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&gt;Fatec 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Ipiranga&lt;/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&gt;Fatec 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ZS&lt;/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&gt;Fatec 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SC&lt;/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option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lvl="1"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&lt;/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select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&gt;	</a:t>
            </a:r>
            <a:endParaRPr lang="pt-BR" dirty="0" smtClean="0">
              <a:solidFill>
                <a:srgbClr val="FF0000"/>
              </a:solidFill>
              <a:latin typeface="Courier New" pitchFamily="49" charset="0"/>
              <a:cs typeface="Courier New" pitchFamily="49" charset="0"/>
            </a:endParaRPr>
          </a:p>
          <a:p>
            <a:pPr lvl="1"/>
            <a:r>
              <a:rPr lang="pt-BR" dirty="0" smtClean="0">
                <a:latin typeface="+mj-lt"/>
                <a:cs typeface="Courier New" pitchFamily="49" charset="0"/>
              </a:rPr>
              <a:t>Atributos	</a:t>
            </a:r>
          </a:p>
          <a:p>
            <a:pPr lvl="2"/>
            <a:r>
              <a:rPr lang="pt-BR" sz="2000" dirty="0" smtClean="0">
                <a:cs typeface="Courier New" pitchFamily="49" charset="0"/>
              </a:rPr>
              <a:t>Id : identifica o objeto na página</a:t>
            </a:r>
          </a:p>
          <a:p>
            <a:pPr lvl="2"/>
            <a:r>
              <a:rPr lang="pt-BR" sz="2000" dirty="0" smtClean="0">
                <a:latin typeface="+mj-lt"/>
                <a:cs typeface="Courier New" pitchFamily="49" charset="0"/>
              </a:rPr>
              <a:t>&lt;</a:t>
            </a:r>
            <a:r>
              <a:rPr lang="pt-BR" sz="2000" dirty="0" err="1" smtClean="0">
                <a:latin typeface="+mj-lt"/>
                <a:cs typeface="Courier New" pitchFamily="49" charset="0"/>
              </a:rPr>
              <a:t>option</a:t>
            </a:r>
            <a:r>
              <a:rPr lang="pt-BR" sz="2000" dirty="0" smtClean="0">
                <a:latin typeface="+mj-lt"/>
                <a:cs typeface="Courier New" pitchFamily="49" charset="0"/>
              </a:rPr>
              <a:t>&gt;</a:t>
            </a:r>
            <a:r>
              <a:rPr lang="pt-BR" sz="2000" dirty="0" err="1" smtClean="0">
                <a:latin typeface="+mj-lt"/>
                <a:cs typeface="Courier New" pitchFamily="49" charset="0"/>
              </a:rPr>
              <a:t>conteudo</a:t>
            </a:r>
            <a:r>
              <a:rPr lang="pt-BR" sz="2000" dirty="0" smtClean="0">
                <a:latin typeface="+mj-lt"/>
                <a:cs typeface="Courier New" pitchFamily="49" charset="0"/>
              </a:rPr>
              <a:t>&lt;/</a:t>
            </a:r>
            <a:r>
              <a:rPr lang="pt-BR" sz="2000" dirty="0" err="1" smtClean="0">
                <a:latin typeface="+mj-lt"/>
                <a:cs typeface="Courier New" pitchFamily="49" charset="0"/>
              </a:rPr>
              <a:t>option</a:t>
            </a:r>
            <a:r>
              <a:rPr lang="pt-BR" sz="2000" dirty="0" smtClean="0">
                <a:latin typeface="+mj-lt"/>
                <a:cs typeface="Courier New" pitchFamily="49" charset="0"/>
              </a:rPr>
              <a:t>&gt; </a:t>
            </a:r>
            <a:r>
              <a:rPr lang="pt-BR" dirty="0" smtClean="0">
                <a:latin typeface="+mj-lt"/>
                <a:cs typeface="Courier New" pitchFamily="49" charset="0"/>
              </a:rPr>
              <a:t>: item da seleção</a:t>
            </a:r>
          </a:p>
          <a:p>
            <a:pPr lvl="3"/>
            <a:r>
              <a:rPr lang="pt-BR" dirty="0" smtClean="0">
                <a:latin typeface="+mj-lt"/>
                <a:cs typeface="Courier New" pitchFamily="49" charset="0"/>
              </a:rPr>
              <a:t>&lt;</a:t>
            </a:r>
            <a:r>
              <a:rPr lang="pt-BR" dirty="0" err="1" smtClean="0">
                <a:latin typeface="+mj-lt"/>
                <a:cs typeface="Courier New" pitchFamily="49" charset="0"/>
              </a:rPr>
              <a:t>optio</a:t>
            </a:r>
            <a:r>
              <a:rPr lang="pt-BR" dirty="0" smtClean="0">
                <a:latin typeface="+mj-lt"/>
                <a:cs typeface="Courier New" pitchFamily="49" charset="0"/>
              </a:rPr>
              <a:t> </a:t>
            </a:r>
            <a:r>
              <a:rPr lang="pt-BR" dirty="0" err="1" smtClean="0">
                <a:latin typeface="+mj-lt"/>
                <a:cs typeface="Courier New" pitchFamily="49" charset="0"/>
              </a:rPr>
              <a:t>value</a:t>
            </a:r>
            <a:r>
              <a:rPr lang="pt-BR" dirty="0" smtClean="0">
                <a:latin typeface="+mj-lt"/>
                <a:cs typeface="Courier New" pitchFamily="49" charset="0"/>
              </a:rPr>
              <a:t>=“IP”&gt;Ipiranga&lt;/</a:t>
            </a:r>
            <a:r>
              <a:rPr lang="pt-BR" dirty="0" err="1" smtClean="0">
                <a:latin typeface="+mj-lt"/>
                <a:cs typeface="Courier New" pitchFamily="49" charset="0"/>
              </a:rPr>
              <a:t>option</a:t>
            </a:r>
            <a:r>
              <a:rPr lang="pt-BR" dirty="0" smtClean="0">
                <a:latin typeface="+mj-lt"/>
                <a:cs typeface="Courier New" pitchFamily="49" charset="0"/>
              </a:rPr>
              <a:t>&gt;: o atributo </a:t>
            </a:r>
            <a:r>
              <a:rPr lang="pt-BR" dirty="0" err="1" smtClean="0">
                <a:latin typeface="+mj-lt"/>
                <a:cs typeface="Courier New" pitchFamily="49" charset="0"/>
              </a:rPr>
              <a:t>value</a:t>
            </a:r>
            <a:r>
              <a:rPr lang="pt-BR" dirty="0" smtClean="0">
                <a:latin typeface="+mj-lt"/>
                <a:cs typeface="Courier New" pitchFamily="49" charset="0"/>
              </a:rPr>
              <a:t> permite associar um valor diferente ao texto exibido.</a:t>
            </a:r>
            <a:endParaRPr lang="pt-BR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err="1" smtClean="0"/>
              <a:t>Tags</a:t>
            </a:r>
            <a:r>
              <a:rPr lang="pt-BR" dirty="0" smtClean="0"/>
              <a:t> de Objetos - </a:t>
            </a:r>
            <a:r>
              <a:rPr lang="pt-BR" dirty="0" err="1" smtClean="0"/>
              <a:t>Img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sz="quarter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 smtClean="0"/>
              <a:t>Objeto de imagem </a:t>
            </a:r>
            <a:endParaRPr lang="pt-BR" u="sng" dirty="0" smtClean="0"/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img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src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="koala.jpg" id="img1" </a:t>
            </a:r>
          </a:p>
          <a:p>
            <a:pPr>
              <a:buNone/>
            </a:pP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alt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Koala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" </a:t>
            </a:r>
            <a:r>
              <a:rPr lang="pt-BR" dirty="0" err="1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width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="</a:t>
            </a:r>
            <a:r>
              <a:rPr lang="pt-BR" dirty="0" smtClean="0">
                <a:solidFill>
                  <a:srgbClr val="FF0000"/>
                </a:solidFill>
                <a:latin typeface="Courier New" pitchFamily="49" charset="0"/>
                <a:cs typeface="Courier New" pitchFamily="49" charset="0"/>
              </a:rPr>
              <a:t>200px“&gt;</a:t>
            </a:r>
          </a:p>
          <a:p>
            <a:r>
              <a:rPr lang="pt-BR" dirty="0" smtClean="0">
                <a:latin typeface="+mj-lt"/>
                <a:cs typeface="Courier New" pitchFamily="49" charset="0"/>
              </a:rPr>
              <a:t>Atributos</a:t>
            </a:r>
          </a:p>
          <a:p>
            <a:pPr lvl="1"/>
            <a:r>
              <a:rPr lang="pt-BR" dirty="0" err="1" smtClean="0">
                <a:latin typeface="+mj-lt"/>
                <a:cs typeface="Courier New" pitchFamily="49" charset="0"/>
              </a:rPr>
              <a:t>Src</a:t>
            </a:r>
            <a:r>
              <a:rPr lang="pt-BR" dirty="0" smtClean="0">
                <a:latin typeface="+mj-lt"/>
                <a:cs typeface="Courier New" pitchFamily="49" charset="0"/>
              </a:rPr>
              <a:t>: caminho onde esta localizada a imagem, local ou virtual</a:t>
            </a:r>
          </a:p>
          <a:p>
            <a:pPr lvl="1"/>
            <a:r>
              <a:rPr lang="pt-BR" sz="2800" dirty="0" smtClean="0">
                <a:cs typeface="Courier New" pitchFamily="49" charset="0"/>
              </a:rPr>
              <a:t>Id: identifica </a:t>
            </a:r>
            <a:r>
              <a:rPr lang="pt-BR" sz="2800" dirty="0" smtClean="0">
                <a:cs typeface="Courier New" pitchFamily="49" charset="0"/>
              </a:rPr>
              <a:t>o objeto na </a:t>
            </a:r>
            <a:r>
              <a:rPr lang="pt-BR" sz="2800" dirty="0" smtClean="0">
                <a:cs typeface="Courier New" pitchFamily="49" charset="0"/>
              </a:rPr>
              <a:t>página</a:t>
            </a:r>
          </a:p>
          <a:p>
            <a:pPr lvl="1"/>
            <a:r>
              <a:rPr lang="pt-BR" sz="2800" dirty="0" err="1" smtClean="0">
                <a:latin typeface="+mj-lt"/>
                <a:cs typeface="Courier New" pitchFamily="49" charset="0"/>
              </a:rPr>
              <a:t>Alt</a:t>
            </a:r>
            <a:r>
              <a:rPr lang="pt-BR" sz="2800" dirty="0" smtClean="0">
                <a:latin typeface="+mj-lt"/>
                <a:cs typeface="Courier New" pitchFamily="49" charset="0"/>
              </a:rPr>
              <a:t>: texto alternativo da imagem</a:t>
            </a:r>
          </a:p>
          <a:p>
            <a:pPr lvl="1"/>
            <a:r>
              <a:rPr lang="pt-BR" sz="2800" dirty="0" err="1" smtClean="0">
                <a:latin typeface="+mj-lt"/>
                <a:cs typeface="Courier New" pitchFamily="49" charset="0"/>
              </a:rPr>
              <a:t>Width</a:t>
            </a:r>
            <a:r>
              <a:rPr lang="pt-BR" sz="2800" dirty="0" smtClean="0">
                <a:latin typeface="+mj-lt"/>
                <a:cs typeface="Courier New" pitchFamily="49" charset="0"/>
              </a:rPr>
              <a:t>: largura ajustada da imagem</a:t>
            </a:r>
          </a:p>
          <a:p>
            <a:pPr lvl="1"/>
            <a:r>
              <a:rPr lang="pt-BR" sz="2800" dirty="0" err="1" smtClean="0">
                <a:latin typeface="+mj-lt"/>
                <a:cs typeface="Courier New" pitchFamily="49" charset="0"/>
              </a:rPr>
              <a:t>Height</a:t>
            </a:r>
            <a:r>
              <a:rPr lang="pt-BR" sz="2800" dirty="0" smtClean="0">
                <a:latin typeface="+mj-lt"/>
                <a:cs typeface="Courier New" pitchFamily="49" charset="0"/>
              </a:rPr>
              <a:t>: altura </a:t>
            </a:r>
            <a:r>
              <a:rPr lang="pt-BR" sz="2800" u="sng" dirty="0" smtClean="0">
                <a:latin typeface="+mj-lt"/>
                <a:cs typeface="Courier New" pitchFamily="49" charset="0"/>
              </a:rPr>
              <a:t>ajustada</a:t>
            </a:r>
            <a:r>
              <a:rPr lang="pt-BR" sz="2800" dirty="0" smtClean="0">
                <a:latin typeface="+mj-lt"/>
                <a:cs typeface="Courier New" pitchFamily="49" charset="0"/>
              </a:rPr>
              <a:t> da imagem</a:t>
            </a:r>
            <a:endParaRPr lang="pt-BR" dirty="0" smtClean="0">
              <a:latin typeface="+mj-lt"/>
              <a:cs typeface="Courier New" pitchFamily="49" charset="0"/>
            </a:endParaRPr>
          </a:p>
          <a:p>
            <a:pPr lvl="1"/>
            <a:endParaRPr lang="pt-BR" dirty="0">
              <a:latin typeface="+mj-lt"/>
              <a:cs typeface="Courier New" pitchFamily="49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diano">
  <a:themeElements>
    <a:clrScheme name="Aspecto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Mediano">
      <a:maj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w Cen MT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inorFont>
    </a:fontScheme>
    <a:fmtScheme name="Mediano">
      <a:fillStyleLst>
        <a:solidFill>
          <a:schemeClr val="phClr"/>
        </a:solidFill>
        <a:solidFill>
          <a:schemeClr val="phClr">
            <a:tint val="50000"/>
          </a:schemeClr>
        </a:solidFill>
        <a:solidFill>
          <a:schemeClr val="phClr"/>
        </a:soli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47625" cap="flat" cmpd="dbl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300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  <a:scene3d>
            <a:camera prst="isometricTopDown" fov="0">
              <a:rot lat="0" lon="0" rev="0"/>
            </a:camera>
            <a:lightRig rig="balanced" dir="t">
              <a:rot lat="0" lon="0" rev="13800000"/>
            </a:lightRig>
          </a:scene3d>
          <a:sp3d extrusionH="12700" prstMaterial="plastic">
            <a:bevelT w="38100" h="25400" prst="softRound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  <a:blipFill>
          <a:blip xmlns:r="http://schemas.openxmlformats.org/officeDocument/2006/relationships" r:embed="rId2">
            <a:duotone>
              <a:schemeClr val="phClr">
                <a:shade val="90000"/>
                <a:satMod val="140000"/>
              </a:schemeClr>
              <a:schemeClr val="phClr">
                <a:satMod val="12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Median</Template>
  <TotalTime>268</TotalTime>
  <Words>1262</Words>
  <Application>Microsoft Office PowerPoint</Application>
  <PresentationFormat>Apresentação na tela (4:3)</PresentationFormat>
  <Paragraphs>294</Paragraphs>
  <Slides>33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33</vt:i4>
      </vt:variant>
    </vt:vector>
  </HeadingPairs>
  <TitlesOfParts>
    <vt:vector size="34" baseType="lpstr">
      <vt:lpstr>Mediano</vt:lpstr>
      <vt:lpstr>Programação WEB</vt:lpstr>
      <vt:lpstr>O que é </vt:lpstr>
      <vt:lpstr>Características</vt:lpstr>
      <vt:lpstr>TAGS</vt:lpstr>
      <vt:lpstr>Tags de Estrutura - html</vt:lpstr>
      <vt:lpstr>Tags de Estrutura – head, title</vt:lpstr>
      <vt:lpstr>Tags de Estrutura - meta</vt:lpstr>
      <vt:lpstr>Tags de Estrutura - body</vt:lpstr>
      <vt:lpstr>Tag de Estrutura - p</vt:lpstr>
      <vt:lpstr>Tag de Estrutura - br</vt:lpstr>
      <vt:lpstr>Tags de Estrutura – h1...h6</vt:lpstr>
      <vt:lpstr>Tags de Estrutura -div</vt:lpstr>
      <vt:lpstr>Tags de Estrutura - table</vt:lpstr>
      <vt:lpstr>Tag de Estrutura - table</vt:lpstr>
      <vt:lpstr>Tags de Estrutura - br</vt:lpstr>
      <vt:lpstr>Tags de Formatação</vt:lpstr>
      <vt:lpstr>Tags de Formatação – b, i, u, s</vt:lpstr>
      <vt:lpstr>Tags de Formatação  - font</vt:lpstr>
      <vt:lpstr>Tags de Formatação - font</vt:lpstr>
      <vt:lpstr>Tags de Formatação - ul</vt:lpstr>
      <vt:lpstr>Tags de formatação - ol</vt:lpstr>
      <vt:lpstr>Tags de Formatação - a</vt:lpstr>
      <vt:lpstr>Tags de Objetos</vt:lpstr>
      <vt:lpstr>Tags de Objetos - Text</vt:lpstr>
      <vt:lpstr>Tags de Objetos - Text</vt:lpstr>
      <vt:lpstr>Tags de Objetos - Password</vt:lpstr>
      <vt:lpstr>Tags de Objetos - Hidden</vt:lpstr>
      <vt:lpstr>Tags de Objetos - Checkbox</vt:lpstr>
      <vt:lpstr>Tags de Objetos - Radio</vt:lpstr>
      <vt:lpstr>Tags de Objetos - Button</vt:lpstr>
      <vt:lpstr>Tags de Objetos - Textarea</vt:lpstr>
      <vt:lpstr>Tags de Objetos - Select</vt:lpstr>
      <vt:lpstr>Tags de Objetos - Img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Programação de Dispositivos Moveis</dc:title>
  <dc:creator>nglaser</dc:creator>
  <cp:lastModifiedBy>professor</cp:lastModifiedBy>
  <cp:revision>52</cp:revision>
  <dcterms:created xsi:type="dcterms:W3CDTF">2013-02-08T17:26:03Z</dcterms:created>
  <dcterms:modified xsi:type="dcterms:W3CDTF">2014-02-08T12:42:53Z</dcterms:modified>
</cp:coreProperties>
</file>