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7" r:id="rId7"/>
    <p:sldId id="268" r:id="rId8"/>
    <p:sldId id="269" r:id="rId9"/>
    <p:sldId id="270" r:id="rId10"/>
    <p:sldId id="271" r:id="rId11"/>
    <p:sldId id="272" r:id="rId12"/>
    <p:sldId id="261" r:id="rId13"/>
    <p:sldId id="262" r:id="rId14"/>
    <p:sldId id="263" r:id="rId15"/>
    <p:sldId id="264" r:id="rId16"/>
    <p:sldId id="265" r:id="rId17"/>
    <p:sldId id="26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4" autoAdjust="0"/>
    <p:restoredTop sz="94660"/>
  </p:normalViewPr>
  <p:slideViewPr>
    <p:cSldViewPr snapToGrid="0">
      <p:cViewPr varScale="1">
        <p:scale>
          <a:sx n="106" d="100"/>
          <a:sy n="106" d="100"/>
        </p:scale>
        <p:origin x="132"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pt-BR" smtClean="0"/>
              <a:t>Clique para editar o título mestre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pt-BR" smtClean="0"/>
              <a:t>Clique para editar o título mestre</a:t>
            </a:r>
            <a:endParaRPr lang="en-US" dirty="0"/>
          </a:p>
        </p:txBody>
      </p:sp>
      <p:sp>
        <p:nvSpPr>
          <p:cNvPr id="3" name="Content Placeholder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pt-BR" smtClean="0"/>
              <a:t>Clique para editar o título mestre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3/24/2016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3/24/2016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smtClean="0"/>
              <a:t>Clique para editar o título mestre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3/24/2016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pt-BR" smtClean="0"/>
              <a:t>Clique para editar o título mestre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3/24/2016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3/24/2016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pt-BR" smtClean="0"/>
              <a:t>Clique para editar o título mestre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pt-BR" smtClean="0"/>
              <a:t>Clique para editar o texto mestre</a:t>
            </a:r>
          </a:p>
        </p:txBody>
      </p:sp>
      <p:sp>
        <p:nvSpPr>
          <p:cNvPr id="5" name="Date Placeholder 4"/>
          <p:cNvSpPr>
            <a:spLocks noGrp="1"/>
          </p:cNvSpPr>
          <p:nvPr>
            <p:ph type="dt" sz="half" idx="10"/>
          </p:nvPr>
        </p:nvSpPr>
        <p:spPr/>
        <p:txBody>
          <a:bodyPr/>
          <a:lstStyle/>
          <a:p>
            <a:fld id="{42A54C80-263E-416B-A8E0-580EDEADCBDC}" type="datetimeFigureOut">
              <a:rPr lang="en-US" dirty="0"/>
              <a:t>3/24/2016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pt-BR" smtClean="0"/>
              <a:t>Clique para editar o título mestre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smtClean="0"/>
              <a:t>Clique no ícone para adicionar uma imagem</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Date Placeholder 4"/>
          <p:cNvSpPr>
            <a:spLocks noGrp="1"/>
          </p:cNvSpPr>
          <p:nvPr>
            <p:ph type="dt" sz="half" idx="10"/>
          </p:nvPr>
        </p:nvSpPr>
        <p:spPr/>
        <p:txBody>
          <a:bodyPr/>
          <a:lstStyle/>
          <a:p>
            <a:fld id="{B61BEF0D-F0BB-DE4B-95CE-6DB70DBA9567}" type="datetimeFigureOut">
              <a:rPr lang="en-US" dirty="0"/>
              <a:pPr/>
              <a:t>3/24/2016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pt-BR" smtClean="0"/>
              <a:t>Clique para editar o título mestre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3/24/2016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t-BR" smtClean="0"/>
              <a:t>Clique para editar o título mestre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smtClean="0"/>
              <a:t>Clique para editar o texto mestre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3/24/2016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pt-BR" smtClean="0"/>
              <a:t>Clique para editar o título mestre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3/24/2016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t-BR" smtClean="0"/>
              <a:t>Clique para editar o título mestre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smtClean="0"/>
              <a:t>Clique para editar o texto mestre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3/24/2016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pt-BR" smtClean="0"/>
              <a:t>Clique para editar o título mestre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smtClean="0"/>
              <a:t>Clique para editar o texto mestre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3/24/2016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3/24/2016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pt-BR" smtClean="0"/>
              <a:t>Clique para editar o título mestre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pt-BR" smtClean="0"/>
              <a:t>Clique para editar o título mestre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3/24/2016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smtClean="0"/>
              <a:t>Funções Financeiras</a:t>
            </a:r>
            <a:endParaRPr lang="pt-BR" dirty="0"/>
          </a:p>
        </p:txBody>
      </p:sp>
      <p:sp>
        <p:nvSpPr>
          <p:cNvPr id="3" name="Subtítulo 2"/>
          <p:cNvSpPr>
            <a:spLocks noGrp="1"/>
          </p:cNvSpPr>
          <p:nvPr>
            <p:ph type="subTitle" idx="1"/>
          </p:nvPr>
        </p:nvSpPr>
        <p:spPr/>
        <p:txBody>
          <a:bodyPr/>
          <a:lstStyle/>
          <a:p>
            <a:r>
              <a:rPr lang="pt-BR" dirty="0" smtClean="0"/>
              <a:t>Parte 2</a:t>
            </a:r>
            <a:endParaRPr lang="pt-BR" dirty="0"/>
          </a:p>
        </p:txBody>
      </p:sp>
    </p:spTree>
    <p:extLst>
      <p:ext uri="{BB962C8B-B14F-4D97-AF65-F5344CB8AC3E}">
        <p14:creationId xmlns:p14="http://schemas.microsoft.com/office/powerpoint/2010/main" val="1622064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TAXA </a:t>
            </a:r>
            <a:r>
              <a:rPr lang="pt-BR" dirty="0"/>
              <a:t>INTERNA DE RETORNO (TIR)</a:t>
            </a:r>
          </a:p>
        </p:txBody>
      </p:sp>
      <p:sp>
        <p:nvSpPr>
          <p:cNvPr id="3" name="Espaço Reservado para Conteúdo 2"/>
          <p:cNvSpPr>
            <a:spLocks noGrp="1"/>
          </p:cNvSpPr>
          <p:nvPr>
            <p:ph idx="1"/>
          </p:nvPr>
        </p:nvSpPr>
        <p:spPr/>
        <p:txBody>
          <a:bodyPr>
            <a:normAutofit fontScale="92500" lnSpcReduction="20000"/>
          </a:bodyPr>
          <a:lstStyle/>
          <a:p>
            <a:endParaRPr lang="pt-BR" dirty="0"/>
          </a:p>
          <a:p>
            <a:r>
              <a:rPr lang="pt-BR" dirty="0"/>
              <a:t>A Taxa Interna de Retorno (TIR) é outra medida de investimento, porém, diferentemente do VPL, a TIR não retorna um valor monetário. Ela retorna um percentual.</a:t>
            </a:r>
          </a:p>
          <a:p>
            <a:endParaRPr lang="pt-BR" dirty="0"/>
          </a:p>
          <a:p>
            <a:r>
              <a:rPr lang="pt-BR" dirty="0"/>
              <a:t>No Excel; TIR (</a:t>
            </a:r>
            <a:r>
              <a:rPr lang="pt-BR" dirty="0" err="1"/>
              <a:t>valores;estimativa</a:t>
            </a:r>
            <a:r>
              <a:rPr lang="pt-BR" dirty="0"/>
              <a:t>)</a:t>
            </a:r>
          </a:p>
          <a:p>
            <a:r>
              <a:rPr lang="pt-BR" dirty="0"/>
              <a:t>Valores é uma matriz ou uma referência a células que contêm números cuja taxa interna de retorno se deseja </a:t>
            </a:r>
            <a:r>
              <a:rPr lang="pt-BR" dirty="0" smtClean="0"/>
              <a:t>calcular.</a:t>
            </a:r>
          </a:p>
          <a:p>
            <a:pPr lvl="1"/>
            <a:r>
              <a:rPr lang="pt-BR" dirty="0" smtClean="0"/>
              <a:t>Valores </a:t>
            </a:r>
            <a:r>
              <a:rPr lang="pt-BR" dirty="0"/>
              <a:t>deve conter pelo menos um valor positivo e um negativo para calcular a taxa interna de </a:t>
            </a:r>
            <a:r>
              <a:rPr lang="pt-BR" dirty="0" smtClean="0"/>
              <a:t>retorno.</a:t>
            </a:r>
          </a:p>
          <a:p>
            <a:pPr lvl="1"/>
            <a:r>
              <a:rPr lang="pt-BR" dirty="0" smtClean="0"/>
              <a:t>TIR </a:t>
            </a:r>
            <a:r>
              <a:rPr lang="pt-BR" dirty="0"/>
              <a:t>usa a ordem de valores para interpretar a ordem de fluxos de caixa. Certifique-se de inserir os valores de pagamentos e rendas na </a:t>
            </a:r>
            <a:r>
              <a:rPr lang="pt-BR" dirty="0" smtClean="0"/>
              <a:t>sequência desejada.</a:t>
            </a:r>
          </a:p>
          <a:p>
            <a:pPr lvl="1"/>
            <a:r>
              <a:rPr lang="pt-BR" dirty="0" smtClean="0"/>
              <a:t>Se </a:t>
            </a:r>
            <a:r>
              <a:rPr lang="pt-BR" dirty="0"/>
              <a:t>uma matriz ou argumento de referência contiver texto, valores lógicos ou células em branco, estes valores serão ignorados.</a:t>
            </a:r>
          </a:p>
          <a:p>
            <a:endParaRPr lang="pt-BR" dirty="0"/>
          </a:p>
        </p:txBody>
      </p:sp>
    </p:spTree>
    <p:extLst>
      <p:ext uri="{BB962C8B-B14F-4D97-AF65-F5344CB8AC3E}">
        <p14:creationId xmlns:p14="http://schemas.microsoft.com/office/powerpoint/2010/main" val="4176967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TAXA INTERNA DE RETORNO (TIR)</a:t>
            </a:r>
          </a:p>
        </p:txBody>
      </p:sp>
      <p:sp>
        <p:nvSpPr>
          <p:cNvPr id="3" name="Espaço Reservado para Conteúdo 2"/>
          <p:cNvSpPr>
            <a:spLocks noGrp="1"/>
          </p:cNvSpPr>
          <p:nvPr>
            <p:ph idx="1"/>
          </p:nvPr>
        </p:nvSpPr>
        <p:spPr/>
        <p:txBody>
          <a:bodyPr/>
          <a:lstStyle/>
          <a:p>
            <a:r>
              <a:rPr lang="pt-BR" dirty="0"/>
              <a:t>Estimativa é um número que se estima ser próximo do resultado de TIR</a:t>
            </a:r>
            <a:r>
              <a:rPr lang="pt-BR" dirty="0" smtClean="0"/>
              <a:t>.</a:t>
            </a:r>
            <a:endParaRPr lang="pt-BR" dirty="0"/>
          </a:p>
          <a:p>
            <a:pPr lvl="0"/>
            <a:r>
              <a:rPr lang="pt-BR" dirty="0"/>
              <a:t>O Microsoft Excel usa uma técnica iterativa para calcular TIR. Começando por estimativa, TIR refaz o cálculo até o resultado ter uma precisão de 0,00001 por cento. Se TIR não puder localizar um resultado que funcione depois de 20 tentativas, o valor de erro #NÚM! será retornado</a:t>
            </a:r>
            <a:r>
              <a:rPr lang="pt-BR" dirty="0" smtClean="0"/>
              <a:t>.</a:t>
            </a:r>
            <a:endParaRPr lang="pt-BR" dirty="0"/>
          </a:p>
          <a:p>
            <a:pPr lvl="0"/>
            <a:r>
              <a:rPr lang="pt-BR" dirty="0"/>
              <a:t>Na maioria dos casos, não é necessário fornecer estimativa para o cálculo de TIR. </a:t>
            </a:r>
            <a:r>
              <a:rPr lang="en-US" dirty="0"/>
              <a:t>Se </a:t>
            </a:r>
            <a:r>
              <a:rPr lang="en-US" dirty="0" err="1"/>
              <a:t>estimativa</a:t>
            </a:r>
            <a:r>
              <a:rPr lang="en-US" dirty="0"/>
              <a:t> for </a:t>
            </a:r>
            <a:r>
              <a:rPr lang="en-US" dirty="0" err="1"/>
              <a:t>omitida</a:t>
            </a:r>
            <a:r>
              <a:rPr lang="en-US" dirty="0"/>
              <a:t>, </a:t>
            </a:r>
            <a:r>
              <a:rPr lang="en-US" dirty="0" err="1"/>
              <a:t>será</a:t>
            </a:r>
            <a:r>
              <a:rPr lang="en-US" dirty="0"/>
              <a:t> </a:t>
            </a:r>
            <a:r>
              <a:rPr lang="en-US" dirty="0" err="1"/>
              <a:t>considerada</a:t>
            </a:r>
            <a:r>
              <a:rPr lang="en-US" dirty="0"/>
              <a:t> 0,1 (10 </a:t>
            </a:r>
            <a:r>
              <a:rPr lang="en-US" dirty="0" err="1"/>
              <a:t>por</a:t>
            </a:r>
            <a:r>
              <a:rPr lang="en-US" dirty="0"/>
              <a:t> cento</a:t>
            </a:r>
            <a:r>
              <a:rPr lang="en-US" dirty="0" smtClean="0"/>
              <a:t>).</a:t>
            </a:r>
          </a:p>
          <a:p>
            <a:pPr lvl="0"/>
            <a:r>
              <a:rPr lang="pt-BR" dirty="0"/>
              <a:t>Se TIR fornecer o valor de erro #NÚM!, ou se o resultado não for próximo do esperado, tente novamente com um valor diferente para estimativa.</a:t>
            </a:r>
          </a:p>
          <a:p>
            <a:endParaRPr lang="pt-BR" dirty="0"/>
          </a:p>
          <a:p>
            <a:endParaRPr lang="pt-BR" dirty="0"/>
          </a:p>
        </p:txBody>
      </p:sp>
    </p:spTree>
    <p:extLst>
      <p:ext uri="{BB962C8B-B14F-4D97-AF65-F5344CB8AC3E}">
        <p14:creationId xmlns:p14="http://schemas.microsoft.com/office/powerpoint/2010/main" val="1972457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677334" y="597529"/>
            <a:ext cx="8596668" cy="1023041"/>
          </a:xfrm>
        </p:spPr>
        <p:txBody>
          <a:bodyPr/>
          <a:lstStyle/>
          <a:p>
            <a:r>
              <a:rPr lang="pt-BR" dirty="0"/>
              <a:t>O percentual retornado pela TIR é a taxa de juros que zero o VPL. Para compreender melhor o que isso significa, vamos retornar ao exemplo. </a:t>
            </a:r>
            <a:r>
              <a:rPr lang="en-US" dirty="0"/>
              <a:t>Observe a </a:t>
            </a:r>
            <a:r>
              <a:rPr lang="en-US" dirty="0" err="1"/>
              <a:t>figura</a:t>
            </a:r>
            <a:r>
              <a:rPr lang="en-US" dirty="0"/>
              <a:t>:</a:t>
            </a:r>
            <a:endParaRPr lang="pt-BR" dirty="0"/>
          </a:p>
          <a:p>
            <a:endParaRPr lang="pt-BR" dirty="0"/>
          </a:p>
        </p:txBody>
      </p:sp>
      <p:pic>
        <p:nvPicPr>
          <p:cNvPr id="4" name="image85.png"/>
          <p:cNvPicPr/>
          <p:nvPr/>
        </p:nvPicPr>
        <p:blipFill>
          <a:blip r:embed="rId2" cstate="print"/>
          <a:stretch>
            <a:fillRect/>
          </a:stretch>
        </p:blipFill>
        <p:spPr>
          <a:xfrm>
            <a:off x="2043867" y="1745810"/>
            <a:ext cx="5514975" cy="4724400"/>
          </a:xfrm>
          <a:prstGeom prst="rect">
            <a:avLst/>
          </a:prstGeom>
        </p:spPr>
      </p:pic>
    </p:spTree>
    <p:extLst>
      <p:ext uri="{BB962C8B-B14F-4D97-AF65-F5344CB8AC3E}">
        <p14:creationId xmlns:p14="http://schemas.microsoft.com/office/powerpoint/2010/main" val="3390577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822190" y="485698"/>
            <a:ext cx="8596668" cy="2112647"/>
          </a:xfrm>
        </p:spPr>
        <p:txBody>
          <a:bodyPr>
            <a:normAutofit fontScale="92500" lnSpcReduction="20000"/>
          </a:bodyPr>
          <a:lstStyle/>
          <a:p>
            <a:r>
              <a:rPr lang="pt-BR" dirty="0"/>
              <a:t>A TIR é calculada em cima do investimento e fluxos de caixa. O resultado final é aproximadamente 8,63%. Em seguida, utilizamos este valor para calcular o VPL. Como foi observado, a TIR é a taxa que zera o VPL. Em outras palavras, a TIR representa a taxa máxima que o projeto </a:t>
            </a:r>
            <a:r>
              <a:rPr lang="pt-BR" dirty="0" smtClean="0"/>
              <a:t>aguenta </a:t>
            </a:r>
            <a:r>
              <a:rPr lang="pt-BR" dirty="0"/>
              <a:t>antes de se tornar negativo</a:t>
            </a:r>
            <a:r>
              <a:rPr lang="pt-BR" dirty="0" smtClean="0"/>
              <a:t>.</a:t>
            </a:r>
            <a:endParaRPr lang="pt-BR" dirty="0"/>
          </a:p>
          <a:p>
            <a:r>
              <a:rPr lang="pt-BR" dirty="0"/>
              <a:t>Se modificarmos a taxa marginalmente para cima passa-se a observar um VPL negativo</a:t>
            </a:r>
            <a:r>
              <a:rPr lang="pt-BR" dirty="0" smtClean="0"/>
              <a:t>.</a:t>
            </a:r>
          </a:p>
          <a:p>
            <a:r>
              <a:rPr lang="pt-BR" dirty="0"/>
              <a:t>Com uma taxa de 0,01% maior que a anterior o nosso VPL torna-se negativo</a:t>
            </a:r>
            <a:r>
              <a:rPr lang="pt-BR" dirty="0" smtClean="0"/>
              <a:t>.</a:t>
            </a:r>
            <a:br>
              <a:rPr lang="pt-BR" dirty="0" smtClean="0"/>
            </a:br>
            <a:endParaRPr lang="pt-BR" dirty="0" smtClean="0"/>
          </a:p>
          <a:p>
            <a:endParaRPr lang="pt-BR" dirty="0"/>
          </a:p>
        </p:txBody>
      </p:sp>
      <p:pic>
        <p:nvPicPr>
          <p:cNvPr id="4" name="image86.png"/>
          <p:cNvPicPr/>
          <p:nvPr/>
        </p:nvPicPr>
        <p:blipFill>
          <a:blip r:embed="rId2" cstate="print"/>
          <a:stretch>
            <a:fillRect/>
          </a:stretch>
        </p:blipFill>
        <p:spPr>
          <a:xfrm>
            <a:off x="1161978" y="3279287"/>
            <a:ext cx="7917092" cy="2542091"/>
          </a:xfrm>
          <a:prstGeom prst="rect">
            <a:avLst/>
          </a:prstGeom>
        </p:spPr>
      </p:pic>
    </p:spTree>
    <p:extLst>
      <p:ext uri="{BB962C8B-B14F-4D97-AF65-F5344CB8AC3E}">
        <p14:creationId xmlns:p14="http://schemas.microsoft.com/office/powerpoint/2010/main" val="266927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TAXAS </a:t>
            </a:r>
            <a:r>
              <a:rPr lang="pt-BR" dirty="0"/>
              <a:t>EFETIVAS</a:t>
            </a:r>
          </a:p>
        </p:txBody>
      </p:sp>
      <p:sp>
        <p:nvSpPr>
          <p:cNvPr id="3" name="Espaço Reservado para Conteúdo 2"/>
          <p:cNvSpPr>
            <a:spLocks noGrp="1"/>
          </p:cNvSpPr>
          <p:nvPr>
            <p:ph idx="1"/>
          </p:nvPr>
        </p:nvSpPr>
        <p:spPr/>
        <p:txBody>
          <a:bodyPr/>
          <a:lstStyle/>
          <a:p>
            <a:r>
              <a:rPr lang="pt-BR" dirty="0"/>
              <a:t>Taxa Efetiva, como o nome sugere, é a taxa efetivamente paga ou recebida. Se um investimento paga uma taxa mensal de 1% e este é o valor final recebido; então, esta é sua taxa efetiva. Por outro lado, se a taxa fosse cotada como sendo anual nominal, digamos, 12%; </a:t>
            </a:r>
            <a:endParaRPr lang="pt-BR" dirty="0" smtClean="0"/>
          </a:p>
          <a:p>
            <a:r>
              <a:rPr lang="pt-BR" dirty="0"/>
              <a:t>No Excel, a taxa efetiva é calculada utilizando a função EFETIVA(</a:t>
            </a:r>
            <a:r>
              <a:rPr lang="pt-BR" dirty="0" err="1"/>
              <a:t>taxa_nominal,Num_por_ano</a:t>
            </a:r>
            <a:r>
              <a:rPr lang="pt-BR" dirty="0"/>
              <a:t>)2. Como o processo é o oposto da taxa nominal, devemos inserir a taxa nominal como o primeiro argumento da função.</a:t>
            </a:r>
          </a:p>
          <a:p>
            <a:endParaRPr lang="pt-BR" dirty="0"/>
          </a:p>
        </p:txBody>
      </p:sp>
    </p:spTree>
    <p:extLst>
      <p:ext uri="{BB962C8B-B14F-4D97-AF65-F5344CB8AC3E}">
        <p14:creationId xmlns:p14="http://schemas.microsoft.com/office/powerpoint/2010/main" val="4248901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677334" y="3277354"/>
            <a:ext cx="8596668" cy="2764008"/>
          </a:xfrm>
        </p:spPr>
        <p:txBody>
          <a:bodyPr/>
          <a:lstStyle/>
          <a:p>
            <a:r>
              <a:rPr lang="pt-BR" dirty="0"/>
              <a:t>A importância da taxa nominal pode ser vista agora. No exemplo acima a taxa efetiva para capitalização mensal é 12,68%. Se a capitalização fosse diária, com a mesma taxa nominal podemos encontrar a taxa anual efetiva:</a:t>
            </a:r>
          </a:p>
          <a:p>
            <a:endParaRPr lang="pt-BR" dirty="0"/>
          </a:p>
        </p:txBody>
      </p:sp>
      <p:pic>
        <p:nvPicPr>
          <p:cNvPr id="4" name="image39.jpeg"/>
          <p:cNvPicPr/>
          <p:nvPr/>
        </p:nvPicPr>
        <p:blipFill>
          <a:blip r:embed="rId2" cstate="print"/>
          <a:stretch>
            <a:fillRect/>
          </a:stretch>
        </p:blipFill>
        <p:spPr>
          <a:xfrm>
            <a:off x="677333" y="734698"/>
            <a:ext cx="5171205" cy="2252946"/>
          </a:xfrm>
          <a:prstGeom prst="rect">
            <a:avLst/>
          </a:prstGeom>
        </p:spPr>
      </p:pic>
    </p:spTree>
    <p:extLst>
      <p:ext uri="{BB962C8B-B14F-4D97-AF65-F5344CB8AC3E}">
        <p14:creationId xmlns:p14="http://schemas.microsoft.com/office/powerpoint/2010/main" val="3221819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523425" y="340843"/>
            <a:ext cx="8596668" cy="2402358"/>
          </a:xfrm>
        </p:spPr>
        <p:txBody>
          <a:bodyPr/>
          <a:lstStyle/>
          <a:p>
            <a:r>
              <a:rPr lang="pt-BR" dirty="0"/>
              <a:t>Como podemos ver, para cada capitalização (valor </a:t>
            </a:r>
            <a:r>
              <a:rPr lang="pt-BR" i="1" dirty="0"/>
              <a:t>m</a:t>
            </a:r>
            <a:r>
              <a:rPr lang="pt-BR" dirty="0"/>
              <a:t>) há uma taxa efetiva diferente. Porém, todas estas taxas convergem para uma única taxa nominal no ano. Isso facilita em muito o nosso cálculo, pois temos apenas uma variável para manipular. Imagine a situação onde você deseja elaborar uma tabela de capitalização. Se você tivesse que definir uma taxa efetiva para cada período você teria mais trabalho do que definir uma taxa única para o ano e proporcioná-la conforme surgir a necessidade.</a:t>
            </a:r>
          </a:p>
          <a:p>
            <a:endParaRPr lang="pt-BR" dirty="0"/>
          </a:p>
        </p:txBody>
      </p:sp>
      <p:pic>
        <p:nvPicPr>
          <p:cNvPr id="4" name="image40.jpeg"/>
          <p:cNvPicPr/>
          <p:nvPr/>
        </p:nvPicPr>
        <p:blipFill>
          <a:blip r:embed="rId2" cstate="print"/>
          <a:stretch>
            <a:fillRect/>
          </a:stretch>
        </p:blipFill>
        <p:spPr>
          <a:xfrm>
            <a:off x="1006619" y="2845098"/>
            <a:ext cx="5674838" cy="3175456"/>
          </a:xfrm>
          <a:prstGeom prst="rect">
            <a:avLst/>
          </a:prstGeom>
        </p:spPr>
      </p:pic>
    </p:spTree>
    <p:extLst>
      <p:ext uri="{BB962C8B-B14F-4D97-AF65-F5344CB8AC3E}">
        <p14:creationId xmlns:p14="http://schemas.microsoft.com/office/powerpoint/2010/main" val="364095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632066" y="398352"/>
            <a:ext cx="8596668" cy="2302281"/>
          </a:xfrm>
        </p:spPr>
        <p:txBody>
          <a:bodyPr>
            <a:normAutofit lnSpcReduction="10000"/>
          </a:bodyPr>
          <a:lstStyle/>
          <a:p>
            <a:pPr marL="0" indent="0">
              <a:buNone/>
            </a:pPr>
            <a:endParaRPr lang="pt-BR" dirty="0"/>
          </a:p>
          <a:p>
            <a:pPr lvl="0"/>
            <a:r>
              <a:rPr lang="pt-BR" dirty="0"/>
              <a:t>Um investimento oferece uma taxa nominal 1% ao mês. Se este valor é composto diariamente, qual a taxa efetiva para o mês? </a:t>
            </a:r>
            <a:r>
              <a:rPr lang="en-US" dirty="0" err="1"/>
              <a:t>Assuma</a:t>
            </a:r>
            <a:r>
              <a:rPr lang="en-US" dirty="0"/>
              <a:t> 21 </a:t>
            </a:r>
            <a:r>
              <a:rPr lang="en-US" dirty="0" err="1"/>
              <a:t>dias</a:t>
            </a:r>
            <a:r>
              <a:rPr lang="en-US" dirty="0"/>
              <a:t> </a:t>
            </a:r>
            <a:r>
              <a:rPr lang="en-US" dirty="0" err="1"/>
              <a:t>úteis</a:t>
            </a:r>
            <a:r>
              <a:rPr lang="en-US" dirty="0"/>
              <a:t> no </a:t>
            </a:r>
            <a:r>
              <a:rPr lang="en-US" dirty="0" err="1"/>
              <a:t>mês</a:t>
            </a:r>
            <a:r>
              <a:rPr lang="en-US" dirty="0" smtClean="0"/>
              <a:t>.</a:t>
            </a:r>
            <a:endParaRPr lang="pt-BR" dirty="0"/>
          </a:p>
          <a:p>
            <a:r>
              <a:rPr lang="pt-BR" dirty="0"/>
              <a:t>Observe que a taxa é cotada para o mês. Considerando um mês de 21 dias úteis podemos facilmente encontrar a taxa efetiva para o mês</a:t>
            </a:r>
            <a:r>
              <a:rPr lang="pt-BR" dirty="0" smtClean="0"/>
              <a:t>:</a:t>
            </a:r>
          </a:p>
          <a:p>
            <a:r>
              <a:rPr lang="en-US" dirty="0"/>
              <a:t>= EFETIVA(1%;21)</a:t>
            </a:r>
            <a:endParaRPr lang="pt-BR" dirty="0"/>
          </a:p>
          <a:p>
            <a:endParaRPr lang="pt-BR" dirty="0"/>
          </a:p>
          <a:p>
            <a:endParaRPr lang="pt-BR" dirty="0"/>
          </a:p>
        </p:txBody>
      </p:sp>
      <p:pic>
        <p:nvPicPr>
          <p:cNvPr id="4" name="image41.jpeg"/>
          <p:cNvPicPr/>
          <p:nvPr/>
        </p:nvPicPr>
        <p:blipFill>
          <a:blip r:embed="rId2" cstate="print"/>
          <a:stretch>
            <a:fillRect/>
          </a:stretch>
        </p:blipFill>
        <p:spPr>
          <a:xfrm>
            <a:off x="739769" y="3080960"/>
            <a:ext cx="6321934" cy="2541242"/>
          </a:xfrm>
          <a:prstGeom prst="rect">
            <a:avLst/>
          </a:prstGeom>
        </p:spPr>
      </p:pic>
    </p:spTree>
    <p:extLst>
      <p:ext uri="{BB962C8B-B14F-4D97-AF65-F5344CB8AC3E}">
        <p14:creationId xmlns:p14="http://schemas.microsoft.com/office/powerpoint/2010/main" val="4168587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568692" y="386111"/>
            <a:ext cx="8596668" cy="1134872"/>
          </a:xfrm>
        </p:spPr>
        <p:txBody>
          <a:bodyPr>
            <a:normAutofit fontScale="92500"/>
          </a:bodyPr>
          <a:lstStyle/>
          <a:p>
            <a:pPr lvl="0"/>
            <a:r>
              <a:rPr lang="pt-BR" dirty="0"/>
              <a:t>Um investimento oferece uma taxa diária de 0,075%. Qual a taxa efetivamente recebida na sexta-feira se o investimento foi feito na </a:t>
            </a:r>
            <a:r>
              <a:rPr lang="pt-BR" dirty="0" smtClean="0"/>
              <a:t>segunda-feira</a:t>
            </a:r>
          </a:p>
          <a:p>
            <a:r>
              <a:rPr lang="pt-BR" dirty="0"/>
              <a:t>= EFETIVA(0,075%*5;5)</a:t>
            </a:r>
          </a:p>
          <a:p>
            <a:pPr lvl="0"/>
            <a:endParaRPr lang="pt-BR" dirty="0"/>
          </a:p>
          <a:p>
            <a:endParaRPr lang="pt-BR" dirty="0"/>
          </a:p>
        </p:txBody>
      </p:sp>
      <p:pic>
        <p:nvPicPr>
          <p:cNvPr id="4" name="image42.jpeg"/>
          <p:cNvPicPr/>
          <p:nvPr/>
        </p:nvPicPr>
        <p:blipFill>
          <a:blip r:embed="rId2" cstate="print"/>
          <a:stretch>
            <a:fillRect/>
          </a:stretch>
        </p:blipFill>
        <p:spPr>
          <a:xfrm>
            <a:off x="1169274" y="1897361"/>
            <a:ext cx="5874322" cy="3335542"/>
          </a:xfrm>
          <a:prstGeom prst="rect">
            <a:avLst/>
          </a:prstGeom>
        </p:spPr>
      </p:pic>
    </p:spTree>
    <p:extLst>
      <p:ext uri="{BB962C8B-B14F-4D97-AF65-F5344CB8AC3E}">
        <p14:creationId xmlns:p14="http://schemas.microsoft.com/office/powerpoint/2010/main" val="521748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541532" y="358950"/>
            <a:ext cx="8596668" cy="1650920"/>
          </a:xfrm>
        </p:spPr>
        <p:txBody>
          <a:bodyPr/>
          <a:lstStyle/>
          <a:p>
            <a:pPr lvl="0"/>
            <a:r>
              <a:rPr lang="pt-BR" dirty="0"/>
              <a:t>Um investimento inicial de R$750,00 dobra em três anos. Sabendo que a capitalização foi mensal, qual foi a taxa média efetiva anual</a:t>
            </a:r>
            <a:r>
              <a:rPr lang="pt-BR" dirty="0" smtClean="0"/>
              <a:t>?</a:t>
            </a:r>
            <a:endParaRPr lang="pt-BR" dirty="0"/>
          </a:p>
          <a:p>
            <a:r>
              <a:rPr lang="pt-BR" dirty="0"/>
              <a:t>Para resolver este problema primeiramente precisamos encontrar a taxa nominal e envelopar este resultado na função EFETIVA</a:t>
            </a:r>
            <a:r>
              <a:rPr lang="pt-BR" dirty="0" smtClean="0"/>
              <a:t>:</a:t>
            </a:r>
            <a:endParaRPr lang="pt-BR" dirty="0"/>
          </a:p>
        </p:txBody>
      </p:sp>
      <p:pic>
        <p:nvPicPr>
          <p:cNvPr id="4" name="image43.jpeg"/>
          <p:cNvPicPr/>
          <p:nvPr/>
        </p:nvPicPr>
        <p:blipFill>
          <a:blip r:embed="rId2" cstate="print"/>
          <a:stretch>
            <a:fillRect/>
          </a:stretch>
        </p:blipFill>
        <p:spPr>
          <a:xfrm>
            <a:off x="818841" y="2122896"/>
            <a:ext cx="5944098" cy="3535520"/>
          </a:xfrm>
          <a:prstGeom prst="rect">
            <a:avLst/>
          </a:prstGeom>
        </p:spPr>
      </p:pic>
    </p:spTree>
    <p:extLst>
      <p:ext uri="{BB962C8B-B14F-4D97-AF65-F5344CB8AC3E}">
        <p14:creationId xmlns:p14="http://schemas.microsoft.com/office/powerpoint/2010/main" val="4042489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TAXAS </a:t>
            </a:r>
            <a:r>
              <a:rPr lang="pt-BR" dirty="0"/>
              <a:t>NOMINAIS</a:t>
            </a:r>
          </a:p>
        </p:txBody>
      </p:sp>
      <p:sp>
        <p:nvSpPr>
          <p:cNvPr id="3" name="Espaço Reservado para Conteúdo 2"/>
          <p:cNvSpPr>
            <a:spLocks noGrp="1"/>
          </p:cNvSpPr>
          <p:nvPr>
            <p:ph idx="1"/>
          </p:nvPr>
        </p:nvSpPr>
        <p:spPr/>
        <p:txBody>
          <a:bodyPr/>
          <a:lstStyle/>
          <a:p>
            <a:r>
              <a:rPr lang="pt-BR" dirty="0"/>
              <a:t>Taxa nominal é aquela que possui valor de face. Imagine uma nota de R$10, quanto ela vale? A resposta que parece ser óbvia é que uma nota de R$10 vale R$10. Mas será que vale mesmo? Uma nota de R$10 somente vale R$10 porque você acredita que ela vale os R$10, em outras palavras, o valor é fiduciário e mais nada.</a:t>
            </a:r>
          </a:p>
          <a:p>
            <a:pPr marL="0" indent="0">
              <a:buNone/>
            </a:pPr>
            <a:endParaRPr lang="pt-BR" dirty="0"/>
          </a:p>
          <a:p>
            <a:r>
              <a:rPr lang="pt-BR" dirty="0"/>
              <a:t>Quando uma passagem de ônibus passa de R$1,00 para R$2,00 os seus R$10 não valem mais a mesma coisa, embora seu valor de face continue o mesmo. Antes, ela pagava dez passagens de ônibus. Agora, ela paga apenas cinco passagens. Embora você saiba que a nota ainda tenha o mesmo valor de face, você também sabe que ela compra menos do que antes.</a:t>
            </a:r>
          </a:p>
          <a:p>
            <a:endParaRPr lang="pt-BR" dirty="0"/>
          </a:p>
        </p:txBody>
      </p:sp>
    </p:spTree>
    <p:extLst>
      <p:ext uri="{BB962C8B-B14F-4D97-AF65-F5344CB8AC3E}">
        <p14:creationId xmlns:p14="http://schemas.microsoft.com/office/powerpoint/2010/main" val="1325031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677334" y="697117"/>
            <a:ext cx="8596668" cy="5344245"/>
          </a:xfrm>
        </p:spPr>
        <p:txBody>
          <a:bodyPr>
            <a:normAutofit/>
          </a:bodyPr>
          <a:lstStyle/>
          <a:p>
            <a:r>
              <a:rPr lang="pt-BR" dirty="0"/>
              <a:t>Este valor de face é o seu valor nominal</a:t>
            </a:r>
            <a:r>
              <a:rPr lang="pt-BR" dirty="0" smtClean="0"/>
              <a:t>.</a:t>
            </a:r>
            <a:endParaRPr lang="pt-BR" dirty="0"/>
          </a:p>
          <a:p>
            <a:r>
              <a:rPr lang="pt-BR" dirty="0"/>
              <a:t>A taxa nominal nada mais é do que isso. É uma taxa que não é real. Se você fosse receber 1% de juros ao mês a taxa nominal para o ano seria 12% (12*1%); porém, esta não é a taxa realmente recebida. Desta forma, eu poderia dizer que você recebe 12% de juros ao ano, taxa nominal, mas até a realização da capitalização esta taxa tem apenas valor de face, pois não será este o valor recebido ou o valor real da taxa</a:t>
            </a:r>
            <a:r>
              <a:rPr lang="pt-BR" dirty="0" smtClean="0"/>
              <a:t>.</a:t>
            </a:r>
          </a:p>
          <a:p>
            <a:r>
              <a:rPr lang="pt-BR" dirty="0"/>
              <a:t>Mas como reconhecer uma taxa nominal? E por que as pessoas falam de taxas nominais ao invés de efetivas</a:t>
            </a:r>
            <a:r>
              <a:rPr lang="pt-BR" dirty="0" smtClean="0"/>
              <a:t>?</a:t>
            </a:r>
            <a:endParaRPr lang="pt-BR" dirty="0"/>
          </a:p>
          <a:p>
            <a:r>
              <a:rPr lang="pt-BR" dirty="0"/>
              <a:t>Reconhecer um taxa nominal é bem simples. Procure apenas pelo valor de face do custo do dinheiro. Por exemplo, se você tem uma taxa mensal para pagamentos mensais, a taxa será efetiva, pois existe o “casamento” entre a proporção da taxa e o período. Se por outro lado a taxa é anual e o pagamento é mensal você estará observando uma taxa nominal (a menos que seja informado o contrário</a:t>
            </a:r>
            <a:r>
              <a:rPr lang="pt-BR" dirty="0" smtClean="0"/>
              <a:t>).</a:t>
            </a:r>
            <a:endParaRPr lang="pt-BR" dirty="0"/>
          </a:p>
        </p:txBody>
      </p:sp>
    </p:spTree>
    <p:extLst>
      <p:ext uri="{BB962C8B-B14F-4D97-AF65-F5344CB8AC3E}">
        <p14:creationId xmlns:p14="http://schemas.microsoft.com/office/powerpoint/2010/main" val="2324162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normAutofit lnSpcReduction="10000"/>
          </a:bodyPr>
          <a:lstStyle/>
          <a:p>
            <a:r>
              <a:rPr lang="pt-BR" dirty="0"/>
              <a:t>As pessoas utilizam taxas nominais pelo mesmo motivo que usamos as notas de R$10 quando elas já não possuem o mesmo valor que 10 anos atrás. Se cada nota no mercado representasse o seu valor naquele momento no tempo, a Casa da Moeda do Brasil teria que imprimir e distribuir notas a cada segundo, pois o processo de desvalorização é contínuo.</a:t>
            </a:r>
          </a:p>
          <a:p>
            <a:r>
              <a:rPr lang="pt-BR" dirty="0"/>
              <a:t> </a:t>
            </a:r>
          </a:p>
          <a:p>
            <a:r>
              <a:rPr lang="pt-BR" dirty="0"/>
              <a:t>Colocando este parágrafo no contexto da taxa nominal, com uma taxa nominal cotada para o ano inteiro, você pode proporcionar para qualquer período dentro do ano para encontrar a sua taxa efetiva, isto é, o quanto realmente custa o dinheiro. Caso contrário, você teria que prever todas as condições e combinações possíveis de taxas dentro do ano. Com uma taxa única para o ano, basta proporcionar para o período desejado quando ele surgir e se surgir.</a:t>
            </a:r>
          </a:p>
          <a:p>
            <a:endParaRPr lang="pt-BR" dirty="0"/>
          </a:p>
        </p:txBody>
      </p:sp>
    </p:spTree>
    <p:extLst>
      <p:ext uri="{BB962C8B-B14F-4D97-AF65-F5344CB8AC3E}">
        <p14:creationId xmlns:p14="http://schemas.microsoft.com/office/powerpoint/2010/main" val="3271488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532478" y="205042"/>
            <a:ext cx="8596668" cy="1569438"/>
          </a:xfrm>
        </p:spPr>
        <p:txBody>
          <a:bodyPr>
            <a:normAutofit fontScale="92500" lnSpcReduction="10000"/>
          </a:bodyPr>
          <a:lstStyle/>
          <a:p>
            <a:pPr marL="0" indent="0">
              <a:buNone/>
            </a:pPr>
            <a:endParaRPr lang="pt-BR" dirty="0"/>
          </a:p>
          <a:p>
            <a:pPr lvl="0"/>
            <a:r>
              <a:rPr lang="pt-BR" dirty="0"/>
              <a:t>Um investimento oferece uma taxa de 1% efetiva ao mês. Qual a taxa nominal para o mês? Observe que a taxa é cotada para o mês. Considerando um mês de 21 dias úteis podemos facilmente encontrar a taxa nominal para o mês</a:t>
            </a:r>
            <a:r>
              <a:rPr lang="pt-BR" dirty="0" smtClean="0"/>
              <a:t>.</a:t>
            </a:r>
          </a:p>
          <a:p>
            <a:r>
              <a:rPr lang="pt-BR" dirty="0"/>
              <a:t>=NOMINAL(1%;21)</a:t>
            </a:r>
          </a:p>
          <a:p>
            <a:pPr lvl="0"/>
            <a:endParaRPr lang="pt-BR" dirty="0"/>
          </a:p>
          <a:p>
            <a:endParaRPr lang="pt-BR" dirty="0"/>
          </a:p>
        </p:txBody>
      </p:sp>
      <p:pic>
        <p:nvPicPr>
          <p:cNvPr id="4" name="image33.jpeg"/>
          <p:cNvPicPr/>
          <p:nvPr/>
        </p:nvPicPr>
        <p:blipFill>
          <a:blip r:embed="rId2" cstate="print"/>
          <a:stretch>
            <a:fillRect/>
          </a:stretch>
        </p:blipFill>
        <p:spPr>
          <a:xfrm>
            <a:off x="870229" y="2116058"/>
            <a:ext cx="5684480" cy="3098737"/>
          </a:xfrm>
          <a:prstGeom prst="rect">
            <a:avLst/>
          </a:prstGeom>
        </p:spPr>
      </p:pic>
    </p:spTree>
    <p:extLst>
      <p:ext uri="{BB962C8B-B14F-4D97-AF65-F5344CB8AC3E}">
        <p14:creationId xmlns:p14="http://schemas.microsoft.com/office/powerpoint/2010/main" val="1942027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613960" y="386110"/>
            <a:ext cx="8596668" cy="2818817"/>
          </a:xfrm>
        </p:spPr>
        <p:txBody>
          <a:bodyPr>
            <a:normAutofit/>
          </a:bodyPr>
          <a:lstStyle/>
          <a:p>
            <a:pPr lvl="0"/>
            <a:r>
              <a:rPr lang="pt-BR" dirty="0"/>
              <a:t>Você decide fazer um financiamento de seu novo carro. Os juros efetivamente cobrados pela financeira somam 127% ao ano. Se o pagamento é mensal, qual a taxa nominal anual</a:t>
            </a:r>
            <a:r>
              <a:rPr lang="pt-BR" dirty="0" smtClean="0"/>
              <a:t>?</a:t>
            </a:r>
          </a:p>
          <a:p>
            <a:r>
              <a:rPr lang="en-US" dirty="0"/>
              <a:t>=NOMINAL(127%;12</a:t>
            </a:r>
            <a:r>
              <a:rPr lang="en-US" dirty="0" smtClean="0"/>
              <a:t>)</a:t>
            </a:r>
          </a:p>
          <a:p>
            <a:endParaRPr lang="en-US" dirty="0"/>
          </a:p>
          <a:p>
            <a:pPr lvl="0"/>
            <a:r>
              <a:rPr lang="pt-BR" dirty="0"/>
              <a:t>Se a taxa efetiva mensal é 1,5% qual a taxa nominal anual</a:t>
            </a:r>
            <a:r>
              <a:rPr lang="pt-BR" dirty="0" smtClean="0"/>
              <a:t>?</a:t>
            </a:r>
            <a:endParaRPr lang="pt-BR" dirty="0"/>
          </a:p>
          <a:p>
            <a:r>
              <a:rPr lang="en-US" dirty="0"/>
              <a:t>=1.5%*12 = 18%</a:t>
            </a:r>
            <a:endParaRPr lang="pt-BR" dirty="0"/>
          </a:p>
          <a:p>
            <a:endParaRPr lang="pt-BR" dirty="0"/>
          </a:p>
          <a:p>
            <a:pPr lvl="0"/>
            <a:endParaRPr lang="pt-BR" dirty="0"/>
          </a:p>
          <a:p>
            <a:endParaRPr lang="pt-BR" dirty="0"/>
          </a:p>
        </p:txBody>
      </p:sp>
      <p:pic>
        <p:nvPicPr>
          <p:cNvPr id="4" name="image34.jpeg"/>
          <p:cNvPicPr/>
          <p:nvPr/>
        </p:nvPicPr>
        <p:blipFill>
          <a:blip r:embed="rId2" cstate="print"/>
          <a:stretch>
            <a:fillRect/>
          </a:stretch>
        </p:blipFill>
        <p:spPr>
          <a:xfrm>
            <a:off x="1790816" y="3433573"/>
            <a:ext cx="5180353" cy="2885745"/>
          </a:xfrm>
          <a:prstGeom prst="rect">
            <a:avLst/>
          </a:prstGeom>
        </p:spPr>
      </p:pic>
    </p:spTree>
    <p:extLst>
      <p:ext uri="{BB962C8B-B14F-4D97-AF65-F5344CB8AC3E}">
        <p14:creationId xmlns:p14="http://schemas.microsoft.com/office/powerpoint/2010/main" val="1560372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spTree>
    <p:extLst>
      <p:ext uri="{BB962C8B-B14F-4D97-AF65-F5344CB8AC3E}">
        <p14:creationId xmlns:p14="http://schemas.microsoft.com/office/powerpoint/2010/main" val="4149931697"/>
      </p:ext>
    </p:extLst>
  </p:cSld>
  <p:clrMapOvr>
    <a:masterClrMapping/>
  </p:clrMapOvr>
</p:sld>
</file>

<file path=ppt/theme/theme1.xml><?xml version="1.0" encoding="utf-8"?>
<a:theme xmlns:a="http://schemas.openxmlformats.org/drawingml/2006/main" name="Facetado">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44</TotalTime>
  <Words>1291</Words>
  <Application>Microsoft Office PowerPoint</Application>
  <PresentationFormat>Widescreen</PresentationFormat>
  <Paragraphs>53</Paragraphs>
  <Slides>17</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17</vt:i4>
      </vt:variant>
    </vt:vector>
  </HeadingPairs>
  <TitlesOfParts>
    <vt:vector size="21" baseType="lpstr">
      <vt:lpstr>Arial</vt:lpstr>
      <vt:lpstr>Trebuchet MS</vt:lpstr>
      <vt:lpstr>Wingdings 3</vt:lpstr>
      <vt:lpstr>Facetado</vt:lpstr>
      <vt:lpstr>Funções Financeiras</vt:lpstr>
      <vt:lpstr>TAXA INTERNA DE RETORNO (TIR)</vt:lpstr>
      <vt:lpstr>TAXA INTERNA DE RETORNO (TIR)</vt:lpstr>
      <vt:lpstr>Apresentação do PowerPoint</vt:lpstr>
      <vt:lpstr>Apresentação do PowerPoint</vt:lpstr>
      <vt:lpstr>TAXAS EFETIVAS</vt:lpstr>
      <vt:lpstr>Apresentação do PowerPoint</vt:lpstr>
      <vt:lpstr>Apresentação do PowerPoint</vt:lpstr>
      <vt:lpstr>Apresentação do PowerPoint</vt:lpstr>
      <vt:lpstr>Apresentação do PowerPoint</vt:lpstr>
      <vt:lpstr>Apresentação do PowerPoint</vt:lpstr>
      <vt:lpstr>TAXAS NOMINAIS</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Funções Financeiras</dc:title>
  <dc:creator>Norton Glaser</dc:creator>
  <cp:lastModifiedBy>Norton Glaser</cp:lastModifiedBy>
  <cp:revision>4</cp:revision>
  <dcterms:created xsi:type="dcterms:W3CDTF">2016-03-24T09:37:05Z</dcterms:created>
  <dcterms:modified xsi:type="dcterms:W3CDTF">2016-03-24T10:21:35Z</dcterms:modified>
</cp:coreProperties>
</file>