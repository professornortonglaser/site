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7" r:id="rId12"/>
    <p:sldId id="266" r:id="rId13"/>
    <p:sldId id="269" r:id="rId14"/>
    <p:sldId id="268" r:id="rId15"/>
    <p:sldId id="270" r:id="rId16"/>
    <p:sldId id="271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90EB89-9E2C-4E07-95D5-2C3106482862}" type="datetimeFigureOut">
              <a:rPr lang="pt-BR" smtClean="0"/>
              <a:pPr/>
              <a:t>03/09/2016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CSS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Programação Web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Cascade</a:t>
            </a:r>
            <a:r>
              <a:rPr lang="pt-BR" dirty="0" smtClean="0"/>
              <a:t> Style </a:t>
            </a:r>
            <a:r>
              <a:rPr lang="pt-BR" dirty="0" err="1" smtClean="0"/>
              <a:t>Sheet</a:t>
            </a:r>
            <a:r>
              <a:rPr lang="pt-BR" dirty="0" smtClean="0"/>
              <a:t> (Folha de Estilo em Cascata)</a:t>
            </a:r>
          </a:p>
          <a:p>
            <a:r>
              <a:rPr lang="pt-BR" dirty="0" smtClean="0"/>
              <a:t>E utilizado para unificar as configurações de formatação de conteúdo em um único arquivo. </a:t>
            </a:r>
          </a:p>
          <a:p>
            <a:r>
              <a:rPr lang="pt-BR" dirty="0" smtClean="0"/>
              <a:t>Permite a padronização de um conjunto de páginas estáticas, diminuindo a dificuldade e o tempo de manutenção.</a:t>
            </a:r>
          </a:p>
          <a:p>
            <a:r>
              <a:rPr lang="pt-BR" dirty="0" smtClean="0"/>
              <a:t>Reduz o tamanho das paginas HTML pois não há a necessidade das </a:t>
            </a:r>
            <a:r>
              <a:rPr lang="pt-BR" dirty="0" err="1" smtClean="0"/>
              <a:t>tags</a:t>
            </a:r>
            <a:r>
              <a:rPr lang="pt-BR" dirty="0" smtClean="0"/>
              <a:t> de formatação.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Associar um arquivo CSS ao HTML	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Como o objetivo do CSS e padronizar a formatação entre todas as páginas do projeto, este deve ser configurado em um arquivo externo com as extensão .CSS.</a:t>
            </a:r>
          </a:p>
          <a:p>
            <a:r>
              <a:rPr lang="pt-BR" dirty="0" smtClean="0"/>
              <a:t>Para associar este arquivo as páginas HTML utilize a seguinte TAG no HTML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&lt;link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rel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stylesheet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="estilo.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"&gt;</a:t>
            </a:r>
            <a:endParaRPr lang="pt-BR" sz="2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Composição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Compostas por grupos de propriedades denominadas classes.</a:t>
            </a:r>
          </a:p>
          <a:p>
            <a:r>
              <a:rPr lang="pt-BR" dirty="0" smtClean="0"/>
              <a:t>Estas classes são identificadas por seletores.</a:t>
            </a:r>
          </a:p>
          <a:p>
            <a:pPr lvl="1"/>
            <a:r>
              <a:rPr lang="pt-BR" dirty="0" err="1" smtClean="0"/>
              <a:t>Exe</a:t>
            </a:r>
            <a:r>
              <a:rPr lang="pt-BR" dirty="0" smtClean="0"/>
              <a:t>: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P {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	background: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white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Existem 3 tipos de seletores</a:t>
            </a:r>
          </a:p>
          <a:p>
            <a:pPr lvl="1"/>
            <a:r>
              <a:rPr lang="pt-BR" dirty="0" smtClean="0"/>
              <a:t>Seletor por TAG</a:t>
            </a:r>
          </a:p>
          <a:p>
            <a:pPr lvl="1"/>
            <a:r>
              <a:rPr lang="pt-BR" dirty="0" smtClean="0"/>
              <a:t>Seletor por ID</a:t>
            </a:r>
          </a:p>
          <a:p>
            <a:pPr lvl="1"/>
            <a:r>
              <a:rPr lang="pt-BR" dirty="0" smtClean="0"/>
              <a:t>Seletor por CLASSE</a:t>
            </a:r>
          </a:p>
          <a:p>
            <a:pPr>
              <a:buNone/>
            </a:pPr>
            <a:endParaRPr lang="pt-BR" dirty="0" smtClean="0"/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TAG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Atribui as classes a uma ou mais </a:t>
            </a:r>
            <a:r>
              <a:rPr lang="pt-BR" dirty="0" err="1" smtClean="0"/>
              <a:t>tags</a:t>
            </a:r>
            <a:r>
              <a:rPr lang="pt-BR" dirty="0" smtClean="0"/>
              <a:t> do HTML</a:t>
            </a:r>
          </a:p>
          <a:p>
            <a:pPr lvl="1">
              <a:buNone/>
            </a:pPr>
            <a:r>
              <a:rPr lang="pt-BR" dirty="0" err="1" smtClean="0"/>
              <a:t>Body</a:t>
            </a:r>
            <a:r>
              <a:rPr lang="pt-BR" dirty="0" smtClean="0"/>
              <a:t> {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font-family</a:t>
            </a:r>
            <a:r>
              <a:rPr lang="pt-BR" dirty="0" smtClean="0"/>
              <a:t>: </a:t>
            </a:r>
            <a:r>
              <a:rPr lang="pt-BR" dirty="0" err="1" smtClean="0"/>
              <a:t>arial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color</a:t>
            </a:r>
            <a:r>
              <a:rPr lang="pt-BR" dirty="0" smtClean="0"/>
              <a:t>: </a:t>
            </a:r>
            <a:r>
              <a:rPr lang="pt-BR" dirty="0" err="1" smtClean="0"/>
              <a:t>gray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}</a:t>
            </a:r>
          </a:p>
          <a:p>
            <a:pPr lvl="1">
              <a:buNone/>
            </a:pPr>
            <a:r>
              <a:rPr lang="pt-BR" dirty="0" smtClean="0"/>
              <a:t>Input, </a:t>
            </a:r>
            <a:r>
              <a:rPr lang="pt-BR" dirty="0" err="1" smtClean="0"/>
              <a:t>select</a:t>
            </a:r>
            <a:r>
              <a:rPr lang="pt-BR" dirty="0" smtClean="0"/>
              <a:t>, </a:t>
            </a:r>
            <a:r>
              <a:rPr lang="pt-BR" dirty="0" err="1" smtClean="0"/>
              <a:t>textarea</a:t>
            </a:r>
            <a:r>
              <a:rPr lang="pt-BR" dirty="0" smtClean="0"/>
              <a:t> {</a:t>
            </a:r>
          </a:p>
          <a:p>
            <a:pPr lvl="1">
              <a:buNone/>
            </a:pPr>
            <a:r>
              <a:rPr lang="pt-BR" dirty="0" smtClean="0"/>
              <a:t>	background: </a:t>
            </a:r>
            <a:r>
              <a:rPr lang="pt-BR" dirty="0" err="1" smtClean="0"/>
              <a:t>yellow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font-family</a:t>
            </a:r>
            <a:r>
              <a:rPr lang="pt-BR" dirty="0" smtClean="0"/>
              <a:t>: </a:t>
            </a:r>
            <a:r>
              <a:rPr lang="pt-BR" dirty="0" err="1" smtClean="0"/>
              <a:t>arial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font-size</a:t>
            </a:r>
            <a:r>
              <a:rPr lang="pt-BR" dirty="0" smtClean="0"/>
              <a:t>: 10px;</a:t>
            </a:r>
          </a:p>
          <a:p>
            <a:pPr lvl="1">
              <a:buNone/>
            </a:pPr>
            <a:r>
              <a:rPr lang="pt-BR" dirty="0" smtClean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ID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Associa propriedades de classe ao uma determinado ID no HTML</a:t>
            </a:r>
          </a:p>
          <a:p>
            <a:r>
              <a:rPr lang="pt-BR" dirty="0" err="1" smtClean="0"/>
              <a:t>Exe</a:t>
            </a:r>
            <a:r>
              <a:rPr lang="pt-BR" dirty="0" smtClean="0"/>
              <a:t>:</a:t>
            </a:r>
          </a:p>
          <a:p>
            <a:pPr lvl="1">
              <a:buNone/>
            </a:pP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#nome {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Background: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None/>
            </a:pP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white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Classe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Este seletor pode ser definido como uma exceção, definido por um apelido e pode set utilizado como opção de uma formatação.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.destaque {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Font-weigth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bold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4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Classe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E possível restringir uma classe por </a:t>
            </a:r>
            <a:r>
              <a:rPr lang="pt-BR" dirty="0" err="1" smtClean="0"/>
              <a:t>tag</a:t>
            </a:r>
            <a:r>
              <a:rPr lang="pt-BR" dirty="0" smtClean="0"/>
              <a:t> ou por id colocando o nome do seletor especifico no inicio da classe.</a:t>
            </a:r>
          </a:p>
          <a:p>
            <a:pPr>
              <a:buNone/>
            </a:pPr>
            <a:r>
              <a:rPr lang="pt-BR" sz="4000" dirty="0" err="1" smtClean="0">
                <a:latin typeface="Courier New" pitchFamily="49" charset="0"/>
                <a:cs typeface="Courier New" pitchFamily="49" charset="0"/>
              </a:rPr>
              <a:t>p.destaque</a:t>
            </a: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, #titulo.destaque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Font-weigth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bold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Sobreposição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900808"/>
          </a:xfrm>
        </p:spPr>
        <p:txBody>
          <a:bodyPr/>
          <a:lstStyle/>
          <a:p>
            <a:r>
              <a:rPr lang="pt-BR" dirty="0" smtClean="0"/>
              <a:t>Quando existem duas ou mais classes que são elegíveis a formatação de um elemento,  estas vão mesclar os seus atributos e quando houver atributos coincidentes será aplicado a ultima configuração.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827584" y="3717032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P {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background: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white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trike="sngStrike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trike="sngStrike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trike="sngStrike" dirty="0" err="1" smtClean="0">
                <a:latin typeface="Courier New" pitchFamily="49" charset="0"/>
                <a:cs typeface="Courier New" pitchFamily="49" charset="0"/>
              </a:rPr>
              <a:t>black</a:t>
            </a:r>
            <a:r>
              <a:rPr lang="pt-BR" strike="sngStrike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text-align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center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	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716016" y="3789040"/>
            <a:ext cx="3816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#mensagem {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font-size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:18px;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			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Sobreposição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 ordem por tipo de seletor na sobreposição é:</a:t>
            </a:r>
          </a:p>
          <a:p>
            <a:pPr lvl="1"/>
            <a:r>
              <a:rPr lang="pt-BR" dirty="0" smtClean="0"/>
              <a:t>CLASSE</a:t>
            </a:r>
          </a:p>
          <a:p>
            <a:pPr lvl="1"/>
            <a:r>
              <a:rPr lang="pt-BR" dirty="0" smtClean="0"/>
              <a:t>ID</a:t>
            </a:r>
          </a:p>
          <a:p>
            <a:pPr lvl="1"/>
            <a:r>
              <a:rPr lang="pt-BR" dirty="0" smtClean="0"/>
              <a:t>TAG</a:t>
            </a: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Cascata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 possível compor uma hierarquia de classes relacionadas, com o objetivo de criar formatações para áreas especificas, e permitir a hierarquia correta de propriedades.</a:t>
            </a:r>
          </a:p>
          <a:p>
            <a:r>
              <a:rPr lang="pt-BR" dirty="0" smtClean="0"/>
              <a:t>Esta configuração e utilizada amplamente na criação de projetos completos, pois permite esta versatilidade.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Cascata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</a:p>
          <a:p>
            <a:pPr marL="365760" lvl="1" indent="0">
              <a:buNone/>
            </a:pPr>
            <a:r>
              <a:rPr lang="pt-BR" dirty="0" smtClean="0">
                <a:solidFill>
                  <a:srgbClr val="FF0000"/>
                </a:solidFill>
              </a:rPr>
              <a:t>&lt;</a:t>
            </a:r>
            <a:r>
              <a:rPr lang="pt-BR" dirty="0" err="1" smtClean="0">
                <a:solidFill>
                  <a:srgbClr val="FF0000"/>
                </a:solidFill>
              </a:rPr>
              <a:t>div</a:t>
            </a:r>
            <a:r>
              <a:rPr lang="pt-BR" dirty="0" smtClean="0">
                <a:solidFill>
                  <a:srgbClr val="FF0000"/>
                </a:solidFill>
              </a:rPr>
              <a:t> id=“corpo”&gt;</a:t>
            </a:r>
          </a:p>
          <a:p>
            <a:pPr marL="365760" lvl="1" indent="0">
              <a:buNone/>
            </a:pPr>
            <a:r>
              <a:rPr lang="pt-BR" dirty="0" smtClean="0"/>
              <a:t>	</a:t>
            </a:r>
            <a:r>
              <a:rPr lang="pt-BR" dirty="0" smtClean="0">
                <a:solidFill>
                  <a:srgbClr val="00B050"/>
                </a:solidFill>
              </a:rPr>
              <a:t>&lt;</a:t>
            </a:r>
            <a:r>
              <a:rPr lang="pt-BR" dirty="0" err="1" smtClean="0">
                <a:solidFill>
                  <a:srgbClr val="00B050"/>
                </a:solidFill>
              </a:rPr>
              <a:t>div</a:t>
            </a:r>
            <a:r>
              <a:rPr lang="pt-BR" dirty="0" smtClean="0">
                <a:solidFill>
                  <a:srgbClr val="00B050"/>
                </a:solidFill>
              </a:rPr>
              <a:t> id=“topo”&gt;</a:t>
            </a:r>
          </a:p>
          <a:p>
            <a:pPr marL="365760" lvl="1" indent="0">
              <a:buNone/>
            </a:pPr>
            <a:r>
              <a:rPr lang="pt-BR" dirty="0" smtClean="0"/>
              <a:t>		&lt;h1&gt;Bem Vindos&lt;/h1&gt;</a:t>
            </a:r>
          </a:p>
          <a:p>
            <a:pPr marL="365760" lvl="1" indent="0">
              <a:buNone/>
            </a:pPr>
            <a:r>
              <a:rPr lang="pt-BR" dirty="0" smtClean="0"/>
              <a:t>	</a:t>
            </a:r>
            <a:r>
              <a:rPr lang="pt-BR" dirty="0" smtClean="0">
                <a:solidFill>
                  <a:srgbClr val="00B050"/>
                </a:solidFill>
              </a:rPr>
              <a:t>&lt;/</a:t>
            </a:r>
            <a:r>
              <a:rPr lang="pt-BR" dirty="0" err="1" smtClean="0">
                <a:solidFill>
                  <a:srgbClr val="00B050"/>
                </a:solidFill>
              </a:rPr>
              <a:t>div</a:t>
            </a:r>
            <a:r>
              <a:rPr lang="pt-BR" dirty="0" smtClean="0">
                <a:solidFill>
                  <a:srgbClr val="00B050"/>
                </a:solidFill>
              </a:rPr>
              <a:t>&gt;</a:t>
            </a:r>
            <a:r>
              <a:rPr lang="pt-BR" dirty="0" smtClean="0"/>
              <a:t>	</a:t>
            </a:r>
            <a:endParaRPr lang="pt-BR" dirty="0"/>
          </a:p>
          <a:p>
            <a:pPr marL="365760" lvl="1" indent="0">
              <a:buNone/>
            </a:pPr>
            <a:endParaRPr lang="pt-BR" dirty="0" smtClean="0"/>
          </a:p>
          <a:p>
            <a:pPr marL="365760" lvl="1" indent="0">
              <a:buNone/>
            </a:pPr>
            <a:r>
              <a:rPr lang="pt-BR" dirty="0" smtClean="0">
                <a:solidFill>
                  <a:srgbClr val="FF0000"/>
                </a:solidFill>
              </a:rPr>
              <a:t>&lt;/</a:t>
            </a:r>
            <a:r>
              <a:rPr lang="pt-BR" dirty="0" err="1" smtClean="0">
                <a:solidFill>
                  <a:srgbClr val="FF0000"/>
                </a:solidFill>
              </a:rPr>
              <a:t>div</a:t>
            </a:r>
            <a:r>
              <a:rPr lang="pt-BR" dirty="0" smtClean="0">
                <a:solidFill>
                  <a:srgbClr val="FF0000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 smtClean="0"/>
              <a:t>&lt;/</a:t>
            </a:r>
            <a:r>
              <a:rPr lang="pt-BR" dirty="0" err="1" smtClean="0"/>
              <a:t>body</a:t>
            </a:r>
            <a:r>
              <a:rPr lang="pt-BR" dirty="0"/>
              <a:t>&gt;</a:t>
            </a:r>
            <a:endParaRPr lang="pt-BR" dirty="0" smtClean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558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Cascata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#corpo{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width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800px;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height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600px;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border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thin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solid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gray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#corpo #topo{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height:100px;</a:t>
            </a:r>
          </a:p>
          <a:p>
            <a:pPr>
              <a:buNone/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width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100%;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background: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green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;	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#corpo #topo h1{</a:t>
            </a:r>
          </a:p>
          <a:p>
            <a:pPr lvl="1">
              <a:buNone/>
            </a:pP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Font-family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arial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Font-size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:18px;</a:t>
            </a:r>
          </a:p>
          <a:p>
            <a:pPr>
              <a:buNone/>
            </a:pP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pt-BR" sz="25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h1 {</a:t>
            </a:r>
          </a:p>
          <a:p>
            <a:pPr lvl="1">
              <a:buNone/>
            </a:pP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Font-family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tahoma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Font-size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:24px;</a:t>
            </a:r>
          </a:p>
          <a:p>
            <a:pPr>
              <a:buNone/>
            </a:pP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Media Queries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As Media Queries definem condições para que o CSS seja utilizado em cenários específicos. Se essas condições forem aprovadas, ou seja, se o dispositivo de adequar a todas as condições estabelecidas na sua Media </a:t>
            </a:r>
            <a:r>
              <a:rPr lang="pt-BR" dirty="0" err="1"/>
              <a:t>Querie</a:t>
            </a:r>
            <a:r>
              <a:rPr lang="pt-BR" dirty="0"/>
              <a:t>, o CSS será aplicado.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2094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Media Queries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@media </a:t>
            </a:r>
            <a:r>
              <a:rPr lang="pt-BR" dirty="0" err="1"/>
              <a:t>screen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(</a:t>
            </a:r>
            <a:r>
              <a:rPr lang="pt-BR" dirty="0" err="1"/>
              <a:t>max-width</a:t>
            </a:r>
            <a:r>
              <a:rPr lang="pt-BR" dirty="0"/>
              <a:t>: 420px) </a:t>
            </a:r>
            <a:r>
              <a:rPr lang="pt-BR" dirty="0" err="1"/>
              <a:t>and</a:t>
            </a:r>
            <a:r>
              <a:rPr lang="pt-BR" dirty="0"/>
              <a:t> (min-</a:t>
            </a:r>
            <a:r>
              <a:rPr lang="pt-BR" dirty="0" err="1"/>
              <a:t>width</a:t>
            </a:r>
            <a:r>
              <a:rPr lang="pt-BR" dirty="0"/>
              <a:t>: 0px) {</a:t>
            </a:r>
          </a:p>
          <a:p>
            <a:pPr marL="0" indent="0">
              <a:buNone/>
            </a:pPr>
            <a:r>
              <a:rPr lang="pt-BR" dirty="0"/>
              <a:t>	#corpo #menu</a:t>
            </a:r>
          </a:p>
          <a:p>
            <a:pPr marL="0" indent="0">
              <a:buNone/>
            </a:pPr>
            <a:r>
              <a:rPr lang="pt-BR" dirty="0"/>
              <a:t>	{</a:t>
            </a:r>
          </a:p>
          <a:p>
            <a:pPr marL="0" indent="0">
              <a:buNone/>
            </a:pPr>
            <a:r>
              <a:rPr lang="pt-BR" dirty="0"/>
              <a:t>		width:100%;</a:t>
            </a:r>
          </a:p>
          <a:p>
            <a:pPr marL="0" indent="0">
              <a:buNone/>
            </a:pPr>
            <a:r>
              <a:rPr lang="pt-BR" dirty="0"/>
              <a:t>		background-color: </a:t>
            </a:r>
            <a:r>
              <a:rPr lang="pt-BR" dirty="0" err="1"/>
              <a:t>red</a:t>
            </a:r>
            <a:r>
              <a:rPr lang="pt-BR" dirty="0"/>
              <a:t>;	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	#corpo #</a:t>
            </a:r>
            <a:r>
              <a:rPr lang="pt-BR" dirty="0" err="1"/>
              <a:t>conteudo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	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width</a:t>
            </a:r>
            <a:r>
              <a:rPr lang="pt-BR" dirty="0"/>
              <a:t>: 100%;</a:t>
            </a:r>
          </a:p>
          <a:p>
            <a:pPr marL="0" indent="0">
              <a:buNone/>
            </a:pPr>
            <a:r>
              <a:rPr lang="pt-BR" dirty="0"/>
              <a:t>		background-color: </a:t>
            </a:r>
            <a:r>
              <a:rPr lang="pt-BR" dirty="0" err="1"/>
              <a:t>gray</a:t>
            </a:r>
            <a:r>
              <a:rPr lang="pt-BR" dirty="0"/>
              <a:t>;	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68614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208</TotalTime>
  <Words>488</Words>
  <Application>Microsoft Office PowerPoint</Application>
  <PresentationFormat>Apresentação na tela (4:3)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Courier New</vt:lpstr>
      <vt:lpstr>Tw Cen MT</vt:lpstr>
      <vt:lpstr>Wingdings</vt:lpstr>
      <vt:lpstr>Wingdings 2</vt:lpstr>
      <vt:lpstr>Mediano</vt:lpstr>
      <vt:lpstr>CSS</vt:lpstr>
      <vt:lpstr>CSS</vt:lpstr>
      <vt:lpstr>Associar um arquivo CSS ao HTML </vt:lpstr>
      <vt:lpstr>Composição</vt:lpstr>
      <vt:lpstr>Seletores</vt:lpstr>
      <vt:lpstr>Seletor por TAG</vt:lpstr>
      <vt:lpstr>Seletor por ID</vt:lpstr>
      <vt:lpstr>Seletor por Classe</vt:lpstr>
      <vt:lpstr>Seletor por Classe</vt:lpstr>
      <vt:lpstr>Sobreposição</vt:lpstr>
      <vt:lpstr>Sobreposição</vt:lpstr>
      <vt:lpstr>Cascata</vt:lpstr>
      <vt:lpstr>Cascata</vt:lpstr>
      <vt:lpstr>Cascata</vt:lpstr>
      <vt:lpstr>Media Queries</vt:lpstr>
      <vt:lpstr>Media Queries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cp:lastModifiedBy>Professor</cp:lastModifiedBy>
  <cp:revision>22</cp:revision>
  <dcterms:created xsi:type="dcterms:W3CDTF">2013-08-24T11:38:58Z</dcterms:created>
  <dcterms:modified xsi:type="dcterms:W3CDTF">2016-09-03T12:38:29Z</dcterms:modified>
</cp:coreProperties>
</file>