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1"/>
    <p:sldMasterId id="2147483719" r:id="rId2"/>
    <p:sldMasterId id="2147483733" r:id="rId3"/>
  </p:sldMasterIdLst>
  <p:notesMasterIdLst>
    <p:notesMasterId r:id="rId28"/>
  </p:notesMasterIdLst>
  <p:handoutMasterIdLst>
    <p:handoutMasterId r:id="rId29"/>
  </p:handoutMasterIdLst>
  <p:sldIdLst>
    <p:sldId id="256" r:id="rId4"/>
    <p:sldId id="282" r:id="rId5"/>
    <p:sldId id="283" r:id="rId6"/>
    <p:sldId id="284" r:id="rId7"/>
    <p:sldId id="258" r:id="rId8"/>
    <p:sldId id="278" r:id="rId9"/>
    <p:sldId id="294" r:id="rId10"/>
    <p:sldId id="295" r:id="rId11"/>
    <p:sldId id="296" r:id="rId12"/>
    <p:sldId id="297" r:id="rId13"/>
    <p:sldId id="298" r:id="rId14"/>
    <p:sldId id="299" r:id="rId15"/>
    <p:sldId id="259" r:id="rId16"/>
    <p:sldId id="285" r:id="rId17"/>
    <p:sldId id="271" r:id="rId18"/>
    <p:sldId id="260" r:id="rId19"/>
    <p:sldId id="275" r:id="rId20"/>
    <p:sldId id="273" r:id="rId21"/>
    <p:sldId id="276" r:id="rId22"/>
    <p:sldId id="277" r:id="rId23"/>
    <p:sldId id="274" r:id="rId24"/>
    <p:sldId id="280" r:id="rId25"/>
    <p:sldId id="293" r:id="rId26"/>
    <p:sldId id="281" r:id="rId27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FFCC"/>
    <a:srgbClr val="C0C0C0"/>
    <a:srgbClr val="DDDDD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7" autoAdjust="0"/>
    <p:restoredTop sz="94660"/>
  </p:normalViewPr>
  <p:slideViewPr>
    <p:cSldViewPr>
      <p:cViewPr varScale="1">
        <p:scale>
          <a:sx n="97" d="100"/>
          <a:sy n="97" d="100"/>
        </p:scale>
        <p:origin x="8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8"/>
    </p:cViewPr>
  </p:sorterViewPr>
  <p:notesViewPr>
    <p:cSldViewPr>
      <p:cViewPr varScale="1">
        <p:scale>
          <a:sx n="38" d="100"/>
          <a:sy n="38" d="100"/>
        </p:scale>
        <p:origin x="-1590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7.xml"/><Relationship Id="rId3" Type="http://schemas.openxmlformats.org/officeDocument/2006/relationships/slide" Target="slides/slide9.xml"/><Relationship Id="rId7" Type="http://schemas.openxmlformats.org/officeDocument/2006/relationships/slide" Target="slides/slide13.xml"/><Relationship Id="rId2" Type="http://schemas.openxmlformats.org/officeDocument/2006/relationships/slide" Target="slides/slide8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11" Type="http://schemas.openxmlformats.org/officeDocument/2006/relationships/slide" Target="slides/slide22.xml"/><Relationship Id="rId5" Type="http://schemas.openxmlformats.org/officeDocument/2006/relationships/slide" Target="slides/slide11.xml"/><Relationship Id="rId10" Type="http://schemas.openxmlformats.org/officeDocument/2006/relationships/slide" Target="slides/slide21.xml"/><Relationship Id="rId4" Type="http://schemas.openxmlformats.org/officeDocument/2006/relationships/slide" Target="slides/slide10.xml"/><Relationship Id="rId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t" anchorCtr="0" compatLnSpc="1">
            <a:prstTxWarp prst="textNoShape">
              <a:avLst/>
            </a:prstTxWarp>
          </a:bodyPr>
          <a:lstStyle>
            <a:lvl1pPr defTabSz="955675">
              <a:defRPr sz="1300"/>
            </a:lvl1pPr>
          </a:lstStyle>
          <a:p>
            <a:pPr>
              <a:defRPr/>
            </a:pPr>
            <a:r>
              <a:rPr lang="pt-BR"/>
              <a:t>Engenharia de Software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t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b" anchorCtr="0" compatLnSpc="1">
            <a:prstTxWarp prst="textNoShape">
              <a:avLst/>
            </a:prstTxWarp>
          </a:bodyPr>
          <a:lstStyle>
            <a:lvl1pPr defTabSz="955675">
              <a:defRPr sz="1300"/>
            </a:lvl1pPr>
          </a:lstStyle>
          <a:p>
            <a:pPr>
              <a:defRPr/>
            </a:pPr>
            <a:r>
              <a:rPr lang="pt-BR"/>
              <a:t>Profa. Dra. Ana Paula G. Serra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b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fld id="{683D07DB-EED9-45F4-87C9-18B913683A2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856556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t" anchorCtr="0" compatLnSpc="1">
            <a:prstTxWarp prst="textNoShape">
              <a:avLst/>
            </a:prstTxWarp>
          </a:bodyPr>
          <a:lstStyle>
            <a:lvl1pPr defTabSz="955675">
              <a:defRPr sz="1300"/>
            </a:lvl1pPr>
          </a:lstStyle>
          <a:p>
            <a:pPr>
              <a:defRPr/>
            </a:pPr>
            <a:r>
              <a:rPr lang="pt-BR"/>
              <a:t>Engenharia de Software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t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b" anchorCtr="0" compatLnSpc="1">
            <a:prstTxWarp prst="textNoShape">
              <a:avLst/>
            </a:prstTxWarp>
          </a:bodyPr>
          <a:lstStyle>
            <a:lvl1pPr defTabSz="955675">
              <a:defRPr sz="1300"/>
            </a:lvl1pPr>
          </a:lstStyle>
          <a:p>
            <a:pPr>
              <a:defRPr/>
            </a:pPr>
            <a:r>
              <a:rPr lang="pt-BR"/>
              <a:t>Profa. Dra. Ana Paula G. Serra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582" tIns="47791" rIns="95582" bIns="47791" numCol="1" anchor="b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fld id="{5218912C-C1D2-4940-A1DF-0B9BB6229AD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09764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07283E3-6F46-4390-8847-1B00FAED03C2}" type="slidenum">
              <a:rPr lang="pt-BR" altLang="pt-BR" sz="1300"/>
              <a:pPr eaLnBrk="1" hangingPunct="1"/>
              <a:t>1</a:t>
            </a:fld>
            <a:endParaRPr lang="pt-BR" altLang="pt-BR" sz="13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pt-BR" altLang="pt-BR" smtClean="0">
              <a:latin typeface="Times New Roman" panose="02020603050405020304" pitchFamily="18" charset="0"/>
            </a:endParaRPr>
          </a:p>
        </p:txBody>
      </p:sp>
      <p:sp>
        <p:nvSpPr>
          <p:cNvPr id="29701" name="Espaço Reservado para Rodapé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300" smtClean="0"/>
              <a:t>Profa. Dra. Ana Paula G. Serra</a:t>
            </a:r>
          </a:p>
        </p:txBody>
      </p:sp>
      <p:sp>
        <p:nvSpPr>
          <p:cNvPr id="29702" name="Espaço Reservado para Cabeçalho 2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55675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300" smtClean="0"/>
              <a:t>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292081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Universidade São Judas Tadeu - Engenharia de Software - Profa. Ana Paula Gonçalves Serra 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5CB23-0AB7-4097-B229-47872BD53EB8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2841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C021F-33BF-4063-94EE-7117B06AF0D9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5448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967F6-78F7-467F-BCAC-77B230203E0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164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D66A8-7207-4C6E-AC9B-89002613898F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1043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2/19/2015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F9CD3-B8E7-4915-B8C7-76927CBD9AB9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92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2/19/2015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D73B-D2C1-40F0-B74B-9385E9D624DD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2/19/2015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E2EE4-CEAE-4FED-94BE-86234AF6820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8106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28A70-0AF0-48D5-995A-6CA0D5A4B29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5818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FBD73-3D84-4B1E-AE95-F9855016D90D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410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00A34-6885-4A23-8E1D-8297496CBBD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529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80F5-0E7A-43EE-867B-9699D62AA1D1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17558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66BE1-354E-4700-87B4-B9EE82B4CAC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1269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86DD8-60B2-4B0D-92C3-56DF31D52B81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064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Universidade São Judas Tadeu - Engenharia de Software - Profa. Ana Paula Gonçalves Serra 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5CB23-0AB7-4097-B229-47872BD53EB8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6532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2D3E9E-A95C-48F2-B4BF-A71542E0BE9A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C021F-33BF-4063-94EE-7117B06AF0D9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42751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F84E2-2D7A-43CF-AC90-352A289A783A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967F6-78F7-467F-BCAC-77B230203E0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3473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2952B5-7A2F-4CC8-B7CE-9234E21C2837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8D66A8-7207-4C6E-AC9B-89002613898F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857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1DA07A-9201-4B4B-BAF2-015AFA30F520}" type="datetime1">
              <a:rPr lang="en-US" smtClean="0"/>
              <a:t>2/19/2015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F9CD3-B8E7-4915-B8C7-76927CBD9AB9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786487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3D7E00A-486F-4252-8B1D-E32645521F49}" type="datetime1">
              <a:rPr lang="en-US" smtClean="0"/>
              <a:t>2/19/2015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6D73B-D2C1-40F0-B74B-9385E9D624DD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11746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DF5F92-E675-4B36-9A60-69A962A68675}" type="datetime1">
              <a:rPr lang="en-US" smtClean="0"/>
              <a:t>2/19/2015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E2EE4-CEAE-4FED-94BE-86234AF6820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942265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6E2C9B-5FA2-460D-9BE7-B0812FC2A6FF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28A70-0AF0-48D5-995A-6CA0D5A4B29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5222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374940-A916-4C8B-9648-02A2D3898F9E}" type="datetime1">
              <a:rPr lang="en-US" smtClean="0"/>
              <a:t>2/19/2015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9FBD73-3D84-4B1E-AE95-F9855016D90D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4568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4E5243-F52A-4D37-9694-EB26C6C31910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00A34-6885-4A23-8E1D-8297496CBBDE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9863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77B6E1-634A-48DC-9E8B-D894023267EF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B80F5-0E7A-43EE-867B-9699D62AA1D1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62188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66BE1-354E-4700-87B4-B9EE82B4CAC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791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86DD8-60B2-4B0D-92C3-56DF31D52B81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2485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5" name="Retângulo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Retângulo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D6D60-9E2C-477E-AF79-31B68DF3684D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62832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6AB5F-235A-4586-BFD7-73D8BDFB029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28669434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Retângulo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/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A4B1E5EF-2528-4961-A98D-DC247B8CD002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90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/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BF7B1B-892F-4479-8401-122F7714864D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7" name="Espaço Reservado para Rodapé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08460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/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CAA576-BFD2-4814-9D76-7C116C2E9004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48161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0750C-8F7B-403D-8E6F-AC1EE8B5050E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7016220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FC690-0335-4781-A04B-08FEB542257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93049760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B12A73-71DB-46D4-B0A1-DAAFC81EE135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8018433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Retângulo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8" name="Retângulo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/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CE807C0C-F71C-4C02-8AFE-B336124A1C57}" type="slidenum">
              <a:rPr lang="en-US" altLang="ja-JP"/>
              <a:pPr/>
              <a:t>‹nº›</a:t>
            </a:fld>
            <a:endParaRPr lang="en-US" altLang="ja-JP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8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FB3EA-E7FE-4C58-A946-6D6F6083B7CF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3848043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5" name="Retângulo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6" name="Retângulo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A2BB6D60-177A-4D95-A992-4E445D5687E8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17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66BE1-354E-4700-87B4-B9EE82B4CAC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76624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-457200"/>
            <a:ext cx="7793037" cy="1143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3400" y="1143000"/>
            <a:ext cx="4133850" cy="498951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819650" y="1143000"/>
            <a:ext cx="4135438" cy="4989513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86DD8-60B2-4B0D-92C3-56DF31D52B81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Profa. Dra. Ana Paula Gonçalves Serra – Engenharia de Software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63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AC89E-18AC-4B8D-A093-F58A35E97A9F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gray">
          <a:xfrm>
            <a:off x="595313" y="63690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/>
          </a:p>
        </p:txBody>
      </p:sp>
    </p:spTree>
    <p:extLst>
      <p:ext uri="{BB962C8B-B14F-4D97-AF65-F5344CB8AC3E}">
        <p14:creationId xmlns:p14="http://schemas.microsoft.com/office/powerpoint/2010/main" val="68048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título mestre</a:t>
            </a:r>
            <a:endParaRPr lang="pt-BR" altLang="pt-BR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  <a:endParaRPr lang="pt-BR" altLang="pt-B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-128"/>
                <a:cs typeface="ＭＳ Ｐゴシック" charset="-128"/>
              </a:defRPr>
            </a:lvl1pPr>
          </a:lstStyle>
          <a:p>
            <a:fld id="{5586B75A-687E-405C-8A0B-8D00578BA2C3}" type="datetime1">
              <a:rPr lang="en-US" smtClean="0"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pt-BR" smtClean="0"/>
              <a:t>Profa. Dra. Ana Paula Gonçalves Serra – Engenharia de Software I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EAAAC89E-18AC-4B8D-A093-F58A35E97A9F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gray">
          <a:xfrm>
            <a:off x="595313" y="63690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/>
          </a:p>
        </p:txBody>
      </p:sp>
    </p:spTree>
    <p:extLst>
      <p:ext uri="{BB962C8B-B14F-4D97-AF65-F5344CB8AC3E}">
        <p14:creationId xmlns:p14="http://schemas.microsoft.com/office/powerpoint/2010/main" val="22830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  <a:endParaRPr lang="en-US" altLang="pt-BR" smtClean="0"/>
          </a:p>
        </p:txBody>
      </p:sp>
      <p:sp>
        <p:nvSpPr>
          <p:cNvPr id="2051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  <a:endParaRPr lang="en-US" altLang="pt-BR" smtClean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fld id="{23A271A1-F6D6-438B-A432-4747EE7ECD40}" type="datetimeFigureOut">
              <a:rPr lang="en-US"/>
              <a:pPr>
                <a:defRPr/>
              </a:pPr>
              <a:t>2/19/2015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 dirty="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kumimoji="0" sz="1400">
                <a:solidFill>
                  <a:srgbClr val="FFFFFF"/>
                </a:solidFill>
              </a:defRPr>
            </a:lvl1pPr>
          </a:lstStyle>
          <a:p>
            <a:fld id="{C7553EA4-C2EE-450D-9AEC-F1F67A8AD6D3}" type="slidenum">
              <a:rPr lang="en-US" altLang="ja-JP"/>
              <a:pPr/>
              <a:t>‹nº›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9280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ransition>
    <p:dissolve/>
  </p:transition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 smtClean="0"/>
              <a:t>Engenharia de Software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9552" y="2286000"/>
            <a:ext cx="7766050" cy="1752600"/>
          </a:xfrm>
        </p:spPr>
        <p:txBody>
          <a:bodyPr>
            <a:normAutofit fontScale="55000" lnSpcReduction="20000"/>
          </a:bodyPr>
          <a:lstStyle/>
          <a:p>
            <a:pPr eaLnBrk="1" hangingPunct="1"/>
            <a:r>
              <a:rPr lang="pt-BR" altLang="pt-BR" sz="2200" b="1" dirty="0" smtClean="0"/>
              <a:t>Capítulo </a:t>
            </a:r>
            <a:r>
              <a:rPr lang="pt-BR" altLang="pt-BR" sz="2200" b="1" dirty="0" smtClean="0"/>
              <a:t>2 (até item 2.2. inclusive)</a:t>
            </a:r>
          </a:p>
          <a:p>
            <a:pPr eaLnBrk="1" hangingPunct="1"/>
            <a:r>
              <a:rPr lang="pt-BR" altLang="pt-BR" sz="2000" dirty="0" smtClean="0"/>
              <a:t>Engenharia de Software - Roger Pressman</a:t>
            </a:r>
          </a:p>
          <a:p>
            <a:pPr eaLnBrk="1" hangingPunct="1"/>
            <a:r>
              <a:rPr lang="pt-BR" altLang="pt-BR" sz="2000" dirty="0" smtClean="0"/>
              <a:t>6ª edição – </a:t>
            </a:r>
            <a:r>
              <a:rPr lang="pt-BR" altLang="pt-BR" sz="2000" dirty="0" err="1" smtClean="0"/>
              <a:t>McGrawHill</a:t>
            </a:r>
            <a:endParaRPr lang="pt-BR" altLang="pt-BR" sz="2000" dirty="0" smtClean="0"/>
          </a:p>
          <a:p>
            <a:pPr eaLnBrk="1" hangingPunct="1"/>
            <a:endParaRPr lang="pt-BR" altLang="pt-BR" sz="2000" dirty="0" smtClean="0"/>
          </a:p>
          <a:p>
            <a:pPr eaLnBrk="1" hangingPunct="1"/>
            <a:r>
              <a:rPr lang="pt-BR" altLang="pt-BR" sz="2200" b="1" dirty="0" smtClean="0"/>
              <a:t>Capítulo 1</a:t>
            </a:r>
            <a:endParaRPr lang="pt-BR" altLang="pt-BR" dirty="0" smtClean="0"/>
          </a:p>
          <a:p>
            <a:pPr eaLnBrk="1" hangingPunct="1"/>
            <a:r>
              <a:rPr lang="pt-BR" altLang="pt-BR" sz="2000" dirty="0" smtClean="0"/>
              <a:t>Engenharia de Software - Ian </a:t>
            </a:r>
            <a:r>
              <a:rPr lang="pt-BR" altLang="pt-BR" sz="2000" dirty="0" err="1" smtClean="0"/>
              <a:t>Sommerville</a:t>
            </a:r>
            <a:endParaRPr lang="pt-BR" altLang="pt-BR" sz="2000" dirty="0" smtClean="0"/>
          </a:p>
          <a:p>
            <a:pPr eaLnBrk="1" hangingPunct="1"/>
            <a:r>
              <a:rPr lang="pt-BR" altLang="pt-BR" sz="2000" dirty="0" smtClean="0"/>
              <a:t>6ª edição ou 8ª. edição</a:t>
            </a:r>
          </a:p>
          <a:p>
            <a:pPr eaLnBrk="1" hangingPunct="1"/>
            <a:endParaRPr lang="pt-BR" altLang="pt-BR" sz="2000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2555776" y="6165304"/>
            <a:ext cx="47741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dirty="0"/>
              <a:t>O Processo – Uma Visão Genérica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3000"/>
            <a:ext cx="6702425" cy="4989513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pt-BR" altLang="pt-BR" sz="2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pt-BR" altLang="pt-BR" sz="2800" dirty="0" smtClean="0">
                <a:cs typeface="Times New Roman" panose="02020603050405020304" pitchFamily="18" charset="0"/>
              </a:rPr>
              <a:t>Na </a:t>
            </a:r>
            <a:r>
              <a:rPr lang="pt-BR" altLang="pt-BR" sz="2800" dirty="0" smtClean="0">
                <a:cs typeface="Times New Roman" panose="02020603050405020304" pitchFamily="18" charset="0"/>
              </a:rPr>
              <a:t>aula passada comentamos sobre tipos de software, mitos e acontecimentos do software</a:t>
            </a:r>
            <a:r>
              <a:rPr lang="pt-BR" altLang="pt-BR" sz="2800" dirty="0" smtClean="0">
                <a:cs typeface="Times New Roman" panose="02020603050405020304" pitchFamily="18" charset="0"/>
              </a:rPr>
              <a:t>...</a:t>
            </a:r>
            <a:endParaRPr lang="pt-BR" altLang="pt-BR" sz="2800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lang="pt-BR" altLang="pt-BR" sz="2800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pt-BR" altLang="pt-BR" sz="2800" dirty="0" smtClean="0">
                <a:cs typeface="Times New Roman" panose="02020603050405020304" pitchFamily="18" charset="0"/>
              </a:rPr>
              <a:t>Isso é real ou mito? </a:t>
            </a:r>
            <a:endParaRPr lang="pt-BR" altLang="pt-BR" sz="2400" dirty="0" smtClean="0">
              <a:cs typeface="Times New Roman" panose="02020603050405020304" pitchFamily="18" charset="0"/>
            </a:endParaRPr>
          </a:p>
        </p:txBody>
      </p:sp>
      <p:sp>
        <p:nvSpPr>
          <p:cNvPr id="2" name="Espaço Reservado para Conteúdo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4285BE2-1C86-4E3B-8829-34C183CF2778}" type="slidenum">
              <a:rPr lang="pt-BR" altLang="pt-BR" sz="1200">
                <a:latin typeface="Arial" panose="020B0604020202020204" pitchFamily="34" charset="0"/>
              </a:rPr>
              <a:pPr eaLnBrk="1" hangingPunct="1"/>
              <a:t>2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4102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Isso é Real?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19" y="1600200"/>
            <a:ext cx="6080112" cy="4495800"/>
          </a:xfrm>
        </p:spPr>
      </p:pic>
      <p:sp>
        <p:nvSpPr>
          <p:cNvPr id="512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2BD5BFB-87C2-4F00-A718-A76FA8416BE2}" type="slidenum">
              <a:rPr lang="pt-BR" altLang="pt-BR" sz="1200">
                <a:latin typeface="Arial" panose="020B0604020202020204" pitchFamily="34" charset="0"/>
              </a:rPr>
              <a:pPr eaLnBrk="1" hangingPunct="1"/>
              <a:t>3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Isso é Real?</a:t>
            </a:r>
          </a:p>
        </p:txBody>
      </p:sp>
      <p:sp>
        <p:nvSpPr>
          <p:cNvPr id="6150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3B2C9CC-55D7-4B56-83B4-E4597AB817F7}" type="slidenum">
              <a:rPr lang="pt-BR" altLang="pt-BR" sz="1200">
                <a:latin typeface="Arial" panose="020B0604020202020204" pitchFamily="34" charset="0"/>
              </a:rPr>
              <a:pPr eaLnBrk="1" hangingPunct="1"/>
              <a:t>4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62063"/>
            <a:ext cx="3887787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4" b="25912"/>
          <a:stretch>
            <a:fillRect/>
          </a:stretch>
        </p:blipFill>
        <p:spPr bwMode="auto">
          <a:xfrm>
            <a:off x="4067175" y="4003675"/>
            <a:ext cx="496887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578024" y="381825"/>
            <a:ext cx="8763000" cy="1143001"/>
          </a:xfrm>
        </p:spPr>
        <p:txBody>
          <a:bodyPr/>
          <a:lstStyle/>
          <a:p>
            <a:pPr eaLnBrk="1" hangingPunct="1"/>
            <a:r>
              <a:rPr lang="pt-BR" altLang="pt-BR" sz="3200" b="1" dirty="0" smtClean="0">
                <a:cs typeface="Arial" panose="020B0604020202020204" pitchFamily="34" charset="0"/>
              </a:rPr>
              <a:t>Algumas definições de Engenharia de Software</a:t>
            </a:r>
            <a:endParaRPr lang="pt-BR" altLang="pt-BR" sz="3200" dirty="0" smtClean="0">
              <a:cs typeface="Times New Roman" panose="02020603050405020304" pitchFamily="18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95400"/>
            <a:ext cx="8421688" cy="49530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pt-BR" altLang="pt-BR" sz="2000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pt-BR" altLang="pt-BR" sz="2000" dirty="0" smtClean="0">
                <a:cs typeface="Times New Roman" panose="02020603050405020304" pitchFamily="18" charset="0"/>
              </a:rPr>
              <a:t>Segundo </a:t>
            </a:r>
            <a:r>
              <a:rPr lang="pt-BR" altLang="pt-BR" sz="2000" dirty="0" smtClean="0">
                <a:cs typeface="Times New Roman" panose="02020603050405020304" pitchFamily="18" charset="0"/>
              </a:rPr>
              <a:t>Fritz Bauer “Engenharia de Software é a criação e a utilização de sólidos princípios de engenharia a fim de obter softwares econômicos que sejam confiáveis e que trabalham eficientemente em máquinas reais”.</a:t>
            </a:r>
          </a:p>
          <a:p>
            <a:pPr eaLnBrk="1" hangingPunct="1">
              <a:lnSpc>
                <a:spcPct val="140000"/>
              </a:lnSpc>
            </a:pPr>
            <a:r>
              <a:rPr lang="pt-BR" altLang="pt-BR" sz="1800" dirty="0" smtClean="0">
                <a:cs typeface="Times New Roman" panose="02020603050405020304" pitchFamily="18" charset="0"/>
              </a:rPr>
              <a:t>Segundo a IEEE </a:t>
            </a:r>
            <a:r>
              <a:rPr lang="pt-BR" altLang="pt-BR" sz="1800" dirty="0" smtClean="0"/>
              <a:t>610.12., engenharia de software é: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1800" b="1" dirty="0" smtClean="0"/>
              <a:t>	1.</a:t>
            </a:r>
            <a:r>
              <a:rPr lang="pt-BR" altLang="pt-BR" sz="1800" dirty="0" smtClean="0"/>
              <a:t> </a:t>
            </a:r>
            <a:r>
              <a:rPr lang="pt-BR" altLang="pt-BR" sz="2000" dirty="0" smtClean="0"/>
              <a:t>A aplicação de uma abordagem sistemática, disciplinada e quantificável ao desenvolvimento, operação e manutenção do software.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1800" b="1" dirty="0" smtClean="0"/>
              <a:t>2</a:t>
            </a:r>
            <a:r>
              <a:rPr lang="pt-BR" altLang="pt-BR" sz="1800" dirty="0" smtClean="0"/>
              <a:t>. O estudo das abordagens definidas em </a:t>
            </a:r>
            <a:r>
              <a:rPr lang="pt-BR" altLang="pt-BR" sz="1800" b="1" dirty="0" smtClean="0"/>
              <a:t>1</a:t>
            </a:r>
            <a:r>
              <a:rPr lang="pt-BR" altLang="pt-BR" sz="1800" dirty="0" smtClean="0"/>
              <a:t>.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pt-BR" altLang="pt-BR" sz="1800" dirty="0" smtClean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1800" b="1" dirty="0" smtClean="0">
                <a:solidFill>
                  <a:schemeClr val="hlink"/>
                </a:solidFill>
              </a:rPr>
              <a:t>Qual é a melhor definição? Essas definições são auto explicativas?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pt-BR" altLang="pt-BR" sz="1800" dirty="0" smtClean="0">
              <a:cs typeface="Times New Roman" panose="02020603050405020304" pitchFamily="18" charset="0"/>
            </a:endParaRPr>
          </a:p>
        </p:txBody>
      </p:sp>
      <p:sp>
        <p:nvSpPr>
          <p:cNvPr id="717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FE8AD42-4C06-4980-A275-9EC9E923C03D}" type="slidenum">
              <a:rPr lang="pt-BR" altLang="pt-BR" sz="1200">
                <a:latin typeface="Arial" panose="020B0604020202020204" pitchFamily="34" charset="0"/>
              </a:rPr>
              <a:pPr eaLnBrk="1" hangingPunct="1"/>
              <a:t>5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90488"/>
            <a:ext cx="8763000" cy="1143001"/>
          </a:xfrm>
        </p:spPr>
        <p:txBody>
          <a:bodyPr/>
          <a:lstStyle/>
          <a:p>
            <a:pPr eaLnBrk="1" hangingPunct="1"/>
            <a:r>
              <a:rPr lang="pt-BR" altLang="pt-BR" sz="3200" b="1" dirty="0" smtClean="0">
                <a:cs typeface="Arial" panose="020B0604020202020204" pitchFamily="34" charset="0"/>
              </a:rPr>
              <a:t>Algumas definições de Engenharia de Software</a:t>
            </a:r>
            <a:endParaRPr lang="pt-BR" altLang="pt-BR" sz="3200" dirty="0" smtClean="0">
              <a:cs typeface="Times New Roman" panose="02020603050405020304" pitchFamily="18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88" y="1125538"/>
            <a:ext cx="8839200" cy="5732462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1600" dirty="0" smtClean="0">
                <a:cs typeface="Times New Roman" panose="02020603050405020304" pitchFamily="18" charset="0"/>
              </a:rPr>
              <a:t>	</a:t>
            </a:r>
            <a:endParaRPr lang="pt-BR" altLang="pt-BR" sz="1600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1800" dirty="0" smtClean="0">
                <a:cs typeface="Times New Roman" panose="02020603050405020304" pitchFamily="18" charset="0"/>
              </a:rPr>
              <a:t>Segundo </a:t>
            </a:r>
            <a:r>
              <a:rPr lang="pt-BR" altLang="pt-BR" sz="1800" b="1" dirty="0" err="1" smtClean="0">
                <a:cs typeface="Times New Roman" panose="02020603050405020304" pitchFamily="18" charset="0"/>
              </a:rPr>
              <a:t>Sommerville</a:t>
            </a:r>
            <a:r>
              <a:rPr lang="pt-BR" altLang="pt-BR" sz="1800" dirty="0" smtClean="0">
                <a:cs typeface="Times New Roman" panose="02020603050405020304" pitchFamily="18" charset="0"/>
              </a:rPr>
              <a:t>  a Engenharia de Software “</a:t>
            </a:r>
            <a:r>
              <a:rPr lang="pt-BR" altLang="pt-BR" sz="1800" dirty="0" smtClean="0"/>
              <a:t>É uma </a:t>
            </a:r>
            <a:r>
              <a:rPr lang="pt-BR" altLang="pt-BR" sz="1800" b="1" u="sng" dirty="0" smtClean="0"/>
              <a:t>disciplina de engenharia</a:t>
            </a:r>
            <a:r>
              <a:rPr lang="pt-BR" altLang="pt-BR" sz="1800" dirty="0" smtClean="0"/>
              <a:t> relacionada com </a:t>
            </a:r>
            <a:r>
              <a:rPr lang="pt-BR" altLang="pt-BR" sz="1800" b="1" u="sng" dirty="0" smtClean="0"/>
              <a:t>todos os aspectos da produção de software</a:t>
            </a:r>
            <a:r>
              <a:rPr lang="pt-BR" altLang="pt-BR" sz="1800" dirty="0" smtClean="0"/>
              <a:t>, desde os estágios iniciais de especificação de sistemas até a manutenção desse sistema.”. Sendo que:</a:t>
            </a:r>
          </a:p>
          <a:p>
            <a:pPr eaLnBrk="1" hangingPunct="1">
              <a:lnSpc>
                <a:spcPct val="140000"/>
              </a:lnSpc>
            </a:pPr>
            <a:r>
              <a:rPr lang="pt-BR" altLang="pt-BR" sz="1600" b="1" u="sng" dirty="0" smtClean="0"/>
              <a:t>Disciplina de engenharia</a:t>
            </a:r>
            <a:r>
              <a:rPr lang="pt-BR" altLang="pt-BR" sz="1600" dirty="0" smtClean="0"/>
              <a:t>: os engenheiros fazem as coisas funcionarem. Eles aplicam teorias, métodos e ferramentas onde for apropriado, mas eles os usam de forma seletiva e sempre procuram descobrir soluções para os problemas, mesmo quando não existem teorias e métodos aplicáveis. Os engenheiros reconhecem também que devem trabalhar sob restrições organizacionais e financeiras, e procuram soluções sem perder de vista essas restrições.</a:t>
            </a:r>
          </a:p>
          <a:p>
            <a:pPr eaLnBrk="1" hangingPunct="1">
              <a:lnSpc>
                <a:spcPct val="140000"/>
              </a:lnSpc>
            </a:pPr>
            <a:r>
              <a:rPr lang="pt-BR" altLang="pt-BR" sz="1600" b="1" u="sng" dirty="0" smtClean="0"/>
              <a:t>Todos os aspectos da produção de software</a:t>
            </a:r>
            <a:r>
              <a:rPr lang="pt-BR" altLang="pt-BR" sz="1600" dirty="0" smtClean="0"/>
              <a:t>: a engenharia de software não esta relacionada apenas com os processos técnicos de desenvolvimento de software, mas também com atividades como o gerenciamento de projeto de software e o desenvolvimento de ferramentas, métodos e teorias que </a:t>
            </a:r>
            <a:r>
              <a:rPr lang="pt-BR" altLang="pt-BR" sz="1600" dirty="0" err="1" smtClean="0"/>
              <a:t>apóiem</a:t>
            </a:r>
            <a:r>
              <a:rPr lang="pt-BR" altLang="pt-BR" sz="1600" dirty="0" smtClean="0"/>
              <a:t> a produção de software. </a:t>
            </a:r>
          </a:p>
        </p:txBody>
      </p:sp>
      <p:sp>
        <p:nvSpPr>
          <p:cNvPr id="8197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60DDD2E-CB44-4E0A-B371-91E78BCA33CF}" type="slidenum">
              <a:rPr lang="pt-BR" altLang="pt-BR" sz="1200">
                <a:latin typeface="Arial" panose="020B0604020202020204" pitchFamily="34" charset="0"/>
              </a:rPr>
              <a:pPr eaLnBrk="1" hangingPunct="1"/>
              <a:t>6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628775"/>
            <a:ext cx="8229600" cy="8366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pt-BR" b="1" dirty="0">
                <a:cs typeface="Arial" panose="020B0604020202020204" pitchFamily="34" charset="0"/>
              </a:rPr>
              <a:t/>
            </a:r>
            <a:br>
              <a:rPr lang="pt-BR" altLang="pt-BR" b="1" dirty="0">
                <a:cs typeface="Arial" panose="020B0604020202020204" pitchFamily="34" charset="0"/>
              </a:rPr>
            </a:br>
            <a:r>
              <a:rPr lang="pt-BR" altLang="pt-BR" b="1" dirty="0" smtClean="0">
                <a:cs typeface="Arial" panose="020B0604020202020204" pitchFamily="34" charset="0"/>
              </a:rPr>
              <a:t/>
            </a:r>
            <a:br>
              <a:rPr lang="pt-BR" altLang="pt-BR" b="1" dirty="0" smtClean="0">
                <a:cs typeface="Arial" panose="020B0604020202020204" pitchFamily="34" charset="0"/>
              </a:rPr>
            </a:br>
            <a:r>
              <a:rPr lang="pt-BR" altLang="pt-BR" b="1" dirty="0" smtClean="0">
                <a:cs typeface="Arial" panose="020B0604020202020204" pitchFamily="34" charset="0"/>
              </a:rPr>
              <a:t>Qual </a:t>
            </a:r>
            <a:r>
              <a:rPr lang="pt-BR" altLang="pt-BR" b="1" dirty="0" smtClean="0">
                <a:cs typeface="Arial" panose="020B0604020202020204" pitchFamily="34" charset="0"/>
              </a:rPr>
              <a:t>é a diferença entre Engenharia de Software e Engenharia de Sistemas?</a:t>
            </a:r>
            <a:endParaRPr lang="pt-BR" altLang="pt-BR" dirty="0" smtClean="0">
              <a:cs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3000"/>
            <a:ext cx="4132263" cy="4989513"/>
          </a:xfrm>
        </p:spPr>
        <p:txBody>
          <a:bodyPr/>
          <a:lstStyle/>
          <a:p>
            <a:pPr algn="ctr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pt-BR" altLang="pt-BR" sz="2800" smtClean="0">
                <a:cs typeface="Times New Roman" panose="02020603050405020304" pitchFamily="18" charset="0"/>
              </a:rPr>
              <a:t>	</a:t>
            </a:r>
            <a:endParaRPr lang="pt-BR" altLang="pt-BR" sz="2000" b="1" smtClean="0"/>
          </a:p>
        </p:txBody>
      </p:sp>
      <p:sp>
        <p:nvSpPr>
          <p:cNvPr id="2" name="Espaço Reservado para Imagem Online 1"/>
          <p:cNvSpPr>
            <a:spLocks noGrp="1"/>
          </p:cNvSpPr>
          <p:nvPr>
            <p:ph type="clipArt" sz="half" idx="2"/>
          </p:nvPr>
        </p:nvSpPr>
        <p:spPr/>
      </p:sp>
      <p:sp>
        <p:nvSpPr>
          <p:cNvPr id="6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4145E5A-EE7C-436F-9AD4-B42D8C12F1EF}" type="slidenum">
              <a:rPr lang="pt-BR" altLang="pt-BR" sz="1200">
                <a:latin typeface="Arial" panose="020B0604020202020204" pitchFamily="34" charset="0"/>
              </a:rPr>
              <a:pPr eaLnBrk="1" hangingPunct="1"/>
              <a:t>7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9222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476672"/>
            <a:ext cx="7793037" cy="711200"/>
          </a:xfrm>
          <a:noFill/>
        </p:spPr>
        <p:txBody>
          <a:bodyPr/>
          <a:lstStyle/>
          <a:p>
            <a:pPr eaLnBrk="1" hangingPunct="1"/>
            <a:r>
              <a:rPr lang="pt-BR" altLang="pt-BR" dirty="0" smtClean="0"/>
              <a:t>Engenharia de Sistemas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3400" y="1430338"/>
            <a:ext cx="8421688" cy="5094287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pt-BR" altLang="pt-BR" sz="2400" b="1" smtClean="0">
                <a:solidFill>
                  <a:srgbClr val="FF3300"/>
                </a:solidFill>
                <a:cs typeface="Times New Roman" panose="02020603050405020304" pitchFamily="18" charset="0"/>
              </a:rPr>
              <a:t>O que é sistema?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z="2000" b="1" smtClean="0"/>
              <a:t>      Existem inúmeras definições...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z="2000" b="1" smtClean="0"/>
              <a:t>      Um sistema é uma coleção significativa de componentes inter-relacionados, que trabalham em conjunto para atingir algum objetivo.</a:t>
            </a:r>
            <a:r>
              <a:rPr lang="pt-BR" altLang="pt-BR" sz="2000" smtClean="0"/>
              <a:t> </a:t>
            </a:r>
            <a:endParaRPr lang="pt-BR" altLang="pt-BR" sz="2000" b="1" smtClean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endParaRPr lang="pt-BR" altLang="pt-BR" sz="2000" b="1" smtClean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2000" b="1" smtClean="0">
                <a:cs typeface="Times New Roman" panose="02020603050405020304" pitchFamily="18" charset="0"/>
              </a:rPr>
              <a:t>A </a:t>
            </a: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engenharia de sistemas se ocupa de todos os aspectos relacionados ao desenvolvimento de sistemas com base em computadores, incluindo hardware, software e engenharia de processos. A engenharia de software é parte desse processo.</a:t>
            </a:r>
          </a:p>
        </p:txBody>
      </p:sp>
      <p:sp>
        <p:nvSpPr>
          <p:cNvPr id="1024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6BB800B-4117-470A-9B06-CC84108311BA}" type="slidenum">
              <a:rPr lang="pt-BR" altLang="pt-BR" sz="1200">
                <a:latin typeface="Arial" panose="020B0604020202020204" pitchFamily="34" charset="0"/>
              </a:rPr>
              <a:pPr eaLnBrk="1" hangingPunct="1"/>
              <a:t>8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476672"/>
            <a:ext cx="7793037" cy="711200"/>
          </a:xfrm>
          <a:noFill/>
        </p:spPr>
        <p:txBody>
          <a:bodyPr/>
          <a:lstStyle/>
          <a:p>
            <a:pPr eaLnBrk="1" hangingPunct="1"/>
            <a:r>
              <a:rPr lang="pt-BR" altLang="pt-BR" dirty="0" smtClean="0"/>
              <a:t>Engenharia de Sistemas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3400" y="1430338"/>
            <a:ext cx="8421688" cy="5094287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A engenharia de sistemas é a atividade de especificar, projetar, implementar, validar, implantar e manter os sistemas como um todo. Deve-se pensar sobre os serviços que o sistema fornece, as restrições dentro das quais o sistema deve ser construído e operado e as interações do sistema com seu ambiente.</a:t>
            </a:r>
          </a:p>
          <a:p>
            <a:pPr algn="just" eaLnBrk="1" hangingPunct="1">
              <a:lnSpc>
                <a:spcPct val="140000"/>
              </a:lnSpc>
            </a:pPr>
            <a:endParaRPr lang="pt-BR" altLang="pt-BR" sz="2000" b="1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Decisões de engenharia de sistemas influenciam em engenharia de software.</a:t>
            </a:r>
          </a:p>
          <a:p>
            <a:pPr algn="just" eaLnBrk="1" hangingPunct="1">
              <a:lnSpc>
                <a:spcPct val="120000"/>
              </a:lnSpc>
            </a:pPr>
            <a:endParaRPr lang="pt-BR" altLang="pt-BR" sz="2000" b="1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pt-BR" altLang="pt-BR" sz="240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pt-BR" altLang="pt-BR" sz="240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269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7A13570-6C10-482C-90C7-E21A9C1FF6E9}" type="slidenum">
              <a:rPr lang="pt-BR" altLang="pt-BR" sz="1200">
                <a:latin typeface="Arial" panose="020B0604020202020204" pitchFamily="34" charset="0"/>
              </a:rPr>
              <a:pPr eaLnBrk="1" hangingPunct="1"/>
              <a:t>9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title"/>
          </p:nvPr>
        </p:nvSpPr>
        <p:spPr>
          <a:xfrm>
            <a:off x="612742" y="540477"/>
            <a:ext cx="7793037" cy="711200"/>
          </a:xfrm>
          <a:noFill/>
        </p:spPr>
        <p:txBody>
          <a:bodyPr/>
          <a:lstStyle/>
          <a:p>
            <a:pPr eaLnBrk="1" hangingPunct="1"/>
            <a:r>
              <a:rPr lang="pt-BR" altLang="pt-BR" dirty="0" smtClean="0"/>
              <a:t>Engenharia de Sistemas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95288" y="1125538"/>
            <a:ext cx="7993062" cy="467995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endParaRPr lang="pt-BR" altLang="pt-BR" sz="1800" b="1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18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Uma </a:t>
            </a:r>
            <a:r>
              <a:rPr lang="pt-BR" altLang="pt-BR" sz="1800" b="1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característica de sistemas é que as propriedades e comportamento dos componentes estão intrinsecamente interligados. O funcionamento bem sucedido de cada componente do sistema depende do funcionamento de alguns componentes. Assim, o software somente poderá operar se o processador estiver operacional. O processador poderá realizar computações apenas se o sistema de software, que define essas computações, tiver sido instalado com sucesso.</a:t>
            </a: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1800" b="1" dirty="0" smtClean="0">
                <a:solidFill>
                  <a:srgbClr val="FF3300"/>
                </a:solidFill>
                <a:cs typeface="Times New Roman" panose="02020603050405020304" pitchFamily="18" charset="0"/>
              </a:rPr>
              <a:t>Quais seriam os níveis de preocupação com confiabilidade sob o ponto de vista de software?</a:t>
            </a: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1800" b="1" dirty="0" smtClean="0">
                <a:solidFill>
                  <a:srgbClr val="FF3300"/>
                </a:solidFill>
                <a:cs typeface="Times New Roman" panose="02020603050405020304" pitchFamily="18" charset="0"/>
              </a:rPr>
              <a:t>Quais seriam os níveis de preocupação com confiabilidade sob o ponto de vista de sistema?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pt-BR" altLang="pt-BR" sz="1800" b="1" dirty="0" smtClean="0">
              <a:solidFill>
                <a:srgbClr val="FF33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endParaRPr lang="pt-BR" altLang="pt-BR" sz="1800" b="1" dirty="0" smtClean="0">
              <a:solidFill>
                <a:srgbClr val="FF3300"/>
              </a:solidFill>
              <a:cs typeface="Times New Roman" panose="02020603050405020304" pitchFamily="18" charset="0"/>
            </a:endParaRPr>
          </a:p>
        </p:txBody>
      </p:sp>
      <p:sp>
        <p:nvSpPr>
          <p:cNvPr id="1229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76B0A88-09F9-4D48-AE5F-844D2417E849}" type="slidenum">
              <a:rPr lang="pt-BR" altLang="pt-BR" sz="1200">
                <a:latin typeface="Arial" panose="020B0604020202020204" pitchFamily="34" charset="0"/>
              </a:rPr>
              <a:pPr eaLnBrk="1" hangingPunct="1"/>
              <a:t>10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88913"/>
            <a:ext cx="7793037" cy="711200"/>
          </a:xfrm>
          <a:noFill/>
        </p:spPr>
        <p:txBody>
          <a:bodyPr/>
          <a:lstStyle/>
          <a:p>
            <a:pPr eaLnBrk="1" hangingPunct="1"/>
            <a:r>
              <a:rPr lang="pt-BR" altLang="pt-BR" smtClean="0"/>
              <a:t>Engenharia de Sistemas</a:t>
            </a:r>
          </a:p>
        </p:txBody>
      </p:sp>
      <p:sp>
        <p:nvSpPr>
          <p:cNvPr id="13318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3492500" y="3141663"/>
            <a:ext cx="2505075" cy="1322387"/>
          </a:xfrm>
          <a:noFill/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2000" b="1" smtClean="0"/>
              <a:t>Engenharia e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2000" b="1" smtClean="0"/>
              <a:t>Reengenharia de Software</a:t>
            </a:r>
          </a:p>
        </p:txBody>
      </p:sp>
      <p:sp>
        <p:nvSpPr>
          <p:cNvPr id="13336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24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FD391E6-B336-4387-8088-9CB7315F3F28}" type="slidenum">
              <a:rPr lang="pt-BR" altLang="pt-BR" sz="1200">
                <a:latin typeface="Arial" panose="020B0604020202020204" pitchFamily="34" charset="0"/>
              </a:rPr>
              <a:pPr eaLnBrk="1" hangingPunct="1"/>
              <a:t>11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13317" name="Oval 4"/>
          <p:cNvSpPr>
            <a:spLocks noChangeArrowheads="1"/>
          </p:cNvSpPr>
          <p:nvPr/>
        </p:nvSpPr>
        <p:spPr bwMode="auto">
          <a:xfrm>
            <a:off x="3419475" y="2563813"/>
            <a:ext cx="2698750" cy="2438400"/>
          </a:xfrm>
          <a:prstGeom prst="ellipse">
            <a:avLst/>
          </a:prstGeom>
          <a:solidFill>
            <a:srgbClr val="CC99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827088" y="1268413"/>
            <a:ext cx="345598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FF3300"/>
                </a:solidFill>
                <a:latin typeface="Arial" panose="020B0604020202020204" pitchFamily="34" charset="0"/>
              </a:rPr>
              <a:t>Políticas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FF3300"/>
                </a:solidFill>
                <a:latin typeface="Arial" panose="020B0604020202020204" pitchFamily="34" charset="0"/>
              </a:rPr>
              <a:t>de Segurança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5938838" y="2852738"/>
            <a:ext cx="244792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0000CC"/>
                </a:solidFill>
                <a:latin typeface="Arial" panose="020B0604020202020204" pitchFamily="34" charset="0"/>
              </a:rPr>
              <a:t>Processo de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0000CC"/>
                </a:solidFill>
                <a:latin typeface="Arial" panose="020B0604020202020204" pitchFamily="34" charset="0"/>
              </a:rPr>
              <a:t>Negócio</a:t>
            </a: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3563938" y="1268413"/>
            <a:ext cx="2447925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CC6600"/>
                </a:solidFill>
                <a:latin typeface="Arial" panose="020B0604020202020204" pitchFamily="34" charset="0"/>
              </a:rPr>
              <a:t>Outros Sistemas 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CC6600"/>
                </a:solidFill>
                <a:latin typeface="Arial" panose="020B0604020202020204" pitchFamily="34" charset="0"/>
              </a:rPr>
              <a:t>de Software 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pt-BR" altLang="pt-BR" sz="1800" b="1">
              <a:solidFill>
                <a:srgbClr val="CC660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435600" y="1484313"/>
            <a:ext cx="244792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008080"/>
                </a:solidFill>
                <a:latin typeface="Arial" panose="020B0604020202020204" pitchFamily="34" charset="0"/>
              </a:rPr>
              <a:t>Terceirização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008080"/>
                </a:solidFill>
                <a:latin typeface="Arial" panose="020B0604020202020204" pitchFamily="34" charset="0"/>
              </a:rPr>
              <a:t>de Serviços</a:t>
            </a: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3635375" y="5300663"/>
            <a:ext cx="244792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33CC33"/>
                </a:solidFill>
                <a:latin typeface="Arial" panose="020B0604020202020204" pitchFamily="34" charset="0"/>
              </a:rPr>
              <a:t>Hardware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5651500" y="4652963"/>
            <a:ext cx="244792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Redes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latin typeface="Arial" panose="020B0604020202020204" pitchFamily="34" charset="0"/>
              </a:rPr>
              <a:t>(infra-estrutura, gerenciamento)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>
            <a:off x="1547813" y="4581525"/>
            <a:ext cx="2447925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6666FF"/>
                </a:solidFill>
                <a:latin typeface="Arial" panose="020B0604020202020204" pitchFamily="34" charset="0"/>
              </a:rPr>
              <a:t>Políticas, Regras e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6666FF"/>
                </a:solidFill>
                <a:latin typeface="Arial" panose="020B0604020202020204" pitchFamily="34" charset="0"/>
              </a:rPr>
              <a:t>Procedimentos da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6666FF"/>
                </a:solidFill>
                <a:latin typeface="Arial" panose="020B0604020202020204" pitchFamily="34" charset="0"/>
              </a:rPr>
              <a:t>Empresa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971550" y="2995613"/>
            <a:ext cx="2447925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FF9966"/>
                </a:solidFill>
                <a:latin typeface="Arial" panose="020B0604020202020204" pitchFamily="34" charset="0"/>
              </a:rPr>
              <a:t>Fatores</a:t>
            </a:r>
          </a:p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>
                <a:solidFill>
                  <a:srgbClr val="FF9966"/>
                </a:solidFill>
                <a:latin typeface="Arial" panose="020B0604020202020204" pitchFamily="34" charset="0"/>
              </a:rPr>
              <a:t>Humanos</a:t>
            </a:r>
          </a:p>
        </p:txBody>
      </p:sp>
      <p:sp>
        <p:nvSpPr>
          <p:cNvPr id="13327" name="Line 14"/>
          <p:cNvSpPr>
            <a:spLocks noChangeShapeType="1"/>
          </p:cNvSpPr>
          <p:nvPr/>
        </p:nvSpPr>
        <p:spPr bwMode="auto">
          <a:xfrm>
            <a:off x="2771775" y="2203450"/>
            <a:ext cx="935038" cy="7207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8" name="Line 15"/>
          <p:cNvSpPr>
            <a:spLocks noChangeShapeType="1"/>
          </p:cNvSpPr>
          <p:nvPr/>
        </p:nvSpPr>
        <p:spPr bwMode="auto">
          <a:xfrm>
            <a:off x="4714875" y="2060575"/>
            <a:ext cx="0" cy="503238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9" name="Line 16"/>
          <p:cNvSpPr>
            <a:spLocks noChangeShapeType="1"/>
          </p:cNvSpPr>
          <p:nvPr/>
        </p:nvSpPr>
        <p:spPr bwMode="auto">
          <a:xfrm flipH="1">
            <a:off x="5580063" y="2276475"/>
            <a:ext cx="574675" cy="503238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0" name="Line 17"/>
          <p:cNvSpPr>
            <a:spLocks noChangeShapeType="1"/>
          </p:cNvSpPr>
          <p:nvPr/>
        </p:nvSpPr>
        <p:spPr bwMode="auto">
          <a:xfrm>
            <a:off x="6083300" y="3500438"/>
            <a:ext cx="6477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1" name="Line 18"/>
          <p:cNvSpPr>
            <a:spLocks noChangeShapeType="1"/>
          </p:cNvSpPr>
          <p:nvPr/>
        </p:nvSpPr>
        <p:spPr bwMode="auto">
          <a:xfrm>
            <a:off x="5580063" y="4724400"/>
            <a:ext cx="936625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2" name="Line 19"/>
          <p:cNvSpPr>
            <a:spLocks noChangeShapeType="1"/>
          </p:cNvSpPr>
          <p:nvPr/>
        </p:nvSpPr>
        <p:spPr bwMode="auto">
          <a:xfrm flipV="1">
            <a:off x="2627313" y="4148138"/>
            <a:ext cx="792162" cy="576262"/>
          </a:xfrm>
          <a:prstGeom prst="line">
            <a:avLst/>
          </a:prstGeom>
          <a:noFill/>
          <a:ln w="38100">
            <a:solidFill>
              <a:srgbClr val="66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3" name="Line 20"/>
          <p:cNvSpPr>
            <a:spLocks noChangeShapeType="1"/>
          </p:cNvSpPr>
          <p:nvPr/>
        </p:nvSpPr>
        <p:spPr bwMode="auto">
          <a:xfrm flipH="1" flipV="1">
            <a:off x="4787900" y="5013325"/>
            <a:ext cx="1588" cy="4333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4" name="Line 21"/>
          <p:cNvSpPr>
            <a:spLocks noChangeShapeType="1"/>
          </p:cNvSpPr>
          <p:nvPr/>
        </p:nvSpPr>
        <p:spPr bwMode="auto">
          <a:xfrm flipV="1">
            <a:off x="2484438" y="3429000"/>
            <a:ext cx="1006475" cy="0"/>
          </a:xfrm>
          <a:prstGeom prst="line">
            <a:avLst/>
          </a:prstGeom>
          <a:noFill/>
          <a:ln w="38100">
            <a:solidFill>
              <a:srgbClr val="FF9966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35" name="Rectangle 22"/>
          <p:cNvSpPr>
            <a:spLocks noChangeArrowheads="1"/>
          </p:cNvSpPr>
          <p:nvPr/>
        </p:nvSpPr>
        <p:spPr bwMode="auto">
          <a:xfrm>
            <a:off x="1187450" y="908050"/>
            <a:ext cx="34559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ENGENHARIA DE SISTEMAS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xfrm>
            <a:off x="251521" y="188913"/>
            <a:ext cx="8657530" cy="711200"/>
          </a:xfrm>
          <a:noFill/>
        </p:spPr>
        <p:txBody>
          <a:bodyPr/>
          <a:lstStyle/>
          <a:p>
            <a:pPr eaLnBrk="1" hangingPunct="1"/>
            <a:r>
              <a:rPr lang="pt-BR" altLang="pt-BR" dirty="0" smtClean="0"/>
              <a:t>Engenharia de Sistemas - Conclusões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3400" y="1430338"/>
            <a:ext cx="8421688" cy="5094287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A engenharia de sistemas é um processo complexo e difícil, que requer a entrada de uma série de disciplinas de engenharia.</a:t>
            </a:r>
          </a:p>
          <a:p>
            <a:pPr algn="just" eaLnBrk="1" hangingPunct="1">
              <a:lnSpc>
                <a:spcPct val="140000"/>
              </a:lnSpc>
            </a:pPr>
            <a:endParaRPr lang="pt-BR" altLang="pt-BR" sz="2000" b="1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Mas cada vez mais há uma tendência de integração entre as disciplinas da engenharia sob o ponto de vista de tecnologia, normas, padrões, diretrizes, processos, métodos, técnica e principalmente sobre a Qualidade do Sistema/Serviço.</a:t>
            </a:r>
          </a:p>
        </p:txBody>
      </p:sp>
      <p:sp>
        <p:nvSpPr>
          <p:cNvPr id="14341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F67F3F9-53D9-48DF-BA63-002FCC9ECEF9}" type="slidenum">
              <a:rPr lang="pt-BR" altLang="pt-BR" sz="1200">
                <a:latin typeface="Arial" panose="020B0604020202020204" pitchFamily="34" charset="0"/>
              </a:rPr>
              <a:pPr eaLnBrk="1" hangingPunct="1"/>
              <a:t>12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373063"/>
            <a:ext cx="8763000" cy="1143000"/>
          </a:xfrm>
        </p:spPr>
        <p:txBody>
          <a:bodyPr/>
          <a:lstStyle/>
          <a:p>
            <a:pPr algn="ctr" eaLnBrk="1" hangingPunct="1"/>
            <a:r>
              <a:rPr lang="pt-BR" altLang="pt-BR" sz="4000" b="1" dirty="0" smtClean="0">
                <a:cs typeface="Arial" panose="020B0604020202020204" pitchFamily="34" charset="0"/>
              </a:rPr>
              <a:t>Engenharia de Software em Camadas</a:t>
            </a:r>
            <a:endParaRPr lang="pt-BR" altLang="pt-BR" sz="4000" dirty="0" smtClean="0">
              <a:cs typeface="Times New Roman" panose="02020603050405020304" pitchFamily="18" charset="0"/>
            </a:endParaRPr>
          </a:p>
        </p:txBody>
      </p:sp>
      <p:sp>
        <p:nvSpPr>
          <p:cNvPr id="15365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F8F5DD-8F70-417A-A8E3-4DEB69273494}" type="slidenum">
              <a:rPr lang="pt-BR" altLang="pt-BR" sz="1200">
                <a:latin typeface="Arial" panose="020B0604020202020204" pitchFamily="34" charset="0"/>
              </a:rPr>
              <a:pPr eaLnBrk="1" hangingPunct="1"/>
              <a:t>13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79" y="1785708"/>
            <a:ext cx="7468642" cy="3286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>
          <a:xfrm>
            <a:off x="578310" y="305662"/>
            <a:ext cx="8153400" cy="990600"/>
          </a:xfrm>
          <a:noFill/>
        </p:spPr>
        <p:txBody>
          <a:bodyPr/>
          <a:lstStyle/>
          <a:p>
            <a:pPr eaLnBrk="1" hangingPunct="1"/>
            <a:r>
              <a:rPr lang="pt-BR" altLang="pt-BR" sz="4000" b="1" dirty="0" smtClean="0"/>
              <a:t>Engenharia de Software em Camadas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Qualidade: 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É a camada que suporta a engenharia de software, tendo como foco um software total com qualidade.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smtClean="0">
                <a:solidFill>
                  <a:srgbClr val="FF3300"/>
                </a:solidFill>
                <a:cs typeface="Times New Roman" panose="02020603050405020304" pitchFamily="18" charset="0"/>
              </a:rPr>
              <a:t>	Um maior detalhamento será descrito no material de Qualidade e discutido.</a:t>
            </a:r>
          </a:p>
          <a:p>
            <a:pPr algn="just" eaLnBrk="1" hangingPunct="1">
              <a:lnSpc>
                <a:spcPct val="90000"/>
              </a:lnSpc>
            </a:pPr>
            <a:endParaRPr lang="pt-BR" altLang="pt-BR" sz="1700" smtClean="0">
              <a:solidFill>
                <a:srgbClr val="FF33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Processo: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 É um conjunto de atividades e resultados associados que geram um produto de software. Há quatro atividades de processo fundamentais comuns a todos os processos de software.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	</a:t>
            </a: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1. Especificação do software: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 as funcionalidades (requisitos funcionais), as restrições tecnológicas (requisitos não-funcionais ou atributos)  e as restrições de negócio (requisitos de domínio) devem ser definidas.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	2. Desenvolvimento do software: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 detalhamento, solução e codificação devem ser realizadas de modo que atenda as especificações.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	3. Validação do software: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 o software tem de ser validado para garantir que ele realize o que foi especificado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	4. Evolução do software:</a:t>
            </a:r>
            <a:r>
              <a:rPr lang="pt-BR" altLang="pt-BR" sz="1700" smtClean="0">
                <a:solidFill>
                  <a:srgbClr val="000000"/>
                </a:solidFill>
                <a:cs typeface="Times New Roman" panose="02020603050405020304" pitchFamily="18" charset="0"/>
              </a:rPr>
              <a:t> O software deve evoluir para atender às necessidade mutáveis do cliente/usuário.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smtClean="0">
                <a:solidFill>
                  <a:srgbClr val="FF3300"/>
                </a:solidFill>
                <a:cs typeface="Times New Roman" panose="02020603050405020304" pitchFamily="18" charset="0"/>
              </a:rPr>
              <a:t>	Um maior detalhamento será descrito no material de Modelos de Processos de Software e discutido.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170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pt-BR" altLang="pt-BR" sz="1600" smtClean="0"/>
          </a:p>
        </p:txBody>
      </p:sp>
      <p:sp>
        <p:nvSpPr>
          <p:cNvPr id="16390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45AC5CD-BFAC-41AD-97AF-F70B77038481}" type="slidenum">
              <a:rPr lang="pt-BR" altLang="pt-BR" sz="1200">
                <a:latin typeface="Arial" panose="020B0604020202020204" pitchFamily="34" charset="0"/>
              </a:rPr>
              <a:pPr eaLnBrk="1" hangingPunct="1"/>
              <a:t>14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b="1" dirty="0" smtClean="0">
                <a:cs typeface="Arial" panose="020B0604020202020204" pitchFamily="34" charset="0"/>
              </a:rPr>
              <a:t>Engenharia de Software em Camadas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346200"/>
            <a:ext cx="8421688" cy="453072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Métodos:</a:t>
            </a:r>
            <a:r>
              <a:rPr lang="pt-BR" altLang="pt-BR" sz="2000" smtClean="0">
                <a:solidFill>
                  <a:srgbClr val="000000"/>
                </a:solidFill>
                <a:cs typeface="Times New Roman" panose="02020603050405020304" pitchFamily="18" charset="0"/>
              </a:rPr>
              <a:t> São abordagens para o desenvolvimento de software, que incluem:  modelos, notações, regras, recomendações e diretrizes. É a camada que fornece a técnica de </a:t>
            </a:r>
            <a:r>
              <a:rPr lang="pt-BR" altLang="pt-BR" sz="2000" i="1" smtClean="0">
                <a:solidFill>
                  <a:srgbClr val="000000"/>
                </a:solidFill>
                <a:cs typeface="Times New Roman" panose="02020603050405020304" pitchFamily="18" charset="0"/>
              </a:rPr>
              <a:t>como fazer </a:t>
            </a:r>
            <a:r>
              <a:rPr lang="pt-BR" altLang="pt-BR" sz="2000" smtClean="0">
                <a:solidFill>
                  <a:srgbClr val="000000"/>
                </a:solidFill>
                <a:cs typeface="Times New Roman" panose="02020603050405020304" pitchFamily="18" charset="0"/>
              </a:rPr>
              <a:t>para construir softwares, ou seja a maneira de conduzir um processo.</a:t>
            </a:r>
          </a:p>
          <a:p>
            <a:pPr algn="just" eaLnBrk="1" hangingPunct="1">
              <a:lnSpc>
                <a:spcPct val="120000"/>
              </a:lnSpc>
            </a:pPr>
            <a:endParaRPr lang="pt-BR" altLang="pt-BR" sz="200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altLang="pt-BR" sz="20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Ferramentas:</a:t>
            </a:r>
            <a:r>
              <a:rPr lang="pt-BR" altLang="pt-BR" sz="2000" smtClean="0">
                <a:solidFill>
                  <a:srgbClr val="000000"/>
                </a:solidFill>
                <a:cs typeface="Times New Roman" panose="02020603050405020304" pitchFamily="18" charset="0"/>
              </a:rPr>
              <a:t> É a camada que proporciona apoio automatizado aos processos e métodos, como por exemplo às ferramentas CASE (</a:t>
            </a:r>
            <a:r>
              <a:rPr lang="pt-BR" altLang="pt-BR" sz="2000" i="1" smtClean="0">
                <a:solidFill>
                  <a:srgbClr val="000000"/>
                </a:solidFill>
                <a:cs typeface="Times New Roman" panose="02020603050405020304" pitchFamily="18" charset="0"/>
              </a:rPr>
              <a:t>Computer Aided Software Engineering</a:t>
            </a:r>
            <a:r>
              <a:rPr lang="pt-BR" altLang="pt-BR" sz="2000" smtClean="0">
                <a:solidFill>
                  <a:srgbClr val="000000"/>
                </a:solidFill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endParaRPr lang="pt-BR" altLang="pt-BR" sz="2000" smtClean="0"/>
          </a:p>
          <a:p>
            <a:pPr eaLnBrk="1" hangingPunct="1">
              <a:lnSpc>
                <a:spcPct val="80000"/>
              </a:lnSpc>
            </a:pPr>
            <a:endParaRPr lang="pt-BR" altLang="pt-BR" sz="2100" smtClean="0"/>
          </a:p>
        </p:txBody>
      </p:sp>
      <p:sp>
        <p:nvSpPr>
          <p:cNvPr id="1741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D8BA7E0-6E94-4610-8F80-925C30F5EF3B}" type="slidenum">
              <a:rPr lang="pt-BR" altLang="pt-BR" sz="1200">
                <a:latin typeface="Arial" panose="020B0604020202020204" pitchFamily="34" charset="0"/>
              </a:rPr>
              <a:pPr eaLnBrk="1" hangingPunct="1"/>
              <a:t>15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358979"/>
            <a:ext cx="8763000" cy="1143000"/>
          </a:xfrm>
        </p:spPr>
        <p:txBody>
          <a:bodyPr/>
          <a:lstStyle/>
          <a:p>
            <a:pPr algn="ctr" eaLnBrk="1" hangingPunct="1"/>
            <a:r>
              <a:rPr lang="pt-BR" altLang="pt-BR" sz="4000" dirty="0" smtClean="0"/>
              <a:t>Processo de Desenvolvimento de Software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533400" y="1335088"/>
            <a:ext cx="8421688" cy="4989512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pt-BR" altLang="pt-BR" sz="2400" smtClean="0"/>
              <a:t>	O processo de desenvolvimento é um conjunto de atividades coerentes e consistentes para especificar, projetar, implementar e testar um software. Com isso, o modelo de processo de desenvolvimento é uma representação abstrata de como será realizada a construção do software.</a:t>
            </a:r>
          </a:p>
        </p:txBody>
      </p:sp>
      <p:sp>
        <p:nvSpPr>
          <p:cNvPr id="18437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06CD1B1-F890-47CA-BB06-E1C585E29734}" type="slidenum">
              <a:rPr lang="pt-BR" altLang="pt-BR" sz="1200">
                <a:latin typeface="Arial" panose="020B0604020202020204" pitchFamily="34" charset="0"/>
              </a:rPr>
              <a:pPr eaLnBrk="1" hangingPunct="1"/>
              <a:t>16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AC38B57-F275-4D5C-90D7-0CF90121FC58}" type="slidenum">
              <a:rPr lang="pt-BR" altLang="pt-BR" sz="1200">
                <a:latin typeface="Arial" panose="020B0604020202020204" pitchFamily="34" charset="0"/>
              </a:rPr>
              <a:pPr eaLnBrk="1" hangingPunct="1"/>
              <a:t>17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0" y="-228600"/>
            <a:ext cx="8763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 sz="3200">
                <a:solidFill>
                  <a:schemeClr val="tx2"/>
                </a:solidFill>
                <a:latin typeface="Arial" panose="020B0604020202020204" pitchFamily="34" charset="0"/>
              </a:rPr>
              <a:t>Para que um processo?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533400" y="1563688"/>
            <a:ext cx="8421688" cy="498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pt-BR" altLang="pt-BR">
                <a:latin typeface="Arial" panose="020B0604020202020204" pitchFamily="34" charset="0"/>
              </a:rPr>
              <a:t>Para definir as atividades a serem conduzidas no projeto;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pt-BR" altLang="pt-BR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pt-BR" altLang="pt-BR">
                <a:latin typeface="Arial" panose="020B0604020202020204" pitchFamily="34" charset="0"/>
              </a:rPr>
              <a:t>Para uniformizar o entendimento dos envolvidos em relação ao desenvolvimento de sistemas;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pt-BR" altLang="pt-BR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pt-BR" altLang="pt-BR">
                <a:latin typeface="Arial" panose="020B0604020202020204" pitchFamily="34" charset="0"/>
              </a:rPr>
              <a:t>Para manter a consistência entre sistemas desenvolvidos em uma mesma empresa;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pt-BR" altLang="pt-BR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pt-BR" altLang="pt-BR">
                <a:latin typeface="Arial" panose="020B0604020202020204" pitchFamily="34" charset="0"/>
              </a:rPr>
              <a:t>Para viabilizar pontos de controle para a gerência.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328816"/>
            <a:ext cx="8763000" cy="1143000"/>
          </a:xfrm>
        </p:spPr>
        <p:txBody>
          <a:bodyPr/>
          <a:lstStyle/>
          <a:p>
            <a:pPr eaLnBrk="1" hangingPunct="1"/>
            <a:r>
              <a:rPr lang="pt-BR" altLang="pt-BR" sz="4000" dirty="0" smtClean="0"/>
              <a:t>Processo de Desenvolvimento de Software</a:t>
            </a:r>
          </a:p>
        </p:txBody>
      </p:sp>
      <p:sp>
        <p:nvSpPr>
          <p:cNvPr id="20499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2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30E981-5044-41D7-9CAD-3A503D1F3AFA}" type="slidenum">
              <a:rPr lang="pt-BR" altLang="pt-BR" sz="1200">
                <a:latin typeface="Arial" panose="020B0604020202020204" pitchFamily="34" charset="0"/>
              </a:rPr>
              <a:pPr eaLnBrk="1" hangingPunct="1"/>
              <a:t>18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grpSp>
        <p:nvGrpSpPr>
          <p:cNvPr id="20483" name="Group 9"/>
          <p:cNvGrpSpPr>
            <a:grpSpLocks/>
          </p:cNvGrpSpPr>
          <p:nvPr/>
        </p:nvGrpSpPr>
        <p:grpSpPr bwMode="auto">
          <a:xfrm>
            <a:off x="1219200" y="1371600"/>
            <a:ext cx="6781800" cy="4648200"/>
            <a:chOff x="3072" y="2304"/>
            <a:chExt cx="1680" cy="1152"/>
          </a:xfrm>
        </p:grpSpPr>
        <p:sp>
          <p:nvSpPr>
            <p:cNvPr id="20504" name="Rectangle 8"/>
            <p:cNvSpPr>
              <a:spLocks noChangeArrowheads="1"/>
            </p:cNvSpPr>
            <p:nvPr/>
          </p:nvSpPr>
          <p:spPr bwMode="auto">
            <a:xfrm>
              <a:off x="3168" y="2400"/>
              <a:ext cx="1584" cy="105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0505" name="Rectangle 7"/>
            <p:cNvSpPr>
              <a:spLocks noChangeArrowheads="1"/>
            </p:cNvSpPr>
            <p:nvPr/>
          </p:nvSpPr>
          <p:spPr bwMode="auto">
            <a:xfrm>
              <a:off x="3072" y="2304"/>
              <a:ext cx="1632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20485" name="Text Box 10"/>
          <p:cNvSpPr txBox="1">
            <a:spLocks noChangeArrowheads="1"/>
          </p:cNvSpPr>
          <p:nvPr/>
        </p:nvSpPr>
        <p:spPr bwMode="auto">
          <a:xfrm>
            <a:off x="1219200" y="1371600"/>
            <a:ext cx="3976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Estrutura comum de processo</a:t>
            </a:r>
          </a:p>
        </p:txBody>
      </p:sp>
      <p:grpSp>
        <p:nvGrpSpPr>
          <p:cNvPr id="20486" name="Group 11"/>
          <p:cNvGrpSpPr>
            <a:grpSpLocks/>
          </p:cNvGrpSpPr>
          <p:nvPr/>
        </p:nvGrpSpPr>
        <p:grpSpPr bwMode="auto">
          <a:xfrm>
            <a:off x="1600200" y="2590800"/>
            <a:ext cx="5867400" cy="3124200"/>
            <a:chOff x="3072" y="2304"/>
            <a:chExt cx="1680" cy="1152"/>
          </a:xfrm>
        </p:grpSpPr>
        <p:sp>
          <p:nvSpPr>
            <p:cNvPr id="20502" name="Rectangle 12"/>
            <p:cNvSpPr>
              <a:spLocks noChangeArrowheads="1"/>
            </p:cNvSpPr>
            <p:nvPr/>
          </p:nvSpPr>
          <p:spPr bwMode="auto">
            <a:xfrm>
              <a:off x="3168" y="2400"/>
              <a:ext cx="1584" cy="105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0503" name="Rectangle 13"/>
            <p:cNvSpPr>
              <a:spLocks noChangeArrowheads="1"/>
            </p:cNvSpPr>
            <p:nvPr/>
          </p:nvSpPr>
          <p:spPr bwMode="auto">
            <a:xfrm>
              <a:off x="3072" y="2304"/>
              <a:ext cx="1632" cy="110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20487" name="Text Box 14"/>
          <p:cNvSpPr txBox="1">
            <a:spLocks noChangeArrowheads="1"/>
          </p:cNvSpPr>
          <p:nvPr/>
        </p:nvSpPr>
        <p:spPr bwMode="auto">
          <a:xfrm>
            <a:off x="1676400" y="5105400"/>
            <a:ext cx="3421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Atividades Guarda-Chuva</a:t>
            </a:r>
          </a:p>
        </p:txBody>
      </p:sp>
      <p:grpSp>
        <p:nvGrpSpPr>
          <p:cNvPr id="20488" name="Group 15"/>
          <p:cNvGrpSpPr>
            <a:grpSpLocks/>
          </p:cNvGrpSpPr>
          <p:nvPr/>
        </p:nvGrpSpPr>
        <p:grpSpPr bwMode="auto">
          <a:xfrm>
            <a:off x="1828800" y="1828800"/>
            <a:ext cx="5257800" cy="3124200"/>
            <a:chOff x="3072" y="2304"/>
            <a:chExt cx="1680" cy="1152"/>
          </a:xfrm>
        </p:grpSpPr>
        <p:sp>
          <p:nvSpPr>
            <p:cNvPr id="20500" name="Rectangle 16"/>
            <p:cNvSpPr>
              <a:spLocks noChangeArrowheads="1"/>
            </p:cNvSpPr>
            <p:nvPr/>
          </p:nvSpPr>
          <p:spPr bwMode="auto">
            <a:xfrm>
              <a:off x="3168" y="2400"/>
              <a:ext cx="1584" cy="105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0501" name="Rectangle 17"/>
            <p:cNvSpPr>
              <a:spLocks noChangeArrowheads="1"/>
            </p:cNvSpPr>
            <p:nvPr/>
          </p:nvSpPr>
          <p:spPr bwMode="auto">
            <a:xfrm>
              <a:off x="3072" y="2304"/>
              <a:ext cx="1632" cy="110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20489" name="Text Box 18"/>
          <p:cNvSpPr txBox="1">
            <a:spLocks noChangeArrowheads="1"/>
          </p:cNvSpPr>
          <p:nvPr/>
        </p:nvSpPr>
        <p:spPr bwMode="auto">
          <a:xfrm>
            <a:off x="1890713" y="1812925"/>
            <a:ext cx="3168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Atividades de Estrutura</a:t>
            </a:r>
          </a:p>
        </p:txBody>
      </p:sp>
      <p:sp>
        <p:nvSpPr>
          <p:cNvPr id="20490" name="Rectangle 21"/>
          <p:cNvSpPr>
            <a:spLocks noChangeArrowheads="1"/>
          </p:cNvSpPr>
          <p:nvPr/>
        </p:nvSpPr>
        <p:spPr bwMode="auto">
          <a:xfrm>
            <a:off x="2133600" y="2286000"/>
            <a:ext cx="4514850" cy="21907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91" name="Text Box 22"/>
          <p:cNvSpPr txBox="1">
            <a:spLocks noChangeArrowheads="1"/>
          </p:cNvSpPr>
          <p:nvPr/>
        </p:nvSpPr>
        <p:spPr bwMode="auto">
          <a:xfrm>
            <a:off x="2165350" y="2270125"/>
            <a:ext cx="2759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Conjunto de Tarefas</a:t>
            </a:r>
          </a:p>
        </p:txBody>
      </p:sp>
      <p:sp>
        <p:nvSpPr>
          <p:cNvPr id="20492" name="Text Box 23"/>
          <p:cNvSpPr txBox="1">
            <a:spLocks noChangeArrowheads="1"/>
          </p:cNvSpPr>
          <p:nvPr/>
        </p:nvSpPr>
        <p:spPr bwMode="auto">
          <a:xfrm>
            <a:off x="2286000" y="2819400"/>
            <a:ext cx="404177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2000" b="1"/>
              <a:t>- </a:t>
            </a:r>
            <a:r>
              <a:rPr lang="pt-BR" altLang="pt-BR" sz="1800" b="1"/>
              <a:t>Tarefas</a:t>
            </a:r>
          </a:p>
          <a:p>
            <a:pPr eaLnBrk="1" hangingPunct="1">
              <a:buFontTx/>
              <a:buChar char="-"/>
            </a:pPr>
            <a:r>
              <a:rPr lang="pt-BR" altLang="pt-BR" sz="1800" b="1"/>
              <a:t> Marcos, produtos finais ou </a:t>
            </a:r>
          </a:p>
          <a:p>
            <a:pPr eaLnBrk="1" hangingPunct="1"/>
            <a:r>
              <a:rPr lang="pt-BR" altLang="pt-BR" sz="1800" b="1"/>
              <a:t>  intermediários</a:t>
            </a:r>
          </a:p>
          <a:p>
            <a:pPr eaLnBrk="1" hangingPunct="1">
              <a:buFontTx/>
              <a:buChar char="-"/>
            </a:pPr>
            <a:r>
              <a:rPr lang="pt-BR" altLang="pt-BR" sz="1800" b="1"/>
              <a:t> Pontos de garantia de qualidade</a:t>
            </a:r>
          </a:p>
          <a:p>
            <a:pPr eaLnBrk="1" hangingPunct="1"/>
            <a:r>
              <a:rPr lang="pt-BR" altLang="pt-BR" sz="1800" b="1"/>
              <a:t>  de software</a:t>
            </a:r>
          </a:p>
        </p:txBody>
      </p:sp>
      <p:sp>
        <p:nvSpPr>
          <p:cNvPr id="20493" name="Line 24"/>
          <p:cNvSpPr>
            <a:spLocks noChangeShapeType="1"/>
          </p:cNvSpPr>
          <p:nvPr/>
        </p:nvSpPr>
        <p:spPr bwMode="auto">
          <a:xfrm flipH="1">
            <a:off x="914400" y="1600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20494" name="Text Box 25"/>
          <p:cNvSpPr txBox="1">
            <a:spLocks noChangeArrowheads="1"/>
          </p:cNvSpPr>
          <p:nvPr/>
        </p:nvSpPr>
        <p:spPr bwMode="auto">
          <a:xfrm>
            <a:off x="609600" y="19812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0495" name="Line 26"/>
          <p:cNvSpPr>
            <a:spLocks noChangeShapeType="1"/>
          </p:cNvSpPr>
          <p:nvPr/>
        </p:nvSpPr>
        <p:spPr bwMode="auto">
          <a:xfrm flipV="1">
            <a:off x="4800600" y="1752600"/>
            <a:ext cx="36576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20496" name="Text Box 27"/>
          <p:cNvSpPr txBox="1">
            <a:spLocks noChangeArrowheads="1"/>
          </p:cNvSpPr>
          <p:nvPr/>
        </p:nvSpPr>
        <p:spPr bwMode="auto">
          <a:xfrm>
            <a:off x="8458200" y="1447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0497" name="Line 28"/>
          <p:cNvSpPr>
            <a:spLocks noChangeShapeType="1"/>
          </p:cNvSpPr>
          <p:nvPr/>
        </p:nvSpPr>
        <p:spPr bwMode="auto">
          <a:xfrm flipH="1">
            <a:off x="762000" y="5334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20498" name="Text Box 29"/>
          <p:cNvSpPr txBox="1">
            <a:spLocks noChangeArrowheads="1"/>
          </p:cNvSpPr>
          <p:nvPr/>
        </p:nvSpPr>
        <p:spPr bwMode="auto">
          <a:xfrm>
            <a:off x="484188" y="510540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b="1">
                <a:latin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574842" y="250825"/>
            <a:ext cx="7793038" cy="1143000"/>
          </a:xfrm>
          <a:noFill/>
        </p:spPr>
        <p:txBody>
          <a:bodyPr/>
          <a:lstStyle/>
          <a:p>
            <a:pPr eaLnBrk="1" hangingPunct="1"/>
            <a:r>
              <a:rPr lang="pt-BR" altLang="pt-BR" sz="3200" dirty="0" smtClean="0"/>
              <a:t>Processo de Desenvolvimento de Software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mtClean="0"/>
              <a:t>1 - Estrutura comum de processo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z="2400" smtClean="0"/>
              <a:t>	É estabelecida definindo um pequeno número de atividades dessa estrutura, que são aplicáveis a qualquer projeto de software, independente de tamanho e complexidade.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mtClean="0"/>
              <a:t>2 - Conjunto de Tarefas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z="2400" smtClean="0"/>
              <a:t>	Uma coleção de tarefas de engenharia de software, marcos, documentos, pontos de garantia da qualidade, que permite que as atividades da estrutura sejam adaptadas às características do projeto de software e às necessidades da equipe de projeto.</a:t>
            </a:r>
          </a:p>
          <a:p>
            <a:pPr eaLnBrk="1" hangingPunct="1"/>
            <a:endParaRPr lang="pt-BR" altLang="pt-BR" sz="2400" smtClean="0"/>
          </a:p>
        </p:txBody>
      </p:sp>
      <p:sp>
        <p:nvSpPr>
          <p:cNvPr id="21509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7E69AD4-8FEC-41E1-8382-94CB3D6C07A3}" type="slidenum">
              <a:rPr lang="pt-BR" altLang="pt-BR" sz="1200">
                <a:latin typeface="Arial" panose="020B0604020202020204" pitchFamily="34" charset="0"/>
              </a:rPr>
              <a:pPr eaLnBrk="1" hangingPunct="1"/>
              <a:t>19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517735" y="373063"/>
            <a:ext cx="7793038" cy="1143000"/>
          </a:xfrm>
          <a:noFill/>
        </p:spPr>
        <p:txBody>
          <a:bodyPr/>
          <a:lstStyle/>
          <a:p>
            <a:pPr eaLnBrk="1" hangingPunct="1"/>
            <a:r>
              <a:rPr lang="pt-BR" altLang="pt-BR" sz="3200" dirty="0" smtClean="0"/>
              <a:t>Processo de Desenvolvimento de Software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mtClean="0"/>
              <a:t>3 - Atividades Guarda-Chuva</a:t>
            </a:r>
          </a:p>
          <a:p>
            <a:pPr lvl="1" eaLnBrk="1" hangingPunct="1"/>
            <a:r>
              <a:rPr lang="pt-BR" altLang="pt-BR" sz="2000" smtClean="0"/>
              <a:t>Acompanhamento e Controle de Projeto de Software</a:t>
            </a:r>
          </a:p>
          <a:p>
            <a:pPr lvl="1" eaLnBrk="1" hangingPunct="1"/>
            <a:r>
              <a:rPr lang="pt-BR" altLang="pt-BR" sz="2000" smtClean="0"/>
              <a:t>Gestão de riscos</a:t>
            </a:r>
          </a:p>
          <a:p>
            <a:pPr lvl="1" eaLnBrk="1" hangingPunct="1"/>
            <a:r>
              <a:rPr lang="pt-BR" altLang="pt-BR" sz="2000" smtClean="0"/>
              <a:t>Garantia da Qualidade de software</a:t>
            </a:r>
          </a:p>
          <a:p>
            <a:pPr lvl="1" eaLnBrk="1" hangingPunct="1"/>
            <a:r>
              <a:rPr lang="pt-BR" altLang="pt-BR" sz="2000" smtClean="0"/>
              <a:t>Revisões Técnicas Formais</a:t>
            </a:r>
          </a:p>
          <a:p>
            <a:pPr lvl="1" eaLnBrk="1" hangingPunct="1"/>
            <a:r>
              <a:rPr lang="pt-BR" altLang="pt-BR" sz="2000" smtClean="0"/>
              <a:t>Gestão de Configuração de Software</a:t>
            </a:r>
          </a:p>
          <a:p>
            <a:pPr lvl="1" eaLnBrk="1" hangingPunct="1"/>
            <a:r>
              <a:rPr lang="pt-BR" altLang="pt-BR" sz="2000" smtClean="0"/>
              <a:t>Medição</a:t>
            </a:r>
          </a:p>
          <a:p>
            <a:pPr lvl="1" eaLnBrk="1" hangingPunct="1"/>
            <a:r>
              <a:rPr lang="pt-BR" altLang="pt-BR" sz="2000" smtClean="0"/>
              <a:t>Gestão de Reusabilidade</a:t>
            </a:r>
          </a:p>
          <a:p>
            <a:pPr lvl="1" eaLnBrk="1" hangingPunct="1"/>
            <a:r>
              <a:rPr lang="pt-BR" altLang="pt-BR" sz="2000" smtClean="0"/>
              <a:t>Preparação e Produção do Produto de Trabalho</a:t>
            </a:r>
          </a:p>
          <a:p>
            <a:pPr lvl="1" eaLnBrk="1" hangingPunct="1"/>
            <a:endParaRPr lang="pt-BR" altLang="pt-BR" sz="2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pt-BR" altLang="pt-BR" sz="2400" smtClean="0"/>
              <a:t>	Essas atividades guarda-chuva são independentes de qualquer atividade de estrutura e ocorrem ao longo de todo o processo.</a:t>
            </a:r>
          </a:p>
        </p:txBody>
      </p:sp>
      <p:sp>
        <p:nvSpPr>
          <p:cNvPr id="22533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C9A52AD-6B0D-456D-BF63-70051E9D94B8}" type="slidenum">
              <a:rPr lang="pt-BR" altLang="pt-BR" sz="1200">
                <a:latin typeface="Arial" panose="020B0604020202020204" pitchFamily="34" charset="0"/>
              </a:rPr>
              <a:pPr eaLnBrk="1" hangingPunct="1"/>
              <a:t>20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793037" cy="1143000"/>
          </a:xfrm>
          <a:noFill/>
        </p:spPr>
        <p:txBody>
          <a:bodyPr/>
          <a:lstStyle/>
          <a:p>
            <a:pPr eaLnBrk="1" hangingPunct="1"/>
            <a:r>
              <a:rPr lang="pt-BR" altLang="pt-BR" sz="3200" dirty="0" smtClean="0"/>
              <a:t>Processo de Desenvolvimento de Software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800" smtClean="0"/>
              <a:t>Ênfase Atual do Processo de Desenvolvimento de Software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800" smtClean="0"/>
              <a:t>“Processo de Maturidade”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800" smtClean="0"/>
              <a:t>CMMI </a:t>
            </a:r>
            <a:r>
              <a:rPr lang="pt-BR" altLang="pt-BR" sz="2800" i="1" smtClean="0"/>
              <a:t>(Capability Maturity Model Integration) –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800" smtClean="0"/>
              <a:t>SEI </a:t>
            </a:r>
            <a:r>
              <a:rPr lang="pt-BR" altLang="pt-BR" sz="2800" i="1" smtClean="0"/>
              <a:t>(Software Engineering Institute)</a:t>
            </a:r>
          </a:p>
        </p:txBody>
      </p:sp>
      <p:sp>
        <p:nvSpPr>
          <p:cNvPr id="23559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B45DDD-38B2-410D-A3B7-F5632D76E98F}" type="slidenum">
              <a:rPr lang="pt-BR" altLang="pt-BR" sz="1200">
                <a:latin typeface="Arial" panose="020B0604020202020204" pitchFamily="34" charset="0"/>
              </a:rPr>
              <a:pPr eaLnBrk="1" hangingPunct="1"/>
              <a:t>21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23557" name="AutoShape 7"/>
          <p:cNvSpPr>
            <a:spLocks noChangeArrowheads="1"/>
          </p:cNvSpPr>
          <p:nvPr/>
        </p:nvSpPr>
        <p:spPr bwMode="auto">
          <a:xfrm>
            <a:off x="4114800" y="2362200"/>
            <a:ext cx="533400" cy="762000"/>
          </a:xfrm>
          <a:prstGeom prst="downArrow">
            <a:avLst>
              <a:gd name="adj1" fmla="val 50000"/>
              <a:gd name="adj2" fmla="val 357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3558" name="AutoShape 8"/>
          <p:cNvSpPr>
            <a:spLocks noChangeArrowheads="1"/>
          </p:cNvSpPr>
          <p:nvPr/>
        </p:nvSpPr>
        <p:spPr bwMode="auto">
          <a:xfrm>
            <a:off x="4114800" y="4038600"/>
            <a:ext cx="533400" cy="762000"/>
          </a:xfrm>
          <a:prstGeom prst="downArrow">
            <a:avLst>
              <a:gd name="adj1" fmla="val 50000"/>
              <a:gd name="adj2" fmla="val 357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type="title"/>
          </p:nvPr>
        </p:nvSpPr>
        <p:spPr>
          <a:xfrm>
            <a:off x="606378" y="373063"/>
            <a:ext cx="7793037" cy="1143000"/>
          </a:xfrm>
          <a:noFill/>
        </p:spPr>
        <p:txBody>
          <a:bodyPr/>
          <a:lstStyle/>
          <a:p>
            <a:pPr eaLnBrk="1" hangingPunct="1"/>
            <a:r>
              <a:rPr lang="pt-BR" altLang="pt-BR" sz="3600" dirty="0" smtClean="0"/>
              <a:t>Atividade</a:t>
            </a:r>
            <a:endParaRPr lang="pt-BR" altLang="pt-BR" sz="3600" dirty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33400" y="1430338"/>
            <a:ext cx="8421688" cy="5094287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pt-BR" altLang="pt-BR" sz="1800" b="1" smtClean="0"/>
              <a:t>Por que software é mais do que programas que são executados pelos usuários?</a:t>
            </a:r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endParaRPr lang="pt-BR" altLang="pt-BR" sz="1800" b="1" smtClean="0"/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pt-BR" altLang="pt-BR" sz="1800" b="1" smtClean="0"/>
              <a:t>Cite quatro atributos (características) importantes em um produto de software?</a:t>
            </a:r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endParaRPr lang="pt-BR" altLang="pt-BR" sz="1800" b="1" smtClean="0"/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pt-BR" altLang="pt-BR" sz="1800" b="1" smtClean="0"/>
              <a:t>Cite duas ferramentas CASEs e seus objetivos?</a:t>
            </a:r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endParaRPr lang="pt-BR" altLang="pt-BR" sz="1800" b="1" smtClean="0"/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pt-BR" altLang="pt-BR" sz="1800" b="1" smtClean="0"/>
              <a:t>Quais são os desafios da engenharia de software e sua importância?</a:t>
            </a:r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endParaRPr lang="pt-BR" altLang="pt-BR" sz="1800" b="1" smtClean="0"/>
          </a:p>
          <a:p>
            <a:pPr eaLnBrk="1" hangingPunct="1">
              <a:lnSpc>
                <a:spcPct val="130000"/>
              </a:lnSpc>
              <a:buSzTx/>
              <a:buFont typeface="Wingdings" panose="05000000000000000000" pitchFamily="2" charset="2"/>
              <a:buChar char="§"/>
            </a:pPr>
            <a:r>
              <a:rPr lang="pt-BR" altLang="pt-BR" sz="1800" b="1" smtClean="0"/>
              <a:t>Um software pode ser construído sem engenharia de software?</a:t>
            </a:r>
          </a:p>
          <a:p>
            <a:pPr algn="ctr"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endParaRPr lang="pt-BR" altLang="pt-BR" sz="1800" b="1" smtClean="0"/>
          </a:p>
          <a:p>
            <a:pPr algn="ctr"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endParaRPr lang="pt-BR" altLang="pt-BR" sz="2400" i="1" smtClean="0"/>
          </a:p>
        </p:txBody>
      </p:sp>
      <p:sp>
        <p:nvSpPr>
          <p:cNvPr id="24581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BD49262-0320-4E47-808E-20B8B83AF3AF}" type="slidenum">
              <a:rPr lang="pt-BR" altLang="pt-BR" sz="1200">
                <a:latin typeface="Arial" panose="020B0604020202020204" pitchFamily="34" charset="0"/>
              </a:rPr>
              <a:pPr eaLnBrk="1" hangingPunct="1"/>
              <a:t>22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595403" y="333679"/>
            <a:ext cx="7793037" cy="1143000"/>
          </a:xfrm>
        </p:spPr>
        <p:txBody>
          <a:bodyPr/>
          <a:lstStyle/>
          <a:p>
            <a:pPr eaLnBrk="1" hangingPunct="1"/>
            <a:r>
              <a:rPr lang="pt-BR" altLang="pt-BR" dirty="0" smtClean="0"/>
              <a:t>	Bibliografia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052513"/>
            <a:ext cx="8713788" cy="4895850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endParaRPr lang="pt-BR" altLang="pt-BR" sz="2000" dirty="0" smtClean="0"/>
          </a:p>
          <a:p>
            <a:pPr eaLnBrk="1" hangingPunct="1">
              <a:lnSpc>
                <a:spcPct val="180000"/>
              </a:lnSpc>
            </a:pPr>
            <a:r>
              <a:rPr lang="pt-BR" altLang="pt-BR" sz="2000" dirty="0" smtClean="0"/>
              <a:t>PRESSMAN</a:t>
            </a:r>
            <a:r>
              <a:rPr lang="pt-BR" altLang="pt-BR" sz="2000" dirty="0" smtClean="0"/>
              <a:t>, Roger S.</a:t>
            </a:r>
            <a:r>
              <a:rPr lang="pt-BR" altLang="pt-BR" sz="2000" b="1" dirty="0" smtClean="0"/>
              <a:t> Engenharia de Software. </a:t>
            </a:r>
            <a:r>
              <a:rPr lang="pt-BR" altLang="pt-BR" sz="2000" dirty="0" smtClean="0"/>
              <a:t>6. ed. Rio de Janeiro, RJ: McGraw-Hill, 2006. </a:t>
            </a:r>
          </a:p>
          <a:p>
            <a:pPr eaLnBrk="1" hangingPunct="1">
              <a:lnSpc>
                <a:spcPct val="180000"/>
              </a:lnSpc>
            </a:pPr>
            <a:endParaRPr lang="pt-BR" altLang="pt-BR" sz="2000" dirty="0" smtClean="0"/>
          </a:p>
          <a:p>
            <a:pPr eaLnBrk="1" hangingPunct="1">
              <a:lnSpc>
                <a:spcPct val="180000"/>
              </a:lnSpc>
            </a:pPr>
            <a:r>
              <a:rPr lang="pt-BR" altLang="pt-BR" sz="2000" dirty="0" smtClean="0"/>
              <a:t>SOMMERVILLE, Ian. </a:t>
            </a:r>
            <a:r>
              <a:rPr lang="pt-BR" altLang="pt-BR" sz="2000" b="1" dirty="0" smtClean="0"/>
              <a:t>Engenharia de Software</a:t>
            </a:r>
            <a:r>
              <a:rPr lang="pt-BR" altLang="pt-BR" sz="2000" dirty="0" smtClean="0"/>
              <a:t>. 6. ed. São Paulo, SP: </a:t>
            </a:r>
            <a:r>
              <a:rPr lang="pt-BR" altLang="pt-BR" sz="2000" dirty="0" err="1" smtClean="0"/>
              <a:t>Addison</a:t>
            </a:r>
            <a:r>
              <a:rPr lang="pt-BR" altLang="pt-BR" sz="2000" dirty="0" smtClean="0"/>
              <a:t> Wesley, 2003. 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4450655-7E7C-4141-8216-33B512EC830D}" type="slidenum">
              <a:rPr lang="pt-BR" altLang="pt-BR" sz="1200">
                <a:latin typeface="Arial" panose="020B0604020202020204" pitchFamily="34" charset="0"/>
              </a:rPr>
              <a:pPr eaLnBrk="1" hangingPunct="1"/>
              <a:t>23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26629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50825" y="1143000"/>
            <a:ext cx="8713788" cy="4989513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endParaRPr lang="pt-BR" altLang="pt-BR" sz="2000" b="1" dirty="0" smtClean="0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pt-BR" altLang="pt-BR" sz="2000" b="1" dirty="0" smtClean="0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pt-BR" altLang="pt-BR" sz="2000" b="1" dirty="0" smtClean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2000" b="1" dirty="0" smtClean="0"/>
              <a:t>Copyright © 2007 - 2013  Profa. Ana Paula Gonçalves Serra.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pt-BR" altLang="pt-BR" sz="2000" b="1" dirty="0" smtClean="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2000" b="1" dirty="0" smtClean="0"/>
              <a:t>Todos direitos reservados. Reprodução ou divulgação total ou parcial deste documento é expressamente proibido sem o consentimento formal, por escrito, da Profa. Ana Paula Gonçalves Serra.</a:t>
            </a:r>
          </a:p>
        </p:txBody>
      </p:sp>
      <p:sp>
        <p:nvSpPr>
          <p:cNvPr id="27652" name="Rectangle 12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400" smtClean="0"/>
              <a:t>Profa. Dra. Ana Paula Gonçalves Serra – Engenharia de Software I</a:t>
            </a:r>
          </a:p>
        </p:txBody>
      </p:sp>
      <p:sp>
        <p:nvSpPr>
          <p:cNvPr id="4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3707144-41DD-40C3-A3AC-12A7E27E95F5}" type="slidenum">
              <a:rPr lang="pt-BR" altLang="pt-BR" sz="1200">
                <a:latin typeface="Arial" panose="020B0604020202020204" pitchFamily="34" charset="0"/>
              </a:rPr>
              <a:pPr eaLnBrk="1" hangingPunct="1"/>
              <a:t>24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3400" y="681335"/>
            <a:ext cx="2212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Agradecimento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1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1" id="{705347BA-46A2-4610-A0C8-A625D49066C5}" vid="{8B1ED6AB-C580-4C04-87D0-5EE954710859}"/>
    </a:ext>
  </a:extLst>
</a:theme>
</file>

<file path=ppt/theme/theme3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o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 (Facetado)]]</Template>
  <TotalTime>658</TotalTime>
  <Words>1250</Words>
  <Application>Microsoft Office PowerPoint</Application>
  <PresentationFormat>Apresentação na tela (4:3)</PresentationFormat>
  <Paragraphs>207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24</vt:i4>
      </vt:variant>
    </vt:vector>
  </HeadingPairs>
  <TitlesOfParts>
    <vt:vector size="37" baseType="lpstr">
      <vt:lpstr>ＭＳ Ｐゴシック</vt:lpstr>
      <vt:lpstr>Arial</vt:lpstr>
      <vt:lpstr>Calibri</vt:lpstr>
      <vt:lpstr>Calibri Light</vt:lpstr>
      <vt:lpstr>HGPｺﾞｼｯｸE</vt:lpstr>
      <vt:lpstr>Tahoma</vt:lpstr>
      <vt:lpstr>Times New Roman</vt:lpstr>
      <vt:lpstr>Tw Cen MT</vt:lpstr>
      <vt:lpstr>Wingdings</vt:lpstr>
      <vt:lpstr>Wingdings 2</vt:lpstr>
      <vt:lpstr>HDOfficeLightV0</vt:lpstr>
      <vt:lpstr>Tema1</vt:lpstr>
      <vt:lpstr>Mediano</vt:lpstr>
      <vt:lpstr>Engenharia de Software</vt:lpstr>
      <vt:lpstr>Apresentação do PowerPoint</vt:lpstr>
      <vt:lpstr>Isso é Real?</vt:lpstr>
      <vt:lpstr>Isso é Real?</vt:lpstr>
      <vt:lpstr>Algumas definições de Engenharia de Software</vt:lpstr>
      <vt:lpstr>Algumas definições de Engenharia de Software</vt:lpstr>
      <vt:lpstr>  Qual é a diferença entre Engenharia de Software e Engenharia de Sistemas?</vt:lpstr>
      <vt:lpstr>Engenharia de Sistemas</vt:lpstr>
      <vt:lpstr>Engenharia de Sistemas</vt:lpstr>
      <vt:lpstr>Engenharia de Sistemas</vt:lpstr>
      <vt:lpstr>Engenharia de Sistemas</vt:lpstr>
      <vt:lpstr>Engenharia de Sistemas - Conclusões</vt:lpstr>
      <vt:lpstr>Engenharia de Software em Camadas</vt:lpstr>
      <vt:lpstr>Engenharia de Software em Camadas</vt:lpstr>
      <vt:lpstr>Engenharia de Software em Camadas</vt:lpstr>
      <vt:lpstr>Processo de Desenvolvimento de Software</vt:lpstr>
      <vt:lpstr>Apresentação do PowerPoint</vt:lpstr>
      <vt:lpstr>Processo de Desenvolvimento de Software</vt:lpstr>
      <vt:lpstr>Processo de Desenvolvimento de Software</vt:lpstr>
      <vt:lpstr>Processo de Desenvolvimento de Software</vt:lpstr>
      <vt:lpstr>Processo de Desenvolvimento de Software</vt:lpstr>
      <vt:lpstr>Atividade</vt:lpstr>
      <vt:lpstr> Bibliografia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Paula Gonçalves Serra</dc:creator>
  <cp:lastModifiedBy>Norton Barros Glaser</cp:lastModifiedBy>
  <cp:revision>82</cp:revision>
  <cp:lastPrinted>2013-02-16T00:07:58Z</cp:lastPrinted>
  <dcterms:created xsi:type="dcterms:W3CDTF">2004-01-27T12:55:19Z</dcterms:created>
  <dcterms:modified xsi:type="dcterms:W3CDTF">2015-02-19T16:17:44Z</dcterms:modified>
</cp:coreProperties>
</file>