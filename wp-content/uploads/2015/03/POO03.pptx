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74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-120" y="-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410012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70339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69418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02455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68290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82389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22761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52280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49755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6521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50148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5" name="Retângulo 4"/>
          <p:cNvSpPr/>
          <p:nvPr/>
        </p:nvSpPr>
        <p:spPr>
          <a:xfrm>
            <a:off x="-12700" y="6053139"/>
            <a:ext cx="2999317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6" name="Retângulo 5"/>
          <p:cNvSpPr/>
          <p:nvPr/>
        </p:nvSpPr>
        <p:spPr>
          <a:xfrm>
            <a:off x="3145368" y="6043614"/>
            <a:ext cx="9046633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1300" y="236539"/>
            <a:ext cx="7823200" cy="365125"/>
          </a:xfrm>
        </p:spPr>
        <p:txBody>
          <a:bodyPr/>
          <a:lstStyle>
            <a:lvl1pPr algn="r"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D6D60-9E2C-477E-AF79-31B68DF3684D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61414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6AB5F-235A-4586-BFD7-73D8BDFB029F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84034865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6" name="Retângulo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A4B1E5EF-2528-4961-A98D-DC247B8CD002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4277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BF7B1B-892F-4479-8401-122F7714864D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3133710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CAA576-BFD2-4814-9D76-7C116C2E9004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410120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0750C-8F7B-403D-8E6F-AC1EE8B5050E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19141441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FC690-0335-4781-A04B-08FEB542257F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748877067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B12A73-71DB-46D4-B0A1-DAAFC81EE135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04754637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6" name="Retângulo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8" name="Retângulo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930400" cy="663575"/>
          </a:xfrm>
        </p:spPr>
        <p:txBody>
          <a:bodyPr/>
          <a:lstStyle>
            <a:lvl1pPr>
              <a:defRPr sz="2800"/>
            </a:lvl1pPr>
          </a:lstStyle>
          <a:p>
            <a:fld id="{CE807C0C-F71C-4C02-8AFE-B336124A1C57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401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29207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FB3EA-E7FE-4C58-A946-6D6F6083B7CF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789903310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5" name="Retângulo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6" name="Retângulo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1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1" y="6248401"/>
            <a:ext cx="743161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7"/>
            <a:ext cx="533400" cy="325967"/>
          </a:xfrm>
        </p:spPr>
        <p:txBody>
          <a:bodyPr/>
          <a:lstStyle>
            <a:lvl1pPr>
              <a:defRPr/>
            </a:lvl1pPr>
          </a:lstStyle>
          <a:p>
            <a:fld id="{A2BB6D60-177A-4D95-A992-4E445D5687E8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56388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título mestre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1pPr>
          </a:lstStyle>
          <a:p>
            <a:fld id="{868EB684-8059-48C2-B0FB-A56568A0A580}" type="datetimeFigureOut">
              <a:rPr lang="pt-BR" smtClean="0"/>
              <a:pPr/>
              <a:t>19/03/2015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cs typeface="+mn-cs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0582884-3143-4CF1-BE98-A571A31D6C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19609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  <a:endParaRPr lang="en-US" altLang="pt-BR" smtClean="0"/>
          </a:p>
        </p:txBody>
      </p:sp>
      <p:sp>
        <p:nvSpPr>
          <p:cNvPr id="2051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817033" y="1600201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  <a:endParaRPr lang="en-US" altLang="pt-BR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 dirty="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kumimoji="0" sz="1400">
                <a:solidFill>
                  <a:srgbClr val="FFFFFF"/>
                </a:solidFill>
              </a:defRPr>
            </a:lvl1pPr>
          </a:lstStyle>
          <a:p>
            <a:fld id="{C7553EA4-C2EE-450D-9AEC-F1F67A8AD6D3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2639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dissolve/>
  </p:transition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vmedia.com.br/curso/padroes-de-projeto-em-java/25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vmedia.com.br/padroes-de-projeto-na-pratica-observer/5001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POO - Avançado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Padrão </a:t>
            </a:r>
            <a:r>
              <a:rPr lang="pt-BR" dirty="0" err="1" smtClean="0"/>
              <a:t>Observer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73786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Os Padrões de Projetos nos permitem reutilizar a experiência de outros desenvolvedores que tiveram problemas semelhantes e os solucionaram.</a:t>
            </a:r>
          </a:p>
          <a:p>
            <a:r>
              <a:rPr lang="pt-BR" dirty="0"/>
              <a:t>Os </a:t>
            </a:r>
            <a:r>
              <a:rPr lang="pt-BR" dirty="0">
                <a:hlinkClick r:id="rId2" tooltip="Curso de Padrões de Projeto em Java - DevMedia Cursos"/>
              </a:rPr>
              <a:t>Padrões de Projetos</a:t>
            </a:r>
            <a:r>
              <a:rPr lang="pt-BR" dirty="0"/>
              <a:t> também fornecem um vocabulário compartilhado com outros desenvolvedores. Quando temos um vocabulário, podemos nos comunicar muito mais facilmente com outros desenvolvedores e inspirar aqueles que não conhecem os padrões a começarem a aprendê-los. 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B9EA1-68B7-460A-AA30-250D4D32DDBB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54184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Quando se comunicamos com as nossas equipes usando simplesmente o nome de um padrão de projeto estamos automaticamente comunicando não apenas o nome de um padrão, mas sim um conjunto de qualidades, características e restrições que o padrão representa. Usando simplesmente o nome do padrão já comunicamos o design que temos em mente para uma determinada tarefa, além disso, não precisamos entrar em detalhes falando o que a classe faz, como se relaciona, com quem, </a:t>
            </a:r>
            <a:r>
              <a:rPr lang="pt-BR" dirty="0" err="1"/>
              <a:t>etc</a:t>
            </a:r>
            <a:r>
              <a:rPr lang="pt-BR" dirty="0"/>
              <a:t>, o padrão já deixa clara a ideia de como será feito, assim podemos nos comunicar mais rapidamente e com menos espaços para mal-entendidos.</a:t>
            </a:r>
          </a:p>
          <a:p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F5B93F-591E-4DE2-8481-C64E27E4578A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3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33675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grande objetivo dos padrões de projetos é ajudar os desenvolvedores a estruturar os seus aplicativos de maneiras mais flexíveis, fáceis de entender e manter</a:t>
            </a:r>
            <a:r>
              <a:rPr lang="pt-BR" dirty="0" smtClean="0"/>
              <a:t>.</a:t>
            </a:r>
          </a:p>
          <a:p>
            <a:r>
              <a:rPr lang="pt-BR" dirty="0"/>
              <a:t>Abaixo será descrito um padrão de projeto bastante importante e muito utilizado, o padrão </a:t>
            </a:r>
            <a:r>
              <a:rPr lang="pt-BR" dirty="0" err="1"/>
              <a:t>Observer</a:t>
            </a:r>
            <a:r>
              <a:rPr lang="pt-BR" dirty="0"/>
              <a:t>. </a:t>
            </a:r>
            <a:endParaRPr lang="pt-BR" dirty="0" smtClean="0"/>
          </a:p>
          <a:p>
            <a:r>
              <a:rPr lang="pt-BR" dirty="0" smtClean="0">
                <a:hlinkClick r:id="rId2" tooltip="Video: Padrões de Projeto na Prática – Observer"/>
              </a:rPr>
              <a:t>O </a:t>
            </a:r>
            <a:r>
              <a:rPr lang="pt-BR" dirty="0">
                <a:hlinkClick r:id="rId2" tooltip="Video: Padrões de Projeto na Prática – Observer"/>
              </a:rPr>
              <a:t>padrão </a:t>
            </a:r>
            <a:r>
              <a:rPr lang="pt-BR" dirty="0" err="1">
                <a:hlinkClick r:id="rId2" tooltip="Video: Padrões de Projeto na Prática – Observer"/>
              </a:rPr>
              <a:t>Observer</a:t>
            </a:r>
            <a:r>
              <a:rPr lang="pt-BR" dirty="0">
                <a:hlinkClick r:id="rId2" tooltip="Video: Padrões de Projeto na Prática – Observer"/>
              </a:rPr>
              <a:t> é utilizado quando se precisa manter os objetos atualizados quando algo importante ocorre.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EAEE73-2432-4005-B32F-2B01AFFB0FE9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4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03472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padrão </a:t>
            </a:r>
            <a:r>
              <a:rPr lang="pt-BR" dirty="0" err="1"/>
              <a:t>Observer</a:t>
            </a:r>
            <a:r>
              <a:rPr lang="pt-BR" dirty="0"/>
              <a:t> funciona como assinaturas de jornais e revistas, ou seja, temos uma editora que publica as edições e pessoas que assinam os jornais ou revistas dessa editora e sempre recebem as novas edições assim que elas são publicadas. Enquanto a pessoa é assinante ela continua recebendo as edições na sua casa. Se a pessoa cancelar a assinatura do jornal ou da revista ela para de receber as edições.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F836FE-B0DD-4422-A214-49D98515FB0D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92249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padrão </a:t>
            </a:r>
            <a:r>
              <a:rPr lang="pt-BR" dirty="0" err="1"/>
              <a:t>Observer</a:t>
            </a:r>
            <a:r>
              <a:rPr lang="pt-BR" dirty="0"/>
              <a:t> funciona da mesma forma, no entanto, tem-se que a editora (que publica) é o chamado SUBJECT no Padrão </a:t>
            </a:r>
            <a:r>
              <a:rPr lang="pt-BR" dirty="0" err="1"/>
              <a:t>Observer</a:t>
            </a:r>
            <a:r>
              <a:rPr lang="pt-BR" dirty="0"/>
              <a:t> e os assinantes (que recebem as novas publicações) são os chamados OBSERVER.</a:t>
            </a:r>
            <a:br>
              <a:rPr lang="pt-BR" dirty="0"/>
            </a:br>
            <a:r>
              <a:rPr lang="pt-BR" dirty="0"/>
              <a:t>Os </a:t>
            </a:r>
            <a:r>
              <a:rPr lang="pt-BR" dirty="0" err="1"/>
              <a:t>OBSERVERs</a:t>
            </a:r>
            <a:r>
              <a:rPr lang="pt-BR" dirty="0"/>
              <a:t> registram-se no SUBJECT para receber atualizações quando os dados do SUBJECT são alterados. </a:t>
            </a:r>
            <a:endParaRPr lang="pt-BR" dirty="0" smtClean="0"/>
          </a:p>
          <a:p>
            <a:r>
              <a:rPr lang="pt-BR" dirty="0" smtClean="0"/>
              <a:t>Os </a:t>
            </a:r>
            <a:r>
              <a:rPr lang="pt-BR" dirty="0" err="1"/>
              <a:t>OBSERVERs</a:t>
            </a:r>
            <a:r>
              <a:rPr lang="pt-BR" dirty="0"/>
              <a:t> também podem cancelar o seu registro e dessa forma não receber mais nenhuma atualização do SUBJECT.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87559D-C2B5-43A3-96C6-AD80CB003B07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6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92005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Funcionamento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328DFB-E06B-4479-95DC-C7C749A5A0ED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7</a:t>
            </a:fld>
            <a:endParaRPr lang="en-US" altLang="ja-JP"/>
          </a:p>
        </p:txBody>
      </p:sp>
      <p:pic>
        <p:nvPicPr>
          <p:cNvPr id="1026" name="Picture 2" descr="Diagrama de classe do Padrão Observer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26" y="1836104"/>
            <a:ext cx="10945682" cy="407042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5312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No diagrama de classe acima nota-se a presença da interface </a:t>
            </a:r>
            <a:r>
              <a:rPr lang="pt-BR" dirty="0" err="1"/>
              <a:t>Subject</a:t>
            </a:r>
            <a:r>
              <a:rPr lang="pt-BR" dirty="0"/>
              <a:t> e da sua classe concreta </a:t>
            </a:r>
            <a:r>
              <a:rPr lang="pt-BR" dirty="0" err="1"/>
              <a:t>ConcreteSubject</a:t>
            </a:r>
            <a:r>
              <a:rPr lang="pt-BR" dirty="0"/>
              <a:t> que define o comportamento dos objetos para se registrarem (</a:t>
            </a:r>
            <a:r>
              <a:rPr lang="pt-BR" dirty="0" err="1"/>
              <a:t>Attach</a:t>
            </a:r>
            <a:r>
              <a:rPr lang="pt-BR" dirty="0"/>
              <a:t>) e também para serem removidos (</a:t>
            </a:r>
            <a:r>
              <a:rPr lang="pt-BR" dirty="0" err="1"/>
              <a:t>Detach</a:t>
            </a:r>
            <a:r>
              <a:rPr lang="pt-BR" dirty="0"/>
              <a:t>). </a:t>
            </a:r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 err="1"/>
              <a:t>ConcreteSubject</a:t>
            </a:r>
            <a:r>
              <a:rPr lang="pt-BR" dirty="0"/>
              <a:t> é quem implementa a interface </a:t>
            </a:r>
            <a:r>
              <a:rPr lang="pt-BR" dirty="0" err="1"/>
              <a:t>Subject</a:t>
            </a:r>
            <a:r>
              <a:rPr lang="pt-BR" dirty="0"/>
              <a:t>, além de definir os métodos da interface ele ainda define o seu próprio estado. O método </a:t>
            </a:r>
            <a:r>
              <a:rPr lang="pt-BR" dirty="0" err="1"/>
              <a:t>notify</a:t>
            </a:r>
            <a:r>
              <a:rPr lang="pt-BR" dirty="0"/>
              <a:t>() será utilizado para atualizar todos os observadores registrados sempre que o seu estado mudar.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021FEB-F28D-404B-AE93-4E3F7D893BCC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8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04947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Do outro lado do diagrama tem-se o </a:t>
            </a:r>
            <a:r>
              <a:rPr lang="pt-BR" dirty="0" err="1"/>
              <a:t>Observer</a:t>
            </a:r>
            <a:r>
              <a:rPr lang="pt-BR" dirty="0"/>
              <a:t> e o </a:t>
            </a:r>
            <a:r>
              <a:rPr lang="pt-BR" dirty="0" err="1"/>
              <a:t>ConcreteObserver</a:t>
            </a:r>
            <a:r>
              <a:rPr lang="pt-BR" dirty="0"/>
              <a:t> que tem o método </a:t>
            </a:r>
            <a:r>
              <a:rPr lang="pt-BR" dirty="0" err="1"/>
              <a:t>update</a:t>
            </a:r>
            <a:r>
              <a:rPr lang="pt-BR" dirty="0"/>
              <a:t>() que é chamado quando o estado do </a:t>
            </a:r>
            <a:r>
              <a:rPr lang="pt-BR" dirty="0" err="1"/>
              <a:t>Subject</a:t>
            </a:r>
            <a:r>
              <a:rPr lang="pt-BR" dirty="0"/>
              <a:t> é alterado. A classe </a:t>
            </a:r>
            <a:r>
              <a:rPr lang="pt-BR" dirty="0" err="1"/>
              <a:t>ConcreteObserver</a:t>
            </a:r>
            <a:r>
              <a:rPr lang="pt-BR" dirty="0"/>
              <a:t> implementa a interface </a:t>
            </a:r>
            <a:r>
              <a:rPr lang="pt-BR" dirty="0" err="1"/>
              <a:t>Observer</a:t>
            </a:r>
            <a:r>
              <a:rPr lang="pt-BR" dirty="0"/>
              <a:t>, definindo assim o método </a:t>
            </a:r>
            <a:r>
              <a:rPr lang="pt-BR" dirty="0" err="1"/>
              <a:t>update</a:t>
            </a:r>
            <a:r>
              <a:rPr lang="pt-BR" dirty="0"/>
              <a:t>().</a:t>
            </a:r>
            <a:br>
              <a:rPr lang="pt-BR" dirty="0"/>
            </a:br>
            <a:r>
              <a:rPr lang="pt-BR" dirty="0"/>
              <a:t>Podemos notar que aqui há uma relação UM-PARA-MUITOS, ou seja, temos UM </a:t>
            </a:r>
            <a:r>
              <a:rPr lang="pt-BR" dirty="0" err="1"/>
              <a:t>Subject</a:t>
            </a:r>
            <a:r>
              <a:rPr lang="pt-BR" dirty="0"/>
              <a:t> para MUITOS </a:t>
            </a:r>
            <a:r>
              <a:rPr lang="pt-BR" dirty="0" err="1"/>
              <a:t>Observers</a:t>
            </a:r>
            <a:r>
              <a:rPr lang="pt-BR" dirty="0"/>
              <a:t>.</a:t>
            </a:r>
          </a:p>
          <a:p>
            <a:r>
              <a:rPr lang="pt-BR" dirty="0"/>
              <a:t>A definição formal do Padrão </a:t>
            </a:r>
            <a:r>
              <a:rPr lang="pt-BR" dirty="0" err="1"/>
              <a:t>Observer</a:t>
            </a:r>
            <a:r>
              <a:rPr lang="pt-BR" dirty="0"/>
              <a:t> é: “O Padrão </a:t>
            </a:r>
            <a:r>
              <a:rPr lang="pt-BR" dirty="0" err="1"/>
              <a:t>Observer</a:t>
            </a:r>
            <a:r>
              <a:rPr lang="pt-BR" dirty="0"/>
              <a:t> define uma dependência um-para-muitos entre os objetos de modo que quando um objeto muda de estado, todos os seus dependentes são notificados e atualizados automaticamente”.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099CDF-FC2E-40E1-9235-B4E67690D91F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9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72105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Princípio da Ligação </a:t>
            </a:r>
            <a:r>
              <a:rPr lang="pt-BR" dirty="0" smtClean="0"/>
              <a:t>Leve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padrão </a:t>
            </a:r>
            <a:r>
              <a:rPr lang="pt-BR" dirty="0" err="1"/>
              <a:t>Observer</a:t>
            </a:r>
            <a:r>
              <a:rPr lang="pt-BR" dirty="0"/>
              <a:t> adere ao principio de projeto em que se busca Designs levemente ligados entre objetos que interagem, isto é, eles interagem normalmente, no entanto sabem muito pouco um do outro.</a:t>
            </a:r>
          </a:p>
          <a:p>
            <a:r>
              <a:rPr lang="pt-BR" dirty="0"/>
              <a:t>O </a:t>
            </a:r>
            <a:r>
              <a:rPr lang="pt-BR" dirty="0" err="1"/>
              <a:t>Subject</a:t>
            </a:r>
            <a:r>
              <a:rPr lang="pt-BR" dirty="0"/>
              <a:t> sabe apenas que um </a:t>
            </a:r>
            <a:r>
              <a:rPr lang="pt-BR" dirty="0" err="1"/>
              <a:t>Observer</a:t>
            </a:r>
            <a:r>
              <a:rPr lang="pt-BR" dirty="0"/>
              <a:t> implementa uma interface comum a todos os </a:t>
            </a:r>
            <a:r>
              <a:rPr lang="pt-BR" dirty="0" err="1"/>
              <a:t>Observers</a:t>
            </a:r>
            <a:r>
              <a:rPr lang="pt-BR" dirty="0"/>
              <a:t> (interface </a:t>
            </a:r>
            <a:r>
              <a:rPr lang="pt-BR" dirty="0" err="1"/>
              <a:t>Observer</a:t>
            </a:r>
            <a:r>
              <a:rPr lang="pt-BR" dirty="0"/>
              <a:t>), apenas isso. O </a:t>
            </a:r>
            <a:r>
              <a:rPr lang="pt-BR" dirty="0" err="1"/>
              <a:t>Subject</a:t>
            </a:r>
            <a:r>
              <a:rPr lang="pt-BR" dirty="0"/>
              <a:t> não sabe a classe concreta que a implementa e nem sabe o que ela faz ou o qualquer outra coisa a respeito. Isto fica mais claro na implementação do padrão em que, como é de praxe dos padrões, programa-se para interface e não para classes concretas.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365DA-7A45-4E6A-8A1E-37BDF5AF4DB4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10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405736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Princípio da Ligação Leve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Essa ligação leve também proporciona mais flexibilidade ao padrão, pois como pode-se notar podemos adicionar novos </a:t>
            </a:r>
            <a:r>
              <a:rPr lang="pt-BR" dirty="0" err="1"/>
              <a:t>Observers</a:t>
            </a:r>
            <a:r>
              <a:rPr lang="pt-BR" dirty="0"/>
              <a:t> a qualquer momento e a única coisa que o </a:t>
            </a:r>
            <a:r>
              <a:rPr lang="pt-BR" dirty="0" err="1"/>
              <a:t>Subject</a:t>
            </a:r>
            <a:r>
              <a:rPr lang="pt-BR" dirty="0"/>
              <a:t> dependerá continua sendo uma lista de objetos que implementam </a:t>
            </a:r>
            <a:r>
              <a:rPr lang="pt-BR" dirty="0" err="1"/>
              <a:t>Observer</a:t>
            </a:r>
            <a:r>
              <a:rPr lang="pt-BR" dirty="0"/>
              <a:t>. Também podemos substituir </a:t>
            </a:r>
            <a:r>
              <a:rPr lang="pt-BR" dirty="0" err="1"/>
              <a:t>Observers</a:t>
            </a:r>
            <a:r>
              <a:rPr lang="pt-BR" dirty="0"/>
              <a:t> em tempo de execução ou remove-los e o </a:t>
            </a:r>
            <a:r>
              <a:rPr lang="pt-BR" dirty="0" err="1"/>
              <a:t>Subject</a:t>
            </a:r>
            <a:r>
              <a:rPr lang="pt-BR" dirty="0"/>
              <a:t> continuará se comportando da mesma forma e sem nenhuma alteração na sua estrutura.</a:t>
            </a:r>
          </a:p>
          <a:p>
            <a:r>
              <a:rPr lang="pt-BR" dirty="0"/>
              <a:t>Além disso, se alterarmos o </a:t>
            </a:r>
            <a:r>
              <a:rPr lang="pt-BR" dirty="0" err="1"/>
              <a:t>Subject</a:t>
            </a:r>
            <a:r>
              <a:rPr lang="pt-BR" dirty="0"/>
              <a:t> ou o </a:t>
            </a:r>
            <a:r>
              <a:rPr lang="pt-BR" dirty="0" err="1"/>
              <a:t>Observer</a:t>
            </a:r>
            <a:r>
              <a:rPr lang="pt-BR" dirty="0"/>
              <a:t> nota-se que não há nenhum impacto um no outro, eles apenas precisam continuar implementando as suas interfaces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3ED0F1-6A5E-4ECA-B677-356062D288F4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39021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interface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subject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attach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p);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dettach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p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notify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interface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update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object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p);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11E0E3-800D-4B68-8E97-203276E65DE7}" type="datetime1">
              <a:rPr lang="en-US" smtClean="0"/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12</a:t>
            </a:fld>
            <a:endParaRPr lang="en-US" altLang="ja-JP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91464" y="1435100"/>
            <a:ext cx="10871200" cy="4495800"/>
          </a:xfrm>
        </p:spPr>
        <p:txBody>
          <a:bodyPr/>
          <a:lstStyle/>
          <a:p>
            <a:pPr>
              <a:buNone/>
            </a:pP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Editora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implements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subject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private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List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observers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String mensagem;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attach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p){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		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observers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.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add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(p);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dettach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p){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	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observers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.remove(p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notify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(){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for (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ob :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observers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) { 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ob.update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this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.mensagem); 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}}</a:t>
            </a:r>
          </a:p>
          <a:p>
            <a:pPr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DE0924-5772-4D06-A1EE-B554DB80D6E8}" type="datetime1">
              <a:rPr lang="en-US" smtClean="0"/>
              <a:t>3/19/2015</a:t>
            </a:fld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13</a:t>
            </a:fld>
            <a:endParaRPr lang="en-US" altLang="ja-JP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class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Assinante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implements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string nome;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update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Object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p){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	System.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out.println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(“o cliente” +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this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.nome + “ recebeu “+ (String)p);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}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6F807-021B-4D57-9402-4208B0D8BB4C}" type="datetime1">
              <a:rPr lang="en-US" smtClean="0"/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14</a:t>
            </a:fld>
            <a:endParaRPr lang="en-US" altLang="ja-JP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Editora Abril = </a:t>
            </a:r>
            <a:r>
              <a:rPr lang="pt-BR" dirty="0" err="1" smtClean="0"/>
              <a:t>new</a:t>
            </a:r>
            <a:r>
              <a:rPr lang="pt-BR" dirty="0" smtClean="0"/>
              <a:t> Editora();</a:t>
            </a:r>
          </a:p>
          <a:p>
            <a:r>
              <a:rPr lang="pt-BR" dirty="0" smtClean="0"/>
              <a:t>Editora Globo = </a:t>
            </a:r>
            <a:r>
              <a:rPr lang="pt-BR" dirty="0" err="1" smtClean="0"/>
              <a:t>new</a:t>
            </a:r>
            <a:r>
              <a:rPr lang="pt-BR" dirty="0" smtClean="0"/>
              <a:t> Editora();</a:t>
            </a:r>
          </a:p>
          <a:p>
            <a:r>
              <a:rPr lang="pt-BR" dirty="0" smtClean="0"/>
              <a:t>Assinante a1 = </a:t>
            </a:r>
            <a:r>
              <a:rPr lang="pt-BR" dirty="0" err="1" smtClean="0"/>
              <a:t>new</a:t>
            </a:r>
            <a:r>
              <a:rPr lang="pt-BR" dirty="0" smtClean="0"/>
              <a:t> Assinante();</a:t>
            </a:r>
          </a:p>
          <a:p>
            <a:r>
              <a:rPr lang="pt-BR" dirty="0" smtClean="0"/>
              <a:t>a1.nome = “</a:t>
            </a:r>
            <a:r>
              <a:rPr lang="pt-BR" dirty="0" err="1" smtClean="0"/>
              <a:t>maria</a:t>
            </a:r>
            <a:r>
              <a:rPr lang="pt-BR" dirty="0" smtClean="0"/>
              <a:t>”;</a:t>
            </a:r>
            <a:endParaRPr lang="pt-BR" dirty="0" smtClean="0"/>
          </a:p>
          <a:p>
            <a:r>
              <a:rPr lang="pt-BR" dirty="0" smtClean="0"/>
              <a:t>Assinante a2 </a:t>
            </a:r>
            <a:r>
              <a:rPr lang="pt-BR" dirty="0" smtClean="0"/>
              <a:t>= </a:t>
            </a:r>
            <a:r>
              <a:rPr lang="pt-BR" dirty="0" err="1" smtClean="0"/>
              <a:t>new</a:t>
            </a:r>
            <a:r>
              <a:rPr lang="pt-BR" dirty="0" smtClean="0"/>
              <a:t> Assinante</a:t>
            </a:r>
            <a:r>
              <a:rPr lang="pt-BR" dirty="0" smtClean="0"/>
              <a:t>();</a:t>
            </a:r>
          </a:p>
          <a:p>
            <a:r>
              <a:rPr lang="pt-BR" dirty="0" smtClean="0"/>
              <a:t>a2.nome = “</a:t>
            </a:r>
            <a:r>
              <a:rPr lang="pt-BR" dirty="0" err="1" smtClean="0"/>
              <a:t>joao</a:t>
            </a:r>
            <a:r>
              <a:rPr lang="pt-BR" smtClean="0"/>
              <a:t>”;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93965A-2D36-423F-9299-B60CA3F68F1C}" type="datetime1">
              <a:rPr lang="en-US" smtClean="0"/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15</a:t>
            </a:fld>
            <a:endParaRPr lang="en-US" altLang="ja-JP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no </a:t>
            </a:r>
            <a:r>
              <a:rPr lang="pt-BR" dirty="0" smtClean="0"/>
              <a:t>Java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Java também fornece suporte para o padrão de projeto </a:t>
            </a:r>
            <a:r>
              <a:rPr lang="pt-BR" dirty="0" err="1"/>
              <a:t>Observer</a:t>
            </a:r>
            <a:r>
              <a:rPr lang="pt-BR" dirty="0"/>
              <a:t>. As </a:t>
            </a:r>
            <a:r>
              <a:rPr lang="pt-BR" dirty="0" err="1"/>
              <a:t>API’s</a:t>
            </a:r>
            <a:r>
              <a:rPr lang="pt-BR" dirty="0"/>
              <a:t> mais gerais são a interface </a:t>
            </a:r>
            <a:r>
              <a:rPr lang="pt-BR" dirty="0" err="1"/>
              <a:t>Observer</a:t>
            </a:r>
            <a:r>
              <a:rPr lang="pt-BR" dirty="0"/>
              <a:t> e a classe </a:t>
            </a:r>
            <a:r>
              <a:rPr lang="pt-BR" dirty="0" err="1"/>
              <a:t>Observable</a:t>
            </a:r>
            <a:r>
              <a:rPr lang="pt-BR" dirty="0"/>
              <a:t> no pacote </a:t>
            </a:r>
            <a:r>
              <a:rPr lang="pt-BR" dirty="0" err="1"/>
              <a:t>java.util</a:t>
            </a:r>
            <a:r>
              <a:rPr lang="pt-BR" dirty="0"/>
              <a:t>. Elas são bastante semelhantes ao que foi dito aqui, porém possuem bem mais recursos que podem ajudar a vida do desenvolvedor em algumas circunstâncias.</a:t>
            </a:r>
          </a:p>
          <a:p>
            <a:r>
              <a:rPr lang="pt-BR" dirty="0"/>
              <a:t>Em geral a classe </a:t>
            </a:r>
            <a:r>
              <a:rPr lang="pt-BR" dirty="0" err="1"/>
              <a:t>Observable</a:t>
            </a:r>
            <a:r>
              <a:rPr lang="pt-BR" dirty="0"/>
              <a:t> é como o nosso </a:t>
            </a:r>
            <a:r>
              <a:rPr lang="pt-BR" dirty="0" err="1"/>
              <a:t>Subject</a:t>
            </a:r>
            <a:r>
              <a:rPr lang="pt-BR" dirty="0"/>
              <a:t> discutido anteriormente, porém </a:t>
            </a:r>
            <a:r>
              <a:rPr lang="pt-BR" dirty="0" err="1"/>
              <a:t>Observable</a:t>
            </a:r>
            <a:r>
              <a:rPr lang="pt-BR" dirty="0"/>
              <a:t> é uma classe e não uma interface. Alguns dos métodos do </a:t>
            </a:r>
            <a:r>
              <a:rPr lang="pt-BR" dirty="0" err="1"/>
              <a:t>Observable</a:t>
            </a:r>
            <a:r>
              <a:rPr lang="pt-BR" dirty="0"/>
              <a:t> são </a:t>
            </a:r>
            <a:r>
              <a:rPr lang="pt-BR" dirty="0" err="1"/>
              <a:t>addObserver</a:t>
            </a:r>
            <a:r>
              <a:rPr lang="pt-BR" dirty="0"/>
              <a:t>(), </a:t>
            </a:r>
            <a:r>
              <a:rPr lang="pt-BR" dirty="0" err="1"/>
              <a:t>deleteObserver</a:t>
            </a:r>
            <a:r>
              <a:rPr lang="pt-BR" dirty="0"/>
              <a:t>(), </a:t>
            </a:r>
            <a:r>
              <a:rPr lang="pt-BR" dirty="0" err="1"/>
              <a:t>notifyObservers</a:t>
            </a:r>
            <a:r>
              <a:rPr lang="pt-BR" dirty="0"/>
              <a:t>(), </a:t>
            </a:r>
            <a:r>
              <a:rPr lang="pt-BR" dirty="0" err="1"/>
              <a:t>setChanged</a:t>
            </a:r>
            <a:r>
              <a:rPr lang="pt-BR" dirty="0"/>
              <a:t>(). A classe </a:t>
            </a:r>
            <a:r>
              <a:rPr lang="pt-BR" dirty="0" err="1"/>
              <a:t>Observable</a:t>
            </a:r>
            <a:r>
              <a:rPr lang="pt-BR" dirty="0"/>
              <a:t> nada mais faz do que monitorar todos os observadores e os notificar sobre alguma alteração no estado.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F37ED7-C97F-4738-A6C8-5517DE8B2678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16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33487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no </a:t>
            </a:r>
            <a:r>
              <a:rPr lang="pt-BR" dirty="0" smtClean="0"/>
              <a:t>Java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interface </a:t>
            </a:r>
            <a:r>
              <a:rPr lang="pt-BR" dirty="0" err="1"/>
              <a:t>Observer</a:t>
            </a:r>
            <a:r>
              <a:rPr lang="pt-BR" dirty="0"/>
              <a:t> é como se fosse a nossa classe </a:t>
            </a:r>
            <a:r>
              <a:rPr lang="pt-BR" dirty="0" err="1"/>
              <a:t>Observer</a:t>
            </a:r>
            <a:r>
              <a:rPr lang="pt-BR" dirty="0"/>
              <a:t> definida anteriormente, essa interface ainda possui um método </a:t>
            </a:r>
            <a:r>
              <a:rPr lang="pt-BR" dirty="0" err="1"/>
              <a:t>update</a:t>
            </a:r>
            <a:r>
              <a:rPr lang="pt-BR" dirty="0"/>
              <a:t>() que será chamado pelo </a:t>
            </a:r>
            <a:r>
              <a:rPr lang="pt-BR" dirty="0" err="1"/>
              <a:t>Subject</a:t>
            </a:r>
            <a:r>
              <a:rPr lang="pt-BR" dirty="0"/>
              <a:t> quando o estado de </a:t>
            </a:r>
            <a:r>
              <a:rPr lang="pt-BR" dirty="0" err="1"/>
              <a:t>Subject</a:t>
            </a:r>
            <a:r>
              <a:rPr lang="pt-BR" dirty="0"/>
              <a:t> for alterado. No método </a:t>
            </a:r>
            <a:r>
              <a:rPr lang="pt-BR" dirty="0" err="1"/>
              <a:t>update</a:t>
            </a:r>
            <a:r>
              <a:rPr lang="pt-BR" dirty="0"/>
              <a:t>() será passado como parâmetro o </a:t>
            </a:r>
            <a:r>
              <a:rPr lang="pt-BR" dirty="0" err="1"/>
              <a:t>Subject</a:t>
            </a:r>
            <a:r>
              <a:rPr lang="pt-BR" dirty="0"/>
              <a:t> (quem está fazendo a notificação) ou ainda será passado o </a:t>
            </a:r>
            <a:r>
              <a:rPr lang="pt-BR" dirty="0" err="1"/>
              <a:t>Subject</a:t>
            </a:r>
            <a:r>
              <a:rPr lang="pt-BR" dirty="0"/>
              <a:t> e os dados para serem processados pelo </a:t>
            </a:r>
            <a:r>
              <a:rPr lang="pt-BR" dirty="0" err="1"/>
              <a:t>Obsever</a:t>
            </a:r>
            <a:r>
              <a:rPr lang="pt-BR" dirty="0"/>
              <a:t>. Outra forma de trabalhar seria chamar </a:t>
            </a:r>
            <a:r>
              <a:rPr lang="pt-BR" dirty="0" err="1"/>
              <a:t>update</a:t>
            </a:r>
            <a:r>
              <a:rPr lang="pt-BR" dirty="0"/>
              <a:t>() passando apenas o objeto </a:t>
            </a:r>
            <a:r>
              <a:rPr lang="pt-BR" dirty="0" err="1"/>
              <a:t>Subject</a:t>
            </a:r>
            <a:r>
              <a:rPr lang="pt-BR" dirty="0"/>
              <a:t> e esperar que o observador “puxe” os dados da </a:t>
            </a:r>
            <a:r>
              <a:rPr lang="pt-BR" dirty="0" err="1"/>
              <a:t>Subject</a:t>
            </a:r>
            <a:r>
              <a:rPr lang="pt-BR" dirty="0"/>
              <a:t>, dessa maneira não passaríamos nenhum dado para o </a:t>
            </a:r>
            <a:r>
              <a:rPr lang="pt-BR" dirty="0" err="1"/>
              <a:t>Observer</a:t>
            </a:r>
            <a:r>
              <a:rPr lang="pt-BR" dirty="0"/>
              <a:t> e sim esperaríamos que ele pegasse os dados diretamente no </a:t>
            </a:r>
            <a:r>
              <a:rPr lang="pt-BR" dirty="0" err="1"/>
              <a:t>Subject</a:t>
            </a:r>
            <a:r>
              <a:rPr lang="pt-BR" dirty="0"/>
              <a:t> que foi passado.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6F0F7B-BA3A-4001-8F52-3623B6E24093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17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38384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 detalhe importante é que antes de </a:t>
            </a:r>
            <a:r>
              <a:rPr lang="pt-BR" dirty="0" err="1"/>
              <a:t>Subject</a:t>
            </a:r>
            <a:r>
              <a:rPr lang="pt-BR" dirty="0"/>
              <a:t> chamar o método </a:t>
            </a:r>
            <a:r>
              <a:rPr lang="pt-BR" dirty="0" err="1"/>
              <a:t>update</a:t>
            </a:r>
            <a:r>
              <a:rPr lang="pt-BR" dirty="0"/>
              <a:t>() do seus </a:t>
            </a:r>
            <a:r>
              <a:rPr lang="pt-BR" dirty="0" err="1"/>
              <a:t>assinates</a:t>
            </a:r>
            <a:r>
              <a:rPr lang="pt-BR" dirty="0"/>
              <a:t> (</a:t>
            </a:r>
            <a:r>
              <a:rPr lang="pt-BR" dirty="0" err="1"/>
              <a:t>Observers</a:t>
            </a:r>
            <a:r>
              <a:rPr lang="pt-BR" dirty="0"/>
              <a:t>) deve-se chamar o método </a:t>
            </a:r>
            <a:r>
              <a:rPr lang="pt-BR" dirty="0" err="1"/>
              <a:t>setChanged</a:t>
            </a:r>
            <a:r>
              <a:rPr lang="pt-BR" dirty="0"/>
              <a:t>() que seta o estado interno do objeto para </a:t>
            </a:r>
            <a:r>
              <a:rPr lang="pt-BR" dirty="0" err="1"/>
              <a:t>true</a:t>
            </a:r>
            <a:r>
              <a:rPr lang="pt-BR" dirty="0"/>
              <a:t>, ou seja, chamando o método diz-se que o estado foi alterado e os Observadores devem ser notificados. Quando este método de </a:t>
            </a:r>
            <a:r>
              <a:rPr lang="pt-BR" dirty="0" err="1"/>
              <a:t>Subject</a:t>
            </a:r>
            <a:r>
              <a:rPr lang="pt-BR" dirty="0"/>
              <a:t> é chamado aciona-se o método </a:t>
            </a:r>
            <a:r>
              <a:rPr lang="pt-BR" dirty="0" err="1"/>
              <a:t>notifyObservers</a:t>
            </a:r>
            <a:r>
              <a:rPr lang="pt-BR" dirty="0"/>
              <a:t>() chamando o método </a:t>
            </a:r>
            <a:r>
              <a:rPr lang="pt-BR" dirty="0" err="1"/>
              <a:t>update</a:t>
            </a:r>
            <a:r>
              <a:rPr lang="pt-BR" dirty="0"/>
              <a:t>() de cada Observador passando o objeto e os dados alterados. Após as notificações o </a:t>
            </a:r>
            <a:r>
              <a:rPr lang="pt-BR" dirty="0" err="1"/>
              <a:t>setChanged</a:t>
            </a:r>
            <a:r>
              <a:rPr lang="pt-BR" dirty="0"/>
              <a:t>() é novamente </a:t>
            </a:r>
            <a:r>
              <a:rPr lang="pt-BR" dirty="0" err="1"/>
              <a:t>setado</a:t>
            </a:r>
            <a:r>
              <a:rPr lang="pt-BR" dirty="0"/>
              <a:t> como falso e só chamará o método </a:t>
            </a:r>
            <a:r>
              <a:rPr lang="pt-BR" dirty="0" err="1"/>
              <a:t>notifyObservers</a:t>
            </a:r>
            <a:r>
              <a:rPr lang="pt-BR" dirty="0"/>
              <a:t>() novamente quando for acionado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B6778C-7CD3-4C9D-A0B8-154AD8B62E6A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18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97463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 smtClean="0"/>
              <a:t/>
            </a:r>
            <a:br>
              <a:rPr lang="pt-BR" sz="3600" dirty="0" smtClean="0"/>
            </a:br>
            <a:r>
              <a:rPr lang="pt-BR" sz="3600" dirty="0" smtClean="0"/>
              <a:t>Segue </a:t>
            </a:r>
            <a:r>
              <a:rPr lang="pt-BR" sz="3600" dirty="0"/>
              <a:t>abaixo um exemplo de implementação em Java utilizando a API descrita acima.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FF7D55-849B-45E0-AC0B-55FAB57C815C}" type="datetime1">
              <a:rPr lang="en-US" smtClean="0"/>
              <a:pPr>
                <a:defRPr/>
              </a:pPr>
              <a:t>3/19/2015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0F6AB5F-235A-4586-BFD7-73D8BDFB029F}" type="slidenum">
              <a:rPr lang="en-US" altLang="ja-JP" smtClean="0"/>
              <a:pPr/>
              <a:t>19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56944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1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ema1" id="{705347BA-46A2-4610-A0C8-A625D49066C5}" vid="{8B1ED6AB-C580-4C04-87D0-5EE954710859}"/>
    </a:ext>
  </a:extLst>
</a:theme>
</file>

<file path=ppt/theme/theme2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o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80</TotalTime>
  <Words>1066</Words>
  <Application>Microsoft Office PowerPoint</Application>
  <PresentationFormat>Personalizar</PresentationFormat>
  <Paragraphs>111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1" baseType="lpstr">
      <vt:lpstr>Tema1</vt:lpstr>
      <vt:lpstr>Mediano</vt:lpstr>
      <vt:lpstr>POO - Avançado</vt:lpstr>
      <vt:lpstr>Introdução</vt:lpstr>
      <vt:lpstr>Slide 3</vt:lpstr>
      <vt:lpstr>Slide 4</vt:lpstr>
      <vt:lpstr>Funcionamento</vt:lpstr>
      <vt:lpstr>Funcionamento</vt:lpstr>
      <vt:lpstr> Funcionamento </vt:lpstr>
      <vt:lpstr>Funcionamento</vt:lpstr>
      <vt:lpstr>Funcionamento</vt:lpstr>
      <vt:lpstr>Princípio da Ligação Leve</vt:lpstr>
      <vt:lpstr>Princípio da Ligação Leve</vt:lpstr>
      <vt:lpstr>Implementação</vt:lpstr>
      <vt:lpstr>implementação</vt:lpstr>
      <vt:lpstr>implementação</vt:lpstr>
      <vt:lpstr>Teste</vt:lpstr>
      <vt:lpstr>Implementação no Java</vt:lpstr>
      <vt:lpstr>Implementação no Java</vt:lpstr>
      <vt:lpstr>Slide 18</vt:lpstr>
      <vt:lpstr> Segue abaixo um exemplo de implementação em Java utilizando a API descrita acima.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 - Avançado</dc:title>
  <dc:creator>Norton Barros Glaser</dc:creator>
  <cp:lastModifiedBy>professor</cp:lastModifiedBy>
  <cp:revision>7</cp:revision>
  <dcterms:created xsi:type="dcterms:W3CDTF">2015-03-19T02:28:49Z</dcterms:created>
  <dcterms:modified xsi:type="dcterms:W3CDTF">2015-03-20T01:20:26Z</dcterms:modified>
</cp:coreProperties>
</file>