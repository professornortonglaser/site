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64" r:id="rId3"/>
    <p:sldId id="283" r:id="rId4"/>
    <p:sldId id="284" r:id="rId5"/>
    <p:sldId id="276" r:id="rId6"/>
    <p:sldId id="279" r:id="rId7"/>
    <p:sldId id="278" r:id="rId8"/>
    <p:sldId id="280" r:id="rId9"/>
    <p:sldId id="281" r:id="rId10"/>
    <p:sldId id="282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4249" autoAdjust="0"/>
  </p:normalViewPr>
  <p:slideViewPr>
    <p:cSldViewPr>
      <p:cViewPr varScale="1">
        <p:scale>
          <a:sx n="68" d="100"/>
          <a:sy n="68" d="100"/>
        </p:scale>
        <p:origin x="182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DBD6AB-3216-433B-8E95-1ADEDC820D0A}" type="datetimeFigureOut">
              <a:rPr lang="pt-BR" smtClean="0"/>
              <a:t>18/06/2020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6ED8F9-FBA5-4A55-8F2D-3F41257A9C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6894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6ED8F9-FBA5-4A55-8F2D-3F41257A9CC3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5450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6ED8F9-FBA5-4A55-8F2D-3F41257A9CC3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57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6/18/2020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6/18/2020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6/18/2020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6/18/2020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6/18/2020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6/18/2020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6/18/2020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6/18/2020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A32A74D-5257-4133-97A4-C8ABEBB13DFA}" type="datetimeFigureOut">
              <a:rPr lang="en-US" smtClean="0"/>
              <a:pPr/>
              <a:t>6/18/2020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6/18/2020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A32A74D-5257-4133-97A4-C8ABEBB13DFA}" type="datetimeFigureOut">
              <a:rPr lang="en-US" smtClean="0"/>
              <a:pPr/>
              <a:t>6/18/2020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6/18/2020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POO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Interface </a:t>
            </a:r>
            <a:r>
              <a:rPr lang="pt-BR" b="1" dirty="0" err="1"/>
              <a:t>Grafica</a:t>
            </a:r>
            <a:r>
              <a:rPr lang="pt-BR" b="1" dirty="0"/>
              <a:t> - SWING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</a:t>
            </a:r>
            <a:r>
              <a:rPr lang="pt-BR" dirty="0" err="1"/>
              <a:t>Javax.swing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pt-BR" dirty="0"/>
              <a:t>O Swing é um framework que disponibiliza um conjunto de elementos gráficos para ser utilizado na plataforma Java. </a:t>
            </a:r>
          </a:p>
          <a:p>
            <a:pPr lvl="1"/>
            <a:r>
              <a:rPr lang="pt-BR" dirty="0"/>
              <a:t>O Swing é compatível com o Abstract </a:t>
            </a:r>
            <a:r>
              <a:rPr lang="pt-BR" dirty="0" err="1"/>
              <a:t>Window</a:t>
            </a:r>
            <a:r>
              <a:rPr lang="pt-BR" dirty="0"/>
              <a:t> Toolkit (AWT), mas trabalha de forma totalmente diferente. A API Swing, diferente do AWT, não delega a tarefa de renderização ao sistema operacional, ele </a:t>
            </a:r>
            <a:r>
              <a:rPr lang="pt-BR" dirty="0" err="1"/>
              <a:t>renderiza</a:t>
            </a:r>
            <a:r>
              <a:rPr lang="pt-BR" dirty="0"/>
              <a:t> os elementos por conta própria. </a:t>
            </a:r>
          </a:p>
          <a:p>
            <a:pPr lvl="1"/>
            <a:r>
              <a:rPr lang="pt-BR" dirty="0"/>
              <a:t>Como a AWT é uma biblioteca de baixo-nível que depende de código nativo da plataforma ela traz alguns problemas de compatibilidade entre as plataformas, fazendo com que nem sempre o programa tenha a aparência desejada em todos os sistemas operacionais.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4A51A-A68A-4F45-8FDF-C068B864D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Portabilidade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07D0D3-6F70-4A83-9F1A-2E6A6C7F7D3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As APIs de interface gráfica do Java favorecem, ao máximo, o lema de portabilidade da plataforma Java. O look-</a:t>
            </a:r>
            <a:r>
              <a:rPr lang="pt-BR" dirty="0" err="1"/>
              <a:t>and</a:t>
            </a:r>
            <a:r>
              <a:rPr lang="pt-BR" dirty="0"/>
              <a:t>-</a:t>
            </a:r>
            <a:r>
              <a:rPr lang="pt-BR" dirty="0" err="1"/>
              <a:t>feel</a:t>
            </a:r>
            <a:r>
              <a:rPr lang="pt-BR" dirty="0"/>
              <a:t> do Swing é único em todas as plataformas onde roda, seja ela Windows, Linux, ou qualquer outra. Isso implica que a aplicação terá exatamente a mesma interface (cores, tamanhos </a:t>
            </a:r>
            <a:r>
              <a:rPr lang="pt-BR" dirty="0" err="1"/>
              <a:t>etc</a:t>
            </a:r>
            <a:r>
              <a:rPr lang="pt-BR" dirty="0"/>
              <a:t>) em qualquer sistema operacional.</a:t>
            </a:r>
          </a:p>
          <a:p>
            <a:endParaRPr lang="pt-BR" dirty="0"/>
          </a:p>
          <a:p>
            <a:r>
              <a:rPr lang="pt-BR" dirty="0"/>
              <a:t>Grande parte da complexidade das classes e métodos do Swing está no fato da API ter sido desenvolvida tendo em mente o máximo de portabilidade possível. Favorece-se, por exemplo, o posicionamento relativo de componentes, em detrimento do uso de posicionamento fixo, que poderia prejudicar usuários com resoluções de tela diferentes da prevista.</a:t>
            </a:r>
          </a:p>
          <a:p>
            <a:endParaRPr lang="pt-BR" dirty="0"/>
          </a:p>
          <a:p>
            <a:r>
              <a:rPr lang="pt-BR" dirty="0"/>
              <a:t>Com Swing, não importa qual sistema operacional, qual resolução de tela, ou qual profundidade de cores: sua aplicação se comportará da mesma forma em todos os ambientes.</a:t>
            </a:r>
          </a:p>
        </p:txBody>
      </p:sp>
    </p:spTree>
    <p:extLst>
      <p:ext uri="{BB962C8B-B14F-4D97-AF65-F5344CB8AC3E}">
        <p14:creationId xmlns:p14="http://schemas.microsoft.com/office/powerpoint/2010/main" val="1691200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3D0CF9-43AD-4A24-9697-21B111678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Portabilidade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8596449-812B-4494-9B9E-8C18790ED516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060848"/>
            <a:ext cx="3046196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9ECA760-98FC-4481-B42E-D2433E011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2060848"/>
            <a:ext cx="2952328" cy="1676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7D477C5C-5B9B-44CE-BBA2-00B062F50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939" y="4068142"/>
            <a:ext cx="3042196" cy="152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CC2C60C3-468B-4F94-BAF0-871247F2E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3882" y="4068142"/>
            <a:ext cx="2874736" cy="152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8863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6C5682-C88F-4940-A4A3-565571A92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ACC7FB-C7BA-46CD-9B2C-9B14603AB4D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Ele e composto por diversos componentes:</a:t>
            </a:r>
          </a:p>
          <a:p>
            <a:pPr lvl="1"/>
            <a:r>
              <a:rPr lang="pt-BR" dirty="0"/>
              <a:t> </a:t>
            </a:r>
            <a:r>
              <a:rPr lang="pt-BR" b="1" dirty="0" err="1"/>
              <a:t>JFrame</a:t>
            </a:r>
            <a:r>
              <a:rPr lang="pt-BR" dirty="0"/>
              <a:t> representa a janela do programa com barra de título, ícone, botões de comando, etc. Entre os principais métodos temos o pack() que compacta a janela para o tamanho dos componentes, </a:t>
            </a:r>
            <a:r>
              <a:rPr lang="pt-BR" dirty="0" err="1"/>
              <a:t>setSize</a:t>
            </a:r>
            <a:r>
              <a:rPr lang="pt-BR" dirty="0"/>
              <a:t>(</a:t>
            </a:r>
            <a:r>
              <a:rPr lang="pt-BR" dirty="0" err="1"/>
              <a:t>int</a:t>
            </a:r>
            <a:r>
              <a:rPr lang="pt-BR" dirty="0"/>
              <a:t>, </a:t>
            </a:r>
            <a:r>
              <a:rPr lang="pt-BR" dirty="0" err="1"/>
              <a:t>int</a:t>
            </a:r>
            <a:r>
              <a:rPr lang="pt-BR" dirty="0"/>
              <a:t>) que define a largura e altura da janela, </a:t>
            </a:r>
            <a:r>
              <a:rPr lang="pt-BR" dirty="0" err="1"/>
              <a:t>setLocation</a:t>
            </a:r>
            <a:r>
              <a:rPr lang="pt-BR" dirty="0"/>
              <a:t>(</a:t>
            </a:r>
            <a:r>
              <a:rPr lang="pt-BR" dirty="0" err="1"/>
              <a:t>int</a:t>
            </a:r>
            <a:r>
              <a:rPr lang="pt-BR" dirty="0"/>
              <a:t>, </a:t>
            </a:r>
            <a:r>
              <a:rPr lang="pt-BR" dirty="0" err="1"/>
              <a:t>int</a:t>
            </a:r>
            <a:r>
              <a:rPr lang="pt-BR" dirty="0"/>
              <a:t>) que define a posição da janela na tela (</a:t>
            </a:r>
            <a:r>
              <a:rPr lang="pt-BR" dirty="0" err="1"/>
              <a:t>x,y</a:t>
            </a:r>
            <a:r>
              <a:rPr lang="pt-BR" dirty="0"/>
              <a:t>), </a:t>
            </a:r>
            <a:r>
              <a:rPr lang="pt-BR" dirty="0" err="1"/>
              <a:t>setBounds</a:t>
            </a:r>
            <a:r>
              <a:rPr lang="pt-BR" dirty="0"/>
              <a:t>(</a:t>
            </a:r>
            <a:r>
              <a:rPr lang="pt-BR" dirty="0" err="1"/>
              <a:t>int</a:t>
            </a:r>
            <a:r>
              <a:rPr lang="pt-BR" dirty="0"/>
              <a:t>, </a:t>
            </a:r>
            <a:r>
              <a:rPr lang="pt-BR" dirty="0" err="1"/>
              <a:t>int</a:t>
            </a:r>
            <a:r>
              <a:rPr lang="pt-BR" dirty="0"/>
              <a:t>, </a:t>
            </a:r>
            <a:r>
              <a:rPr lang="pt-BR" dirty="0" err="1"/>
              <a:t>int</a:t>
            </a:r>
            <a:r>
              <a:rPr lang="pt-BR" dirty="0"/>
              <a:t>, </a:t>
            </a:r>
            <a:r>
              <a:rPr lang="pt-BR" dirty="0" err="1"/>
              <a:t>int</a:t>
            </a:r>
            <a:r>
              <a:rPr lang="pt-BR" dirty="0"/>
              <a:t>) que define posição e tamanho, </a:t>
            </a:r>
            <a:r>
              <a:rPr lang="pt-BR" dirty="0" err="1"/>
              <a:t>setVisible</a:t>
            </a:r>
            <a:r>
              <a:rPr lang="pt-BR" dirty="0"/>
              <a:t>(</a:t>
            </a:r>
            <a:r>
              <a:rPr lang="pt-BR" dirty="0" err="1"/>
              <a:t>boolean</a:t>
            </a:r>
            <a:r>
              <a:rPr lang="pt-BR" dirty="0"/>
              <a:t>) que exibe a janela e </a:t>
            </a:r>
            <a:r>
              <a:rPr lang="pt-BR" dirty="0" err="1"/>
              <a:t>setDefaultCloseOperation</a:t>
            </a:r>
            <a:r>
              <a:rPr lang="pt-BR" dirty="0"/>
              <a:t>(</a:t>
            </a:r>
            <a:r>
              <a:rPr lang="pt-BR" dirty="0" err="1"/>
              <a:t>int</a:t>
            </a:r>
            <a:r>
              <a:rPr lang="pt-BR" dirty="0"/>
              <a:t>) que define o que ocorre quando o usuário tenta fechar a janela (as opções são: DO_NOTHING_ON_CLOSE, HIDE_ON_CLOSE, DISPOSE_ON_CLOSE, EXIT_ON_CLOSE).</a:t>
            </a:r>
          </a:p>
          <a:p>
            <a:pPr lvl="1"/>
            <a:r>
              <a:rPr lang="pt-BR" b="1" dirty="0" err="1"/>
              <a:t>JPanel</a:t>
            </a:r>
            <a:r>
              <a:rPr lang="pt-BR" b="1" dirty="0"/>
              <a:t> </a:t>
            </a:r>
            <a:r>
              <a:rPr lang="pt-BR" dirty="0"/>
              <a:t>representa um tipo básico de container para inserção de componentes. Entre os principais métodos temos </a:t>
            </a:r>
            <a:r>
              <a:rPr lang="pt-BR" dirty="0" err="1"/>
              <a:t>add</a:t>
            </a:r>
            <a:r>
              <a:rPr lang="pt-BR" dirty="0"/>
              <a:t>(</a:t>
            </a:r>
            <a:r>
              <a:rPr lang="pt-BR" dirty="0" err="1"/>
              <a:t>Component</a:t>
            </a:r>
            <a:r>
              <a:rPr lang="pt-BR" dirty="0"/>
              <a:t>, </a:t>
            </a:r>
            <a:r>
              <a:rPr lang="pt-BR" dirty="0" err="1"/>
              <a:t>int</a:t>
            </a:r>
            <a:r>
              <a:rPr lang="pt-BR" dirty="0"/>
              <a:t>) que adiciona o componente definindo sua posição e </a:t>
            </a:r>
            <a:r>
              <a:rPr lang="pt-BR" dirty="0" err="1"/>
              <a:t>setLayout</a:t>
            </a:r>
            <a:r>
              <a:rPr lang="pt-BR" dirty="0"/>
              <a:t>(</a:t>
            </a:r>
            <a:r>
              <a:rPr lang="pt-BR" dirty="0" err="1"/>
              <a:t>LayoutManagaer</a:t>
            </a:r>
            <a:r>
              <a:rPr lang="pt-BR" dirty="0"/>
              <a:t>) que altera o tipo de layout.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74226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064B8-AAD6-4A4B-9C91-226441236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2D5122-8353-4151-BFE3-D2FBD23B59E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pt-BR" b="1" dirty="0" err="1"/>
              <a:t>JLabel</a:t>
            </a:r>
            <a:r>
              <a:rPr lang="pt-BR" dirty="0"/>
              <a:t> representa um rótulo de texto. Entre os principais métodos temos o </a:t>
            </a:r>
            <a:r>
              <a:rPr lang="pt-BR" dirty="0" err="1"/>
              <a:t>setText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) que altera o texto e </a:t>
            </a:r>
            <a:r>
              <a:rPr lang="pt-BR" dirty="0" err="1"/>
              <a:t>getText</a:t>
            </a:r>
            <a:r>
              <a:rPr lang="pt-BR" dirty="0"/>
              <a:t>() que retorna o texto atual.</a:t>
            </a:r>
          </a:p>
          <a:p>
            <a:pPr lvl="1"/>
            <a:r>
              <a:rPr lang="pt-BR" b="1" dirty="0" err="1"/>
              <a:t>JTextFiel</a:t>
            </a:r>
            <a:r>
              <a:rPr lang="pt-BR" dirty="0"/>
              <a:t> representa um campo de texto onde o usuário pode informar um texto em uma linha. Entre os principais métodos temos </a:t>
            </a:r>
            <a:r>
              <a:rPr lang="pt-BR" dirty="0" err="1"/>
              <a:t>setText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) que altera o texto e </a:t>
            </a:r>
            <a:r>
              <a:rPr lang="pt-BR" dirty="0" err="1"/>
              <a:t>getText</a:t>
            </a:r>
            <a:r>
              <a:rPr lang="pt-BR" dirty="0"/>
              <a:t>() que retorna o texto atual.</a:t>
            </a:r>
          </a:p>
          <a:p>
            <a:pPr lvl="1"/>
            <a:r>
              <a:rPr lang="pt-BR" b="1" dirty="0" err="1"/>
              <a:t>JPasswordField</a:t>
            </a:r>
            <a:r>
              <a:rPr lang="pt-BR" dirty="0"/>
              <a:t> representa um campo de texto protegido, subclasse de </a:t>
            </a:r>
            <a:r>
              <a:rPr lang="pt-BR" dirty="0" err="1"/>
              <a:t>JTextField</a:t>
            </a:r>
            <a:r>
              <a:rPr lang="pt-BR" dirty="0"/>
              <a:t>. O principal método é o </a:t>
            </a:r>
            <a:r>
              <a:rPr lang="pt-BR" dirty="0" err="1"/>
              <a:t>setEchoChar</a:t>
            </a:r>
            <a:r>
              <a:rPr lang="pt-BR" dirty="0"/>
              <a:t>(char) que define o caractere que aparece ao digitar um texto.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751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D906B6-5D9A-4F9C-A1C5-5641327C7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D28D58-35E7-4EF0-9341-110B222F80E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pPr lvl="1"/>
            <a:r>
              <a:rPr lang="pt-BR" b="1" dirty="0" err="1"/>
              <a:t>JTextArea</a:t>
            </a:r>
            <a:r>
              <a:rPr lang="pt-BR" dirty="0"/>
              <a:t> representa uma caixa onde o usuário pode informar várias linhas de texto. Entre os principais métodos temos o </a:t>
            </a:r>
            <a:r>
              <a:rPr lang="pt-BR" dirty="0" err="1"/>
              <a:t>setText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) que altera o texto, </a:t>
            </a:r>
            <a:r>
              <a:rPr lang="pt-BR" dirty="0" err="1"/>
              <a:t>getText</a:t>
            </a:r>
            <a:r>
              <a:rPr lang="pt-BR" dirty="0"/>
              <a:t>() que retorna o texto atual, </a:t>
            </a:r>
            <a:r>
              <a:rPr lang="pt-BR" dirty="0" err="1"/>
              <a:t>getSelectedText</a:t>
            </a:r>
            <a:r>
              <a:rPr lang="pt-BR" dirty="0"/>
              <a:t>() que retorna o texto selecionado pelo usuário e </a:t>
            </a:r>
            <a:r>
              <a:rPr lang="pt-BR" dirty="0" err="1"/>
              <a:t>insert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, </a:t>
            </a:r>
            <a:r>
              <a:rPr lang="pt-BR" dirty="0" err="1"/>
              <a:t>int</a:t>
            </a:r>
            <a:r>
              <a:rPr lang="pt-BR" dirty="0"/>
              <a:t>) que insere um texto na posição especificada.</a:t>
            </a:r>
          </a:p>
          <a:p>
            <a:pPr lvl="1"/>
            <a:r>
              <a:rPr lang="pt-BR" b="1" dirty="0" err="1"/>
              <a:t>JCheckBox</a:t>
            </a:r>
            <a:r>
              <a:rPr lang="pt-BR" dirty="0"/>
              <a:t> representa uma caixa de seleção e permite selecionar ou não uma opção. Entre os principais métodos temos o </a:t>
            </a:r>
            <a:r>
              <a:rPr lang="pt-BR" dirty="0" err="1"/>
              <a:t>setSelected</a:t>
            </a:r>
            <a:r>
              <a:rPr lang="pt-BR" dirty="0"/>
              <a:t>(</a:t>
            </a:r>
            <a:r>
              <a:rPr lang="pt-BR" dirty="0" err="1"/>
              <a:t>boolean</a:t>
            </a:r>
            <a:r>
              <a:rPr lang="pt-BR" dirty="0"/>
              <a:t>) que altera o estado da caixa de seleção e o método </a:t>
            </a:r>
            <a:r>
              <a:rPr lang="pt-BR" dirty="0" err="1"/>
              <a:t>isSelected</a:t>
            </a:r>
            <a:r>
              <a:rPr lang="pt-BR" dirty="0"/>
              <a:t>() que retorna </a:t>
            </a:r>
            <a:r>
              <a:rPr lang="pt-BR" dirty="0" err="1"/>
              <a:t>true</a:t>
            </a:r>
            <a:r>
              <a:rPr lang="pt-BR" dirty="0"/>
              <a:t> se a caixa estiver marcada e false se não estiver marcada.</a:t>
            </a:r>
          </a:p>
          <a:p>
            <a:pPr lvl="1"/>
            <a:r>
              <a:rPr lang="pt-BR" b="1" dirty="0" err="1"/>
              <a:t>JRadioButton</a:t>
            </a:r>
            <a:r>
              <a:rPr lang="pt-BR" dirty="0"/>
              <a:t> representa um componente que permite seleciona uma entre diversas opções. O </a:t>
            </a:r>
            <a:r>
              <a:rPr lang="pt-BR" dirty="0" err="1"/>
              <a:t>JRadioButton</a:t>
            </a:r>
            <a:r>
              <a:rPr lang="pt-BR" dirty="0"/>
              <a:t> é semelhante ao </a:t>
            </a:r>
            <a:r>
              <a:rPr lang="pt-BR" dirty="0" err="1"/>
              <a:t>JCheckBox</a:t>
            </a:r>
            <a:r>
              <a:rPr lang="pt-BR" dirty="0"/>
              <a:t>, inclusive com os mesmos construtores e métodos.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853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A78CDD-F7D5-4231-92D9-F762A3047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550DB6-2D91-4BBF-A366-6D59DF11E19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lvl="1"/>
            <a:r>
              <a:rPr lang="pt-BR" b="1" dirty="0" err="1"/>
              <a:t>JComboBox</a:t>
            </a:r>
            <a:r>
              <a:rPr lang="pt-BR" b="1" dirty="0"/>
              <a:t> </a:t>
            </a:r>
            <a:r>
              <a:rPr lang="pt-BR" dirty="0"/>
              <a:t>representa uma caixa de combinação, da qual o usuário pode selecionar uma opção. Entre os principais métodos temos o </a:t>
            </a:r>
            <a:r>
              <a:rPr lang="pt-BR" dirty="0" err="1"/>
              <a:t>addItem</a:t>
            </a:r>
            <a:r>
              <a:rPr lang="pt-BR" dirty="0"/>
              <a:t>(</a:t>
            </a:r>
            <a:r>
              <a:rPr lang="pt-BR" dirty="0" err="1"/>
              <a:t>Object</a:t>
            </a:r>
            <a:r>
              <a:rPr lang="pt-BR" dirty="0"/>
              <a:t>) que adiciona um item à lista de opções, </a:t>
            </a:r>
            <a:r>
              <a:rPr lang="pt-BR" dirty="0" err="1"/>
              <a:t>setEditable</a:t>
            </a:r>
            <a:r>
              <a:rPr lang="pt-BR" dirty="0"/>
              <a:t>(</a:t>
            </a:r>
            <a:r>
              <a:rPr lang="pt-BR" dirty="0" err="1"/>
              <a:t>boolean</a:t>
            </a:r>
            <a:r>
              <a:rPr lang="pt-BR" dirty="0"/>
              <a:t>) que permite ao usuário digitar uma opção, </a:t>
            </a:r>
            <a:r>
              <a:rPr lang="pt-BR" dirty="0" err="1"/>
              <a:t>getSelectedIndex</a:t>
            </a:r>
            <a:r>
              <a:rPr lang="pt-BR" dirty="0"/>
              <a:t>() que retorna a posição do item atualmente selecionado, </a:t>
            </a:r>
            <a:r>
              <a:rPr lang="pt-BR" dirty="0" err="1"/>
              <a:t>getSelectedItem</a:t>
            </a:r>
            <a:r>
              <a:rPr lang="pt-BR" dirty="0"/>
              <a:t>() que retorna o texto do item atualmente selecionado, </a:t>
            </a:r>
            <a:r>
              <a:rPr lang="pt-BR" dirty="0" err="1"/>
              <a:t>setSelectedIndex</a:t>
            </a:r>
            <a:r>
              <a:rPr lang="pt-BR" dirty="0"/>
              <a:t>(</a:t>
            </a:r>
            <a:r>
              <a:rPr lang="pt-BR" dirty="0" err="1"/>
              <a:t>int</a:t>
            </a:r>
            <a:r>
              <a:rPr lang="pt-BR" dirty="0"/>
              <a:t>) que seleciona o item da posição especificada e </a:t>
            </a:r>
            <a:r>
              <a:rPr lang="pt-BR" dirty="0" err="1"/>
              <a:t>setSelectedIndex</a:t>
            </a:r>
            <a:r>
              <a:rPr lang="pt-BR" dirty="0"/>
              <a:t>(</a:t>
            </a:r>
            <a:r>
              <a:rPr lang="pt-BR" dirty="0" err="1"/>
              <a:t>Object</a:t>
            </a:r>
            <a:r>
              <a:rPr lang="pt-BR" dirty="0"/>
              <a:t>) que seleciona o objeto especificado na lista.</a:t>
            </a:r>
          </a:p>
          <a:p>
            <a:pPr lvl="1"/>
            <a:r>
              <a:rPr lang="pt-BR" b="1" dirty="0" err="1"/>
              <a:t>JList</a:t>
            </a:r>
            <a:r>
              <a:rPr lang="pt-BR" b="1" dirty="0"/>
              <a:t> </a:t>
            </a:r>
            <a:r>
              <a:rPr lang="pt-BR" dirty="0"/>
              <a:t>representa uma lista de opções que permite a seleção de mais de um item simultaneamente. Entre os principais métodos temos o </a:t>
            </a:r>
            <a:r>
              <a:rPr lang="pt-BR" dirty="0" err="1"/>
              <a:t>setListData</a:t>
            </a:r>
            <a:r>
              <a:rPr lang="pt-BR" dirty="0"/>
              <a:t>(</a:t>
            </a:r>
            <a:r>
              <a:rPr lang="pt-BR" dirty="0" err="1"/>
              <a:t>Object</a:t>
            </a:r>
            <a:r>
              <a:rPr lang="pt-BR" dirty="0"/>
              <a:t>[]) que preenche ou altera os itens de uma lista, </a:t>
            </a:r>
            <a:r>
              <a:rPr lang="pt-BR" dirty="0" err="1"/>
              <a:t>getSelectedValues</a:t>
            </a:r>
            <a:r>
              <a:rPr lang="pt-BR" dirty="0"/>
              <a:t>() que retorna um </a:t>
            </a:r>
            <a:r>
              <a:rPr lang="pt-BR" dirty="0" err="1"/>
              <a:t>array</a:t>
            </a:r>
            <a:r>
              <a:rPr lang="pt-BR" dirty="0"/>
              <a:t> de objetos contendo itens selecionados na lista.</a:t>
            </a:r>
          </a:p>
          <a:p>
            <a:pPr lvl="1"/>
            <a:r>
              <a:rPr lang="pt-BR" b="1" dirty="0" err="1"/>
              <a:t>JButton</a:t>
            </a:r>
            <a:r>
              <a:rPr lang="pt-BR" dirty="0"/>
              <a:t> representa um botão destinado a executar uma ação. Entre os principais métodos temos o </a:t>
            </a:r>
            <a:r>
              <a:rPr lang="pt-BR" dirty="0" err="1"/>
              <a:t>setText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) que altera o texto do botão e </a:t>
            </a:r>
            <a:r>
              <a:rPr lang="pt-BR" dirty="0" err="1"/>
              <a:t>setIcon</a:t>
            </a:r>
            <a:r>
              <a:rPr lang="pt-BR" dirty="0"/>
              <a:t>(</a:t>
            </a:r>
            <a:r>
              <a:rPr lang="pt-BR" dirty="0" err="1"/>
              <a:t>Icon</a:t>
            </a:r>
            <a:r>
              <a:rPr lang="pt-BR" dirty="0"/>
              <a:t>) que altera o ícone do botão.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7582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A450B4-3B1F-4248-9CCD-CFC251EF7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Principais componentes do Swing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00B2DF47-D961-4C1A-80BE-8E45105B3D4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259632" y="1806388"/>
            <a:ext cx="6031362" cy="485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118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EA91C8-DEF1-4EAD-8F33-12F4A88BD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Just do it 1/10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4FFF16-A4E0-4227-977A-B1585B1A637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1560" y="1600200"/>
            <a:ext cx="8153400" cy="4495800"/>
          </a:xfrm>
        </p:spPr>
        <p:txBody>
          <a:bodyPr/>
          <a:lstStyle/>
          <a:p>
            <a:r>
              <a:rPr lang="pt-BR" dirty="0"/>
              <a:t>Novo Projeto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5" name="Imagem 4" descr="Tela de celular com publicação numa rede social&#10;&#10;Descrição gerada automaticamente">
            <a:extLst>
              <a:ext uri="{FF2B5EF4-FFF2-40B4-BE49-F238E27FC236}">
                <a16:creationId xmlns:a16="http://schemas.microsoft.com/office/drawing/2014/main" id="{661DB0BE-FF8B-4869-970A-68FD3ADCE9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5" y="2141961"/>
            <a:ext cx="6878010" cy="1562318"/>
          </a:xfrm>
          <a:prstGeom prst="rect">
            <a:avLst/>
          </a:prstGeom>
        </p:spPr>
      </p:pic>
      <p:pic>
        <p:nvPicPr>
          <p:cNvPr id="7" name="Imagem 6" descr="Tela de celular com publicação numa rede social&#10;&#10;Descrição gerada automaticamente">
            <a:extLst>
              <a:ext uri="{FF2B5EF4-FFF2-40B4-BE49-F238E27FC236}">
                <a16:creationId xmlns:a16="http://schemas.microsoft.com/office/drawing/2014/main" id="{86CDE5FA-0361-4584-80E2-1027DC18EF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5" y="3848100"/>
            <a:ext cx="6935168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671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8EEF9B-AF2B-4311-B53F-3B7E3F8F8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Just do it 2/10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80C4426E-AE4E-4387-BF09-AA85F90BEA30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251195" y="1556792"/>
            <a:ext cx="6896100" cy="32004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63F36AE-C619-4FD2-9CBD-CAC1EA480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907" y="3818434"/>
            <a:ext cx="6924675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50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96D8E6-BB68-4CFB-A16C-B34D663A9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Just do it 3/10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ABE5CDAF-4A20-4765-9F9E-78A3A0FAFBC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12775" y="1693912"/>
            <a:ext cx="8153400" cy="430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806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F80FD3-EA4E-4F10-B8F9-538593A6F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Just do it 4/10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3C4300E5-AF8B-41B0-9950-865890C2F83D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67544" y="1556791"/>
            <a:ext cx="3744416" cy="776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661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061D6E-6B53-4615-A8F2-E5E9619F6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Just do it 5/10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1584136-5416-4C17-A7BF-BDF27C99A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772816"/>
            <a:ext cx="7953375" cy="5429250"/>
          </a:xfrm>
          <a:prstGeom prst="rect">
            <a:avLst/>
          </a:prstGeom>
        </p:spPr>
      </p:pic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DC1B0EC6-2F92-4E65-B725-3D91C54F027E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5796136" y="1743075"/>
            <a:ext cx="24384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325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BA0506-8E2D-453C-BA48-5A955A232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Just do it 6/10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62DA9E4D-131F-40DF-8523-9919293181E6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588598" y="1600200"/>
            <a:ext cx="6201753" cy="44958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FA3DE3B-065E-4CD1-B220-ADA5D0794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5123833"/>
            <a:ext cx="773430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59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CBB8E0-D0C3-4F10-AC0E-2CCA3091B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Just do it 7/10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D253759B-56FE-4EA3-BA54-AC6A1D908329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595953" y="1772816"/>
            <a:ext cx="3848100" cy="214312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63259A3-68BE-45B9-8D2A-BB139CC70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953" y="4381634"/>
            <a:ext cx="7834350" cy="113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637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F7AE75-A58C-4E5B-B625-692232A34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Just do it 8/10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774894-F109-48CA-B350-44DD031EC39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Mostrando uma mensagem de alerta</a:t>
            </a:r>
          </a:p>
          <a:p>
            <a:pPr lvl="1"/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JOptionPane.showMessageDialog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, "Minha mensagem!");</a:t>
            </a:r>
          </a:p>
          <a:p>
            <a:r>
              <a:rPr lang="pt-BR" dirty="0">
                <a:latin typeface="+mj-lt"/>
                <a:cs typeface="Courier New" panose="02070309020205020404" pitchFamily="49" charset="0"/>
              </a:rPr>
              <a:t>Dando uma opção Yes/No/</a:t>
            </a:r>
            <a:r>
              <a:rPr lang="pt-BR" dirty="0" err="1">
                <a:latin typeface="+mj-lt"/>
                <a:cs typeface="Courier New" panose="02070309020205020404" pitchFamily="49" charset="0"/>
              </a:rPr>
              <a:t>Cancel</a:t>
            </a:r>
            <a:endParaRPr lang="pt-BR" dirty="0">
              <a:latin typeface="+mj-lt"/>
              <a:cs typeface="Courier New" panose="02070309020205020404" pitchFamily="49" charset="0"/>
            </a:endParaRPr>
          </a:p>
          <a:p>
            <a:pPr lvl="1"/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n =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JOptionPane.showConfirmDialog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, “tem certeza!");</a:t>
            </a:r>
          </a:p>
          <a:p>
            <a:r>
              <a:rPr lang="pt-BR" dirty="0">
                <a:latin typeface="+mj-lt"/>
                <a:cs typeface="Courier New" panose="02070309020205020404" pitchFamily="49" charset="0"/>
              </a:rPr>
              <a:t>Aguardando a entrada de um texto</a:t>
            </a:r>
          </a:p>
          <a:p>
            <a:pPr lvl="1"/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retorno =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JOptionPane.showInputDialog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, "Minha mensagem!");</a:t>
            </a:r>
          </a:p>
        </p:txBody>
      </p:sp>
    </p:spTree>
    <p:extLst>
      <p:ext uri="{BB962C8B-B14F-4D97-AF65-F5344CB8AC3E}">
        <p14:creationId xmlns:p14="http://schemas.microsoft.com/office/powerpoint/2010/main" val="2030700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381EBA-5949-4586-856C-4E5933F96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Just do it 9/10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D3C54A-8144-4CF6-8876-7743AEAC4A0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Trabalhando com listas</a:t>
            </a:r>
          </a:p>
          <a:p>
            <a:pPr lvl="1"/>
            <a:r>
              <a:rPr lang="pt-BR" dirty="0"/>
              <a:t>Adicionando </a:t>
            </a:r>
            <a:r>
              <a:rPr lang="pt-BR" dirty="0" err="1"/>
              <a:t>items</a:t>
            </a:r>
            <a:endParaRPr lang="pt-BR" dirty="0"/>
          </a:p>
          <a:p>
            <a:pPr lvl="2"/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jComboBox1.addItem("Item 1");</a:t>
            </a:r>
          </a:p>
          <a:p>
            <a:pPr lvl="2"/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jComboBox1.addItem("Item 2");</a:t>
            </a:r>
          </a:p>
          <a:p>
            <a:pPr lvl="1"/>
            <a:r>
              <a:rPr lang="pt-BR" dirty="0"/>
              <a:t>Limpando uma lista</a:t>
            </a:r>
          </a:p>
          <a:p>
            <a:pPr lvl="2"/>
            <a:r>
              <a:rPr lang="pt-BR" dirty="0"/>
              <a:t>jComboBox1.removeAll();</a:t>
            </a:r>
          </a:p>
          <a:p>
            <a:pPr lvl="1"/>
            <a:r>
              <a:rPr lang="pt-BR" dirty="0"/>
              <a:t>Pegando o valor selecionado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String teste = jComboBox1.getSelectedItem().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481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C0BEA4-8EAD-40D2-9B7F-A43F2CDF8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Just do it 10/10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71BBDA-9FA5-44D2-BFA8-B30A358E8CD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Chamando outro </a:t>
            </a:r>
            <a:r>
              <a:rPr lang="pt-BR" dirty="0" err="1"/>
              <a:t>jFrame</a:t>
            </a:r>
            <a:endParaRPr lang="pt-BR" dirty="0"/>
          </a:p>
          <a:p>
            <a:pPr lvl="1"/>
            <a:r>
              <a:rPr lang="pt-BR" dirty="0"/>
              <a:t>Janela1 j1 = new Janela1();</a:t>
            </a:r>
          </a:p>
          <a:p>
            <a:pPr lvl="1"/>
            <a:r>
              <a:rPr lang="pt-BR" dirty="0"/>
              <a:t>j1.setVisible(</a:t>
            </a:r>
            <a:r>
              <a:rPr lang="pt-BR" dirty="0" err="1"/>
              <a:t>true</a:t>
            </a:r>
            <a:r>
              <a:rPr lang="pt-BR" dirty="0"/>
              <a:t>);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606629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1019</TotalTime>
  <Words>1051</Words>
  <Application>Microsoft Office PowerPoint</Application>
  <PresentationFormat>Apresentação na tela (4:3)</PresentationFormat>
  <Paragraphs>57</Paragraphs>
  <Slides>19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Courier New</vt:lpstr>
      <vt:lpstr>Tw Cen MT</vt:lpstr>
      <vt:lpstr>Wingdings</vt:lpstr>
      <vt:lpstr>Wingdings 2</vt:lpstr>
      <vt:lpstr>Mediano</vt:lpstr>
      <vt:lpstr>POO</vt:lpstr>
      <vt:lpstr>O que é Javax.swing</vt:lpstr>
      <vt:lpstr>Portabilidade</vt:lpstr>
      <vt:lpstr>Portabilidade</vt:lpstr>
      <vt:lpstr>Componentes</vt:lpstr>
      <vt:lpstr>Apresentação do PowerPoint</vt:lpstr>
      <vt:lpstr>Apresentação do PowerPoint</vt:lpstr>
      <vt:lpstr>Apresentação do PowerPoint</vt:lpstr>
      <vt:lpstr>Principais componentes do Swing</vt:lpstr>
      <vt:lpstr>Just do it 1/10</vt:lpstr>
      <vt:lpstr>Just do it 2/10</vt:lpstr>
      <vt:lpstr>Just do it 3/10</vt:lpstr>
      <vt:lpstr>Just do it 4/10</vt:lpstr>
      <vt:lpstr>Just do it 5/10</vt:lpstr>
      <vt:lpstr>Just do it 6/10</vt:lpstr>
      <vt:lpstr>Just do it 7/10</vt:lpstr>
      <vt:lpstr>Just do it 8/10</vt:lpstr>
      <vt:lpstr>Just do it 9/10</vt:lpstr>
      <vt:lpstr>Just do it 10/10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Fatec</dc:title>
  <dc:creator>Norton Barros Glaser</dc:creator>
  <cp:lastModifiedBy>NORTON BARROS GLASER</cp:lastModifiedBy>
  <cp:revision>117</cp:revision>
  <dcterms:created xsi:type="dcterms:W3CDTF">2014-01-27T15:41:35Z</dcterms:created>
  <dcterms:modified xsi:type="dcterms:W3CDTF">2020-06-18T18:11:07Z</dcterms:modified>
</cp:coreProperties>
</file>