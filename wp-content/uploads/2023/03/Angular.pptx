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93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5383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6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4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33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02605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tângulo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47058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2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A20E653-0566-4C9F-9C5E-BD711EE84646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tângulo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8A0CFE-FAA1-4A46-B5D0-D9FBF1E5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.angular.io/guide/getting-started" TargetMode="Externa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C2E6-38A6-D3DE-634C-3D1DFB8480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913EB-A9E7-8B55-9C5C-0B90C3C2E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7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6C50-3354-2D61-06C3-BD8545CF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047E-6834-B741-629F-C0D1A705BB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Angular é um framework </a:t>
            </a:r>
            <a:r>
              <a:rPr lang="pt-BR" dirty="0" err="1"/>
              <a:t>JavaScript</a:t>
            </a:r>
            <a:r>
              <a:rPr lang="pt-BR" dirty="0"/>
              <a:t> que a construção de </a:t>
            </a:r>
            <a:r>
              <a:rPr lang="pt-BR" dirty="0" err="1"/>
              <a:t>frontend</a:t>
            </a:r>
            <a:r>
              <a:rPr lang="pt-BR" dirty="0"/>
              <a:t> para a web, mobile ou desktop.</a:t>
            </a:r>
          </a:p>
          <a:p>
            <a:r>
              <a:rPr lang="pt-BR" dirty="0"/>
              <a:t>O Angular usa a linguagem </a:t>
            </a:r>
            <a:r>
              <a:rPr lang="pt-BR" dirty="0" err="1"/>
              <a:t>TypeScript</a:t>
            </a:r>
            <a:r>
              <a:rPr lang="pt-BR" dirty="0"/>
              <a:t> que e uma evolução do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ECMAScript</a:t>
            </a:r>
            <a:r>
              <a:rPr lang="pt-BR" dirty="0"/>
              <a:t> 6 (ES6). </a:t>
            </a:r>
          </a:p>
          <a:p>
            <a:r>
              <a:rPr lang="pt-BR" dirty="0"/>
              <a:t>No Angular, permite a implementação de recursos como </a:t>
            </a:r>
            <a:r>
              <a:rPr lang="pt-BR" dirty="0" err="1"/>
              <a:t>templates</a:t>
            </a:r>
            <a:r>
              <a:rPr lang="pt-BR" dirty="0"/>
              <a:t>, encadernação bidirecional, modularização </a:t>
            </a:r>
            <a:r>
              <a:rPr lang="pt-BR" dirty="0" err="1"/>
              <a:t>RESTful</a:t>
            </a:r>
            <a:r>
              <a:rPr lang="pt-BR" dirty="0"/>
              <a:t> API, manipulação Ajax, injeção de dependência e muitos outros recursos tornam o desenvolvimento do seu  aplicativo acessível e compacto.</a:t>
            </a:r>
          </a:p>
          <a:p>
            <a:r>
              <a:rPr lang="pt-BR" dirty="0"/>
              <a:t>O Google tem suporte a longo prazo para o Angular.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5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302D-4DA5-5DD1-5EBC-599841A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2AF6D-FFAF-1731-6531-75BB9F4333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 Node.js é um ambiente de tempo de execução aberto e </a:t>
            </a:r>
            <a:r>
              <a:rPr lang="pt-BR" dirty="0" err="1"/>
              <a:t>multi-plataforma</a:t>
            </a:r>
            <a:r>
              <a:rPr lang="pt-BR" dirty="0"/>
              <a:t> para o desenvolvimento de aplicativos da Web do lado do servidor. 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Node.js é uma tecnologia de servidor que permite que você execute o </a:t>
            </a:r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no servidor e crie aplicações da web no lado do servidor. No entanto, o Angular é uma tecnologia de front-end. Portanto, mesmo que você precise instalar o Node.js em sua máquina de desenvolvimento, é apenas para a execução da CLI.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1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3EF9-35EE-4EB7-F056-CDD6B99E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F50C-83B8-13DB-256E-3E8979FD977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NPM é a sigla para Node </a:t>
            </a:r>
            <a:r>
              <a:rPr lang="pt-BR" dirty="0" err="1"/>
              <a:t>Package</a:t>
            </a:r>
            <a:r>
              <a:rPr lang="pt-BR" dirty="0"/>
              <a:t> Manager (gerenciador de pacotes do Node, em português). </a:t>
            </a:r>
          </a:p>
          <a:p>
            <a:r>
              <a:rPr lang="pt-BR" dirty="0"/>
              <a:t>É um registro para a hospedagem de pacotes do Node. Nos últimos anos, ele também tem sido usado para publicar pacotes de front-</a:t>
            </a:r>
            <a:r>
              <a:rPr lang="pt-BR" dirty="0" err="1"/>
              <a:t>end</a:t>
            </a:r>
            <a:r>
              <a:rPr lang="pt-BR" dirty="0"/>
              <a:t> e bibliotecas como o Angular, o </a:t>
            </a:r>
            <a:r>
              <a:rPr lang="pt-BR" dirty="0" err="1"/>
              <a:t>React</a:t>
            </a:r>
            <a:r>
              <a:rPr lang="pt-BR" dirty="0"/>
              <a:t>, o Vue.js e até mesmo o </a:t>
            </a:r>
            <a:r>
              <a:rPr lang="pt-BR" dirty="0" err="1"/>
              <a:t>Bootstrap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08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4AD9-13B2-C070-A7B3-ED2633B6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x Angular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4E62-7951-7037-6305-0F5AB4690F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pre </a:t>
            </a:r>
            <a:r>
              <a:rPr lang="en-US" dirty="0" err="1"/>
              <a:t>requisito</a:t>
            </a:r>
            <a:r>
              <a:rPr lang="en-US" dirty="0"/>
              <a:t> e </a:t>
            </a:r>
            <a:r>
              <a:rPr lang="en-US" dirty="0" err="1"/>
              <a:t>instalar</a:t>
            </a:r>
            <a:r>
              <a:rPr lang="en-US" dirty="0"/>
              <a:t> o </a:t>
            </a:r>
            <a:r>
              <a:rPr lang="en-US" dirty="0" err="1"/>
              <a:t>o</a:t>
            </a:r>
            <a:r>
              <a:rPr lang="en-US" dirty="0"/>
              <a:t> </a:t>
            </a:r>
            <a:r>
              <a:rPr lang="en-US" dirty="0" err="1"/>
              <a:t>nodejs</a:t>
            </a:r>
            <a:r>
              <a:rPr lang="en-US" dirty="0"/>
              <a:t> : </a:t>
            </a:r>
            <a:r>
              <a:rPr lang="en-US" dirty="0">
                <a:hlinkClick r:id="rId2"/>
              </a:rPr>
              <a:t>https://nodejs.org/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Graphical user interface, text, application, website&#10;&#10;Description automatically generated">
            <a:extLst>
              <a:ext uri="{FF2B5EF4-FFF2-40B4-BE49-F238E27FC236}">
                <a16:creationId xmlns:a16="http://schemas.microsoft.com/office/drawing/2014/main" id="{761D59C3-E1FA-3C56-AC20-CF87D1A32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535" y="2478133"/>
            <a:ext cx="8533951" cy="355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5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C768-4016-24D6-F278-6CF6A4E4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24BEF-F14F-83E6-0C6B-B13FF4CA7D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Angular CLI é a ferramenta oficial para inicializar e trabalhar com projetos em Angular. Ela evita a inconveniência das configurações complexas e das ferramentas de build, como </a:t>
            </a:r>
            <a:r>
              <a:rPr lang="pt-BR" dirty="0" err="1"/>
              <a:t>TypeScript</a:t>
            </a:r>
            <a:r>
              <a:rPr lang="pt-BR" dirty="0"/>
              <a:t>, </a:t>
            </a:r>
            <a:r>
              <a:rPr lang="pt-BR" dirty="0" err="1"/>
              <a:t>Webpack</a:t>
            </a:r>
            <a:r>
              <a:rPr lang="pt-BR" dirty="0"/>
              <a:t> e assim por diante.</a:t>
            </a:r>
          </a:p>
          <a:p>
            <a:endParaRPr lang="pt-BR" dirty="0"/>
          </a:p>
          <a:p>
            <a:r>
              <a:rPr lang="en-US" dirty="0">
                <a:highlight>
                  <a:srgbClr val="FFFF00"/>
                </a:highlight>
              </a:rPr>
              <a:t>$ </a:t>
            </a:r>
            <a:r>
              <a:rPr lang="en-US" dirty="0" err="1">
                <a:highlight>
                  <a:srgbClr val="FFFF00"/>
                </a:highlight>
              </a:rPr>
              <a:t>npm</a:t>
            </a:r>
            <a:r>
              <a:rPr lang="en-US" dirty="0">
                <a:highlight>
                  <a:srgbClr val="FFFF00"/>
                </a:highlight>
              </a:rPr>
              <a:t> install @angular/cli</a:t>
            </a:r>
          </a:p>
        </p:txBody>
      </p:sp>
    </p:spTree>
    <p:extLst>
      <p:ext uri="{BB962C8B-B14F-4D97-AF65-F5344CB8AC3E}">
        <p14:creationId xmlns:p14="http://schemas.microsoft.com/office/powerpoint/2010/main" val="322183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C18-87E3-CEAB-C477-CB4B2939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9140-9DDB-6AC8-B749-2E881A33C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Depois de instalar a Angular CLI, você pode executar diversos comandos. Comecemos conferindo a versão instalada da CLI: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ng version</a:t>
            </a:r>
          </a:p>
          <a:p>
            <a:r>
              <a:rPr lang="pt-BR" dirty="0"/>
              <a:t>Um segundo comando que talvez você queira executar é o comando help, que ajudará a obter uma lista de comandos a serem usados: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$ ng help</a:t>
            </a:r>
          </a:p>
        </p:txBody>
      </p:sp>
    </p:spTree>
    <p:extLst>
      <p:ext uri="{BB962C8B-B14F-4D97-AF65-F5344CB8AC3E}">
        <p14:creationId xmlns:p14="http://schemas.microsoft.com/office/powerpoint/2010/main" val="90952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C18-87E3-CEAB-C477-CB4B2939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9140-9DDB-6AC8-B749-2E881A33C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>
                <a:highlight>
                  <a:srgbClr val="FFFF00"/>
                </a:highlight>
              </a:rPr>
              <a:t>add</a:t>
            </a:r>
            <a:r>
              <a:rPr lang="pt-BR" dirty="0">
                <a:highlight>
                  <a:srgbClr val="FFFF00"/>
                </a:highlight>
              </a:rPr>
              <a:t>:</a:t>
            </a:r>
            <a:r>
              <a:rPr lang="pt-BR" dirty="0"/>
              <a:t> adiciona suporte a uma biblioteca externa em seu projeto.</a:t>
            </a:r>
          </a:p>
          <a:p>
            <a:r>
              <a:rPr lang="pt-BR" dirty="0">
                <a:highlight>
                  <a:srgbClr val="FFFF00"/>
                </a:highlight>
              </a:rPr>
              <a:t>build (b)</a:t>
            </a:r>
            <a:r>
              <a:rPr lang="pt-BR" dirty="0"/>
              <a:t>: compila uma aplicação do Angular em seu diretório de saída, chamado </a:t>
            </a:r>
            <a:r>
              <a:rPr lang="pt-BR" dirty="0" err="1"/>
              <a:t>dist</a:t>
            </a:r>
            <a:r>
              <a:rPr lang="pt-BR" dirty="0"/>
              <a:t>/ no caminho de saída fornecido. Este comando deve ser executado dentro de um diretório de espaço de trabalho.</a:t>
            </a:r>
          </a:p>
          <a:p>
            <a:r>
              <a:rPr lang="pt-BR" dirty="0" err="1">
                <a:highlight>
                  <a:srgbClr val="FFFF00"/>
                </a:highlight>
              </a:rPr>
              <a:t>config</a:t>
            </a:r>
            <a:r>
              <a:rPr lang="pt-BR" dirty="0">
                <a:highlight>
                  <a:srgbClr val="FFFF00"/>
                </a:highlight>
              </a:rPr>
              <a:t>:</a:t>
            </a:r>
            <a:r>
              <a:rPr lang="pt-BR" dirty="0"/>
              <a:t> obtém ou configura os valores de configuração do Angular.</a:t>
            </a:r>
          </a:p>
          <a:p>
            <a:r>
              <a:rPr lang="pt-BR" dirty="0" err="1">
                <a:highlight>
                  <a:srgbClr val="FFFF00"/>
                </a:highlight>
              </a:rPr>
              <a:t>doc</a:t>
            </a:r>
            <a:r>
              <a:rPr lang="pt-BR" dirty="0">
                <a:highlight>
                  <a:srgbClr val="FFFF00"/>
                </a:highlight>
              </a:rPr>
              <a:t> (d):</a:t>
            </a:r>
            <a:r>
              <a:rPr lang="pt-BR" dirty="0"/>
              <a:t> abre a documentação oficial do Angular (angular.io) em um navegador, buscando uma palavra-chave determinada.</a:t>
            </a:r>
          </a:p>
          <a:p>
            <a:r>
              <a:rPr lang="pt-BR" dirty="0">
                <a:highlight>
                  <a:srgbClr val="FFFF00"/>
                </a:highlight>
              </a:rPr>
              <a:t>e2e (e):</a:t>
            </a:r>
            <a:r>
              <a:rPr lang="pt-BR" dirty="0"/>
              <a:t> faz o build e serve uma aplicação do Angular, depois executa testes de ponta a ponta usando o </a:t>
            </a:r>
            <a:r>
              <a:rPr lang="pt-BR" dirty="0" err="1"/>
              <a:t>Protractor</a:t>
            </a:r>
            <a:r>
              <a:rPr lang="pt-BR" dirty="0"/>
              <a:t>.</a:t>
            </a:r>
          </a:p>
          <a:p>
            <a:r>
              <a:rPr lang="pt-BR" dirty="0" err="1">
                <a:highlight>
                  <a:srgbClr val="FFFF00"/>
                </a:highlight>
              </a:rPr>
              <a:t>generate</a:t>
            </a:r>
            <a:r>
              <a:rPr lang="pt-BR" dirty="0">
                <a:highlight>
                  <a:srgbClr val="FFFF00"/>
                </a:highlight>
              </a:rPr>
              <a:t> (g): </a:t>
            </a:r>
            <a:r>
              <a:rPr lang="pt-BR" dirty="0"/>
              <a:t>gera e/ou modifica arquivos com base em um esquema.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734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0552-775D-4EA8-6DB0-49D40A0B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Angular CLI?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28267-EB70-989F-91FD-64D990BCD6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highlight>
                  <a:srgbClr val="FFFF00"/>
                </a:highlight>
              </a:rPr>
              <a:t>help: </a:t>
            </a:r>
            <a:r>
              <a:rPr lang="pt-BR" dirty="0"/>
              <a:t>lista os comandos disponíveis e suas descrições breves.</a:t>
            </a:r>
          </a:p>
          <a:p>
            <a:r>
              <a:rPr lang="pt-BR" dirty="0" err="1">
                <a:highlight>
                  <a:srgbClr val="FFFF00"/>
                </a:highlight>
              </a:rPr>
              <a:t>lint</a:t>
            </a:r>
            <a:r>
              <a:rPr lang="pt-BR" dirty="0">
                <a:highlight>
                  <a:srgbClr val="FFFF00"/>
                </a:highlight>
              </a:rPr>
              <a:t> (l): </a:t>
            </a:r>
            <a:r>
              <a:rPr lang="pt-BR" dirty="0"/>
              <a:t>executa as ferramentas de </a:t>
            </a:r>
            <a:r>
              <a:rPr lang="pt-BR" dirty="0" err="1"/>
              <a:t>linting</a:t>
            </a:r>
            <a:r>
              <a:rPr lang="pt-BR" dirty="0"/>
              <a:t> no código da aplicação em Angular em uma determinada pasta de projeto.</a:t>
            </a:r>
          </a:p>
          <a:p>
            <a:r>
              <a:rPr lang="pt-BR" dirty="0">
                <a:highlight>
                  <a:srgbClr val="FFFF00"/>
                </a:highlight>
              </a:rPr>
              <a:t>new (n): </a:t>
            </a:r>
            <a:r>
              <a:rPr lang="pt-BR" dirty="0"/>
              <a:t>cria um espaço de trabalho e uma aplicação inicial em Angular.</a:t>
            </a:r>
          </a:p>
          <a:p>
            <a:r>
              <a:rPr lang="pt-BR" dirty="0" err="1">
                <a:highlight>
                  <a:srgbClr val="FFFF00"/>
                </a:highlight>
              </a:rPr>
              <a:t>run</a:t>
            </a:r>
            <a:r>
              <a:rPr lang="pt-BR" dirty="0">
                <a:highlight>
                  <a:srgbClr val="FFFF00"/>
                </a:highlight>
              </a:rPr>
              <a:t>: </a:t>
            </a:r>
            <a:r>
              <a:rPr lang="pt-BR" dirty="0"/>
              <a:t>executa um destino personalizado definido em seu projeto.</a:t>
            </a:r>
          </a:p>
          <a:p>
            <a:r>
              <a:rPr lang="pt-BR" dirty="0">
                <a:highlight>
                  <a:srgbClr val="FFFF00"/>
                </a:highlight>
              </a:rPr>
              <a:t>serve </a:t>
            </a:r>
            <a:r>
              <a:rPr lang="pt-BR" dirty="0"/>
              <a:t>(s): faz o build e serve sua aplicação, fazendo um novo build a cada alteração de arquivos.</a:t>
            </a:r>
          </a:p>
          <a:p>
            <a:r>
              <a:rPr lang="pt-BR" dirty="0" err="1">
                <a:highlight>
                  <a:srgbClr val="FFFF00"/>
                </a:highlight>
              </a:rPr>
              <a:t>test</a:t>
            </a:r>
            <a:r>
              <a:rPr lang="pt-BR" dirty="0">
                <a:highlight>
                  <a:srgbClr val="FFFF00"/>
                </a:highlight>
              </a:rPr>
              <a:t> </a:t>
            </a:r>
            <a:r>
              <a:rPr lang="pt-BR" dirty="0"/>
              <a:t>(t): executa os testes unitários em um projeto.</a:t>
            </a:r>
          </a:p>
          <a:p>
            <a:r>
              <a:rPr lang="pt-BR" dirty="0">
                <a:highlight>
                  <a:srgbClr val="FFFF00"/>
                </a:highlight>
              </a:rPr>
              <a:t>update:</a:t>
            </a:r>
            <a:r>
              <a:rPr lang="pt-BR" dirty="0"/>
              <a:t> atualiza sua aplicação e suas dependências. Consulte  https://update.angular.io/ (em inglês)</a:t>
            </a:r>
          </a:p>
          <a:p>
            <a:r>
              <a:rPr lang="pt-BR" dirty="0" err="1">
                <a:highlight>
                  <a:srgbClr val="FFFF00"/>
                </a:highlight>
              </a:rPr>
              <a:t>version</a:t>
            </a:r>
            <a:r>
              <a:rPr lang="pt-BR" dirty="0">
                <a:highlight>
                  <a:srgbClr val="FFFF00"/>
                </a:highlight>
              </a:rPr>
              <a:t> (v): </a:t>
            </a:r>
            <a:r>
              <a:rPr lang="pt-BR" dirty="0"/>
              <a:t>mostra a versão da Angular CLI.</a:t>
            </a:r>
          </a:p>
          <a:p>
            <a:r>
              <a:rPr lang="pt-BR" dirty="0">
                <a:highlight>
                  <a:srgbClr val="FFFF00"/>
                </a:highlight>
              </a:rPr>
              <a:t>xi18n: </a:t>
            </a:r>
            <a:r>
              <a:rPr lang="pt-BR" dirty="0"/>
              <a:t>extrai as mensagens i18n do código-fonte.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9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1698-82A3-E966-5504-9AAC3044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6D6C3-87A0-215D-69EA-4B9BFF28DD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Usando</a:t>
            </a:r>
            <a:r>
              <a:rPr lang="en-US" dirty="0"/>
              <a:t> o terminal do </a:t>
            </a:r>
            <a:r>
              <a:rPr lang="en-US" dirty="0" err="1"/>
              <a:t>vscode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node –v</a:t>
            </a:r>
          </a:p>
          <a:p>
            <a:pPr lvl="1"/>
            <a:endParaRPr lang="en-US" dirty="0"/>
          </a:p>
          <a:p>
            <a:r>
              <a:rPr lang="en-US" dirty="0"/>
              <a:t>Agora </a:t>
            </a:r>
            <a:r>
              <a:rPr lang="en-US" dirty="0" err="1"/>
              <a:t>instalando</a:t>
            </a:r>
            <a:r>
              <a:rPr lang="en-US" dirty="0"/>
              <a:t> o angular cli: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 –g @angular/cli</a:t>
            </a:r>
          </a:p>
          <a:p>
            <a:pPr lvl="1"/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testarmos</a:t>
            </a:r>
            <a:r>
              <a:rPr lang="en-US" dirty="0"/>
              <a:t> se </a:t>
            </a:r>
            <a:r>
              <a:rPr lang="en-US" dirty="0" err="1"/>
              <a:t>deu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certo</a:t>
            </a:r>
            <a:endParaRPr lang="en-US" dirty="0"/>
          </a:p>
          <a:p>
            <a:pPr lvl="1"/>
            <a:r>
              <a:rPr lang="en-US" dirty="0"/>
              <a:t>Ng --version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1EFD5442-64C4-205E-A5FD-F825467E9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485" y="2127983"/>
            <a:ext cx="5149159" cy="1997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421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02CD-6292-9AA9-0FD2-9C7DA51F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novo </a:t>
            </a:r>
            <a:r>
              <a:rPr lang="en-US" dirty="0" err="1"/>
              <a:t>projeto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871F-8676-2A35-A37A-75C928C3F3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Crie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nova pasta, exe: pw08 e </a:t>
            </a:r>
            <a:r>
              <a:rPr lang="en-US" dirty="0" err="1"/>
              <a:t>acesse</a:t>
            </a:r>
            <a:r>
              <a:rPr lang="en-US" dirty="0"/>
              <a:t> o </a:t>
            </a:r>
            <a:r>
              <a:rPr lang="en-US" dirty="0" err="1"/>
              <a:t>diretorio</a:t>
            </a:r>
            <a:endParaRPr lang="en-US" dirty="0"/>
          </a:p>
          <a:p>
            <a:pPr lvl="1"/>
            <a:r>
              <a:rPr lang="en-US" dirty="0"/>
              <a:t>Ng  new </a:t>
            </a:r>
            <a:r>
              <a:rPr lang="en-US" dirty="0" err="1"/>
              <a:t>pweb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Responda</a:t>
            </a:r>
            <a:r>
              <a:rPr lang="en-US" dirty="0"/>
              <a:t> as </a:t>
            </a:r>
            <a:r>
              <a:rPr lang="en-US" dirty="0" err="1"/>
              <a:t>perguntas</a:t>
            </a:r>
            <a:r>
              <a:rPr lang="en-US" dirty="0"/>
              <a:t> e </a:t>
            </a:r>
            <a:r>
              <a:rPr lang="en-US" dirty="0" err="1"/>
              <a:t>espere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do </a:t>
            </a:r>
            <a:r>
              <a:rPr lang="en-US" dirty="0" err="1"/>
              <a:t>projeto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Abra</a:t>
            </a:r>
            <a:r>
              <a:rPr lang="en-US" dirty="0"/>
              <a:t> o </a:t>
            </a:r>
            <a:r>
              <a:rPr lang="en-US" dirty="0" err="1"/>
              <a:t>diretorio</a:t>
            </a:r>
            <a:r>
              <a:rPr lang="en-US" dirty="0"/>
              <a:t> no VSCODE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86E703DF-7B31-0429-6285-35F26E2DF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700" y="4001294"/>
            <a:ext cx="5275100" cy="2110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327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9345-7F72-03B0-1A90-F512E9E5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Rodando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73B44-915E-E346-50CA-21A81C5C3F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 terminal do </a:t>
            </a:r>
            <a:r>
              <a:rPr lang="en-US" dirty="0" err="1"/>
              <a:t>vscode</a:t>
            </a:r>
            <a:r>
              <a:rPr lang="en-US" dirty="0"/>
              <a:t>, execute:</a:t>
            </a:r>
          </a:p>
          <a:p>
            <a:pPr lvl="1"/>
            <a:r>
              <a:rPr lang="en-US" dirty="0"/>
              <a:t>Ng serve</a:t>
            </a:r>
          </a:p>
          <a:p>
            <a:r>
              <a:rPr lang="en-US" dirty="0" err="1"/>
              <a:t>Acesse</a:t>
            </a:r>
            <a:r>
              <a:rPr lang="en-US" dirty="0"/>
              <a:t> o </a:t>
            </a:r>
            <a:r>
              <a:rPr lang="en-US" dirty="0" err="1"/>
              <a:t>navegador</a:t>
            </a:r>
            <a:r>
              <a:rPr lang="en-US" dirty="0"/>
              <a:t> no </a:t>
            </a:r>
            <a:r>
              <a:rPr lang="en-US" dirty="0" err="1"/>
              <a:t>endereço</a:t>
            </a:r>
            <a:endParaRPr lang="en-US" dirty="0"/>
          </a:p>
          <a:p>
            <a:pPr lvl="1"/>
            <a:r>
              <a:rPr lang="en-US" dirty="0"/>
              <a:t>http://localhost:4200</a:t>
            </a:r>
          </a:p>
          <a:p>
            <a:pPr lvl="1"/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CB234EF-966B-F4AC-985D-5A2D76A02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947" y="869111"/>
            <a:ext cx="3587934" cy="17780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7DFCD7-5F72-A439-737E-96EA0A86A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002" y="3249247"/>
            <a:ext cx="4569879" cy="316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1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951526AC-A353-791A-807E-EA294EC75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05" y="3429000"/>
            <a:ext cx="4615093" cy="30241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9B7FF-37B3-7B26-5EDF-6D4F827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E3ACA-320D-F910-77A5-5E1581963A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biblioteca</a:t>
            </a:r>
            <a:r>
              <a:rPr lang="en-US" dirty="0"/>
              <a:t> de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visuais</a:t>
            </a:r>
            <a:r>
              <a:rPr lang="en-US" dirty="0"/>
              <a:t> para </a:t>
            </a:r>
            <a:r>
              <a:rPr lang="en-US" dirty="0" err="1"/>
              <a:t>complementar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https://material.angular.io/guide/getting-started</a:t>
            </a:r>
            <a:endParaRPr lang="en-US" dirty="0"/>
          </a:p>
          <a:p>
            <a:pPr lvl="1"/>
            <a:endParaRPr lang="en-US" dirty="0"/>
          </a:p>
          <a:p>
            <a:pPr algn="r"/>
            <a:r>
              <a:rPr lang="en-US" dirty="0"/>
              <a:t>Para </a:t>
            </a:r>
            <a:r>
              <a:rPr lang="en-US" dirty="0" err="1"/>
              <a:t>instalar</a:t>
            </a:r>
            <a:r>
              <a:rPr lang="en-US" dirty="0"/>
              <a:t> no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 rode o </a:t>
            </a:r>
            <a:r>
              <a:rPr lang="en-US" dirty="0" err="1"/>
              <a:t>comando</a:t>
            </a:r>
            <a:r>
              <a:rPr lang="en-US" dirty="0"/>
              <a:t>:</a:t>
            </a:r>
          </a:p>
          <a:p>
            <a:pPr lvl="1" algn="r"/>
            <a:r>
              <a:rPr lang="en-US" dirty="0"/>
              <a:t>ng add @angular/material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51C5BC0-A803-C3D8-16A0-0C2134EA2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099" y="4329018"/>
            <a:ext cx="4356324" cy="18479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7132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48EF-A3E5-BFB2-8275-0C3559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E48BB-0A7D-9DD8-FBBC-E11EE79FC7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documentação</a:t>
            </a:r>
            <a:r>
              <a:rPr lang="en-US" dirty="0"/>
              <a:t> do materials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selecionar</a:t>
            </a:r>
            <a:r>
              <a:rPr lang="en-US" dirty="0"/>
              <a:t> um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precisamos</a:t>
            </a:r>
            <a:r>
              <a:rPr lang="en-US" dirty="0"/>
              <a:t> </a:t>
            </a:r>
            <a:r>
              <a:rPr lang="en-US" dirty="0" err="1"/>
              <a:t>pegar</a:t>
            </a:r>
            <a:r>
              <a:rPr lang="en-US" dirty="0"/>
              <a:t> o import para </a:t>
            </a:r>
            <a:r>
              <a:rPr lang="en-US" dirty="0" err="1"/>
              <a:t>adicionar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estrutura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5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5BD3BD75-AE1E-093F-BF64-C57D28356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94" y="2865660"/>
            <a:ext cx="4268927" cy="3611340"/>
          </a:xfrm>
          <a:prstGeom prst="rect">
            <a:avLst/>
          </a:prstGeom>
        </p:spPr>
      </p:pic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F7735D-1A6B-5C84-36AD-C6893A0E5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244" y="2865660"/>
            <a:ext cx="4095961" cy="2705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562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48EF-A3E5-BFB2-8275-0C3559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211544-BA33-A7BA-34F9-62B49352A50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84864" y="1901858"/>
            <a:ext cx="2071327" cy="44958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749969-A003-C50A-EBC4-84A647F63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476" y="1724025"/>
            <a:ext cx="71056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CF4E-DF63-FCE1-5807-85EFC478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o angular materials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DA4C27-32BD-48AC-DE76-F25FD14F79A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96353" y="1831157"/>
            <a:ext cx="2762250" cy="3581400"/>
          </a:xfr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D7F5E30-FA35-3ECE-E0CB-E76A40BD0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049" y="4104487"/>
            <a:ext cx="7385048" cy="849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247405-473D-94DE-06FE-AEFDC2867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049" y="1831157"/>
            <a:ext cx="6572250" cy="2085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64128A-A472-17ED-5782-66927A23F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522" y="4697986"/>
            <a:ext cx="4219575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227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F171-1371-36DF-4B04-6BC0CC12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novo modulo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FF7A-F58A-8722-A9A1-160660577CD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angular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modulos</a:t>
            </a:r>
            <a:r>
              <a:rPr lang="en-US" dirty="0"/>
              <a:t> </a:t>
            </a:r>
            <a:r>
              <a:rPr lang="en-US" dirty="0" err="1"/>
              <a:t>personalizados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reutilizados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ng g m </a:t>
            </a:r>
            <a:r>
              <a:rPr lang="en-US" dirty="0" err="1"/>
              <a:t>categorias</a:t>
            </a:r>
            <a:r>
              <a:rPr lang="en-US" dirty="0"/>
              <a:t> --routing</a:t>
            </a:r>
          </a:p>
          <a:p>
            <a:pPr lvl="2"/>
            <a:r>
              <a:rPr lang="en-US" dirty="0"/>
              <a:t>G – generate</a:t>
            </a:r>
          </a:p>
          <a:p>
            <a:pPr lvl="2"/>
            <a:r>
              <a:rPr lang="en-US" dirty="0"/>
              <a:t>M – modules</a:t>
            </a:r>
          </a:p>
          <a:p>
            <a:pPr lvl="2"/>
            <a:r>
              <a:rPr lang="en-US" dirty="0"/>
              <a:t>Routing – para </a:t>
            </a:r>
            <a:r>
              <a:rPr lang="en-US" dirty="0" err="1"/>
              <a:t>criar</a:t>
            </a:r>
            <a:r>
              <a:rPr lang="en-US" dirty="0"/>
              <a:t> o </a:t>
            </a:r>
            <a:r>
              <a:rPr lang="en-US" dirty="0" err="1"/>
              <a:t>roteamento</a:t>
            </a:r>
            <a:endParaRPr lang="en-US" dirty="0"/>
          </a:p>
          <a:p>
            <a:pPr marL="685800" lvl="2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561EE-CC54-BAE6-0B30-15AAE823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6" y="5028511"/>
            <a:ext cx="9574662" cy="1221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E89CD-F9E5-B8B1-BFF5-683F3B487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880" y="2324100"/>
            <a:ext cx="2781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F171-1371-36DF-4B04-6BC0CC12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Criando</a:t>
            </a:r>
            <a:r>
              <a:rPr lang="en-US" dirty="0"/>
              <a:t> um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do modulo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EFF7A-F58A-8722-A9A1-160660577CD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 angular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criação</a:t>
            </a:r>
            <a:r>
              <a:rPr lang="en-US" dirty="0"/>
              <a:t> de </a:t>
            </a:r>
            <a:r>
              <a:rPr lang="en-US" dirty="0" err="1"/>
              <a:t>modulos</a:t>
            </a:r>
            <a:r>
              <a:rPr lang="en-US" dirty="0"/>
              <a:t> </a:t>
            </a:r>
            <a:r>
              <a:rPr lang="en-US" dirty="0" err="1"/>
              <a:t>personalizados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reutilizados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ng g c </a:t>
            </a:r>
            <a:r>
              <a:rPr lang="en-US" dirty="0" err="1"/>
              <a:t>categorias</a:t>
            </a:r>
            <a:r>
              <a:rPr lang="en-US" dirty="0"/>
              <a:t>/</a:t>
            </a:r>
            <a:r>
              <a:rPr lang="en-US" dirty="0" err="1"/>
              <a:t>categoria</a:t>
            </a:r>
            <a:endParaRPr lang="en-US" dirty="0"/>
          </a:p>
          <a:p>
            <a:pPr lvl="2"/>
            <a:r>
              <a:rPr lang="en-US" dirty="0"/>
              <a:t>G – generate</a:t>
            </a:r>
          </a:p>
          <a:p>
            <a:pPr lvl="2"/>
            <a:r>
              <a:rPr lang="en-US" dirty="0"/>
              <a:t>c – component</a:t>
            </a:r>
          </a:p>
          <a:p>
            <a:pPr marL="685800" lvl="2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3143DF97-DE79-0D11-1FA1-CD9B175F6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42" y="4676235"/>
            <a:ext cx="8823824" cy="16114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D65E3-88AA-F743-B059-7155A5BD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900" y="2238375"/>
            <a:ext cx="2695575" cy="3219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308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8363-DC7A-2543-8A47-652C8DA2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 dirty="0"/>
              <a:t> no modulo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0C537-5C2D-93DA-A1F2-39E13B29922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59226" y="1804790"/>
            <a:ext cx="3625884" cy="3002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612BD-DF0C-2354-4BDE-1BBE14E9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398" y="2083520"/>
            <a:ext cx="6096000" cy="2724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366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8363-DC7A-2543-8A47-652C8DA2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 dirty="0"/>
              <a:t> global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E345C4-9396-9F22-09B9-CB27F424C68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1406" y="1961168"/>
            <a:ext cx="3028950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59E798-CC4B-F8FE-A8FE-6B197CFAE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037" y="1961169"/>
            <a:ext cx="7850450" cy="3742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620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4B8F-260B-A4E0-A930-F2DDC6C7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Adicionando</a:t>
            </a:r>
            <a:r>
              <a:rPr lang="en-US" dirty="0"/>
              <a:t> a </a:t>
            </a:r>
            <a:r>
              <a:rPr lang="en-US" dirty="0" err="1"/>
              <a:t>rota</a:t>
            </a:r>
            <a:r>
              <a:rPr lang="en-US"/>
              <a:t> na</a:t>
            </a:r>
            <a:r>
              <a:rPr lang="en-US" dirty="0"/>
              <a:t> </a:t>
            </a:r>
            <a:r>
              <a:rPr lang="en-US" dirty="0" err="1"/>
              <a:t>página</a:t>
            </a:r>
            <a:r>
              <a:rPr lang="en-US" dirty="0"/>
              <a:t> principal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B10B-83E0-E062-C052-5663E1D306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Ng serve</a:t>
            </a:r>
          </a:p>
        </p:txBody>
      </p:sp>
    </p:spTree>
    <p:extLst>
      <p:ext uri="{BB962C8B-B14F-4D97-AF65-F5344CB8AC3E}">
        <p14:creationId xmlns:p14="http://schemas.microsoft.com/office/powerpoint/2010/main" val="2489842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683B6F-1DC0-4815-8775-D31A41FDA130}" vid="{8BCAC7A7-7F5A-4411-9EB9-EC7DF12EA9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2718</TotalTime>
  <Words>902</Words>
  <Application>Microsoft Office PowerPoint</Application>
  <PresentationFormat>Widescreen</PresentationFormat>
  <Paragraphs>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Tw Cen MT</vt:lpstr>
      <vt:lpstr>Wingdings</vt:lpstr>
      <vt:lpstr>Wingdings 2</vt:lpstr>
      <vt:lpstr>Theme1</vt:lpstr>
      <vt:lpstr>Angular</vt:lpstr>
      <vt:lpstr>O que é</vt:lpstr>
      <vt:lpstr>Nodejs x Angular</vt:lpstr>
      <vt:lpstr>Nodejs x Angular</vt:lpstr>
      <vt:lpstr>Nodejs x Angular</vt:lpstr>
      <vt:lpstr>O que é a Angular CLI?</vt:lpstr>
      <vt:lpstr>O que é a Angular CLI?</vt:lpstr>
      <vt:lpstr>O que é a Angular CLI?</vt:lpstr>
      <vt:lpstr>O que é a Angular CLI?</vt:lpstr>
      <vt:lpstr>Criando Ambiente</vt:lpstr>
      <vt:lpstr>Criando um novo projeto</vt:lpstr>
      <vt:lpstr>Rodando a aplicação</vt:lpstr>
      <vt:lpstr>Adicionando o angular materials</vt:lpstr>
      <vt:lpstr>Adicionando o angular materials</vt:lpstr>
      <vt:lpstr>Adicionando o angular materials</vt:lpstr>
      <vt:lpstr>Adicionando o angular materials</vt:lpstr>
      <vt:lpstr>Criando um novo modulo</vt:lpstr>
      <vt:lpstr>Criando um componente dentro do modulo</vt:lpstr>
      <vt:lpstr>Adicionando a rota no modulo</vt:lpstr>
      <vt:lpstr>Adicionando a rota global</vt:lpstr>
      <vt:lpstr>Adicionando a rota na página principal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</dc:title>
  <dc:creator>Glaser, Norton Barros</dc:creator>
  <cp:lastModifiedBy>Glaser, Norton Barros</cp:lastModifiedBy>
  <cp:revision>33</cp:revision>
  <dcterms:created xsi:type="dcterms:W3CDTF">2023-03-22T22:28:09Z</dcterms:created>
  <dcterms:modified xsi:type="dcterms:W3CDTF">2023-03-24T19:46:30Z</dcterms:modified>
</cp:coreProperties>
</file>