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7DBA09E-5A1D-42DE-B2D9-D516496DC058}" type="datetimeFigureOut">
              <a:rPr lang="pt-BR" smtClean="0"/>
              <a:pPr/>
              <a:t>05/08/2013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Algoritmos – Aula 3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Operadores Relacionais e </a:t>
            </a:r>
            <a:r>
              <a:rPr lang="pt-BR" dirty="0" smtClean="0"/>
              <a:t>Lógicos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Expressões Lógicas</a:t>
            </a:r>
            <a:br>
              <a:rPr lang="pt-BR" sz="3600" dirty="0">
                <a:solidFill>
                  <a:schemeClr val="accent1">
                    <a:satMod val="150000"/>
                  </a:schemeClr>
                </a:solidFill>
              </a:rPr>
            </a:b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2017713"/>
            <a:ext cx="8343900" cy="1627187"/>
          </a:xfrm>
        </p:spPr>
        <p:txBody>
          <a:bodyPr/>
          <a:lstStyle/>
          <a:p>
            <a:pPr algn="just" eaLnBrk="1" hangingPunct="1"/>
            <a:r>
              <a:rPr lang="pt-BR" sz="2400" smtClean="0"/>
              <a:t>Denomina-se </a:t>
            </a:r>
            <a:r>
              <a:rPr lang="pt-BR" sz="2400" b="1" smtClean="0">
                <a:solidFill>
                  <a:srgbClr val="FF0000"/>
                </a:solidFill>
              </a:rPr>
              <a:t>expressão lógica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aquela cujos </a:t>
            </a:r>
            <a:r>
              <a:rPr lang="pt-BR" sz="2400" b="1" smtClean="0">
                <a:solidFill>
                  <a:srgbClr val="FF0000"/>
                </a:solidFill>
              </a:rPr>
              <a:t>operadores</a:t>
            </a:r>
            <a:r>
              <a:rPr lang="pt-BR" sz="2400" smtClean="0"/>
              <a:t> são </a:t>
            </a:r>
            <a:r>
              <a:rPr lang="pt-BR" sz="2400" b="1" smtClean="0">
                <a:solidFill>
                  <a:srgbClr val="FF0000"/>
                </a:solidFill>
              </a:rPr>
              <a:t>lógicos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e/ou </a:t>
            </a:r>
            <a:r>
              <a:rPr lang="pt-BR" sz="2400" b="1" smtClean="0">
                <a:solidFill>
                  <a:srgbClr val="FF0000"/>
                </a:solidFill>
              </a:rPr>
              <a:t>relacionais</a:t>
            </a:r>
            <a:r>
              <a:rPr lang="pt-BR" sz="2400" smtClean="0"/>
              <a:t> e cujos </a:t>
            </a:r>
            <a:r>
              <a:rPr lang="pt-BR" sz="2400" b="1" smtClean="0">
                <a:solidFill>
                  <a:srgbClr val="FF0000"/>
                </a:solidFill>
              </a:rPr>
              <a:t>operandos</a:t>
            </a:r>
            <a:r>
              <a:rPr lang="pt-BR" sz="2400" smtClean="0"/>
              <a:t> são </a:t>
            </a:r>
            <a:r>
              <a:rPr lang="pt-BR" sz="2400" b="1" smtClean="0">
                <a:solidFill>
                  <a:srgbClr val="FF0000"/>
                </a:solidFill>
              </a:rPr>
              <a:t>relações</a:t>
            </a:r>
            <a:r>
              <a:rPr lang="pt-BR" sz="2400" smtClean="0"/>
              <a:t> e/ou </a:t>
            </a:r>
            <a:r>
              <a:rPr lang="pt-BR" sz="2400" b="1" smtClean="0">
                <a:solidFill>
                  <a:srgbClr val="FF0000"/>
                </a:solidFill>
              </a:rPr>
              <a:t>variáveis</a:t>
            </a:r>
            <a:r>
              <a:rPr lang="pt-BR" sz="2400" smtClean="0"/>
              <a:t> e/ou </a:t>
            </a:r>
            <a:r>
              <a:rPr lang="pt-BR" sz="2400" b="1" smtClean="0">
                <a:solidFill>
                  <a:srgbClr val="FF0000"/>
                </a:solidFill>
              </a:rPr>
              <a:t>constantes do tipo lógico</a:t>
            </a:r>
            <a:r>
              <a:rPr lang="pt-BR" sz="2400" smtClean="0"/>
              <a:t>.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755650" y="4005263"/>
            <a:ext cx="7272338" cy="2303462"/>
            <a:chOff x="476" y="2523"/>
            <a:chExt cx="4581" cy="1451"/>
          </a:xfrm>
        </p:grpSpPr>
        <p:sp>
          <p:nvSpPr>
            <p:cNvPr id="28677" name="Rectangle 5"/>
            <p:cNvSpPr>
              <a:spLocks noChangeArrowheads="1"/>
            </p:cNvSpPr>
            <p:nvPr/>
          </p:nvSpPr>
          <p:spPr bwMode="auto">
            <a:xfrm>
              <a:off x="2018" y="2613"/>
              <a:ext cx="1089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78" name="Rectangle 6"/>
            <p:cNvSpPr>
              <a:spLocks noChangeArrowheads="1"/>
            </p:cNvSpPr>
            <p:nvPr/>
          </p:nvSpPr>
          <p:spPr bwMode="auto">
            <a:xfrm>
              <a:off x="3379" y="2613"/>
              <a:ext cx="1089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79" name="Rectangle 7"/>
            <p:cNvSpPr>
              <a:spLocks noChangeArrowheads="1"/>
            </p:cNvSpPr>
            <p:nvPr/>
          </p:nvSpPr>
          <p:spPr bwMode="auto">
            <a:xfrm>
              <a:off x="3152" y="3202"/>
              <a:ext cx="1270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80" name="Rectangle 8"/>
            <p:cNvSpPr>
              <a:spLocks noChangeArrowheads="1"/>
            </p:cNvSpPr>
            <p:nvPr/>
          </p:nvSpPr>
          <p:spPr bwMode="auto">
            <a:xfrm>
              <a:off x="3152" y="3475"/>
              <a:ext cx="1270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81" name="Rectangle 9"/>
            <p:cNvSpPr>
              <a:spLocks noChangeArrowheads="1"/>
            </p:cNvSpPr>
            <p:nvPr/>
          </p:nvSpPr>
          <p:spPr bwMode="auto">
            <a:xfrm>
              <a:off x="3152" y="3747"/>
              <a:ext cx="1270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82" name="AutoShape 10"/>
            <p:cNvSpPr>
              <a:spLocks noChangeArrowheads="1"/>
            </p:cNvSpPr>
            <p:nvPr/>
          </p:nvSpPr>
          <p:spPr bwMode="auto">
            <a:xfrm>
              <a:off x="2200" y="3474"/>
              <a:ext cx="317" cy="18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83" name="Line 11"/>
            <p:cNvSpPr>
              <a:spLocks noChangeShapeType="1"/>
            </p:cNvSpPr>
            <p:nvPr/>
          </p:nvSpPr>
          <p:spPr bwMode="auto">
            <a:xfrm>
              <a:off x="3107" y="27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4423" y="3293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5" name="Line 13"/>
            <p:cNvSpPr>
              <a:spLocks noChangeShapeType="1"/>
            </p:cNvSpPr>
            <p:nvPr/>
          </p:nvSpPr>
          <p:spPr bwMode="auto">
            <a:xfrm>
              <a:off x="4423" y="356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6" name="Line 15"/>
            <p:cNvSpPr>
              <a:spLocks noChangeShapeType="1"/>
            </p:cNvSpPr>
            <p:nvPr/>
          </p:nvSpPr>
          <p:spPr bwMode="auto">
            <a:xfrm>
              <a:off x="2926" y="356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7" name="Line 16"/>
            <p:cNvSpPr>
              <a:spLocks noChangeShapeType="1"/>
            </p:cNvSpPr>
            <p:nvPr/>
          </p:nvSpPr>
          <p:spPr bwMode="auto">
            <a:xfrm>
              <a:off x="2926" y="383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8" name="Line 17"/>
            <p:cNvSpPr>
              <a:spLocks noChangeShapeType="1"/>
            </p:cNvSpPr>
            <p:nvPr/>
          </p:nvSpPr>
          <p:spPr bwMode="auto">
            <a:xfrm>
              <a:off x="1973" y="356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9" name="Line 18"/>
            <p:cNvSpPr>
              <a:spLocks noChangeShapeType="1"/>
            </p:cNvSpPr>
            <p:nvPr/>
          </p:nvSpPr>
          <p:spPr bwMode="auto">
            <a:xfrm>
              <a:off x="1746" y="3293"/>
              <a:ext cx="131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0" name="Line 19"/>
            <p:cNvSpPr>
              <a:spLocks noChangeShapeType="1"/>
            </p:cNvSpPr>
            <p:nvPr/>
          </p:nvSpPr>
          <p:spPr bwMode="auto">
            <a:xfrm flipV="1">
              <a:off x="1973" y="329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1" name="Line 20"/>
            <p:cNvSpPr>
              <a:spLocks noChangeShapeType="1"/>
            </p:cNvSpPr>
            <p:nvPr/>
          </p:nvSpPr>
          <p:spPr bwMode="auto">
            <a:xfrm>
              <a:off x="2517" y="356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2" name="Line 21"/>
            <p:cNvSpPr>
              <a:spLocks noChangeShapeType="1"/>
            </p:cNvSpPr>
            <p:nvPr/>
          </p:nvSpPr>
          <p:spPr bwMode="auto">
            <a:xfrm flipV="1">
              <a:off x="2653" y="329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3" name="Line 22"/>
            <p:cNvSpPr>
              <a:spLocks noChangeShapeType="1"/>
            </p:cNvSpPr>
            <p:nvPr/>
          </p:nvSpPr>
          <p:spPr bwMode="auto">
            <a:xfrm flipV="1">
              <a:off x="2926" y="3293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4" name="Line 24"/>
            <p:cNvSpPr>
              <a:spLocks noChangeShapeType="1"/>
            </p:cNvSpPr>
            <p:nvPr/>
          </p:nvSpPr>
          <p:spPr bwMode="auto">
            <a:xfrm flipV="1">
              <a:off x="4650" y="3293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5" name="Line 25"/>
            <p:cNvSpPr>
              <a:spLocks noChangeShapeType="1"/>
            </p:cNvSpPr>
            <p:nvPr/>
          </p:nvSpPr>
          <p:spPr bwMode="auto">
            <a:xfrm flipH="1">
              <a:off x="4423" y="383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6" name="Line 26"/>
            <p:cNvSpPr>
              <a:spLocks noChangeShapeType="1"/>
            </p:cNvSpPr>
            <p:nvPr/>
          </p:nvSpPr>
          <p:spPr bwMode="auto">
            <a:xfrm>
              <a:off x="4468" y="270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7" name="Line 27"/>
            <p:cNvSpPr>
              <a:spLocks noChangeShapeType="1"/>
            </p:cNvSpPr>
            <p:nvPr/>
          </p:nvSpPr>
          <p:spPr bwMode="auto">
            <a:xfrm flipV="1">
              <a:off x="4649" y="252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8" name="Line 28"/>
            <p:cNvSpPr>
              <a:spLocks noChangeShapeType="1"/>
            </p:cNvSpPr>
            <p:nvPr/>
          </p:nvSpPr>
          <p:spPr bwMode="auto">
            <a:xfrm flipH="1">
              <a:off x="1837" y="2523"/>
              <a:ext cx="28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9" name="Line 29"/>
            <p:cNvSpPr>
              <a:spLocks noChangeShapeType="1"/>
            </p:cNvSpPr>
            <p:nvPr/>
          </p:nvSpPr>
          <p:spPr bwMode="auto">
            <a:xfrm>
              <a:off x="1837" y="252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0" name="Line 30"/>
            <p:cNvSpPr>
              <a:spLocks noChangeShapeType="1"/>
            </p:cNvSpPr>
            <p:nvPr/>
          </p:nvSpPr>
          <p:spPr bwMode="auto">
            <a:xfrm>
              <a:off x="1655" y="2704"/>
              <a:ext cx="31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1" name="Line 31"/>
            <p:cNvSpPr>
              <a:spLocks noChangeShapeType="1"/>
            </p:cNvSpPr>
            <p:nvPr/>
          </p:nvSpPr>
          <p:spPr bwMode="auto">
            <a:xfrm>
              <a:off x="3243" y="270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2" name="Line 33"/>
            <p:cNvSpPr>
              <a:spLocks noChangeShapeType="1"/>
            </p:cNvSpPr>
            <p:nvPr/>
          </p:nvSpPr>
          <p:spPr bwMode="auto">
            <a:xfrm>
              <a:off x="3243" y="2931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3" name="Line 34"/>
            <p:cNvSpPr>
              <a:spLocks noChangeShapeType="1"/>
            </p:cNvSpPr>
            <p:nvPr/>
          </p:nvSpPr>
          <p:spPr bwMode="auto">
            <a:xfrm flipV="1">
              <a:off x="4876" y="270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4" name="Line 35"/>
            <p:cNvSpPr>
              <a:spLocks noChangeShapeType="1"/>
            </p:cNvSpPr>
            <p:nvPr/>
          </p:nvSpPr>
          <p:spPr bwMode="auto">
            <a:xfrm>
              <a:off x="4876" y="270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5" name="Text Box 40"/>
            <p:cNvSpPr txBox="1">
              <a:spLocks noChangeArrowheads="1"/>
            </p:cNvSpPr>
            <p:nvPr/>
          </p:nvSpPr>
          <p:spPr bwMode="auto">
            <a:xfrm>
              <a:off x="2064" y="2613"/>
              <a:ext cx="10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operando lógico</a:t>
              </a:r>
            </a:p>
          </p:txBody>
        </p:sp>
        <p:sp>
          <p:nvSpPr>
            <p:cNvPr id="28706" name="Text Box 41"/>
            <p:cNvSpPr txBox="1">
              <a:spLocks noChangeArrowheads="1"/>
            </p:cNvSpPr>
            <p:nvPr/>
          </p:nvSpPr>
          <p:spPr bwMode="auto">
            <a:xfrm>
              <a:off x="3425" y="2613"/>
              <a:ext cx="10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operador lógico</a:t>
              </a:r>
            </a:p>
          </p:txBody>
        </p:sp>
        <p:sp>
          <p:nvSpPr>
            <p:cNvPr id="28707" name="Text Box 42"/>
            <p:cNvSpPr txBox="1">
              <a:spLocks noChangeArrowheads="1"/>
            </p:cNvSpPr>
            <p:nvPr/>
          </p:nvSpPr>
          <p:spPr bwMode="auto">
            <a:xfrm>
              <a:off x="3288" y="3203"/>
              <a:ext cx="10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constante lógica</a:t>
              </a:r>
            </a:p>
          </p:txBody>
        </p:sp>
        <p:sp>
          <p:nvSpPr>
            <p:cNvPr id="28708" name="Text Box 43"/>
            <p:cNvSpPr txBox="1">
              <a:spLocks noChangeArrowheads="1"/>
            </p:cNvSpPr>
            <p:nvPr/>
          </p:nvSpPr>
          <p:spPr bwMode="auto">
            <a:xfrm>
              <a:off x="3334" y="3475"/>
              <a:ext cx="99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variável lógica</a:t>
              </a:r>
            </a:p>
          </p:txBody>
        </p:sp>
        <p:sp>
          <p:nvSpPr>
            <p:cNvPr id="28709" name="Text Box 44"/>
            <p:cNvSpPr txBox="1">
              <a:spLocks noChangeArrowheads="1"/>
            </p:cNvSpPr>
            <p:nvPr/>
          </p:nvSpPr>
          <p:spPr bwMode="auto">
            <a:xfrm>
              <a:off x="3152" y="3747"/>
              <a:ext cx="127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expressão relacional</a:t>
              </a:r>
            </a:p>
          </p:txBody>
        </p:sp>
        <p:sp>
          <p:nvSpPr>
            <p:cNvPr id="28710" name="Text Box 45"/>
            <p:cNvSpPr txBox="1">
              <a:spLocks noChangeArrowheads="1"/>
            </p:cNvSpPr>
            <p:nvPr/>
          </p:nvSpPr>
          <p:spPr bwMode="auto">
            <a:xfrm>
              <a:off x="2200" y="3444"/>
              <a:ext cx="4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não</a:t>
              </a:r>
            </a:p>
          </p:txBody>
        </p:sp>
        <p:sp>
          <p:nvSpPr>
            <p:cNvPr id="28711" name="Text Box 46"/>
            <p:cNvSpPr txBox="1">
              <a:spLocks noChangeArrowheads="1"/>
            </p:cNvSpPr>
            <p:nvPr/>
          </p:nvSpPr>
          <p:spPr bwMode="auto">
            <a:xfrm>
              <a:off x="476" y="2568"/>
              <a:ext cx="124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expressão lógica</a:t>
              </a:r>
            </a:p>
          </p:txBody>
        </p:sp>
        <p:sp>
          <p:nvSpPr>
            <p:cNvPr id="28712" name="Text Box 47"/>
            <p:cNvSpPr txBox="1">
              <a:spLocks noChangeArrowheads="1"/>
            </p:cNvSpPr>
            <p:nvPr/>
          </p:nvSpPr>
          <p:spPr bwMode="auto">
            <a:xfrm>
              <a:off x="612" y="3172"/>
              <a:ext cx="124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operando lógico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Operadores Relacionais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750" y="2017713"/>
            <a:ext cx="8415338" cy="1627187"/>
          </a:xfrm>
        </p:spPr>
        <p:txBody>
          <a:bodyPr/>
          <a:lstStyle/>
          <a:p>
            <a:pPr algn="just" eaLnBrk="1" hangingPunct="1"/>
            <a:r>
              <a:rPr lang="pt-BR" sz="2400" smtClean="0"/>
              <a:t>Os </a:t>
            </a:r>
            <a:r>
              <a:rPr lang="pt-BR" sz="2400" b="1" smtClean="0">
                <a:solidFill>
                  <a:srgbClr val="FF0000"/>
                </a:solidFill>
              </a:rPr>
              <a:t>operadores relacionais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são utilizados para realizar </a:t>
            </a:r>
            <a:r>
              <a:rPr lang="pt-BR" sz="2400" b="1" smtClean="0">
                <a:solidFill>
                  <a:srgbClr val="FF0000"/>
                </a:solidFill>
              </a:rPr>
              <a:t>comparações</a:t>
            </a:r>
            <a:r>
              <a:rPr lang="pt-BR" sz="2400" smtClean="0"/>
              <a:t> entre </a:t>
            </a:r>
            <a:r>
              <a:rPr lang="pt-BR" sz="2400" b="1" smtClean="0">
                <a:solidFill>
                  <a:srgbClr val="FF0000"/>
                </a:solidFill>
              </a:rPr>
              <a:t>dois valores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(constantes, variáveis ou expressões aritméticas) de </a:t>
            </a:r>
            <a:r>
              <a:rPr lang="pt-BR" sz="2400" b="1" smtClean="0">
                <a:solidFill>
                  <a:srgbClr val="FF0000"/>
                </a:solidFill>
              </a:rPr>
              <a:t>mesmo tipo primitivo</a:t>
            </a:r>
            <a:r>
              <a:rPr lang="pt-BR" sz="2400" smtClean="0"/>
              <a:t>.</a:t>
            </a:r>
          </a:p>
          <a:p>
            <a:pPr algn="just" eaLnBrk="1" hangingPunct="1"/>
            <a:endParaRPr lang="pt-BR" sz="2400" smtClean="0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8400" y="3716338"/>
            <a:ext cx="2016125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395288" y="5661025"/>
            <a:ext cx="8640762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400"/>
              <a:t>O </a:t>
            </a:r>
            <a:r>
              <a:rPr lang="pt-BR" sz="2400" b="1">
                <a:solidFill>
                  <a:srgbClr val="FF0000"/>
                </a:solidFill>
              </a:rPr>
              <a:t>resultado</a:t>
            </a:r>
            <a:r>
              <a:rPr lang="pt-BR" sz="2400"/>
              <a:t> obtido de uma </a:t>
            </a:r>
            <a:r>
              <a:rPr lang="pt-BR" sz="2400" b="1">
                <a:solidFill>
                  <a:srgbClr val="FF0000"/>
                </a:solidFill>
              </a:rPr>
              <a:t>expressão relacional</a:t>
            </a:r>
            <a:r>
              <a:rPr lang="pt-BR" sz="2400">
                <a:solidFill>
                  <a:srgbClr val="FF0000"/>
                </a:solidFill>
              </a:rPr>
              <a:t> </a:t>
            </a:r>
            <a:r>
              <a:rPr lang="pt-BR" sz="2400"/>
              <a:t>é sempre um valor </a:t>
            </a:r>
            <a:r>
              <a:rPr lang="pt-BR" sz="2400" b="1">
                <a:solidFill>
                  <a:srgbClr val="FF0000"/>
                </a:solidFill>
              </a:rPr>
              <a:t>lógico</a:t>
            </a:r>
            <a:r>
              <a:rPr lang="pt-BR" sz="24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Operadores Lógicos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4213" y="2017713"/>
            <a:ext cx="8270875" cy="547687"/>
          </a:xfrm>
        </p:spPr>
        <p:txBody>
          <a:bodyPr/>
          <a:lstStyle/>
          <a:p>
            <a:pPr eaLnBrk="1" hangingPunct="1"/>
            <a:r>
              <a:rPr lang="pt-BR" sz="2400" smtClean="0"/>
              <a:t>Os operadores lógicos mais utilizados são: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4075" y="2636838"/>
            <a:ext cx="4176713" cy="187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Comando de Atribuição</a:t>
            </a:r>
            <a:br>
              <a:rPr lang="pt-BR" sz="3600" dirty="0">
                <a:solidFill>
                  <a:schemeClr val="accent1">
                    <a:satMod val="150000"/>
                  </a:schemeClr>
                </a:solidFill>
              </a:rPr>
            </a:b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95288" y="2017713"/>
            <a:ext cx="8559800" cy="1698625"/>
          </a:xfrm>
        </p:spPr>
        <p:txBody>
          <a:bodyPr/>
          <a:lstStyle/>
          <a:p>
            <a:pPr algn="just" eaLnBrk="1" hangingPunct="1"/>
            <a:r>
              <a:rPr lang="pt-BR" sz="2400" smtClean="0"/>
              <a:t>Permite-nos fornecer um </a:t>
            </a:r>
            <a:r>
              <a:rPr lang="pt-BR" sz="2400" b="1" smtClean="0">
                <a:solidFill>
                  <a:srgbClr val="FF0000"/>
                </a:solidFill>
              </a:rPr>
              <a:t>valor</a:t>
            </a:r>
            <a:r>
              <a:rPr lang="pt-BR" sz="2400" smtClean="0"/>
              <a:t> a uma certa </a:t>
            </a:r>
            <a:r>
              <a:rPr lang="pt-BR" sz="2400" b="1" smtClean="0">
                <a:solidFill>
                  <a:srgbClr val="FF0000"/>
                </a:solidFill>
              </a:rPr>
              <a:t>variável</a:t>
            </a:r>
            <a:r>
              <a:rPr lang="pt-BR" sz="2400" smtClean="0"/>
              <a:t>, onde o tipo dessa informação deve ser </a:t>
            </a:r>
            <a:r>
              <a:rPr lang="pt-BR" sz="2400" b="1" smtClean="0">
                <a:solidFill>
                  <a:srgbClr val="FF0000"/>
                </a:solidFill>
              </a:rPr>
              <a:t>compatível</a:t>
            </a:r>
            <a:r>
              <a:rPr lang="pt-BR" sz="2400" smtClean="0"/>
              <a:t> com o tipo da variável.</a:t>
            </a:r>
          </a:p>
          <a:p>
            <a:pPr algn="just" eaLnBrk="1" hangingPunct="1"/>
            <a:r>
              <a:rPr lang="pt-BR" sz="2400" smtClean="0"/>
              <a:t>O comando da atribuição possui a seguinte sintaxe: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179388" y="3933825"/>
            <a:ext cx="6481762" cy="1728788"/>
            <a:chOff x="113" y="2478"/>
            <a:chExt cx="4083" cy="1089"/>
          </a:xfrm>
        </p:grpSpPr>
        <p:sp>
          <p:nvSpPr>
            <p:cNvPr id="31750" name="Rectangle 4"/>
            <p:cNvSpPr>
              <a:spLocks noChangeArrowheads="1"/>
            </p:cNvSpPr>
            <p:nvPr/>
          </p:nvSpPr>
          <p:spPr bwMode="auto">
            <a:xfrm>
              <a:off x="1292" y="2524"/>
              <a:ext cx="817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1" name="Rectangle 5"/>
            <p:cNvSpPr>
              <a:spLocks noChangeArrowheads="1"/>
            </p:cNvSpPr>
            <p:nvPr/>
          </p:nvSpPr>
          <p:spPr bwMode="auto">
            <a:xfrm>
              <a:off x="2790" y="2524"/>
              <a:ext cx="7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2" name="Oval 6"/>
            <p:cNvSpPr>
              <a:spLocks noChangeArrowheads="1"/>
            </p:cNvSpPr>
            <p:nvPr/>
          </p:nvSpPr>
          <p:spPr bwMode="auto">
            <a:xfrm>
              <a:off x="2245" y="2524"/>
              <a:ext cx="408" cy="2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3" name="Oval 7"/>
            <p:cNvSpPr>
              <a:spLocks noChangeArrowheads="1"/>
            </p:cNvSpPr>
            <p:nvPr/>
          </p:nvSpPr>
          <p:spPr bwMode="auto">
            <a:xfrm>
              <a:off x="3697" y="2524"/>
              <a:ext cx="181" cy="2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4" name="Rectangle 8"/>
            <p:cNvSpPr>
              <a:spLocks noChangeArrowheads="1"/>
            </p:cNvSpPr>
            <p:nvPr/>
          </p:nvSpPr>
          <p:spPr bwMode="auto">
            <a:xfrm>
              <a:off x="1292" y="3069"/>
              <a:ext cx="1361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5" name="Rectangle 9"/>
            <p:cNvSpPr>
              <a:spLocks noChangeArrowheads="1"/>
            </p:cNvSpPr>
            <p:nvPr/>
          </p:nvSpPr>
          <p:spPr bwMode="auto">
            <a:xfrm>
              <a:off x="1292" y="3341"/>
              <a:ext cx="1361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6" name="Line 10"/>
            <p:cNvSpPr>
              <a:spLocks noChangeShapeType="1"/>
            </p:cNvSpPr>
            <p:nvPr/>
          </p:nvSpPr>
          <p:spPr bwMode="auto">
            <a:xfrm>
              <a:off x="2109" y="261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57" name="Line 11"/>
            <p:cNvSpPr>
              <a:spLocks noChangeShapeType="1"/>
            </p:cNvSpPr>
            <p:nvPr/>
          </p:nvSpPr>
          <p:spPr bwMode="auto">
            <a:xfrm>
              <a:off x="2653" y="261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58" name="Line 12"/>
            <p:cNvSpPr>
              <a:spLocks noChangeShapeType="1"/>
            </p:cNvSpPr>
            <p:nvPr/>
          </p:nvSpPr>
          <p:spPr bwMode="auto">
            <a:xfrm>
              <a:off x="3515" y="261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59" name="Line 13"/>
            <p:cNvSpPr>
              <a:spLocks noChangeShapeType="1"/>
            </p:cNvSpPr>
            <p:nvPr/>
          </p:nvSpPr>
          <p:spPr bwMode="auto">
            <a:xfrm>
              <a:off x="3878" y="261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0" name="Line 15"/>
            <p:cNvSpPr>
              <a:spLocks noChangeShapeType="1"/>
            </p:cNvSpPr>
            <p:nvPr/>
          </p:nvSpPr>
          <p:spPr bwMode="auto">
            <a:xfrm>
              <a:off x="884" y="2614"/>
              <a:ext cx="31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1" name="Line 16"/>
            <p:cNvSpPr>
              <a:spLocks noChangeShapeType="1"/>
            </p:cNvSpPr>
            <p:nvPr/>
          </p:nvSpPr>
          <p:spPr bwMode="auto">
            <a:xfrm>
              <a:off x="884" y="3159"/>
              <a:ext cx="31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2" name="Line 17"/>
            <p:cNvSpPr>
              <a:spLocks noChangeShapeType="1"/>
            </p:cNvSpPr>
            <p:nvPr/>
          </p:nvSpPr>
          <p:spPr bwMode="auto">
            <a:xfrm>
              <a:off x="2653" y="315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3" name="Line 18"/>
            <p:cNvSpPr>
              <a:spLocks noChangeShapeType="1"/>
            </p:cNvSpPr>
            <p:nvPr/>
          </p:nvSpPr>
          <p:spPr bwMode="auto">
            <a:xfrm>
              <a:off x="1065" y="3431"/>
              <a:ext cx="2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4" name="Line 19"/>
            <p:cNvSpPr>
              <a:spLocks noChangeShapeType="1"/>
            </p:cNvSpPr>
            <p:nvPr/>
          </p:nvSpPr>
          <p:spPr bwMode="auto">
            <a:xfrm flipV="1">
              <a:off x="1065" y="315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5" name="Line 20"/>
            <p:cNvSpPr>
              <a:spLocks noChangeShapeType="1"/>
            </p:cNvSpPr>
            <p:nvPr/>
          </p:nvSpPr>
          <p:spPr bwMode="auto">
            <a:xfrm>
              <a:off x="2654" y="3431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6" name="Line 21"/>
            <p:cNvSpPr>
              <a:spLocks noChangeShapeType="1"/>
            </p:cNvSpPr>
            <p:nvPr/>
          </p:nvSpPr>
          <p:spPr bwMode="auto">
            <a:xfrm flipV="1">
              <a:off x="2835" y="315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7" name="Line 22"/>
            <p:cNvSpPr>
              <a:spLocks noChangeShapeType="1"/>
            </p:cNvSpPr>
            <p:nvPr/>
          </p:nvSpPr>
          <p:spPr bwMode="auto">
            <a:xfrm flipH="1">
              <a:off x="2336" y="2614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8" name="Text Box 23"/>
            <p:cNvSpPr txBox="1">
              <a:spLocks noChangeArrowheads="1"/>
            </p:cNvSpPr>
            <p:nvPr/>
          </p:nvSpPr>
          <p:spPr bwMode="auto">
            <a:xfrm>
              <a:off x="1292" y="2524"/>
              <a:ext cx="81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identificador</a:t>
              </a:r>
            </a:p>
          </p:txBody>
        </p:sp>
        <p:sp>
          <p:nvSpPr>
            <p:cNvPr id="31769" name="Text Box 26"/>
            <p:cNvSpPr txBox="1">
              <a:spLocks noChangeArrowheads="1"/>
            </p:cNvSpPr>
            <p:nvPr/>
          </p:nvSpPr>
          <p:spPr bwMode="auto">
            <a:xfrm>
              <a:off x="2789" y="2524"/>
              <a:ext cx="72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expressão</a:t>
              </a:r>
            </a:p>
          </p:txBody>
        </p:sp>
        <p:sp>
          <p:nvSpPr>
            <p:cNvPr id="31770" name="Text Box 27"/>
            <p:cNvSpPr txBox="1">
              <a:spLocks noChangeArrowheads="1"/>
            </p:cNvSpPr>
            <p:nvPr/>
          </p:nvSpPr>
          <p:spPr bwMode="auto">
            <a:xfrm>
              <a:off x="3696" y="2493"/>
              <a:ext cx="1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;</a:t>
              </a:r>
            </a:p>
          </p:txBody>
        </p:sp>
        <p:sp>
          <p:nvSpPr>
            <p:cNvPr id="31771" name="Text Box 28"/>
            <p:cNvSpPr txBox="1">
              <a:spLocks noChangeArrowheads="1"/>
            </p:cNvSpPr>
            <p:nvPr/>
          </p:nvSpPr>
          <p:spPr bwMode="auto">
            <a:xfrm>
              <a:off x="1338" y="3068"/>
              <a:ext cx="131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expressão aritmética</a:t>
              </a:r>
            </a:p>
          </p:txBody>
        </p:sp>
        <p:sp>
          <p:nvSpPr>
            <p:cNvPr id="31772" name="Text Box 29"/>
            <p:cNvSpPr txBox="1">
              <a:spLocks noChangeArrowheads="1"/>
            </p:cNvSpPr>
            <p:nvPr/>
          </p:nvSpPr>
          <p:spPr bwMode="auto">
            <a:xfrm>
              <a:off x="1428" y="3340"/>
              <a:ext cx="131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expressão lógica</a:t>
              </a:r>
            </a:p>
          </p:txBody>
        </p:sp>
        <p:sp>
          <p:nvSpPr>
            <p:cNvPr id="31773" name="Text Box 30"/>
            <p:cNvSpPr txBox="1">
              <a:spLocks noChangeArrowheads="1"/>
            </p:cNvSpPr>
            <p:nvPr/>
          </p:nvSpPr>
          <p:spPr bwMode="auto">
            <a:xfrm>
              <a:off x="113" y="2478"/>
              <a:ext cx="81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atribuição</a:t>
              </a:r>
            </a:p>
          </p:txBody>
        </p:sp>
        <p:sp>
          <p:nvSpPr>
            <p:cNvPr id="31774" name="Text Box 31"/>
            <p:cNvSpPr txBox="1">
              <a:spLocks noChangeArrowheads="1"/>
            </p:cNvSpPr>
            <p:nvPr/>
          </p:nvSpPr>
          <p:spPr bwMode="auto">
            <a:xfrm>
              <a:off x="113" y="3022"/>
              <a:ext cx="77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expressão</a:t>
              </a:r>
            </a:p>
          </p:txBody>
        </p:sp>
      </p:grpSp>
      <p:sp>
        <p:nvSpPr>
          <p:cNvPr id="31749" name="Rectangle 32"/>
          <p:cNvSpPr>
            <a:spLocks noChangeArrowheads="1"/>
          </p:cNvSpPr>
          <p:nvPr/>
        </p:nvSpPr>
        <p:spPr bwMode="auto">
          <a:xfrm>
            <a:off x="4859338" y="4508500"/>
            <a:ext cx="4111625" cy="213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400"/>
              <a:t>Exemplo: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/>
              <a:t>			lógico: A, B;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/>
              <a:t>			inteiro: X;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/>
              <a:t>			A </a:t>
            </a:r>
            <a:r>
              <a:rPr lang="pt-BR" sz="1600">
                <a:sym typeface="Wingdings" pitchFamily="2" charset="2"/>
              </a:rPr>
              <a:t> verdadeiro;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>
                <a:sym typeface="Wingdings" pitchFamily="2" charset="2"/>
              </a:rPr>
              <a:t>			X  8 + 13 div 5;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>
                <a:sym typeface="Wingdings" pitchFamily="2" charset="2"/>
              </a:rPr>
              <a:t>			B  5 = 3;</a:t>
            </a:r>
            <a:endParaRPr lang="pt-BR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Comandos de Entrada e Saída</a:t>
            </a:r>
            <a:br>
              <a:rPr lang="pt-BR" sz="3600" dirty="0">
                <a:solidFill>
                  <a:schemeClr val="accent1">
                    <a:satMod val="150000"/>
                  </a:schemeClr>
                </a:solidFill>
              </a:rPr>
            </a:b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82688" y="2060575"/>
            <a:ext cx="7772400" cy="547688"/>
          </a:xfrm>
        </p:spPr>
        <p:txBody>
          <a:bodyPr/>
          <a:lstStyle/>
          <a:p>
            <a:pPr eaLnBrk="1" hangingPunct="1"/>
            <a:r>
              <a:rPr lang="pt-BR" sz="2400" smtClean="0"/>
              <a:t>Sintaxe do comando da </a:t>
            </a:r>
            <a:r>
              <a:rPr lang="pt-BR" sz="2400" b="1" smtClean="0">
                <a:solidFill>
                  <a:srgbClr val="FF0000"/>
                </a:solidFill>
              </a:rPr>
              <a:t>entrada de dados</a:t>
            </a:r>
            <a:r>
              <a:rPr lang="pt-BR" sz="2400" smtClean="0"/>
              <a:t>: 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828675" y="3141663"/>
            <a:ext cx="7199313" cy="1008062"/>
            <a:chOff x="522" y="1979"/>
            <a:chExt cx="4535" cy="635"/>
          </a:xfrm>
        </p:grpSpPr>
        <p:sp>
          <p:nvSpPr>
            <p:cNvPr id="32774" name="AutoShape 5"/>
            <p:cNvSpPr>
              <a:spLocks noChangeArrowheads="1"/>
            </p:cNvSpPr>
            <p:nvPr/>
          </p:nvSpPr>
          <p:spPr bwMode="auto">
            <a:xfrm>
              <a:off x="2156" y="2024"/>
              <a:ext cx="453" cy="22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75" name="Oval 6"/>
            <p:cNvSpPr>
              <a:spLocks noChangeArrowheads="1"/>
            </p:cNvSpPr>
            <p:nvPr/>
          </p:nvSpPr>
          <p:spPr bwMode="auto">
            <a:xfrm>
              <a:off x="2926" y="2023"/>
              <a:ext cx="182" cy="2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76" name="Rectangle 10"/>
            <p:cNvSpPr>
              <a:spLocks noChangeArrowheads="1"/>
            </p:cNvSpPr>
            <p:nvPr/>
          </p:nvSpPr>
          <p:spPr bwMode="auto">
            <a:xfrm>
              <a:off x="3289" y="1979"/>
              <a:ext cx="726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77" name="Line 11"/>
            <p:cNvSpPr>
              <a:spLocks noChangeShapeType="1"/>
            </p:cNvSpPr>
            <p:nvPr/>
          </p:nvSpPr>
          <p:spPr bwMode="auto">
            <a:xfrm>
              <a:off x="1793" y="2115"/>
              <a:ext cx="317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78" name="Line 12"/>
            <p:cNvSpPr>
              <a:spLocks noChangeShapeType="1"/>
            </p:cNvSpPr>
            <p:nvPr/>
          </p:nvSpPr>
          <p:spPr bwMode="auto">
            <a:xfrm>
              <a:off x="2609" y="2115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79" name="Line 13"/>
            <p:cNvSpPr>
              <a:spLocks noChangeShapeType="1"/>
            </p:cNvSpPr>
            <p:nvPr/>
          </p:nvSpPr>
          <p:spPr bwMode="auto">
            <a:xfrm>
              <a:off x="3108" y="211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0" name="Line 14"/>
            <p:cNvSpPr>
              <a:spLocks noChangeShapeType="1"/>
            </p:cNvSpPr>
            <p:nvPr/>
          </p:nvSpPr>
          <p:spPr bwMode="auto">
            <a:xfrm>
              <a:off x="4015" y="211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1" name="Line 15"/>
            <p:cNvSpPr>
              <a:spLocks noChangeShapeType="1"/>
            </p:cNvSpPr>
            <p:nvPr/>
          </p:nvSpPr>
          <p:spPr bwMode="auto">
            <a:xfrm>
              <a:off x="4377" y="2115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2" name="Line 16"/>
            <p:cNvSpPr>
              <a:spLocks noChangeShapeType="1"/>
            </p:cNvSpPr>
            <p:nvPr/>
          </p:nvSpPr>
          <p:spPr bwMode="auto">
            <a:xfrm>
              <a:off x="4740" y="2115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3" name="Oval 17"/>
            <p:cNvSpPr>
              <a:spLocks noChangeArrowheads="1"/>
            </p:cNvSpPr>
            <p:nvPr/>
          </p:nvSpPr>
          <p:spPr bwMode="auto">
            <a:xfrm>
              <a:off x="4196" y="2024"/>
              <a:ext cx="181" cy="2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84" name="Oval 18"/>
            <p:cNvSpPr>
              <a:spLocks noChangeArrowheads="1"/>
            </p:cNvSpPr>
            <p:nvPr/>
          </p:nvSpPr>
          <p:spPr bwMode="auto">
            <a:xfrm>
              <a:off x="4559" y="2024"/>
              <a:ext cx="181" cy="2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85" name="Oval 19"/>
            <p:cNvSpPr>
              <a:spLocks noChangeArrowheads="1"/>
            </p:cNvSpPr>
            <p:nvPr/>
          </p:nvSpPr>
          <p:spPr bwMode="auto">
            <a:xfrm>
              <a:off x="3516" y="2386"/>
              <a:ext cx="181" cy="2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86" name="Line 20"/>
            <p:cNvSpPr>
              <a:spLocks noChangeShapeType="1"/>
            </p:cNvSpPr>
            <p:nvPr/>
          </p:nvSpPr>
          <p:spPr bwMode="auto">
            <a:xfrm flipH="1">
              <a:off x="3153" y="252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7" name="Line 21"/>
            <p:cNvSpPr>
              <a:spLocks noChangeShapeType="1"/>
            </p:cNvSpPr>
            <p:nvPr/>
          </p:nvSpPr>
          <p:spPr bwMode="auto">
            <a:xfrm>
              <a:off x="4060" y="211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8" name="Line 22"/>
            <p:cNvSpPr>
              <a:spLocks noChangeShapeType="1"/>
            </p:cNvSpPr>
            <p:nvPr/>
          </p:nvSpPr>
          <p:spPr bwMode="auto">
            <a:xfrm flipH="1">
              <a:off x="3697" y="252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9" name="Line 23"/>
            <p:cNvSpPr>
              <a:spLocks noChangeShapeType="1"/>
            </p:cNvSpPr>
            <p:nvPr/>
          </p:nvSpPr>
          <p:spPr bwMode="auto">
            <a:xfrm flipV="1">
              <a:off x="3153" y="211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90" name="Text Box 24"/>
            <p:cNvSpPr txBox="1">
              <a:spLocks noChangeArrowheads="1"/>
            </p:cNvSpPr>
            <p:nvPr/>
          </p:nvSpPr>
          <p:spPr bwMode="auto">
            <a:xfrm>
              <a:off x="522" y="1994"/>
              <a:ext cx="131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entrada de dados</a:t>
              </a:r>
            </a:p>
          </p:txBody>
        </p:sp>
        <p:sp>
          <p:nvSpPr>
            <p:cNvPr id="32791" name="Text Box 25"/>
            <p:cNvSpPr txBox="1">
              <a:spLocks noChangeArrowheads="1"/>
            </p:cNvSpPr>
            <p:nvPr/>
          </p:nvSpPr>
          <p:spPr bwMode="auto">
            <a:xfrm>
              <a:off x="2245" y="2024"/>
              <a:ext cx="31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leia</a:t>
              </a:r>
            </a:p>
          </p:txBody>
        </p:sp>
        <p:sp>
          <p:nvSpPr>
            <p:cNvPr id="32792" name="Text Box 27"/>
            <p:cNvSpPr txBox="1">
              <a:spLocks noChangeArrowheads="1"/>
            </p:cNvSpPr>
            <p:nvPr/>
          </p:nvSpPr>
          <p:spPr bwMode="auto">
            <a:xfrm>
              <a:off x="3379" y="1994"/>
              <a:ext cx="6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variável</a:t>
              </a:r>
            </a:p>
          </p:txBody>
        </p:sp>
        <p:sp>
          <p:nvSpPr>
            <p:cNvPr id="32793" name="Text Box 28"/>
            <p:cNvSpPr txBox="1">
              <a:spLocks noChangeArrowheads="1"/>
            </p:cNvSpPr>
            <p:nvPr/>
          </p:nvSpPr>
          <p:spPr bwMode="auto">
            <a:xfrm>
              <a:off x="2926" y="2024"/>
              <a:ext cx="18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(</a:t>
              </a:r>
            </a:p>
          </p:txBody>
        </p:sp>
        <p:sp>
          <p:nvSpPr>
            <p:cNvPr id="32794" name="Text Box 29"/>
            <p:cNvSpPr txBox="1">
              <a:spLocks noChangeArrowheads="1"/>
            </p:cNvSpPr>
            <p:nvPr/>
          </p:nvSpPr>
          <p:spPr bwMode="auto">
            <a:xfrm>
              <a:off x="4196" y="2024"/>
              <a:ext cx="1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)</a:t>
              </a:r>
            </a:p>
          </p:txBody>
        </p:sp>
        <p:sp>
          <p:nvSpPr>
            <p:cNvPr id="32795" name="Text Box 30"/>
            <p:cNvSpPr txBox="1">
              <a:spLocks noChangeArrowheads="1"/>
            </p:cNvSpPr>
            <p:nvPr/>
          </p:nvSpPr>
          <p:spPr bwMode="auto">
            <a:xfrm>
              <a:off x="3515" y="2387"/>
              <a:ext cx="13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,</a:t>
              </a:r>
            </a:p>
          </p:txBody>
        </p:sp>
        <p:sp>
          <p:nvSpPr>
            <p:cNvPr id="32796" name="Text Box 31"/>
            <p:cNvSpPr txBox="1">
              <a:spLocks noChangeArrowheads="1"/>
            </p:cNvSpPr>
            <p:nvPr/>
          </p:nvSpPr>
          <p:spPr bwMode="auto">
            <a:xfrm>
              <a:off x="4559" y="2024"/>
              <a:ext cx="1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;</a:t>
              </a:r>
            </a:p>
          </p:txBody>
        </p:sp>
      </p:grpSp>
      <p:sp>
        <p:nvSpPr>
          <p:cNvPr id="32773" name="Rectangle 32"/>
          <p:cNvSpPr>
            <a:spLocks noChangeArrowheads="1"/>
          </p:cNvSpPr>
          <p:nvPr/>
        </p:nvSpPr>
        <p:spPr bwMode="auto">
          <a:xfrm>
            <a:off x="1182688" y="4465638"/>
            <a:ext cx="7772400" cy="162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400"/>
              <a:t>Exemplos: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leia (X);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leia (A, XPTO, NOTA);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pt-BR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Saída de Dados</a:t>
            </a: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82688" y="2060575"/>
            <a:ext cx="7772400" cy="547688"/>
          </a:xfrm>
        </p:spPr>
        <p:txBody>
          <a:bodyPr/>
          <a:lstStyle/>
          <a:p>
            <a:pPr eaLnBrk="1" hangingPunct="1"/>
            <a:r>
              <a:rPr lang="pt-BR" sz="2400" smtClean="0"/>
              <a:t>Sintaxe do comando da </a:t>
            </a:r>
            <a:r>
              <a:rPr lang="pt-BR" sz="2400" b="1" smtClean="0">
                <a:solidFill>
                  <a:srgbClr val="FF0000"/>
                </a:solidFill>
              </a:rPr>
              <a:t>saída de dados</a:t>
            </a:r>
            <a:r>
              <a:rPr lang="pt-BR" sz="2400" smtClean="0"/>
              <a:t>: </a:t>
            </a:r>
          </a:p>
        </p:txBody>
      </p:sp>
      <p:sp>
        <p:nvSpPr>
          <p:cNvPr id="33796" name="AutoShape 5"/>
          <p:cNvSpPr>
            <a:spLocks noChangeArrowheads="1"/>
          </p:cNvSpPr>
          <p:nvPr/>
        </p:nvSpPr>
        <p:spPr bwMode="auto">
          <a:xfrm>
            <a:off x="3203575" y="3213100"/>
            <a:ext cx="938213" cy="3603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797" name="Oval 6"/>
          <p:cNvSpPr>
            <a:spLocks noChangeArrowheads="1"/>
          </p:cNvSpPr>
          <p:nvPr/>
        </p:nvSpPr>
        <p:spPr bwMode="auto">
          <a:xfrm>
            <a:off x="4645025" y="3211513"/>
            <a:ext cx="288925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798" name="Rectangle 7"/>
          <p:cNvSpPr>
            <a:spLocks noChangeArrowheads="1"/>
          </p:cNvSpPr>
          <p:nvPr/>
        </p:nvSpPr>
        <p:spPr bwMode="auto">
          <a:xfrm>
            <a:off x="5221288" y="3141663"/>
            <a:ext cx="11525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799" name="Line 8"/>
          <p:cNvSpPr>
            <a:spLocks noChangeShapeType="1"/>
          </p:cNvSpPr>
          <p:nvPr/>
        </p:nvSpPr>
        <p:spPr bwMode="auto">
          <a:xfrm>
            <a:off x="2555875" y="3357563"/>
            <a:ext cx="503238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0" name="Line 9"/>
          <p:cNvSpPr>
            <a:spLocks noChangeShapeType="1"/>
          </p:cNvSpPr>
          <p:nvPr/>
        </p:nvSpPr>
        <p:spPr bwMode="auto">
          <a:xfrm>
            <a:off x="4141788" y="3357563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1" name="Line 10"/>
          <p:cNvSpPr>
            <a:spLocks noChangeShapeType="1"/>
          </p:cNvSpPr>
          <p:nvPr/>
        </p:nvSpPr>
        <p:spPr bwMode="auto">
          <a:xfrm>
            <a:off x="4933950" y="3357563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2" name="Line 11"/>
          <p:cNvSpPr>
            <a:spLocks noChangeShapeType="1"/>
          </p:cNvSpPr>
          <p:nvPr/>
        </p:nvSpPr>
        <p:spPr bwMode="auto">
          <a:xfrm>
            <a:off x="6373813" y="3357563"/>
            <a:ext cx="358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3" name="Line 12"/>
          <p:cNvSpPr>
            <a:spLocks noChangeShapeType="1"/>
          </p:cNvSpPr>
          <p:nvPr/>
        </p:nvSpPr>
        <p:spPr bwMode="auto">
          <a:xfrm>
            <a:off x="7021513" y="3357563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4" name="Line 13"/>
          <p:cNvSpPr>
            <a:spLocks noChangeShapeType="1"/>
          </p:cNvSpPr>
          <p:nvPr/>
        </p:nvSpPr>
        <p:spPr bwMode="auto">
          <a:xfrm>
            <a:off x="7597775" y="3357563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5" name="Oval 14"/>
          <p:cNvSpPr>
            <a:spLocks noChangeArrowheads="1"/>
          </p:cNvSpPr>
          <p:nvPr/>
        </p:nvSpPr>
        <p:spPr bwMode="auto">
          <a:xfrm>
            <a:off x="6734175" y="3213100"/>
            <a:ext cx="287338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06" name="Oval 15"/>
          <p:cNvSpPr>
            <a:spLocks noChangeArrowheads="1"/>
          </p:cNvSpPr>
          <p:nvPr/>
        </p:nvSpPr>
        <p:spPr bwMode="auto">
          <a:xfrm>
            <a:off x="7310438" y="3213100"/>
            <a:ext cx="287337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07" name="Oval 16"/>
          <p:cNvSpPr>
            <a:spLocks noChangeArrowheads="1"/>
          </p:cNvSpPr>
          <p:nvPr/>
        </p:nvSpPr>
        <p:spPr bwMode="auto">
          <a:xfrm>
            <a:off x="5724525" y="2565400"/>
            <a:ext cx="287338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08" name="Line 17"/>
          <p:cNvSpPr>
            <a:spLocks noChangeShapeType="1"/>
          </p:cNvSpPr>
          <p:nvPr/>
        </p:nvSpPr>
        <p:spPr bwMode="auto">
          <a:xfrm flipH="1">
            <a:off x="5005388" y="2708275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3809" name="Line 18"/>
          <p:cNvSpPr>
            <a:spLocks noChangeShapeType="1"/>
          </p:cNvSpPr>
          <p:nvPr/>
        </p:nvSpPr>
        <p:spPr bwMode="auto">
          <a:xfrm>
            <a:off x="6588125" y="27082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3810" name="Line 19"/>
          <p:cNvSpPr>
            <a:spLocks noChangeShapeType="1"/>
          </p:cNvSpPr>
          <p:nvPr/>
        </p:nvSpPr>
        <p:spPr bwMode="auto">
          <a:xfrm flipH="1">
            <a:off x="6011863" y="2708275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11" name="Text Box 21"/>
          <p:cNvSpPr txBox="1">
            <a:spLocks noChangeArrowheads="1"/>
          </p:cNvSpPr>
          <p:nvPr/>
        </p:nvSpPr>
        <p:spPr bwMode="auto">
          <a:xfrm>
            <a:off x="828675" y="3165475"/>
            <a:ext cx="1798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saída de dados</a:t>
            </a:r>
          </a:p>
        </p:txBody>
      </p:sp>
      <p:sp>
        <p:nvSpPr>
          <p:cNvPr id="33812" name="Text Box 22"/>
          <p:cNvSpPr txBox="1">
            <a:spLocks noChangeArrowheads="1"/>
          </p:cNvSpPr>
          <p:nvPr/>
        </p:nvSpPr>
        <p:spPr bwMode="auto">
          <a:xfrm>
            <a:off x="3203575" y="3213100"/>
            <a:ext cx="865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escreva</a:t>
            </a:r>
          </a:p>
        </p:txBody>
      </p:sp>
      <p:sp>
        <p:nvSpPr>
          <p:cNvPr id="33813" name="Text Box 23"/>
          <p:cNvSpPr txBox="1">
            <a:spLocks noChangeArrowheads="1"/>
          </p:cNvSpPr>
          <p:nvPr/>
        </p:nvSpPr>
        <p:spPr bwMode="auto">
          <a:xfrm>
            <a:off x="5364163" y="3165475"/>
            <a:ext cx="1009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variável</a:t>
            </a:r>
          </a:p>
        </p:txBody>
      </p:sp>
      <p:sp>
        <p:nvSpPr>
          <p:cNvPr id="33814" name="Text Box 24"/>
          <p:cNvSpPr txBox="1">
            <a:spLocks noChangeArrowheads="1"/>
          </p:cNvSpPr>
          <p:nvPr/>
        </p:nvSpPr>
        <p:spPr bwMode="auto">
          <a:xfrm>
            <a:off x="4645025" y="3213100"/>
            <a:ext cx="288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(</a:t>
            </a:r>
          </a:p>
        </p:txBody>
      </p:sp>
      <p:sp>
        <p:nvSpPr>
          <p:cNvPr id="33815" name="Text Box 25"/>
          <p:cNvSpPr txBox="1">
            <a:spLocks noChangeArrowheads="1"/>
          </p:cNvSpPr>
          <p:nvPr/>
        </p:nvSpPr>
        <p:spPr bwMode="auto">
          <a:xfrm>
            <a:off x="6734175" y="3213100"/>
            <a:ext cx="215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)</a:t>
            </a:r>
          </a:p>
        </p:txBody>
      </p:sp>
      <p:sp>
        <p:nvSpPr>
          <p:cNvPr id="33816" name="Text Box 26"/>
          <p:cNvSpPr txBox="1">
            <a:spLocks noChangeArrowheads="1"/>
          </p:cNvSpPr>
          <p:nvPr/>
        </p:nvSpPr>
        <p:spPr bwMode="auto">
          <a:xfrm>
            <a:off x="5722938" y="2565400"/>
            <a:ext cx="2174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,</a:t>
            </a:r>
          </a:p>
        </p:txBody>
      </p:sp>
      <p:sp>
        <p:nvSpPr>
          <p:cNvPr id="33817" name="Text Box 27"/>
          <p:cNvSpPr txBox="1">
            <a:spLocks noChangeArrowheads="1"/>
          </p:cNvSpPr>
          <p:nvPr/>
        </p:nvSpPr>
        <p:spPr bwMode="auto">
          <a:xfrm>
            <a:off x="7310438" y="3213100"/>
            <a:ext cx="215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;</a:t>
            </a:r>
          </a:p>
        </p:txBody>
      </p:sp>
      <p:sp>
        <p:nvSpPr>
          <p:cNvPr id="33818" name="Rectangle 28"/>
          <p:cNvSpPr>
            <a:spLocks noChangeArrowheads="1"/>
          </p:cNvSpPr>
          <p:nvPr/>
        </p:nvSpPr>
        <p:spPr bwMode="auto">
          <a:xfrm>
            <a:off x="1182688" y="4752975"/>
            <a:ext cx="777240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400"/>
              <a:t>Exemplos: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escreva (Y);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escreva (B, XPTO, MEDIA);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escreva (“Bom Dia ”, NOME);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escreva (“Você pesa ”, X*2, “quilos.”);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pt-BR" sz="2400"/>
          </a:p>
        </p:txBody>
      </p:sp>
      <p:sp>
        <p:nvSpPr>
          <p:cNvPr id="33819" name="Line 29"/>
          <p:cNvSpPr>
            <a:spLocks noChangeShapeType="1"/>
          </p:cNvSpPr>
          <p:nvPr/>
        </p:nvSpPr>
        <p:spPr bwMode="auto">
          <a:xfrm>
            <a:off x="5003800" y="2708275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20" name="Rectangle 30"/>
          <p:cNvSpPr>
            <a:spLocks noChangeArrowheads="1"/>
          </p:cNvSpPr>
          <p:nvPr/>
        </p:nvSpPr>
        <p:spPr bwMode="auto">
          <a:xfrm>
            <a:off x="5219700" y="3644900"/>
            <a:ext cx="11525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21" name="Rectangle 31"/>
          <p:cNvSpPr>
            <a:spLocks noChangeArrowheads="1"/>
          </p:cNvSpPr>
          <p:nvPr/>
        </p:nvSpPr>
        <p:spPr bwMode="auto">
          <a:xfrm>
            <a:off x="5219700" y="4149725"/>
            <a:ext cx="11525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22" name="Text Box 32"/>
          <p:cNvSpPr txBox="1">
            <a:spLocks noChangeArrowheads="1"/>
          </p:cNvSpPr>
          <p:nvPr/>
        </p:nvSpPr>
        <p:spPr bwMode="auto">
          <a:xfrm>
            <a:off x="5219700" y="3668713"/>
            <a:ext cx="1079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constante</a:t>
            </a:r>
          </a:p>
        </p:txBody>
      </p:sp>
      <p:sp>
        <p:nvSpPr>
          <p:cNvPr id="33823" name="Text Box 33"/>
          <p:cNvSpPr txBox="1">
            <a:spLocks noChangeArrowheads="1"/>
          </p:cNvSpPr>
          <p:nvPr/>
        </p:nvSpPr>
        <p:spPr bwMode="auto">
          <a:xfrm>
            <a:off x="5219700" y="4171950"/>
            <a:ext cx="1152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expressão</a:t>
            </a:r>
          </a:p>
        </p:txBody>
      </p:sp>
      <p:sp>
        <p:nvSpPr>
          <p:cNvPr id="33824" name="Line 34"/>
          <p:cNvSpPr>
            <a:spLocks noChangeShapeType="1"/>
          </p:cNvSpPr>
          <p:nvPr/>
        </p:nvSpPr>
        <p:spPr bwMode="auto">
          <a:xfrm>
            <a:off x="6372225" y="4365625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3825" name="Line 36"/>
          <p:cNvSpPr>
            <a:spLocks noChangeShapeType="1"/>
          </p:cNvSpPr>
          <p:nvPr/>
        </p:nvSpPr>
        <p:spPr bwMode="auto">
          <a:xfrm flipV="1">
            <a:off x="6516688" y="33575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26" name="Line 37"/>
          <p:cNvSpPr>
            <a:spLocks noChangeShapeType="1"/>
          </p:cNvSpPr>
          <p:nvPr/>
        </p:nvSpPr>
        <p:spPr bwMode="auto">
          <a:xfrm>
            <a:off x="5076825" y="3860800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27" name="Line 38"/>
          <p:cNvSpPr>
            <a:spLocks noChangeShapeType="1"/>
          </p:cNvSpPr>
          <p:nvPr/>
        </p:nvSpPr>
        <p:spPr bwMode="auto">
          <a:xfrm>
            <a:off x="5076825" y="4365625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28" name="Line 39"/>
          <p:cNvSpPr>
            <a:spLocks noChangeShapeType="1"/>
          </p:cNvSpPr>
          <p:nvPr/>
        </p:nvSpPr>
        <p:spPr bwMode="auto">
          <a:xfrm>
            <a:off x="5076825" y="33575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Blocos</a:t>
            </a:r>
            <a:br>
              <a:rPr lang="pt-BR" sz="3600" dirty="0">
                <a:solidFill>
                  <a:schemeClr val="accent1">
                    <a:satMod val="150000"/>
                  </a:schemeClr>
                </a:solidFill>
              </a:rPr>
            </a:b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750" y="2017713"/>
            <a:ext cx="8415338" cy="3355975"/>
          </a:xfrm>
        </p:spPr>
        <p:txBody>
          <a:bodyPr/>
          <a:lstStyle/>
          <a:p>
            <a:pPr algn="just" eaLnBrk="1" hangingPunct="1"/>
            <a:r>
              <a:rPr lang="pt-BR" sz="2400" smtClean="0"/>
              <a:t>Um bloco é definido como um </a:t>
            </a:r>
            <a:r>
              <a:rPr lang="pt-BR" sz="2400" b="1" smtClean="0">
                <a:solidFill>
                  <a:srgbClr val="FF0000"/>
                </a:solidFill>
              </a:rPr>
              <a:t>conjunto de ações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com uma </a:t>
            </a:r>
            <a:r>
              <a:rPr lang="pt-BR" sz="2400" b="1" smtClean="0">
                <a:solidFill>
                  <a:srgbClr val="FF0000"/>
                </a:solidFill>
              </a:rPr>
              <a:t>função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b="1" smtClean="0">
                <a:solidFill>
                  <a:srgbClr val="FF0000"/>
                </a:solidFill>
              </a:rPr>
              <a:t>definida</a:t>
            </a:r>
            <a:r>
              <a:rPr lang="pt-BR" sz="2400" smtClean="0"/>
              <a:t>.</a:t>
            </a:r>
          </a:p>
          <a:p>
            <a:pPr algn="just" eaLnBrk="1" hangingPunct="1"/>
            <a:r>
              <a:rPr lang="pt-BR" sz="2400" smtClean="0"/>
              <a:t>Algoritmo seria um bloco !?</a:t>
            </a:r>
          </a:p>
          <a:p>
            <a:pPr algn="just" eaLnBrk="1" hangingPunct="1"/>
            <a:r>
              <a:rPr lang="pt-BR" sz="2400" smtClean="0"/>
              <a:t>Serve também para definir os </a:t>
            </a:r>
            <a:r>
              <a:rPr lang="pt-BR" sz="2400" b="1" smtClean="0">
                <a:solidFill>
                  <a:srgbClr val="FF0000"/>
                </a:solidFill>
              </a:rPr>
              <a:t>limites</a:t>
            </a:r>
            <a:r>
              <a:rPr lang="pt-BR" sz="2400" smtClean="0"/>
              <a:t> nos quais as variáveis declaradas em seu interior </a:t>
            </a:r>
            <a:r>
              <a:rPr lang="pt-BR" sz="2400" b="1" smtClean="0">
                <a:solidFill>
                  <a:srgbClr val="FF0000"/>
                </a:solidFill>
              </a:rPr>
              <a:t>são conhecidos</a:t>
            </a:r>
            <a:r>
              <a:rPr lang="pt-BR" sz="2400" smtClean="0"/>
              <a:t>.</a:t>
            </a:r>
          </a:p>
          <a:p>
            <a:pPr algn="just" eaLnBrk="1" hangingPunct="1"/>
            <a:r>
              <a:rPr lang="pt-BR" sz="2400" smtClean="0"/>
              <a:t>Para delimitar um bloco, utiliza-se os delimitadores: </a:t>
            </a:r>
            <a:r>
              <a:rPr lang="pt-BR" sz="2400" b="1" smtClean="0">
                <a:solidFill>
                  <a:srgbClr val="FF0000"/>
                </a:solidFill>
              </a:rPr>
              <a:t>inicio</a:t>
            </a:r>
            <a:r>
              <a:rPr lang="pt-BR" sz="2400" smtClean="0"/>
              <a:t> e </a:t>
            </a:r>
            <a:r>
              <a:rPr lang="pt-BR" sz="2400" b="1" smtClean="0">
                <a:solidFill>
                  <a:srgbClr val="FF0000"/>
                </a:solidFill>
              </a:rPr>
              <a:t>fim</a:t>
            </a:r>
            <a:r>
              <a:rPr lang="pt-BR" sz="2400" smtClean="0"/>
              <a:t>, como segue:</a:t>
            </a:r>
          </a:p>
        </p:txBody>
      </p:sp>
      <p:sp>
        <p:nvSpPr>
          <p:cNvPr id="34820" name="AutoShape 4"/>
          <p:cNvSpPr>
            <a:spLocks noChangeArrowheads="1"/>
          </p:cNvSpPr>
          <p:nvPr/>
        </p:nvSpPr>
        <p:spPr bwMode="auto">
          <a:xfrm>
            <a:off x="3203575" y="5783263"/>
            <a:ext cx="792163" cy="3587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4427538" y="5783263"/>
            <a:ext cx="649287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4822" name="AutoShape 6"/>
          <p:cNvSpPr>
            <a:spLocks noChangeArrowheads="1"/>
          </p:cNvSpPr>
          <p:nvPr/>
        </p:nvSpPr>
        <p:spPr bwMode="auto">
          <a:xfrm>
            <a:off x="5508625" y="5783263"/>
            <a:ext cx="792163" cy="3587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4823" name="Oval 9"/>
          <p:cNvSpPr>
            <a:spLocks noChangeArrowheads="1"/>
          </p:cNvSpPr>
          <p:nvPr/>
        </p:nvSpPr>
        <p:spPr bwMode="auto">
          <a:xfrm>
            <a:off x="6732588" y="5780088"/>
            <a:ext cx="287337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pt-BR"/>
          </a:p>
        </p:txBody>
      </p:sp>
      <p:sp>
        <p:nvSpPr>
          <p:cNvPr id="34824" name="Line 10"/>
          <p:cNvSpPr>
            <a:spLocks noChangeShapeType="1"/>
          </p:cNvSpPr>
          <p:nvPr/>
        </p:nvSpPr>
        <p:spPr bwMode="auto">
          <a:xfrm>
            <a:off x="3995738" y="5926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25" name="Line 11"/>
          <p:cNvSpPr>
            <a:spLocks noChangeShapeType="1"/>
          </p:cNvSpPr>
          <p:nvPr/>
        </p:nvSpPr>
        <p:spPr bwMode="auto">
          <a:xfrm>
            <a:off x="5076825" y="5926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26" name="Line 12"/>
          <p:cNvSpPr>
            <a:spLocks noChangeShapeType="1"/>
          </p:cNvSpPr>
          <p:nvPr/>
        </p:nvSpPr>
        <p:spPr bwMode="auto">
          <a:xfrm>
            <a:off x="6300788" y="5926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27" name="Line 13"/>
          <p:cNvSpPr>
            <a:spLocks noChangeShapeType="1"/>
          </p:cNvSpPr>
          <p:nvPr/>
        </p:nvSpPr>
        <p:spPr bwMode="auto">
          <a:xfrm>
            <a:off x="7019925" y="5926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28" name="Oval 14"/>
          <p:cNvSpPr>
            <a:spLocks noChangeArrowheads="1"/>
          </p:cNvSpPr>
          <p:nvPr/>
        </p:nvSpPr>
        <p:spPr bwMode="auto">
          <a:xfrm>
            <a:off x="4572000" y="6284913"/>
            <a:ext cx="287338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pt-BR"/>
          </a:p>
        </p:txBody>
      </p:sp>
      <p:sp>
        <p:nvSpPr>
          <p:cNvPr id="34829" name="Line 15"/>
          <p:cNvSpPr>
            <a:spLocks noChangeShapeType="1"/>
          </p:cNvSpPr>
          <p:nvPr/>
        </p:nvSpPr>
        <p:spPr bwMode="auto">
          <a:xfrm>
            <a:off x="2484438" y="5926138"/>
            <a:ext cx="574675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30" name="Text Box 17"/>
          <p:cNvSpPr txBox="1">
            <a:spLocks noChangeArrowheads="1"/>
          </p:cNvSpPr>
          <p:nvPr/>
        </p:nvSpPr>
        <p:spPr bwMode="auto">
          <a:xfrm>
            <a:off x="1619250" y="5734050"/>
            <a:ext cx="863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blocos</a:t>
            </a:r>
          </a:p>
        </p:txBody>
      </p:sp>
      <p:sp>
        <p:nvSpPr>
          <p:cNvPr id="34831" name="Text Box 18"/>
          <p:cNvSpPr txBox="1">
            <a:spLocks noChangeArrowheads="1"/>
          </p:cNvSpPr>
          <p:nvPr/>
        </p:nvSpPr>
        <p:spPr bwMode="auto">
          <a:xfrm>
            <a:off x="3275013" y="5783263"/>
            <a:ext cx="863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inicio</a:t>
            </a:r>
          </a:p>
        </p:txBody>
      </p:sp>
      <p:sp>
        <p:nvSpPr>
          <p:cNvPr id="34832" name="Text Box 19"/>
          <p:cNvSpPr txBox="1">
            <a:spLocks noChangeArrowheads="1"/>
          </p:cNvSpPr>
          <p:nvPr/>
        </p:nvSpPr>
        <p:spPr bwMode="auto">
          <a:xfrm>
            <a:off x="4427538" y="5783263"/>
            <a:ext cx="6477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ação</a:t>
            </a:r>
          </a:p>
        </p:txBody>
      </p:sp>
      <p:sp>
        <p:nvSpPr>
          <p:cNvPr id="34833" name="Text Box 20"/>
          <p:cNvSpPr txBox="1">
            <a:spLocks noChangeArrowheads="1"/>
          </p:cNvSpPr>
          <p:nvPr/>
        </p:nvSpPr>
        <p:spPr bwMode="auto">
          <a:xfrm>
            <a:off x="5651500" y="5783263"/>
            <a:ext cx="5048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fim</a:t>
            </a:r>
          </a:p>
        </p:txBody>
      </p:sp>
      <p:sp>
        <p:nvSpPr>
          <p:cNvPr id="34834" name="Text Box 21"/>
          <p:cNvSpPr txBox="1">
            <a:spLocks noChangeArrowheads="1"/>
          </p:cNvSpPr>
          <p:nvPr/>
        </p:nvSpPr>
        <p:spPr bwMode="auto">
          <a:xfrm>
            <a:off x="6731000" y="5783263"/>
            <a:ext cx="215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;</a:t>
            </a:r>
          </a:p>
        </p:txBody>
      </p:sp>
      <p:sp>
        <p:nvSpPr>
          <p:cNvPr id="34835" name="Text Box 22"/>
          <p:cNvSpPr txBox="1">
            <a:spLocks noChangeArrowheads="1"/>
          </p:cNvSpPr>
          <p:nvPr/>
        </p:nvSpPr>
        <p:spPr bwMode="auto">
          <a:xfrm>
            <a:off x="4570413" y="6237288"/>
            <a:ext cx="215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,</a:t>
            </a:r>
          </a:p>
        </p:txBody>
      </p:sp>
      <p:sp>
        <p:nvSpPr>
          <p:cNvPr id="34836" name="Line 23"/>
          <p:cNvSpPr>
            <a:spLocks noChangeShapeType="1"/>
          </p:cNvSpPr>
          <p:nvPr/>
        </p:nvSpPr>
        <p:spPr bwMode="auto">
          <a:xfrm>
            <a:off x="5291138" y="59261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4837" name="Line 24"/>
          <p:cNvSpPr>
            <a:spLocks noChangeShapeType="1"/>
          </p:cNvSpPr>
          <p:nvPr/>
        </p:nvSpPr>
        <p:spPr bwMode="auto">
          <a:xfrm flipH="1">
            <a:off x="4210050" y="65024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4838" name="Line 25"/>
          <p:cNvSpPr>
            <a:spLocks noChangeShapeType="1"/>
          </p:cNvSpPr>
          <p:nvPr/>
        </p:nvSpPr>
        <p:spPr bwMode="auto">
          <a:xfrm flipV="1">
            <a:off x="4210050" y="59261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39" name="Line 26"/>
          <p:cNvSpPr>
            <a:spLocks noChangeShapeType="1"/>
          </p:cNvSpPr>
          <p:nvPr/>
        </p:nvSpPr>
        <p:spPr bwMode="auto">
          <a:xfrm flipH="1">
            <a:off x="4859338" y="650240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Exemplo de Bloco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pt-BR" sz="3600" b="1" smtClean="0"/>
              <a:t>inicio</a:t>
            </a:r>
            <a:r>
              <a:rPr lang="pt-BR" sz="3600" smtClean="0"/>
              <a:t> {início do bloco (algoritmo)}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		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		{declaração de variáveis} 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		{seqüência de ações}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b="1" smtClean="0"/>
              <a:t>fim</a:t>
            </a:r>
            <a:r>
              <a:rPr lang="pt-BR" sz="3600" smtClean="0"/>
              <a:t>. {bloco (algoritmo)}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pt-BR" smtClean="0"/>
              <a:t>Atividade 3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7950" y="1628775"/>
            <a:ext cx="8839200" cy="6096000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pt-BR" sz="1800" smtClean="0"/>
              <a:t>3. Utilizando o seguinte trecho de algoritmo</a:t>
            </a:r>
          </a:p>
          <a:p>
            <a:pPr marL="533400" indent="-533400" eaLnBrk="1" hangingPunct="1">
              <a:buFontTx/>
              <a:buNone/>
            </a:pPr>
            <a:r>
              <a:rPr lang="pt-BR" sz="1800" b="1" smtClean="0"/>
              <a:t>inteiro:</a:t>
            </a:r>
            <a:r>
              <a:rPr lang="pt-BR" sz="1800" smtClean="0"/>
              <a:t> X, Y;</a:t>
            </a:r>
          </a:p>
          <a:p>
            <a:pPr marL="533400" indent="-533400" eaLnBrk="1" hangingPunct="1">
              <a:buFontTx/>
              <a:buNone/>
            </a:pPr>
            <a:r>
              <a:rPr lang="pt-BR" sz="1800" b="1" smtClean="0"/>
              <a:t>real:</a:t>
            </a:r>
            <a:r>
              <a:rPr lang="pt-BR" sz="1800" smtClean="0"/>
              <a:t> Z;</a:t>
            </a:r>
          </a:p>
          <a:p>
            <a:pPr marL="533400" indent="-533400" eaLnBrk="1" hangingPunct="1">
              <a:buFontTx/>
              <a:buNone/>
            </a:pPr>
            <a:r>
              <a:rPr lang="pt-BR" sz="1800" b="1" smtClean="0"/>
              <a:t>leia</a:t>
            </a:r>
            <a:r>
              <a:rPr lang="pt-BR" sz="1800" smtClean="0"/>
              <a:t> (X);</a:t>
            </a:r>
          </a:p>
          <a:p>
            <a:pPr marL="533400" indent="-533400" eaLnBrk="1" hangingPunct="1">
              <a:buFontTx/>
              <a:buNone/>
            </a:pPr>
            <a:r>
              <a:rPr lang="pt-BR" sz="1800" b="1" smtClean="0"/>
              <a:t>escreva</a:t>
            </a:r>
            <a:r>
              <a:rPr lang="pt-BR" sz="1800" smtClean="0"/>
              <a:t> (X, “elevado ao cubo = ”, </a:t>
            </a:r>
            <a:r>
              <a:rPr lang="pt-BR" sz="1800" b="1" smtClean="0"/>
              <a:t>pot</a:t>
            </a:r>
            <a:r>
              <a:rPr lang="pt-BR" sz="1800" smtClean="0"/>
              <a:t>(X,3));</a:t>
            </a:r>
          </a:p>
          <a:p>
            <a:pPr marL="533400" indent="-533400" eaLnBrk="1" hangingPunct="1">
              <a:buFontTx/>
              <a:buNone/>
            </a:pPr>
            <a:r>
              <a:rPr lang="pt-BR" sz="1800" b="1" smtClean="0"/>
              <a:t>leia</a:t>
            </a:r>
            <a:r>
              <a:rPr lang="pt-BR" sz="1800" smtClean="0"/>
              <a:t> (Y);</a:t>
            </a:r>
          </a:p>
          <a:p>
            <a:pPr marL="533400" indent="-533400" eaLnBrk="1" hangingPunct="1">
              <a:buFontTx/>
              <a:buNone/>
            </a:pPr>
            <a:r>
              <a:rPr lang="pt-BR" sz="1800" b="1" smtClean="0"/>
              <a:t>escreva</a:t>
            </a:r>
            <a:r>
              <a:rPr lang="pt-BR" sz="1800" smtClean="0"/>
              <a:t> (X + Y);</a:t>
            </a:r>
          </a:p>
          <a:p>
            <a:pPr marL="533400" indent="-533400" eaLnBrk="1" hangingPunct="1">
              <a:buFontTx/>
              <a:buNone/>
            </a:pPr>
            <a:r>
              <a:rPr lang="pt-BR" sz="1800" smtClean="0"/>
              <a:t>Z </a:t>
            </a:r>
            <a:r>
              <a:rPr lang="pt-BR" sz="1800" smtClean="0">
                <a:sym typeface="Wingdings" pitchFamily="2" charset="2"/>
              </a:rPr>
              <a:t></a:t>
            </a:r>
            <a:r>
              <a:rPr lang="pt-BR" sz="1800" smtClean="0"/>
              <a:t> X/Y;</a:t>
            </a:r>
          </a:p>
          <a:p>
            <a:pPr marL="533400" indent="-533400" eaLnBrk="1" hangingPunct="1">
              <a:buFontTx/>
              <a:buNone/>
            </a:pPr>
            <a:r>
              <a:rPr lang="pt-BR" sz="1800" b="1" smtClean="0"/>
              <a:t>escreva</a:t>
            </a:r>
            <a:r>
              <a:rPr lang="pt-BR" sz="1800" smtClean="0"/>
              <a:t> (Z);</a:t>
            </a:r>
          </a:p>
          <a:p>
            <a:pPr marL="533400" indent="-533400" eaLnBrk="1" hangingPunct="1">
              <a:buFontTx/>
              <a:buNone/>
            </a:pPr>
            <a:r>
              <a:rPr lang="pt-BR" sz="1800" smtClean="0"/>
              <a:t>Z </a:t>
            </a:r>
            <a:r>
              <a:rPr lang="pt-BR" sz="1800" smtClean="0">
                <a:sym typeface="Wingdings" pitchFamily="2" charset="2"/>
              </a:rPr>
              <a:t></a:t>
            </a:r>
            <a:r>
              <a:rPr lang="pt-BR" sz="1800" smtClean="0"/>
              <a:t> Z + 1;</a:t>
            </a:r>
          </a:p>
          <a:p>
            <a:pPr marL="533400" indent="-533400" eaLnBrk="1" hangingPunct="1">
              <a:buFontTx/>
              <a:buNone/>
            </a:pPr>
            <a:r>
              <a:rPr lang="pt-BR" sz="1800" smtClean="0"/>
              <a:t>X </a:t>
            </a:r>
            <a:r>
              <a:rPr lang="pt-BR" sz="1800" smtClean="0">
                <a:sym typeface="Wingdings" pitchFamily="2" charset="2"/>
              </a:rPr>
              <a:t></a:t>
            </a:r>
            <a:r>
              <a:rPr lang="pt-BR" sz="1800" smtClean="0"/>
              <a:t> (Y + X) mod 2;</a:t>
            </a:r>
          </a:p>
          <a:p>
            <a:pPr marL="533400" indent="-533400" eaLnBrk="1" hangingPunct="1">
              <a:buFontTx/>
              <a:buNone/>
            </a:pPr>
            <a:r>
              <a:rPr lang="pt-BR" sz="1800" b="1" smtClean="0"/>
              <a:t>escreva</a:t>
            </a:r>
            <a:r>
              <a:rPr lang="pt-BR" sz="1800" smtClean="0"/>
              <a:t> (X);</a:t>
            </a:r>
          </a:p>
          <a:p>
            <a:pPr marL="533400" indent="-533400" eaLnBrk="1" hangingPunct="1">
              <a:buFontTx/>
              <a:buNone/>
            </a:pPr>
            <a:r>
              <a:rPr lang="pt-BR" sz="1800" smtClean="0"/>
              <a:t>.</a:t>
            </a:r>
          </a:p>
          <a:p>
            <a:pPr marL="533400" indent="-533400" eaLnBrk="1" hangingPunct="1">
              <a:buFontTx/>
              <a:buNone/>
            </a:pPr>
            <a:r>
              <a:rPr lang="pt-BR" sz="1800" smtClean="0"/>
              <a:t>.</a:t>
            </a:r>
          </a:p>
          <a:p>
            <a:pPr marL="533400" indent="-533400" eaLnBrk="1" hangingPunct="1">
              <a:buFontTx/>
              <a:buNone/>
            </a:pPr>
            <a:r>
              <a:rPr lang="pt-BR" sz="1800" smtClean="0"/>
              <a:t>explique o que está acontecendo em cada linha e qual é o resultado de cada 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8229600" cy="1252538"/>
          </a:xfrm>
        </p:spPr>
        <p:txBody>
          <a:bodyPr/>
          <a:lstStyle/>
          <a:p>
            <a:pPr eaLnBrk="1" hangingPunct="1"/>
            <a:r>
              <a:rPr lang="pt-BR" smtClean="0"/>
              <a:t>Atividade 4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7950" y="1628775"/>
            <a:ext cx="8839200" cy="57912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b="1" smtClean="0"/>
              <a:t>inteiro:</a:t>
            </a:r>
            <a:r>
              <a:rPr lang="pt-BR" sz="1600" smtClean="0"/>
              <a:t> X, Y;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declaração de duas variáveis inteiras identificadas por X e Y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b="1" smtClean="0"/>
              <a:t>real:</a:t>
            </a:r>
            <a:r>
              <a:rPr lang="pt-BR" sz="1600" smtClean="0"/>
              <a:t> Z;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declaração de uma variável real identificada por Z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b="1" smtClean="0"/>
              <a:t>leia</a:t>
            </a:r>
            <a:r>
              <a:rPr lang="pt-BR" sz="1600" smtClean="0"/>
              <a:t> (X);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entrada de dados de um valor inteiro em X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supondo que seja fornecido 3, X valerá 3 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b="1" smtClean="0"/>
              <a:t>escreva</a:t>
            </a:r>
            <a:r>
              <a:rPr lang="pt-BR" sz="1600" smtClean="0"/>
              <a:t> (X, “elevado ao cubo = ”, </a:t>
            </a:r>
            <a:r>
              <a:rPr lang="pt-BR" sz="1600" b="1" smtClean="0"/>
              <a:t>pot</a:t>
            </a:r>
            <a:r>
              <a:rPr lang="pt-BR" sz="1600" smtClean="0"/>
              <a:t>(X,3));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saída de dados: 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valor de X, seqüência de caracteres, resultado da função pot 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resultado do escreva: 3 elevado ao cubo = 27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b="1" smtClean="0"/>
              <a:t>leia</a:t>
            </a:r>
            <a:r>
              <a:rPr lang="pt-BR" sz="1600" smtClean="0"/>
              <a:t> (Y);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entrada de dados de um valor inteiro em Y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supondo que seja fornecido 2, Y valerá 2 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b="1" smtClean="0"/>
              <a:t>escreva</a:t>
            </a:r>
            <a:r>
              <a:rPr lang="pt-BR" sz="1600" smtClean="0"/>
              <a:t> (X + Y);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saída de dados: 5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Z </a:t>
            </a:r>
            <a:r>
              <a:rPr lang="pt-BR" sz="1600" smtClean="0">
                <a:sym typeface="Wingdings" pitchFamily="2" charset="2"/>
              </a:rPr>
              <a:t></a:t>
            </a:r>
            <a:r>
              <a:rPr lang="pt-BR" sz="1600" smtClean="0"/>
              <a:t> X/Y;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comando de atribuição, Z </a:t>
            </a:r>
            <a:r>
              <a:rPr lang="pt-BR" sz="1600" smtClean="0">
                <a:sym typeface="Wingdings" pitchFamily="2" charset="2"/>
              </a:rPr>
              <a:t></a:t>
            </a:r>
            <a:r>
              <a:rPr lang="pt-BR" sz="1600" smtClean="0"/>
              <a:t> 3/2; ou seja, Z valerá 1,5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b="1" smtClean="0"/>
              <a:t>escreva</a:t>
            </a:r>
            <a:r>
              <a:rPr lang="pt-BR" sz="1600" smtClean="0"/>
              <a:t> (Z);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pt-BR" sz="1600" smtClean="0"/>
              <a:t>     // saída de dados: 1,5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8153400" cy="990600"/>
          </a:xfrm>
        </p:spPr>
        <p:txBody>
          <a:bodyPr/>
          <a:lstStyle/>
          <a:p>
            <a:pPr eaLnBrk="1" hangingPunct="1"/>
            <a:r>
              <a:rPr lang="pt-BR" smtClean="0"/>
              <a:t>Atividade 5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7950" y="1628775"/>
            <a:ext cx="8839200" cy="6096000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pt-BR" sz="1600" smtClean="0"/>
              <a:t>Z </a:t>
            </a:r>
            <a:r>
              <a:rPr lang="pt-BR" sz="1600" smtClean="0">
                <a:sym typeface="Wingdings" pitchFamily="2" charset="2"/>
              </a:rPr>
              <a:t></a:t>
            </a:r>
            <a:r>
              <a:rPr lang="pt-BR" sz="1600" smtClean="0"/>
              <a:t> Z + 1;</a:t>
            </a:r>
          </a:p>
          <a:p>
            <a:pPr marL="533400" indent="-533400" eaLnBrk="1" hangingPunct="1">
              <a:buFontTx/>
              <a:buNone/>
            </a:pPr>
            <a:r>
              <a:rPr lang="pt-BR" sz="1600" smtClean="0"/>
              <a:t>     // comando de atribuição incrementando o atual valor de Z de 1 </a:t>
            </a:r>
          </a:p>
          <a:p>
            <a:pPr marL="533400" indent="-533400" eaLnBrk="1" hangingPunct="1">
              <a:buFontTx/>
              <a:buNone/>
            </a:pPr>
            <a:r>
              <a:rPr lang="pt-BR" sz="1600" smtClean="0"/>
              <a:t>     // Z </a:t>
            </a:r>
            <a:r>
              <a:rPr lang="pt-BR" sz="1600" smtClean="0">
                <a:sym typeface="Wingdings" pitchFamily="2" charset="2"/>
              </a:rPr>
              <a:t></a:t>
            </a:r>
            <a:r>
              <a:rPr lang="pt-BR" sz="1600" smtClean="0"/>
              <a:t> 1,5 + 1; ou seja, Z valerá </a:t>
            </a:r>
            <a:r>
              <a:rPr lang="pt-BR" sz="1600" u="sng" smtClean="0"/>
              <a:t>2,5</a:t>
            </a:r>
          </a:p>
          <a:p>
            <a:pPr marL="533400" indent="-533400" eaLnBrk="1" hangingPunct="1">
              <a:buFontTx/>
              <a:buNone/>
            </a:pPr>
            <a:r>
              <a:rPr lang="pt-BR" sz="1600" smtClean="0"/>
              <a:t>X </a:t>
            </a:r>
            <a:r>
              <a:rPr lang="pt-BR" sz="1600" smtClean="0">
                <a:sym typeface="Wingdings" pitchFamily="2" charset="2"/>
              </a:rPr>
              <a:t></a:t>
            </a:r>
            <a:r>
              <a:rPr lang="pt-BR" sz="1600" smtClean="0"/>
              <a:t> (Y + X) mod 2;</a:t>
            </a:r>
          </a:p>
          <a:p>
            <a:pPr marL="533400" indent="-533400" eaLnBrk="1" hangingPunct="1">
              <a:buFontTx/>
              <a:buNone/>
            </a:pPr>
            <a:r>
              <a:rPr lang="pt-BR" sz="1600" b="1" smtClean="0"/>
              <a:t>     </a:t>
            </a:r>
            <a:r>
              <a:rPr lang="pt-BR" sz="1600" smtClean="0"/>
              <a:t>// comando de atribuição com uma expressão aritmética </a:t>
            </a:r>
          </a:p>
          <a:p>
            <a:pPr marL="533400" indent="-533400" eaLnBrk="1" hangingPunct="1">
              <a:buFontTx/>
              <a:buNone/>
            </a:pPr>
            <a:r>
              <a:rPr lang="pt-BR" sz="1600" smtClean="0"/>
              <a:t>     // X </a:t>
            </a:r>
            <a:r>
              <a:rPr lang="pt-BR" sz="1600" smtClean="0">
                <a:sym typeface="Wingdings" pitchFamily="2" charset="2"/>
              </a:rPr>
              <a:t></a:t>
            </a:r>
            <a:r>
              <a:rPr lang="pt-BR" sz="1600" smtClean="0"/>
              <a:t> (Y + X) mod 2;</a:t>
            </a:r>
          </a:p>
          <a:p>
            <a:pPr marL="533400" indent="-533400" eaLnBrk="1" hangingPunct="1">
              <a:buFontTx/>
              <a:buNone/>
            </a:pPr>
            <a:r>
              <a:rPr lang="pt-BR" sz="1600" smtClean="0"/>
              <a:t>     // X </a:t>
            </a:r>
            <a:r>
              <a:rPr lang="pt-BR" sz="1600" smtClean="0">
                <a:sym typeface="Wingdings" pitchFamily="2" charset="2"/>
              </a:rPr>
              <a:t> </a:t>
            </a:r>
            <a:r>
              <a:rPr lang="pt-BR" sz="1600" smtClean="0"/>
              <a:t>(2 + 3) mod 2;</a:t>
            </a:r>
          </a:p>
          <a:p>
            <a:pPr marL="533400" indent="-533400" eaLnBrk="1" hangingPunct="1">
              <a:buFontTx/>
              <a:buNone/>
            </a:pPr>
            <a:r>
              <a:rPr lang="pt-BR" sz="1600" smtClean="0"/>
              <a:t>     // X </a:t>
            </a:r>
            <a:r>
              <a:rPr lang="pt-BR" sz="1600" smtClean="0">
                <a:sym typeface="Wingdings" pitchFamily="2" charset="2"/>
              </a:rPr>
              <a:t></a:t>
            </a:r>
            <a:r>
              <a:rPr lang="pt-BR" sz="1600" smtClean="0"/>
              <a:t> (5) mod 2; ou seja, X valerá 1</a:t>
            </a:r>
          </a:p>
          <a:p>
            <a:pPr marL="533400" indent="-533400" eaLnBrk="1" hangingPunct="1">
              <a:buFontTx/>
              <a:buNone/>
            </a:pPr>
            <a:r>
              <a:rPr lang="pt-BR" sz="1600" b="1" smtClean="0"/>
              <a:t>escreva</a:t>
            </a:r>
            <a:r>
              <a:rPr lang="pt-BR" sz="1600" smtClean="0"/>
              <a:t> (X);</a:t>
            </a:r>
          </a:p>
          <a:p>
            <a:pPr marL="533400" indent="-533400" eaLnBrk="1" hangingPunct="1">
              <a:buFontTx/>
              <a:buNone/>
            </a:pPr>
            <a:r>
              <a:rPr lang="pt-BR" sz="1600" smtClean="0"/>
              <a:t>     // saída de dados: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673</Words>
  <Application>Microsoft Office PowerPoint</Application>
  <PresentationFormat>Apresentação na tela (4:3)</PresentationFormat>
  <Paragraphs>128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Mediano</vt:lpstr>
      <vt:lpstr>Algoritmos – Aula 3</vt:lpstr>
      <vt:lpstr>Expressões Lógicas </vt:lpstr>
      <vt:lpstr>Operadores Relacionais</vt:lpstr>
      <vt:lpstr>Operadores Lógicos</vt:lpstr>
      <vt:lpstr>Comando de Atribuição </vt:lpstr>
      <vt:lpstr>Comandos de Entrada e Saída </vt:lpstr>
      <vt:lpstr>Saída de Dados</vt:lpstr>
      <vt:lpstr>Blocos </vt:lpstr>
      <vt:lpstr>Exemplo de Bloco</vt:lpstr>
      <vt:lpstr>Atividade 3</vt:lpstr>
      <vt:lpstr>Atividade 4</vt:lpstr>
      <vt:lpstr>Atividade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– Aula 3</dc:title>
  <dc:creator>professor</dc:creator>
  <cp:lastModifiedBy>professor</cp:lastModifiedBy>
  <cp:revision>2</cp:revision>
  <dcterms:created xsi:type="dcterms:W3CDTF">2013-08-06T00:52:21Z</dcterms:created>
  <dcterms:modified xsi:type="dcterms:W3CDTF">2013-08-06T00:55:03Z</dcterms:modified>
</cp:coreProperties>
</file>